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7.svg" ContentType="image/svg+xml"/>
  <Override PartName="/ppt/media/image23.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1" r:id="rId4"/>
  </p:sldMasterIdLst>
  <p:notesMasterIdLst>
    <p:notesMasterId r:id="rId108"/>
  </p:notesMasterIdLst>
  <p:handoutMasterIdLst>
    <p:handoutMasterId r:id="rId109"/>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e template" id="{9CC2E9AE-524F-47BB-BEC1-F503FF5CA12D}">
          <p14:sldIdLst>
            <p14:sldId id="2144212630"/>
            <p14:sldId id="2076137302"/>
            <p14:sldId id="2076137156"/>
            <p14:sldId id="2144212619"/>
            <p14:sldId id="2144212591"/>
            <p14:sldId id="2144212433"/>
            <p14:sldId id="2144212586"/>
            <p14:sldId id="2144212618"/>
            <p14:sldId id="2144212620"/>
            <p14:sldId id="2144212629"/>
            <p14:sldId id="2076137350"/>
            <p14:sldId id="2076137380"/>
            <p14:sldId id="2076137307"/>
          </p14:sldIdLst>
        </p14:section>
        <p14:section name="Agenda" id="{41328D16-35E6-6343-90FA-0D3CE4D1FD72}">
          <p14:sldIdLst>
            <p14:sldId id="2076137345"/>
            <p14:sldId id="2144212623"/>
            <p14:sldId id="2076137346"/>
            <p14:sldId id="2144212624"/>
            <p14:sldId id="2076137377"/>
            <p14:sldId id="2076137378"/>
          </p14:sldIdLst>
        </p14:section>
        <p14:section name="Section divider slides" id="{A08B6E49-4FA9-1D47-9747-BAB21FC8A06F}">
          <p14:sldIdLst>
            <p14:sldId id="2076137371"/>
            <p14:sldId id="2076137372"/>
            <p14:sldId id="2076137285"/>
            <p14:sldId id="2076137286"/>
          </p14:sldIdLst>
        </p14:section>
        <p14:section name="Content Slides-Dark" id="{69C79F6C-AA55-485D-BB9F-DB342B159076}">
          <p14:sldIdLst>
            <p14:sldId id="485"/>
            <p14:sldId id="542"/>
            <p14:sldId id="2076137235"/>
            <p14:sldId id="2076137342"/>
            <p14:sldId id="2076137271"/>
            <p14:sldId id="2076137264"/>
            <p14:sldId id="2076137382"/>
            <p14:sldId id="2076136920"/>
            <p14:sldId id="2076137026"/>
            <p14:sldId id="2076137165"/>
            <p14:sldId id="2076137314"/>
          </p14:sldIdLst>
        </p14:section>
        <p14:section name="Content Slides-Light" id="{27D110FE-1692-CC48-BC71-14A13597BEA5}">
          <p14:sldIdLst>
            <p14:sldId id="2076137182"/>
            <p14:sldId id="2076137183"/>
            <p14:sldId id="2076137184"/>
            <p14:sldId id="2076137344"/>
            <p14:sldId id="2076137331"/>
            <p14:sldId id="2076137332"/>
            <p14:sldId id="2076137315"/>
            <p14:sldId id="2076137384"/>
            <p14:sldId id="2076137318"/>
            <p14:sldId id="2076137337"/>
            <p14:sldId id="2076137319"/>
            <p14:sldId id="2076137321"/>
            <p14:sldId id="2076137322"/>
            <p14:sldId id="2076137230"/>
          </p14:sldIdLst>
        </p14:section>
        <p14:section name="Special Slides" id="{678A0263-3EDF-7B42-809D-C478E92A7292}">
          <p14:sldIdLst>
            <p14:sldId id="2076137153"/>
            <p14:sldId id="2076137190"/>
            <p14:sldId id="2076137164"/>
            <p14:sldId id="2076137177"/>
            <p14:sldId id="2076137381"/>
            <p14:sldId id="2076137178"/>
            <p14:sldId id="2076137226"/>
            <p14:sldId id="2076137227"/>
          </p14:sldIdLst>
        </p14:section>
        <p14:section name="Code snippet-Dark" id="{A3915FF8-9B05-7646-8006-03BB9C06B820}">
          <p14:sldIdLst>
            <p14:sldId id="2144212625"/>
            <p14:sldId id="2144212626"/>
          </p14:sldIdLst>
        </p14:section>
        <p14:section name="Code snippet-Light" id="{5F472773-7083-1547-B84E-B8D30442EEC4}">
          <p14:sldIdLst>
            <p14:sldId id="2144212627"/>
            <p14:sldId id="2144212628"/>
          </p14:sldIdLst>
        </p14:section>
        <p14:section name="Timelines" id="{8089EE23-4866-FE4C-8CD1-9224659F0115}">
          <p14:sldIdLst>
            <p14:sldId id="2076137311"/>
            <p14:sldId id="2076137253"/>
          </p14:sldIdLst>
        </p14:section>
        <p14:section name="Quote slides" id="{C4B6D4A3-32D6-4D44-B3AB-214305D36A9C}">
          <p14:sldIdLst>
            <p14:sldId id="2076137024"/>
            <p14:sldId id="2076137180"/>
            <p14:sldId id="2076137179"/>
            <p14:sldId id="2076137181"/>
          </p14:sldIdLst>
        </p14:section>
        <p14:section name="Tables on dark" id="{254AE64C-2541-1849-B767-EE7A5CB308AD}">
          <p14:sldIdLst>
            <p14:sldId id="2076136953"/>
            <p14:sldId id="2076136779"/>
            <p14:sldId id="2076137267"/>
            <p14:sldId id="2076137308"/>
            <p14:sldId id="2076137274"/>
          </p14:sldIdLst>
        </p14:section>
        <p14:section name="Tables on light" id="{8925E521-EFE2-A848-80F4-A3BA10BD696C}">
          <p14:sldIdLst>
            <p14:sldId id="2076137324"/>
            <p14:sldId id="2076137325"/>
            <p14:sldId id="2076137326"/>
            <p14:sldId id="2076137309"/>
            <p14:sldId id="2076137273"/>
          </p14:sldIdLst>
        </p14:section>
        <p14:section name="Data Slides" id="{3692E6E5-922D-E148-B0F3-ECE394AA1E76}">
          <p14:sldIdLst>
            <p14:sldId id="2076137018"/>
            <p14:sldId id="2076137193"/>
            <p14:sldId id="2076136811"/>
            <p14:sldId id="2076136814"/>
          </p14:sldIdLst>
        </p14:section>
        <p14:section name="Speaker Live Events" id="{29D58D03-15DE-494A-BA92-D01A754B06C9}">
          <p14:sldIdLst>
            <p14:sldId id="2076137373"/>
            <p14:sldId id="2076137374"/>
            <p14:sldId id="2076137375"/>
            <p14:sldId id="2076137376"/>
          </p14:sldIdLst>
        </p14:section>
        <p14:section name="Speaker-Virtual" id="{8117FF17-02C1-2B46-B541-6179D882FB7C}">
          <p14:sldIdLst>
            <p14:sldId id="2076136929"/>
            <p14:sldId id="2076137225"/>
            <p14:sldId id="2076136930"/>
            <p14:sldId id="2076136931"/>
            <p14:sldId id="2076137004"/>
            <p14:sldId id="2076137294"/>
            <p14:sldId id="2076137338"/>
          </p14:sldIdLst>
        </p14:section>
        <p14:section name="General Safe Harbor" id="{017C8EE4-8F3A-0649-AB13-3E15EAD58397}">
          <p14:sldIdLst>
            <p14:sldId id="2076137351"/>
            <p14:sldId id="2076137354"/>
            <p14:sldId id="2076137195"/>
            <p14:sldId id="2076137341"/>
            <p14:sldId id="2076137379"/>
            <p14:sldId id="2076137353"/>
          </p14:sldIdLst>
        </p14:section>
        <p14:section name="Thank you slides" id="{91935E4A-BFDD-194E-A0F9-091D3F7B5AB4}">
          <p14:sldIdLst>
            <p14:sldId id="2144212621"/>
            <p14:sldId id="2076137158"/>
            <p14:sldId id="2076137210"/>
          </p14:sldIdLst>
        </p14:section>
        <p14:section name="Closing slides" id="{FB14FD5C-EF6B-E84D-AE89-B7BAFD07C8AA}">
          <p14:sldIdLst>
            <p14:sldId id="2144212622"/>
            <p14:sldId id="440"/>
            <p14:sldId id="2076137197"/>
          </p14:sldIdLst>
        </p14:section>
      </p14:sectionLst>
    </p:ext>
    <p:ext uri="{EFAFB233-063F-42B5-8137-9DF3F51BA10A}">
      <p15:sldGuideLst xmlns:p15="http://schemas.microsoft.com/office/powerpoint/2012/main">
        <p15:guide id="1" orient="horz" pos="1526"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3743"/>
    <a:srgbClr val="AE562C"/>
    <a:srgbClr val="2A2F2F"/>
    <a:srgbClr val="ECECEC"/>
    <a:srgbClr val="FFFFFF"/>
    <a:srgbClr val="5F363F"/>
    <a:srgbClr val="E4E1DD"/>
    <a:srgbClr val="F1EFED"/>
    <a:srgbClr val="AEA8A2"/>
    <a:srgbClr val="99AD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08" autoAdjust="0"/>
    <p:restoredTop sz="96271" autoAdjust="0"/>
  </p:normalViewPr>
  <p:slideViewPr>
    <p:cSldViewPr snapToGrid="0" showGuides="1">
      <p:cViewPr varScale="1">
        <p:scale>
          <a:sx n="152" d="100"/>
          <a:sy n="152" d="100"/>
        </p:scale>
        <p:origin x="1016" y="192"/>
      </p:cViewPr>
      <p:guideLst>
        <p:guide orient="horz" pos="1526"/>
        <p:guide pos="3840"/>
      </p:guideLst>
    </p:cSldViewPr>
  </p:slideViewPr>
  <p:outlineViewPr>
    <p:cViewPr>
      <p:scale>
        <a:sx n="33" d="100"/>
        <a:sy n="33" d="100"/>
      </p:scale>
      <p:origin x="0" y="-54472"/>
    </p:cViewPr>
  </p:outlineViewPr>
  <p:notesTextViewPr>
    <p:cViewPr>
      <p:scale>
        <a:sx n="1" d="1"/>
        <a:sy n="1" d="1"/>
      </p:scale>
      <p:origin x="0" y="0"/>
    </p:cViewPr>
  </p:notesTextViewPr>
  <p:sorterViewPr>
    <p:cViewPr>
      <p:scale>
        <a:sx n="83" d="100"/>
        <a:sy n="83" d="100"/>
      </p:scale>
      <p:origin x="0" y="0"/>
    </p:cViewPr>
  </p:sorterViewPr>
  <p:notesViewPr>
    <p:cSldViewPr snapToGrid="0" showGuides="1">
      <p:cViewPr varScale="1">
        <p:scale>
          <a:sx n="87" d="100"/>
          <a:sy n="87" d="100"/>
        </p:scale>
        <p:origin x="4488" y="232"/>
      </p:cViewPr>
      <p:guideLst>
        <p:guide orient="horz" pos="3888"/>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108" Type="http://schemas.openxmlformats.org/officeDocument/2006/relationships/notesMaster" Target="notesMasters/notesMaster1.xml"/><Relationship Id="rId109" Type="http://schemas.openxmlformats.org/officeDocument/2006/relationships/handoutMaster" Target="handoutMasters/handoutMaster1.xml"/><Relationship Id="rId110" Type="http://schemas.openxmlformats.org/officeDocument/2006/relationships/commentAuthors" Target="commentAuthors.xml"/><Relationship Id="rId111" Type="http://schemas.openxmlformats.org/officeDocument/2006/relationships/presProps" Target="presProps.xml"/><Relationship Id="rId112" Type="http://schemas.openxmlformats.org/officeDocument/2006/relationships/viewProps" Target="viewProps.xml"/><Relationship Id="rId113" Type="http://schemas.openxmlformats.org/officeDocument/2006/relationships/theme" Target="theme/theme1.xml"/><Relationship Id="rId114" Type="http://schemas.openxmlformats.org/officeDocument/2006/relationships/tableStyles" Target="tableStyles.xml"/><Relationship Id="rId11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ops/s</c:v>
                </c:pt>
              </c:strCache>
            </c:strRef>
          </c:tx>
          <c:spPr>
            <a:ln>
              <a:noFill/>
            </a:ln>
          </c:spPr>
          <c:dPt>
            <c:idx val="0"/>
            <c:spPr>
              <a:solidFill>
                <a:srgbClr val="00A1B8"/>
              </a:solidFill>
            </c:spPr>
          </c:dPt>
          <c:dPt>
            <c:idx val="1"/>
            <c:spPr>
              <a:solidFill>
                <a:srgbClr val="6DBEE7"/>
              </a:solidFill>
            </c:spPr>
          </c:dPt>
          <c:dPt>
            <c:idx val="2"/>
            <c:spPr>
              <a:solidFill>
                <a:srgbClr val="F19111"/>
              </a:solidFill>
            </c:spPr>
          </c:dPt>
          <c:dPt>
            <c:idx val="3"/>
            <c:spPr>
              <a:solidFill>
                <a:srgbClr val="F0CC72"/>
              </a:solidFill>
            </c:spPr>
          </c:dPt>
          <c:dPt>
            <c:idx val="4"/>
            <c:spPr>
              <a:solidFill>
                <a:srgbClr val="9B6BB5"/>
              </a:solidFill>
            </c:spPr>
          </c:dPt>
          <c:dPt>
            <c:idx val="5"/>
            <c:spPr>
              <a:solidFill>
                <a:srgbClr val="8E9AA6"/>
              </a:solidFill>
            </c:spPr>
          </c:dPt>
          <c:cat>
            <c:strRef>
              <c:f>Sheet1!$A$2:$A$7</c:f>
              <c:strCache>
                <c:ptCount val="6"/>
                <c:pt idx="0">
                  <c:v>Pure Netty</c:v>
                </c:pt>
                <c:pt idx="1">
                  <c:v>Micronaut</c:v>
                </c:pt>
                <c:pt idx="2">
                  <c:v>Pyronaut JVM</c:v>
                </c:pt>
                <c:pt idx="3">
                  <c:v>Pyronaut native</c:v>
                </c:pt>
                <c:pt idx="4">
                  <c:v>Flask + Gunicorn</c:v>
                </c:pt>
                <c:pt idx="5">
                  <c:v>Emmett + Granian</c:v>
                </c:pt>
              </c:strCache>
            </c:strRef>
          </c:cat>
          <c:val>
            <c:numRef>
              <c:f>Sheet1!$B$2:$B$7</c:f>
              <c:numCache>
                <c:formatCode>General</c:formatCode>
                <c:ptCount val="6"/>
                <c:pt idx="0">
                  <c:v>32000</c:v>
                </c:pt>
                <c:pt idx="1">
                  <c:v>32000</c:v>
                </c:pt>
                <c:pt idx="2">
                  <c:v>8000</c:v>
                </c:pt>
                <c:pt idx="3">
                  <c:v>4000</c:v>
                </c:pt>
                <c:pt idx="4">
                  <c:v>4000</c:v>
                </c:pt>
                <c:pt idx="5">
                  <c:v>1000</c:v>
                </c:pt>
              </c:numCache>
            </c:numRef>
          </c:val>
        </c:ser>
        <c:dLbls>
          <c:numFmt formatCode="#,##0" sourceLinked="0"/>
          <c:txPr>
            <a:bodyPr/>
            <a:lstStyle/>
            <a:p>
              <a:pPr>
                <a:defRPr sz="1300" b="1">
                  <a:solidFill>
                    <a:srgbClr val="FFFFF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44525F"/>
            </a:solidFill>
          </a:ln>
        </c:spPr>
        <c:txPr>
          <a:bodyPr/>
          <a:lstStyle/>
          <a:p>
            <a:pPr>
              <a:defRPr sz="1300">
                <a:solidFill>
                  <a:srgbClr val="FFFFFF"/>
                </a:solidFill>
              </a:defRPr>
            </a:pPr>
          </a:p>
        </c:txPr>
        <c:crossAx val="-2113994440"/>
        <c:crosses val="autoZero"/>
        <c:auto val="1"/>
        <c:lblAlgn val="ctr"/>
        <c:lblOffset val="100"/>
        <c:noMultiLvlLbl val="0"/>
      </c:catAx>
      <c:valAx>
        <c:axId val="-2113994440"/>
        <c:scaling>
          <c:max val="38000.0"/>
          <c:min val="0.0"/>
        </c:scaling>
        <c:delete/>
        <c:axPos val="b"/>
        <c:majorTickMark val="out"/>
        <c:minorTickMark val="none"/>
        <c:tickLblPos val="nextTo"/>
        <c:crossAx val="-2068027336"/>
        <c:crosses val="autoZero"/>
      </c:valAx>
    </c:plotArea>
    <c:dispBlanksAs val="gap"/>
  </c:chart>
  <c:txPr>
    <a:bodyPr/>
    <a:lstStyle/>
    <a:p>
      <a:pPr>
        <a:defRPr sz="1300">
          <a:solidFill>
            <a:srgbClr val="A9B7C4"/>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p50</c:v>
                </c:pt>
              </c:strCache>
            </c:strRef>
          </c:tx>
          <c:spPr>
            <a:solidFill>
              <a:srgbClr val="6DBEE7"/>
            </a:solidFill>
            <a:ln>
              <a:noFill/>
            </a:ln>
          </c:spPr>
          <c:cat>
            <c:strRef>
              <c:f>Sheet1!$A$2:$A$7</c:f>
              <c:strCache>
                <c:ptCount val="6"/>
                <c:pt idx="0">
                  <c:v>Netty</c:v>
                </c:pt>
                <c:pt idx="1">
                  <c:v>Micronaut</c:v>
                </c:pt>
                <c:pt idx="2">
                  <c:v>Pyronaut JVM</c:v>
                </c:pt>
                <c:pt idx="3">
                  <c:v>Pyronaut native</c:v>
                </c:pt>
                <c:pt idx="4">
                  <c:v>Flask</c:v>
                </c:pt>
                <c:pt idx="5">
                  <c:v>Granian</c:v>
                </c:pt>
              </c:strCache>
            </c:strRef>
          </c:cat>
          <c:val>
            <c:numRef>
              <c:f>Sheet1!$B$2:$B$7</c:f>
              <c:numCache>
                <c:formatCode>General</c:formatCode>
                <c:ptCount val="6"/>
                <c:pt idx="0">
                  <c:v>276</c:v>
                </c:pt>
                <c:pt idx="1">
                  <c:v>292</c:v>
                </c:pt>
                <c:pt idx="2">
                  <c:v>385</c:v>
                </c:pt>
                <c:pt idx="3">
                  <c:v>662</c:v>
                </c:pt>
                <c:pt idx="4">
                  <c:v>919</c:v>
                </c:pt>
                <c:pt idx="5">
                  <c:v>501</c:v>
                </c:pt>
              </c:numCache>
            </c:numRef>
          </c:val>
        </c:ser>
        <c:ser>
          <c:idx val="1"/>
          <c:order val="1"/>
          <c:tx>
            <c:strRef>
              <c:f>Sheet1!$C$1</c:f>
              <c:strCache>
                <c:ptCount val="1"/>
                <c:pt idx="0">
                  <c:v>p99</c:v>
                </c:pt>
              </c:strCache>
            </c:strRef>
          </c:tx>
          <c:spPr>
            <a:solidFill>
              <a:srgbClr val="3A6F8C"/>
            </a:solidFill>
            <a:ln>
              <a:noFill/>
            </a:ln>
          </c:spPr>
          <c:cat>
            <c:strRef>
              <c:f>Sheet1!$A$2:$A$7</c:f>
              <c:strCache>
                <c:ptCount val="6"/>
                <c:pt idx="0">
                  <c:v>Netty</c:v>
                </c:pt>
                <c:pt idx="1">
                  <c:v>Micronaut</c:v>
                </c:pt>
                <c:pt idx="2">
                  <c:v>Pyronaut JVM</c:v>
                </c:pt>
                <c:pt idx="3">
                  <c:v>Pyronaut native</c:v>
                </c:pt>
                <c:pt idx="4">
                  <c:v>Flask</c:v>
                </c:pt>
                <c:pt idx="5">
                  <c:v>Granian</c:v>
                </c:pt>
              </c:strCache>
            </c:strRef>
          </c:cat>
          <c:val>
            <c:numRef>
              <c:f>Sheet1!$C$2:$C$7</c:f>
              <c:numCache>
                <c:formatCode>General</c:formatCode>
                <c:ptCount val="6"/>
                <c:pt idx="0">
                  <c:v>368</c:v>
                </c:pt>
                <c:pt idx="1">
                  <c:v>384</c:v>
                </c:pt>
                <c:pt idx="2">
                  <c:v>512</c:v>
                </c:pt>
                <c:pt idx="3">
                  <c:v>882</c:v>
                </c:pt>
                <c:pt idx="4">
                  <c:v>1923</c:v>
                </c:pt>
                <c:pt idx="5">
                  <c:v>1296</c:v>
                </c:pt>
              </c:numCache>
            </c:numRef>
          </c:val>
        </c:ser>
        <c:dLbls>
          <c:numFmt formatCode="#,##0" sourceLinked="0"/>
          <c:txPr>
            <a:bodyPr/>
            <a:lstStyle/>
            <a:p>
              <a:pPr>
                <a:defRPr sz="900" b="1">
                  <a:solidFill>
                    <a:srgbClr val="FFFFFF"/>
                  </a:solidFill>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majorTickMark val="out"/>
        <c:minorTickMark val="none"/>
        <c:tickLblPos val="nextTo"/>
        <c:spPr>
          <a:ln>
            <a:solidFill>
              <a:srgbClr val="44525F"/>
            </a:solidFill>
          </a:ln>
        </c:spPr>
        <c:txPr>
          <a:bodyPr/>
          <a:lstStyle/>
          <a:p>
            <a:pPr>
              <a:defRPr sz="1000">
                <a:solidFill>
                  <a:srgbClr val="FFFFFF"/>
                </a:solidFill>
              </a:defRPr>
            </a:pPr>
          </a:p>
        </c:txPr>
        <c:crossAx val="-2113994440"/>
        <c:crosses val="autoZero"/>
        <c:auto val="1"/>
        <c:lblAlgn val="ctr"/>
        <c:lblOffset val="100"/>
        <c:noMultiLvlLbl val="0"/>
      </c:catAx>
      <c:valAx>
        <c:axId val="-2113994440"/>
        <c:scaling>
          <c:max val="2200.0"/>
          <c:min val="0.0"/>
        </c:scaling>
        <c:delete val="0"/>
        <c:axPos val="l"/>
        <c:majorGridlines>
          <c:spPr>
            <a:ln w="9525">
              <a:solidFill>
                <a:srgbClr val="34414D"/>
              </a:solidFill>
            </a:ln>
          </c:spPr>
        </c:majorGridlines>
        <c:numFmt formatCode="#,##0" sourceLinked="0"/>
        <c:majorTickMark val="out"/>
        <c:minorTickMark val="none"/>
        <c:tickLblPos val="nextTo"/>
        <c:spPr>
          <a:ln>
            <a:noFill/>
          </a:ln>
        </c:spPr>
        <c:txPr>
          <a:bodyPr/>
          <a:lstStyle/>
          <a:p>
            <a:pPr>
              <a:defRPr sz="1000">
                <a:solidFill>
                  <a:srgbClr val="7D8B98"/>
                </a:solidFill>
              </a:defRPr>
            </a:pPr>
          </a:p>
        </c:txPr>
        <c:crossAx val="-2068027336"/>
        <c:crosses val="autoZero"/>
      </c:valAx>
    </c:plotArea>
    <c:legend>
      <c:legendPos val="t"/>
      <c:overlay val="0"/>
      <c:txPr>
        <a:bodyPr/>
        <a:lstStyle/>
        <a:p>
          <a:pPr>
            <a:defRPr sz="1100">
              <a:solidFill>
                <a:srgbClr val="FFFFFF"/>
              </a:solidFill>
            </a:defRPr>
          </a:pPr>
        </a:p>
      </c:txPr>
    </c:legend>
    <c:dispBlanksAs val="gap"/>
  </c:chart>
  <c:txPr>
    <a:bodyPr/>
    <a:lstStyle/>
    <a:p>
      <a:pPr>
        <a:defRPr sz="1000">
          <a:solidFill>
            <a:srgbClr val="A9B7C4"/>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p50</c:v>
                </c:pt>
              </c:strCache>
            </c:strRef>
          </c:tx>
          <c:spPr>
            <a:solidFill>
              <a:srgbClr val="6DBEE7"/>
            </a:solidFill>
            <a:ln>
              <a:noFill/>
            </a:ln>
          </c:spPr>
          <c:cat>
            <c:strRef>
              <c:f>Sheet1!$A$2:$A$6</c:f>
              <c:strCache>
                <c:ptCount val="5"/>
                <c:pt idx="0">
                  <c:v>Netty</c:v>
                </c:pt>
                <c:pt idx="1">
                  <c:v>Micronaut</c:v>
                </c:pt>
                <c:pt idx="2">
                  <c:v>Pyronaut JVM</c:v>
                </c:pt>
                <c:pt idx="3">
                  <c:v>Pyronaut native</c:v>
                </c:pt>
                <c:pt idx="4">
                  <c:v>Flask</c:v>
                </c:pt>
              </c:strCache>
            </c:strRef>
          </c:cat>
          <c:val>
            <c:numRef>
              <c:f>Sheet1!$B$2:$B$6</c:f>
              <c:numCache>
                <c:formatCode>General</c:formatCode>
                <c:ptCount val="5"/>
                <c:pt idx="0">
                  <c:v>268</c:v>
                </c:pt>
                <c:pt idx="1">
                  <c:v>282</c:v>
                </c:pt>
                <c:pt idx="2">
                  <c:v>385</c:v>
                </c:pt>
                <c:pt idx="3">
                  <c:v>742</c:v>
                </c:pt>
                <c:pt idx="4">
                  <c:v>1234</c:v>
                </c:pt>
              </c:numCache>
            </c:numRef>
          </c:val>
        </c:ser>
        <c:ser>
          <c:idx val="1"/>
          <c:order val="1"/>
          <c:tx>
            <c:strRef>
              <c:f>Sheet1!$C$1</c:f>
              <c:strCache>
                <c:ptCount val="1"/>
                <c:pt idx="0">
                  <c:v>p99</c:v>
                </c:pt>
              </c:strCache>
            </c:strRef>
          </c:tx>
          <c:spPr>
            <a:solidFill>
              <a:srgbClr val="3A6F8C"/>
            </a:solidFill>
            <a:ln>
              <a:noFill/>
            </a:ln>
          </c:spPr>
          <c:cat>
            <c:strRef>
              <c:f>Sheet1!$A$2:$A$6</c:f>
              <c:strCache>
                <c:ptCount val="5"/>
                <c:pt idx="0">
                  <c:v>Netty</c:v>
                </c:pt>
                <c:pt idx="1">
                  <c:v>Micronaut</c:v>
                </c:pt>
                <c:pt idx="2">
                  <c:v>Pyronaut JVM</c:v>
                </c:pt>
                <c:pt idx="3">
                  <c:v>Pyronaut native</c:v>
                </c:pt>
                <c:pt idx="4">
                  <c:v>Flask</c:v>
                </c:pt>
              </c:strCache>
            </c:strRef>
          </c:cat>
          <c:val>
            <c:numRef>
              <c:f>Sheet1!$C$2:$C$6</c:f>
              <c:numCache>
                <c:formatCode>General</c:formatCode>
                <c:ptCount val="5"/>
                <c:pt idx="0">
                  <c:v>354</c:v>
                </c:pt>
                <c:pt idx="1">
                  <c:v>378</c:v>
                </c:pt>
                <c:pt idx="2">
                  <c:v>544</c:v>
                </c:pt>
                <c:pt idx="3">
                  <c:v>1775</c:v>
                </c:pt>
                <c:pt idx="4">
                  <c:v>5784</c:v>
                </c:pt>
              </c:numCache>
            </c:numRef>
          </c:val>
        </c:ser>
        <c:dLbls>
          <c:numFmt formatCode="#,##0" sourceLinked="0"/>
          <c:txPr>
            <a:bodyPr/>
            <a:lstStyle/>
            <a:p>
              <a:pPr>
                <a:defRPr sz="900" b="1">
                  <a:solidFill>
                    <a:srgbClr val="FFFFFF"/>
                  </a:solidFill>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majorTickMark val="out"/>
        <c:minorTickMark val="none"/>
        <c:tickLblPos val="nextTo"/>
        <c:spPr>
          <a:ln>
            <a:solidFill>
              <a:srgbClr val="44525F"/>
            </a:solidFill>
          </a:ln>
        </c:spPr>
        <c:txPr>
          <a:bodyPr/>
          <a:lstStyle/>
          <a:p>
            <a:pPr>
              <a:defRPr sz="1000">
                <a:solidFill>
                  <a:srgbClr val="FFFFFF"/>
                </a:solidFill>
              </a:defRPr>
            </a:pPr>
          </a:p>
        </c:txPr>
        <c:crossAx val="-2113994440"/>
        <c:crosses val="autoZero"/>
        <c:auto val="1"/>
        <c:lblAlgn val="ctr"/>
        <c:lblOffset val="100"/>
        <c:noMultiLvlLbl val="0"/>
      </c:catAx>
      <c:valAx>
        <c:axId val="-2113994440"/>
        <c:scaling>
          <c:max val="6500.0"/>
          <c:min val="0.0"/>
        </c:scaling>
        <c:delete val="0"/>
        <c:axPos val="l"/>
        <c:majorGridlines>
          <c:spPr>
            <a:ln w="9525">
              <a:solidFill>
                <a:srgbClr val="34414D"/>
              </a:solidFill>
            </a:ln>
          </c:spPr>
        </c:majorGridlines>
        <c:numFmt formatCode="#,##0" sourceLinked="0"/>
        <c:majorTickMark val="out"/>
        <c:minorTickMark val="none"/>
        <c:tickLblPos val="nextTo"/>
        <c:spPr>
          <a:ln>
            <a:noFill/>
          </a:ln>
        </c:spPr>
        <c:txPr>
          <a:bodyPr/>
          <a:lstStyle/>
          <a:p>
            <a:pPr>
              <a:defRPr sz="1000">
                <a:solidFill>
                  <a:srgbClr val="7D8B98"/>
                </a:solidFill>
              </a:defRPr>
            </a:pPr>
          </a:p>
        </c:txPr>
        <c:crossAx val="-2068027336"/>
        <c:crosses val="autoZero"/>
      </c:valAx>
    </c:plotArea>
    <c:legend>
      <c:legendPos val="t"/>
      <c:overlay val="0"/>
      <c:txPr>
        <a:bodyPr/>
        <a:lstStyle/>
        <a:p>
          <a:pPr>
            <a:defRPr sz="1100">
              <a:solidFill>
                <a:srgbClr val="FFFFFF"/>
              </a:solidFill>
            </a:defRPr>
          </a:pPr>
        </a:p>
      </c:txPr>
    </c:legend>
    <c:dispBlanksAs val="gap"/>
  </c:chart>
  <c:txPr>
    <a:bodyPr/>
    <a:lstStyle/>
    <a:p>
      <a:pPr>
        <a:defRPr sz="1000">
          <a:solidFill>
            <a:srgbClr val="A9B7C4"/>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Pure Netty</c:v>
                </c:pt>
              </c:strCache>
            </c:strRef>
          </c:tx>
          <c:spPr>
            <a:solidFill>
              <a:srgbClr val="00A1B8"/>
            </a:solidFill>
            <a:ln>
              <a:noFill/>
            </a:ln>
          </c:spPr>
          <c:cat>
            <c:strRef>
              <c:f>Sheet1!$A$2:$A$4</c:f>
              <c:strCache>
                <c:ptCount val="3"/>
                <c:pt idx="0">
                  <c:v>1,000 ops/s</c:v>
                </c:pt>
                <c:pt idx="1">
                  <c:v>4,000 ops/s</c:v>
                </c:pt>
                <c:pt idx="2">
                  <c:v>8,000 ops/s</c:v>
                </c:pt>
              </c:strCache>
            </c:strRef>
          </c:cat>
          <c:val>
            <c:numRef>
              <c:f>Sheet1!$B$2:$B$4</c:f>
              <c:numCache>
                <c:formatCode>General</c:formatCode>
                <c:ptCount val="3"/>
                <c:pt idx="0">
                  <c:v>0.92</c:v>
                </c:pt>
                <c:pt idx="1">
                  <c:v>3.4</c:v>
                </c:pt>
                <c:pt idx="2">
                  <c:v>6.55</c:v>
                </c:pt>
              </c:numCache>
            </c:numRef>
          </c:val>
        </c:ser>
        <c:ser>
          <c:idx val="1"/>
          <c:order val="1"/>
          <c:tx>
            <c:strRef>
              <c:f>Sheet1!$C$1</c:f>
              <c:strCache>
                <c:ptCount val="1"/>
                <c:pt idx="0">
                  <c:v>Micronaut</c:v>
                </c:pt>
              </c:strCache>
            </c:strRef>
          </c:tx>
          <c:spPr>
            <a:solidFill>
              <a:srgbClr val="6DBEE7"/>
            </a:solidFill>
            <a:ln>
              <a:noFill/>
            </a:ln>
          </c:spPr>
          <c:cat>
            <c:strRef>
              <c:f>Sheet1!$A$2:$A$4</c:f>
              <c:strCache>
                <c:ptCount val="3"/>
                <c:pt idx="0">
                  <c:v>1,000 ops/s</c:v>
                </c:pt>
                <c:pt idx="1">
                  <c:v>4,000 ops/s</c:v>
                </c:pt>
                <c:pt idx="2">
                  <c:v>8,000 ops/s</c:v>
                </c:pt>
              </c:strCache>
            </c:strRef>
          </c:cat>
          <c:val>
            <c:numRef>
              <c:f>Sheet1!$C$2:$C$4</c:f>
              <c:numCache>
                <c:formatCode>General</c:formatCode>
                <c:ptCount val="3"/>
                <c:pt idx="0">
                  <c:v>1.13</c:v>
                </c:pt>
                <c:pt idx="1">
                  <c:v>4.21</c:v>
                </c:pt>
                <c:pt idx="2">
                  <c:v>8.17</c:v>
                </c:pt>
              </c:numCache>
            </c:numRef>
          </c:val>
        </c:ser>
        <c:ser>
          <c:idx val="2"/>
          <c:order val="2"/>
          <c:tx>
            <c:strRef>
              <c:f>Sheet1!$D$1</c:f>
              <c:strCache>
                <c:ptCount val="1"/>
                <c:pt idx="0">
                  <c:v>Pyronaut JVM</c:v>
                </c:pt>
              </c:strCache>
            </c:strRef>
          </c:tx>
          <c:spPr>
            <a:solidFill>
              <a:srgbClr val="F19111"/>
            </a:solidFill>
            <a:ln>
              <a:noFill/>
            </a:ln>
          </c:spPr>
          <c:cat>
            <c:strRef>
              <c:f>Sheet1!$A$2:$A$4</c:f>
              <c:strCache>
                <c:ptCount val="3"/>
                <c:pt idx="0">
                  <c:v>1,000 ops/s</c:v>
                </c:pt>
                <c:pt idx="1">
                  <c:v>4,000 ops/s</c:v>
                </c:pt>
                <c:pt idx="2">
                  <c:v>8,000 ops/s</c:v>
                </c:pt>
              </c:strCache>
            </c:strRef>
          </c:cat>
          <c:val>
            <c:numRef>
              <c:f>Sheet1!$D$2:$D$4</c:f>
              <c:numCache>
                <c:formatCode>General</c:formatCode>
                <c:ptCount val="3"/>
                <c:pt idx="0">
                  <c:v>3.0</c:v>
                </c:pt>
                <c:pt idx="1">
                  <c:v>11.8</c:v>
                </c:pt>
                <c:pt idx="2">
                  <c:v>24.49</c:v>
                </c:pt>
              </c:numCache>
            </c:numRef>
          </c:val>
        </c:ser>
        <c:dLbls>
          <c:numFmt formatCode="0.0&quot;%&quot;" sourceLinked="0"/>
          <c:txPr>
            <a:bodyPr/>
            <a:lstStyle/>
            <a:p>
              <a:pPr>
                <a:defRPr sz="1100" b="1">
                  <a:solidFill>
                    <a:srgbClr val="FFFFFF"/>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44525F"/>
            </a:solidFill>
          </a:ln>
        </c:spPr>
        <c:txPr>
          <a:bodyPr/>
          <a:lstStyle/>
          <a:p>
            <a:pPr>
              <a:defRPr sz="1200">
                <a:solidFill>
                  <a:srgbClr val="FFFFFF"/>
                </a:solidFill>
              </a:defRPr>
            </a:pPr>
          </a:p>
        </c:txPr>
        <c:crossAx val="-2113994440"/>
        <c:crosses val="autoZero"/>
        <c:auto val="1"/>
        <c:lblAlgn val="ctr"/>
        <c:lblOffset val="100"/>
        <c:noMultiLvlLbl val="0"/>
      </c:catAx>
      <c:valAx>
        <c:axId val="-2113994440"/>
        <c:scaling>
          <c:max val="28.0"/>
          <c:min val="0.0"/>
        </c:scaling>
        <c:delete val="0"/>
        <c:axPos val="l"/>
        <c:majorGridlines>
          <c:spPr>
            <a:ln w="9525">
              <a:solidFill>
                <a:srgbClr val="34414D"/>
              </a:solidFill>
            </a:ln>
          </c:spPr>
        </c:majorGridlines>
        <c:numFmt formatCode="0.0&quot;%&quot;" sourceLinked="0"/>
        <c:majorTickMark val="out"/>
        <c:minorTickMark val="none"/>
        <c:tickLblPos val="nextTo"/>
        <c:spPr>
          <a:ln>
            <a:noFill/>
          </a:ln>
        </c:spPr>
        <c:txPr>
          <a:bodyPr/>
          <a:lstStyle/>
          <a:p>
            <a:pPr>
              <a:defRPr sz="1000">
                <a:solidFill>
                  <a:srgbClr val="7D8B98"/>
                </a:solidFill>
              </a:defRPr>
            </a:pPr>
          </a:p>
        </c:txPr>
        <c:crossAx val="-2068027336"/>
        <c:crosses val="autoZero"/>
      </c:valAx>
    </c:plotArea>
    <c:legend>
      <c:legendPos val="t"/>
      <c:overlay val="0"/>
      <c:txPr>
        <a:bodyPr/>
        <a:lstStyle/>
        <a:p>
          <a:pPr>
            <a:defRPr sz="1100">
              <a:solidFill>
                <a:srgbClr val="FFFFFF"/>
              </a:solidFill>
            </a:defRPr>
          </a:pPr>
        </a:p>
      </c:txPr>
    </c:legend>
    <c:dispBlanksAs val="gap"/>
  </c:chart>
  <c:txPr>
    <a:bodyPr/>
    <a:lstStyle/>
    <a:p>
      <a:pPr>
        <a:defRPr sz="1200">
          <a:solidFill>
            <a:srgbClr val="A9B7C4"/>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mn-lt"/>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mn-lt"/>
              </a:defRPr>
            </a:lvl1pPr>
          </a:lstStyle>
          <a:p>
            <a:fld id="{4F9C25BA-F9B0-4418-8CA0-3A9DF1256BA5}" type="datetimeFigureOut">
              <a:rPr lang="en-US" smtClean="0"/>
              <a:pPr/>
              <a:t>6/17/25</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mn-lt"/>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mn-lt"/>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0:35]  (0:35)</a:t>
            </a:r>
          </a:p>
          <a:p>
            <a:r>
              <a:t>Welcome. This is a technical session for the Micronaut engineering team about Pyronaut — Python on Micronaut — which hasn't been released yet.</a:t>
            </a:r>
          </a:p>
          <a:p>
            <a:r>
              <a:t>Rather than a product pitch, I want to walk through what it actually took to bring a new language to the framework: the problems we hit, and how each one was solved. Everything here is based on the implementation in micronaut-core and the Pyronaut CLI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2:00]  (1:25)</a:t>
            </a:r>
          </a:p>
          <a:p>
            <a:r>
              <a:t>The smallest Pyronaut application: a module with one decorated function. `pyronaut dev app.py` compiles it, starts a Netty server on port 8080, reloads when the file changes, returns JSON, and generates an OpenAPI description with Swagger UI.</a:t>
            </a:r>
          </a:p>
          <a:p>
            <a:r>
              <a:t>The decorator is not a Flask-style runtime registration. `Get` is Micronaut's `@Get` annotation, and everything that happens behind it — routing, serialization, validation — is generated at build time, exactly like Java.</a:t>
            </a:r>
          </a:p>
          <a:p>
            <a:r>
              <a:t>That is the promise: ordinary Python, the whole Micronaut framework. The rest of this talk is how we made that true.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3:25]  (1:25)</a:t>
            </a:r>
          </a:p>
          <a:p>
            <a:r>
              <a:t>Why build this? The Pyronaut site says it best: stop assembling your Python backend.</a:t>
            </a:r>
          </a:p>
          <a:p>
            <a:r>
              <a:t>A typical production Python service is FastAPI or Flask, plus Uvicorn or Gunicorn, Pydantic and pydantic-settings, pytest with Testcontainers fixtures, structlog, an OpenAPI setup, a Dockerfile and CI templates. Each piece is good; the integration work is yours, and every team does it slightly differently.</a:t>
            </a:r>
          </a:p>
          <a:p>
            <a:r>
              <a:t>Micronaut already solves that integration problem for Java. Pyronaut gives Python developers the same single application model — and gives Java developers an easy way to incorporate Python.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 – 4:20]  (0:55)</a:t>
            </a:r>
          </a:p>
          <a:p>
            <a:r>
              <a:t>I've organised the talk around seven challenges. The first three are about the language itself: seeing Python at compile time, making Java annotations work as Python decorators, and crossing the boundary between Java and Python objects.</a:t>
            </a:r>
          </a:p>
          <a:p>
            <a:r>
              <a:t>Then concurrency and the GIL. Then two things that are easy to underestimate: the developer experience for people who are not Java developers, and startup and distribution with Native Image and Crema.</a:t>
            </a:r>
          </a:p>
          <a:p>
            <a:r>
              <a:t>We finish with performance data, today's limitations, and lessons that apply to any language we might bring to Micronaut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 4:30]  (0:10)</a:t>
            </a:r>
          </a:p>
          <a:p>
            <a:r>
              <a:t>Section 1. Micronaut does its work at compile time. That means we can't just run Python; we have to compile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 7:15]  (2:45)</a:t>
            </a:r>
          </a:p>
          <a:p>
            <a:r>
              <a:t>Here's the whole pipeline. `pyronaut process` invokes PyronautCompiler, which generates a tiny Java class annotated with @PythonApplication pointing at the Python sources, and runs javac over it together with any Java sources.</a:t>
            </a:r>
          </a:p>
          <a:p>
            <a:r>
              <a:t>javac runs Micronaut's annotation processors. PythonAnnotationProcessor handles @PythonApplication — and at that point we're inside the Java compiler, where it creates a GraalPy context. The processing scripts themselves are Python files shipped inside the jar through GraalPy's virtual filesystem.</a:t>
            </a:r>
          </a:p>
          <a:p>
            <a:r>
              <a:t>In that context, MicronautTransformer — an ast.NodeTransformer — rewrites imports so Java annotations become decorators; MicronautAstVisitor — an ast.NodeVisitor — walks the code and calls back into Java with model records. Those become Python*Element implementations of Micronaut's language-neutral Element API.</a:t>
            </a:r>
          </a:p>
          <a:p>
            <a:r>
              <a:t>From there it's the normal Micronaut compiler: the DI writer, AOP, Serde, validation, Micronaut Data, OpenAPI. PythonStubGenerator emits bridge classes with SourceGen, and the transformed Python is compiled to bytecode. The key design point: after the Element step nothing is Python-specific.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[7:15 – 9:35]  (2:20)</a:t>
            </a:r>
          </a:p>
          <a:p>
            <a:r>
              <a:t>The first key decision: we don't parse Python in Java. Writing and maintaining a Python parser — plus type-hint semantics — would be an endless chase. Instead we embed GraalPy in the compiler and use Python's own `ast` module.</a:t>
            </a:r>
          </a:p>
          <a:p>
            <a:r>
              <a:t>On the Java side, PythonAstParser builds a GraalPy context from a virtual filesystem inside the jar, with host access so Python can see Micronaut's model classes. It puts a callback, the sources and the visitor context into the bindings, and evaluates the processor script.</a:t>
            </a:r>
          </a:p>
          <a:p>
            <a:r>
              <a:t>On the Python side, MicronautAstVisitor is an ordinary `ast.NodeVisitor`. It uses `java.type` to get the Java record classes — ClassDef, FunctionDef, DecoratorDef and so on — constructs them directly, and hands them back through the callback.</a:t>
            </a:r>
          </a:p>
          <a:p>
            <a:r>
              <a:t>Two practical notes: short-lived incremental builds tune the engine for latency with one compiler thread, and the optional compiler daemon keeps initialized GraalPy sessions warm so we don't pay context startup on every `pyronaut process`.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[9:35 – 11:25]  (1:50)</a:t>
            </a:r>
          </a:p>
          <a:p>
            <a:r>
              <a:t>The visitor builds a small Java model — plain records — and those are wrapped as implementations of Micronaut's Element API: PythonClassElement, PythonMethodElement, PythonPropertyElement and so on.</a:t>
            </a:r>
          </a:p>
          <a:p>
            <a:r>
              <a:t>Dataclasses and typed attributes become fields and properties; Annotated metadata attaches annotations to fields and parameters; decorators become AnnotationMetadata; type hints like `list[Message] | None` become generic ClassElements with nullability. Module-level functions become a PythonScriptElement — that's how classless route modules work.</a:t>
            </a:r>
          </a:p>
          <a:p>
            <a:r>
              <a:t>This is the payoff of the language-neutral compiler architecture we talked about in the technical overview: Micronaut Data's repository visitor, Serde, validation and OpenAPI don't know they're processing Python.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[11:25 – 13:15]  (1:50)</a:t>
            </a:r>
          </a:p>
          <a:p>
            <a:r>
              <a:t>Two consequences of going through the compiler.</a:t>
            </a:r>
          </a:p>
          <a:p>
            <a:r>
              <a:t>First, the output. We don't ship raw source for the runtime to re-transform. The transformed AST is compiled with Python's own `compile` inside the compiler's GraalPy context and written as hash-based .pyc — magic number plus source hash — into the GraalPy virtual filesystem next to the classes. PythonBytecodeCompiler does this without needing a Python launcher or a writable Python filesystem.</a:t>
            </a:r>
          </a:p>
          <a:p>
            <a:r>
              <a:t>Second, the constraints. Python is dynamic; Micronaut's processor is static. Decorators have to be visible to the processor, forward references between classes should be quoted — `"Room | None"` — so type metadata resolves during processing, and incremental processing builds its dependency graph from statically visible imports and types. That's a real trade-off we explain in the docs, and it's the same trade Micronaut makes in Java: in exchange you get errors at build time and fast startup.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 – 13:25]  (0:10)</a:t>
            </a:r>
          </a:p>
          <a:p>
            <a:r>
              <a:t>Section 2. The goal: a Python developer should be able to take any Micronaut annotation from the docs and use it as a decorator.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[13:25 – 15:45]  (2:20)</a:t>
            </a:r>
          </a:p>
          <a:p>
            <a:r>
              <a:t>How do Java annotations become decorators? MicronautTransformer rewrites imports. When you import from a Java package and the name resolves to an annotation type, it generates a Python function with that name.</a:t>
            </a:r>
          </a:p>
          <a:p>
            <a:r>
              <a:t>The generated decorator is marked with the fully qualified annotation name, carries its meta-annotations — `Get` is meta-annotated with `HttpMethodMapping`, so that decorator is generated too — and at runtime it's just an identity function. All the meaning was captured at build time into AnnotationMetadata.</a:t>
            </a:r>
          </a:p>
          <a:p>
            <a:r>
              <a:t>A few details made it feel natural: the decorator works bare or called, and uses the caller's frame to tell `@Foo` apart from `@Foo(some_value)`. The `io.` prefix is dropped because `io` is a Python standard-library module. Python keywords get a trailing underscore — `global_`, `async_`, `Flux.from_` — and map back to the Java name. And annotations Java applies to fields or parameters are expressed with `typing.Annotated`.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[15:45 – 17:10]  (1:25)</a:t>
            </a:r>
          </a:p>
          <a:p>
            <a:r>
              <a:t>The same `from ... import ...` statement can mean three things, and the transformer asks the compiler's visitor context which one it is.</a:t>
            </a:r>
          </a:p>
          <a:p>
            <a:r>
              <a:t>If the name is a Java annotation, you get a generated decorator. If it's a regular Java class, the import becomes a `java.type(...)` reference, so `Duration.ofSeconds(5)` just works. And if it's a Python module, it's left alone.</a:t>
            </a:r>
          </a:p>
          <a:p>
            <a:r>
              <a:t>Java objects then behave like Python objects thanks to GraalPy interop — method calls, indexing, iteration. The missing piece for developers is the editor, which is why `pyronaut install` generates stubs so Pylance and PyCharm understand decorators, injected beans and Java classes.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[17:10 – 17:20]  (0:10)</a:t>
            </a:r>
          </a:p>
          <a:p>
            <a:r>
              <a:t>Section 3. Now the harder part: Java and Python objects have to cross back and forth on every request.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[17:20 – 19:10]  (1:50)</a:t>
            </a:r>
          </a:p>
          <a:p>
            <a:r>
              <a:t>Here's the core problem. GraalPy is a Truffle language, and Truffle's polyglot API is essentially reflection: you look up members by string name, call `newInstance`, `getMember`, `invokeMember`, and everything is a `Value`.</a:t>
            </a:r>
          </a:p>
          <a:p>
            <a:r>
              <a:t>That's great for scripting, but Micronaut is built on static types. The bean definition writer needs a class; introspections need typed properties; validation and Serde need property types; routes and repositories need generic signatures; and native image wants closed-world code.</a:t>
            </a:r>
          </a:p>
          <a:p>
            <a:r>
              <a:t>So for each Python type the processor generates a bridge class: a real Java type that Micronaut can wire, introspect and proxy, which delegates to the underlying polyglot Value. The core docs measure the cost of a bridge call at about 0.4 microseconds with the Graal compiler, and about 1 microsecond on an interpreted-only JVM.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[19:10 – 21:30]  (2:20)</a:t>
            </a:r>
          </a:p>
          <a:p>
            <a:r>
              <a:t>A simplified generated bridge, based on what the compiler spec asserts about real output. The Python class is referenced by a PythonClassReference; constructing the Java type creates the Python instance through PythonContextRuntime; properties mirror the dataclass, and setters convert values — here a list of Message bridges converted element by element.</a:t>
            </a:r>
          </a:p>
          <a:p>
            <a:r>
              <a:t>The bridge implements ValueCoercible, so Java code holds a strongly typed wrapper while GraalPy can still interact with the original Python object — no copying. `fromPolyglotValue` goes the other way, and the processor generates a TargetTypeMapping bean for each stub so HostAccess can convert automatically.</a:t>
            </a:r>
          </a:p>
          <a:p>
            <a:r>
              <a:t>Method calls go through PythonInvocation, which enters an execution frame for the receiver's context — that's what lets graceful shutdown and the context pool know a context is busy — and falls back to Python's MRO and descriptor protocol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[21:30 – 23:50]  (2:20)</a:t>
            </a:r>
          </a:p>
          <a:p>
            <a:r>
              <a:t>Java developers take boxing and unboxing for granted. Across a language boundary you have to build it, in both directions, and it runs on every call.</a:t>
            </a:r>
          </a:p>
          <a:p>
            <a:r>
              <a:t>Python to Java uses GraalVM HostAccess target type mappings: the standard-library types — date, time, datetime, timedelta, timezone and UUID — map to their java.time and java.util equivalents; lists, dicts and sets convert element by element; None becomes null or an empty Optional; and an instance of a Python class resolves to its generated bridge type.</a:t>
            </a:r>
          </a:p>
          <a:p>
            <a:r>
              <a:t>Java to Python is PythonCoercion: the same standard types go back to real Python datetime and UUID objects, bridge wrappers are unwrapped to the original Python object rather than copied, collections are coerced per element, and a CompletionStage can be awaited from `async def`.</a:t>
            </a:r>
          </a:p>
          <a:p>
            <a:r>
              <a:t>The maintainer rules are in the javadoc: keep these paths free of lookups and string formatting; None is null; host objects pass through; wrappers unwrap; and a conversion that can't be done throws — it never quietly drops an element. Time-zone-aware datetimes are rejected rather than losing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[23:50 – 24:00]  (0:10)</a:t>
            </a:r>
          </a:p>
          <a:p>
            <a:r>
              <a:t>Section 4. Concurrency — where the JVM and Python have very different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[24:00 – 25:25]  (1:25)</a:t>
            </a:r>
          </a:p>
          <a:p>
            <a:r>
              <a:t>GraalPy, like CPython, has a global interpreter lock — per context. Micronaut's threading model assumes many threads: Netty event loops plus executor pools.</a:t>
            </a:r>
          </a:p>
          <a:p>
            <a:r>
              <a:t>The lock is released while calling into Java or doing I/O, so a Python route that mostly waits on a JDBC query or an HTTP call scales fine. But two requests executing Python bytecode in the same context take turns.</a:t>
            </a:r>
          </a:p>
          <a:p>
            <a:r>
              <a:t>And there's a second constraint that surprised us: GraalPy can't currently run Python code on Java virtual threads — which Micronaut uses for its blocking executor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[25:25 – 27:45]  (2:20)</a:t>
            </a:r>
          </a:p>
          <a:p>
            <a:r>
              <a:t>The key insight: unlike CPython, one JVM can host many GraalPy contexts, each with its own lock, sharing one Engine so compiled code is reused.</a:t>
            </a:r>
          </a:p>
          <a:p>
            <a:r>
              <a:t>The runtime has a primary context created at startup, a pool of additional contexts created lazily — twice the number of processors by default — and, when the asyncio bridge is on, one dedicated context per Netty event loop that runs coroutines.</a:t>
            </a:r>
          </a:p>
          <a:p>
            <a:r>
              <a:t>Bridge calls borrow a context and return it. Route modules get the @ContextPooled scope automatically, so they're instantiated once per context; state that must be shared belongs in a @Singleton. The honest trade-off: module globals are per context, which is why pooling is marked experimental.</a:t>
            </a:r>
          </a:p>
          <a:p>
            <a:r>
              <a:t>To tune it there's `warn-wait` logging and a `pythonpool` management endpoint: growing waits mean the pool is too small; idle contexts close to the pooled count mean it's too big.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[27:45 – 29:10]  (1:25)</a:t>
            </a:r>
          </a:p>
          <a:p>
            <a:r>
              <a:t>The other half of concurrency is deciding which thread runs Python. In Java, Micronaut runs controller methods on the event loop unless annotated. Python code usually can't tell us it's non-blocking, so there's a Python-specific executor selector, similar to how FastAPI decides.</a:t>
            </a:r>
          </a:p>
          <a:p>
            <a:r>
              <a:t>Plain `def` routes run on the io executor, so ordinary code — a JDBC repository call, reading a file — can't block the event loop. `async def` routes run on the Netty event loop that received the request, bound to a Micronaut-managed asyncio loop, and coroutines can await Java CompletionStages and publishers directly.</a:t>
            </a:r>
          </a:p>
          <a:p>
            <a:r>
              <a:t>And because GraalPy can't run on virtual threads, Pyronaut sets the io and blocking executors to cached platform threads by default.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[29:10 – 29:20]  (0:10)</a:t>
            </a:r>
          </a:p>
          <a:p>
            <a:r>
              <a:t>Section 5. Once Python worked inside the framework, we had a different problem: the people we want to reach don't use Gradle, Maven or IntelliJ run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[29:20 – 31:00]  (1:40)</a:t>
            </a:r>
          </a:p>
          <a:p>
            <a:r>
              <a:t>Here's the lesson we learned early: a Python developer evaluates a framework through their tools before they ever look at dependency injection.</a:t>
            </a:r>
          </a:p>
          <a:p>
            <a:r>
              <a:t>They expect pip and a virtual environment; Pyronaut ships as an SDK wheel, and `pyronaut setup` provisions the GraalVM toolchain and native launchers under ~/.pyronaut, so nobody has to install a JDK by hand.</a:t>
            </a:r>
          </a:p>
          <a:p>
            <a:r>
              <a:t>They expect pyproject.toml, so that's where Java dependencies and project layout live. They expect to run a file, so direct-source execution works with no project at all. They expect pytest, completion in their editor, and no Java build tool in sight.</a:t>
            </a:r>
          </a:p>
          <a:p>
            <a:r>
              <a:t>Every one of those became engineering work — which is what the next few slides cover.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[31:00 – 32:40]  (1:40)</a:t>
            </a:r>
          </a:p>
          <a:p>
            <a:r>
              <a:t>Architecturally, the `pyronaut` command is a Python orchestrator — about nine thousand lines of CLI — that delegates to focused executables: install resolves Maven dependencies and generates stubs and schemas; the processor runs javac with GraalPy; dev, run and test; the JAR and native builders; config validation; and the Test Resources server.</a:t>
            </a:r>
          </a:p>
          <a:p>
            <a:r>
              <a:t>That separation keeps dependency resolution, processing, execution and native-image orchestration deterministic and independently testable.</a:t>
            </a:r>
          </a:p>
          <a:p>
            <a:r>
              <a:t>Each tool can run on the JVM, or — with the native toolchain — through `pyronaut-dev`, a single native binary that bundles javac, the Micronaut compiler and GraalPy. `pyronaut create` goes through Micronaut Launch, with reflection-dependent and JVM-only features filtered out of the catalog.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[32:40 – 34:20]  (1:40)</a:t>
            </a:r>
          </a:p>
          <a:p>
            <a:r>
              <a:t>We deliberately didn't invent a new project file. Python metadata stays in the standard `[project]` table, and Python packages are installed with pip as usual.</a:t>
            </a:r>
          </a:p>
          <a:p>
            <a:r>
              <a:t>Everything Java-specific sits under `[tool.pyronaut]`: repositories, and dependencies by scope — runtime, build for annotation processors, and test. Micronaut coordinates can be versionless because they're managed by the Micronaut BOMs.</a:t>
            </a:r>
          </a:p>
          <a:p>
            <a:r>
              <a:t>The default layout is familiar to Python developers: `src` and `tests`, with optional `src-java` and `test-java` for Java code compiled in the same run, `config` for application configuration, and a generated `__pyronaut__` directory for outputs, stubs and caches.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[34:20 – 35:55]  (1:35)</a:t>
            </a:r>
          </a:p>
          <a:p>
            <a:r>
              <a:t>For one-file applications there's no pyproject.toml at all. You declare Maven dependencies, configuration and repositories directly in the source with `Dependency`, `AppConfig` and `MavenRepository` — the same model Java direct-source files get with repeatable annotations.</a:t>
            </a:r>
          </a:p>
          <a:p>
            <a:r>
              <a:t>Then any Java class is a normal Python import: `from org.apache.commons.lang3 import StringUtils`.</a:t>
            </a:r>
          </a:p>
          <a:p>
            <a:r>
              <a:t>The declarations are resolved like Maven dependencies — scopes, BOMs, exclusions — and fingerprinted in `__pyronaut__`, so an unchanged file doesn't resolve again. And if a runtime dependency needs configuration that isn't supplied, like a datasource URL, `pyronaut dev` starts Test Resources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[35:55 – 37:35]  (1:40)</a:t>
            </a:r>
          </a:p>
          <a:p>
            <a:r>
              <a:t>Python developers write pytest. Rather than build a second test runner, we made pytest a JUnit Platform engine: PytestTestEngine is registered through the standard TestEngine service, discovers tests by parsing test modules with the AST, and runs pytest inside GraalPy.</a:t>
            </a:r>
          </a:p>
          <a:p>
            <a:r>
              <a:t>That means one `pyronaut test` invocation runs Python and Java tests together, produces standard JUnit XML reports, and works with the JUnit tooling we already have — including Test Resources.</a:t>
            </a:r>
          </a:p>
          <a:p>
            <a:r>
              <a:t>The `micronaut_test_fixture` mirrors `@MicronautTest`: environments, properties, packages and SQL scripts. One known gap: the per-test transaction rollback lifecycle isn't driven by the pytest fixture yet — use a JUnit-style Python module when you need that.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[37:35 – 39:10]  (1:35)</a:t>
            </a:r>
          </a:p>
          <a:p>
            <a:r>
              <a:t>Embedding GraalPy in the compiler has a cost: initializing a Python context and loading our transformer scripts takes time, and doing it on every change would kill the edit-refresh loop.</a:t>
            </a:r>
          </a:p>
          <a:p>
            <a:r>
              <a:t>So there's incremental processing, which narrows the affected source set, and an optional compiler daemon that keeps up to four initialized Python processing sessions — one per compiler classpath — listening only on loopback with a per-daemon token. `pyronaut dev` watches sources and restarts.</a:t>
            </a:r>
          </a:p>
          <a:p>
            <a:r>
              <a:t>On the editor side: generated stubs so completion works for Micronaut annotations and Java types, JSON schemas and `validate-config` so configuration mistakes show up before startup, and a VS Code extension with a Test Explorer — not on the Marketplace yet, and without debug or coverage profiles today.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[39:10 – 39:20]  (0:10)</a:t>
            </a:r>
          </a:p>
          <a:p>
            <a:r>
              <a:t>Section 6. Startup time matters twice for us: for applications, and for the CLI tooling itself.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[39:20 – 40:45]  (1:25)</a:t>
            </a:r>
          </a:p>
          <a:p>
            <a:r>
              <a:t>There are two toolchains with the classic trade-offs. JVM: slower startup, more memory, broad library compatibility, best peak performance. Native: faster startup and lower memory, some libraries need reachability metadata, and peak performance needs PGO.</a:t>
            </a:r>
          </a:p>
          <a:p>
            <a:r>
              <a:t>Importantly, the toolchain setting controls how the CLI tools run, not what you deploy. You can use native tooling on your laptop and ship a JVM wheel, or the reverse.</a:t>
            </a:r>
          </a:p>
          <a:p>
            <a:r>
              <a:t>Native tooling matters because every dev restart, test run and direct `run` starts a compiler and a Python runtime. The native bundles aren't in the SDK wheel; they're downloaded per OS and architecture on first use, and direct execution picks native by default.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[40:45 – 42:55]  (2:10)</a:t>
            </a:r>
          </a:p>
          <a:p>
            <a:r>
              <a:t>Crema is what makes native practical for a dynamic language runtime. A normal closed-world native image runs full native-image analysis on every application build, and every application must satisfy closed-world rules for reflection, proxies and resources.</a:t>
            </a:r>
          </a:p>
          <a:p>
            <a:r>
              <a:t>Crema flips that around. `pyronaut build --native-base` builds a reusable native production runtime once — for Python that's `pyronaut-run-python`, with GraalPy, Truffle and the Logback integration, compiled with `-H:+RuntimeClassLoading` and without compilers or test libraries. Application builds then just package processed classes, dependencies, configuration and schemas, loaded at runtime.</a:t>
            </a:r>
          </a:p>
          <a:p>
            <a:r>
              <a:t>You keep native startup without paying for native-image analysis on every change, and the base can be shared as a Docker layer. The same idea powers the `pyronaut-dev` tooling binary, which needs to load user annotation processors.</a:t>
            </a:r>
          </a:p>
          <a:p>
            <a:r>
              <a:t>Seven packaging formats in total; `wheel-jvm` is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[42:55 – 44:55]  (2:00)</a:t>
            </a:r>
          </a:p>
          <a:p>
            <a:r>
              <a:t>Let me be candid about Crema, because it's the least mature part of the stack.</a:t>
            </a:r>
          </a:p>
          <a:p>
            <a:r>
              <a:t>First, not all code runs the same yet: code loaded at runtime doesn't always behave exactly as it does on HotSpot, and we still find differences. Second, there's no G1 collector, which matters for throughput-oriented services. Third, builds are long and difficult — an image containing GraalPy, Truffle and javac needs large machines, so it depends on internal CI. Fourth, distributing large per-platform binaries is its own problem. And fifth, performance: as the next section shows, native trails the JVM today.</a:t>
            </a:r>
          </a:p>
          <a:p>
            <a:r>
              <a:t>We still invest because the startup and memory wins are exactly what makes the tooling feel like a Python tool, and one shared base serves many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 – 45:05]  (0:10)</a:t>
            </a:r>
          </a:p>
          <a:p>
            <a:r>
              <a:t>Section 7. Numbers. These come from the Oracle Labs benchmark run on September 8th.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 – 46:00]  (0:55)</a:t>
            </a:r>
          </a:p>
          <a:p>
            <a:r>
              <a:t>The setup: HTTP/2 over TLS, a POST to a search endpoint, on a three-CPU OCI flex VM. The load generator drives fixed request rates from 100 up to 64,000 operations per second and records latency percentiles and CPU.</a:t>
            </a:r>
          </a:p>
          <a:p>
            <a:r>
              <a:t>Six servers: pure Netty as the hand-written Java ceiling, a Micronaut Java application, Pyronaut on HotSpot and as a native image, and two CPython stacks — Flask on Gunicorn, and Emmett on Granian, which has a Rust server.</a:t>
            </a:r>
          </a:p>
          <a:p>
            <a:r>
              <a:t>One caveat up front: profiling was enabled and this is a single run, so treat it as directional.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[46:00 – 47:35]  (1:35)</a:t>
            </a:r>
          </a:p>
          <a:p>
            <a:r>
              <a:t>First question: how much load can each one sustain? The rates are tested in steps, so read these as "the highest step it kept up with".</a:t>
            </a:r>
          </a:p>
          <a:p>
            <a:r>
              <a:t>Netty and Micronaut both handle 32,000 ops/s on three CPUs — Micronaut is right at the Netty ceiling, which is nice to see.</a:t>
            </a:r>
          </a:p>
          <a:p>
            <a:r>
              <a:t>Pyronaut on the JVM sustains 8,000 — twice Flask on Gunicorn and eight times Emmett on Granian. Pyronaut native sustains 4,000, level with Flask.</a:t>
            </a:r>
          </a:p>
          <a:p>
            <a:r>
              <a:t>And the honest comparison: that's a quarter of the same framework in Java. The HTTP stack is identical — the difference is the cost of executing Python and crossing into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[47:35 – 49:25]  (1:50)</a:t>
            </a:r>
          </a:p>
          <a:p>
            <a:r>
              <a:t>Latency, in microseconds. At 1,000 ops/s, Pyronaut on the JVM has a median of 385 µs and a p99 of 512 — about 100 µs over Micronaut at the median, and 3.8 times lower than Flask at p99. Granian's median looks fine, but its p99.9 at this rate was 308 milliseconds.</a:t>
            </a:r>
          </a:p>
          <a:p>
            <a:r>
              <a:t>At 4,000 ops/s, Granian is gone, Flask's p99 has climbed to 5.8 milliseconds, and Pyronaut JVM is essentially flat at 544 µs — over ten times lower.</a:t>
            </a:r>
          </a:p>
          <a:p>
            <a:r>
              <a:t>Native is the outlier in our own numbers: a 662 µs median at 1k, and at 4k its p99 rises to 1.8 ms and p99.9 to 4.1 ms. That lines up with the collector and PGO points from the previous section.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[49:25 – 50:50]  (1:25)</a:t>
            </a:r>
          </a:p>
          <a:p>
            <a:r>
              <a:t>CPU explains the throughput ceiling. For the same request rate, Pyronaut on the JVM burns roughly three times the CPU of the Micronaut Java application — 2.7× at 1k rising to 3.0× at 8k.</a:t>
            </a:r>
          </a:p>
          <a:p>
            <a:r>
              <a:t>At 16,000 ops/s it was using 65% of the machine and falling behind, while Micronaut was at 17%.</a:t>
            </a:r>
          </a:p>
          <a:p>
            <a:r>
              <a:t>That extra CPU is most likely the work we add: running Python code, bridge calls and conversions on every request, and borrowing contexts from the pool. These measurements were only recorded for the JVM runs, so I don't have the native equivalent here.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[50:50 – 53:10]  (2:20)</a:t>
            </a:r>
          </a:p>
          <a:p>
            <a:r>
              <a:t>Putting JVM and native side by side: native sustains half the rate, pays about 1.7× at the median and roughly four times at p99.9 at 4k. In exchange you get fast startup and a smaller memory footprint — which is why native is the right answer for tooling and short-lived workloads, and the JVM is the right answer for sustained throughput today.</a:t>
            </a:r>
          </a:p>
          <a:p>
            <a:r>
              <a:t>What can still be done? The obvious lever is profile-guided optimization, and the toolchain table already says native peak performance requires it. The build already supports it for pyronaut-dev: an instrumented native build, run the functional tests to produce a .iprof profile, then rebuild with the profile. The catch is that it doubles the number of native-image builds, on builds that are already long and CI-bound.</a:t>
            </a:r>
          </a:p>
          <a:p>
            <a:r>
              <a:t>Beyond PGO: GIL-free GraalPy would remove the need for context pools, G1 for native would help tails, and there's work to reduce the number and cost of boundary crossings per request.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[53:10 – 55:30]  (2:20)</a:t>
            </a:r>
          </a:p>
          <a:p>
            <a:r>
              <a:t>Today's limitations, each with what to use instead.</a:t>
            </a:r>
          </a:p>
          <a:p>
            <a:r>
              <a:t>Native extensions: wheels built for CPython aren't binary-compatible with GraalPy, so native code needs GraalPy-specific builds, and support is experimental. Pydantic 2 depends on pydantic-core, which is Rust, and it doesn't work reliably in our multithreaded scenarios — use Micronaut Validation.</a:t>
            </a:r>
          </a:p>
          <a:p>
            <a:r>
              <a:t>Anything built on Java reflection over application classes — Hibernate, Jackson databind — doesn't work, because a Python class isn't a Java class with fields; that's exactly why Micronaut Data and Micronaut Serialization, which generate at build time, do. `pyronaut create` removes reflection-dependent features.</a:t>
            </a:r>
          </a:p>
          <a:p>
            <a:r>
              <a:t>The GIL: parallelism comes from context pools, with per-context globals. No virtual threads. Static processing means what the compiler can't see at build time — runtime metaprogramming — doesn't participate. And the platform story: macOS and Linux, Crema experimental.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[55:30 – 56:35]  (1:05)</a:t>
            </a:r>
          </a:p>
          <a:p>
            <a:r>
              <a:t>Where this goes next. Several of the biggest limits move with GraalPy itself: GIL-free execution and virtual-thread support are expected in a future release, and when they land, the pooling recommendations get revisited.</a:t>
            </a:r>
          </a:p>
          <a:p>
            <a:r>
              <a:t>On Native Image and Crema: behaviour parity, a G1 collector, and PGO-optimized bases. On tooling: publishing the VS Code extension with debug and coverage, and faster processing. And in the framework: fewer boundary crossings per request and pool defaults driven by real workloads.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[56:35 – 58:10]  (1:35)</a:t>
            </a:r>
          </a:p>
          <a:p>
            <a:r>
              <a:t>Four lessons that apply to whatever language comes next.</a:t>
            </a:r>
          </a:p>
          <a:p>
            <a:r>
              <a:t>One: the decision years ago to separate the language AST from the runtime paid off. Once Python implemented the Element API, Data, Serialization, Validation and OpenAPI worked without Python-specific code.</a:t>
            </a:r>
          </a:p>
          <a:p>
            <a:r>
              <a:t>Two: use the language's own tools. We used Python's own ast module, pytest and pyproject.toml, and avoided writing a parser or a test runner.</a:t>
            </a:r>
          </a:p>
          <a:p>
            <a:r>
              <a:t>Three: foreign-language interop is a reflection API. Micronaut's answer to reflection has always been to generate code at build time — bridges are the same idea.</a:t>
            </a:r>
          </a:p>
          <a:p>
            <a:r>
              <a:t>Four: tooling is half the product. Python developers meet the CLI, their editor and pytest long before they meet dependency injection.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a:t>
            </a:r>
          </a:p>
          <a:p>
            <a:r>
              <a:t>Q&amp;A. Good prompts if it's quiet: Which other GraalVM language would benefit most from this approach? Where should bridge generation get smarter? What would it take to make Crema the default for tooling?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emf"/><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emf"/><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10.png"/><Relationship Id="rId5"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11.png"/><Relationship Id="rId5"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emf"/><Relationship Id="rId4" Type="http://schemas.openxmlformats.org/officeDocument/2006/relationships/image" Target="../media/image12.png"/><Relationship Id="rId5"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13.png"/><Relationship Id="rId5"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14.png"/><Relationship Id="rId5"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 Id="rId4" Type="http://schemas.openxmlformats.org/officeDocument/2006/relationships/image" Target="../media/image15.png"/><Relationship Id="rId5"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 Id="rId3"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6.png"/><Relationship Id="rId4" Type="http://schemas.openxmlformats.org/officeDocument/2006/relationships/image" Target="../media/image24.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514C47"/>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514C47"/>
                </a:solidFill>
                <a:latin typeface="+mn-lt"/>
              </a:defRPr>
            </a:lvl1pPr>
          </a:lstStyle>
          <a:p>
            <a:r>
              <a:rPr lang="en-US"/>
              <a:t>Copyright © 2025,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514C47"/>
                </a:solidFill>
                <a:latin typeface="+mn-lt"/>
              </a:defRPr>
            </a:lvl1pPr>
          </a:lstStyle>
          <a:p>
            <a:r>
              <a:rPr lang="en-US"/>
              <a:t>[Date]</a:t>
            </a:r>
            <a:endParaRPr lang="en-US" dirty="0"/>
          </a:p>
        </p:txBody>
      </p:sp>
    </p:spTree>
    <p:extLst>
      <p:ext uri="{BB962C8B-B14F-4D97-AF65-F5344CB8AC3E}">
        <p14:creationId xmlns:p14="http://schemas.microsoft.com/office/powerpoint/2010/main" val="35775670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 Title 1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AEA8A2"/>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AEA8A2"/>
                </a:solidFill>
                <a:latin typeface="+mn-lt"/>
              </a:defRPr>
            </a:lvl1pPr>
          </a:lstStyle>
          <a:p>
            <a:r>
              <a:rPr lang="en-US"/>
              <a:t>[Date]</a:t>
            </a:r>
            <a:endParaRPr lang="en-US" dirty="0"/>
          </a:p>
        </p:txBody>
      </p:sp>
      <p:sp>
        <p:nvSpPr>
          <p:cNvPr id="3" name="Title 1">
            <a:extLst>
              <a:ext uri="{FF2B5EF4-FFF2-40B4-BE49-F238E27FC236}">
                <a16:creationId xmlns:a16="http://schemas.microsoft.com/office/drawing/2014/main" id="{36739B43-C450-F835-7092-F37273F28CC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5155026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lvl1pPr>
              <a:defRPr>
                <a:solidFill>
                  <a:srgbClr val="514C47"/>
                </a:solidFill>
              </a:defRPr>
            </a:lvl1pPr>
          </a:lstStyle>
          <a:p>
            <a:r>
              <a:rPr lang="en-US"/>
              <a:t>[Date]</a:t>
            </a:r>
            <a:endParaRPr lang="en-US" dirty="0"/>
          </a:p>
        </p:txBody>
      </p:sp>
      <p:sp>
        <p:nvSpPr>
          <p:cNvPr id="3" name="Subtitle">
            <a:extLst>
              <a:ext uri="{FF2B5EF4-FFF2-40B4-BE49-F238E27FC236}">
                <a16:creationId xmlns:a16="http://schemas.microsoft.com/office/drawing/2014/main" id="{B28271ED-B1CF-9F0D-4AA0-883D80DEDBF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33179959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5801076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 Title/Sub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
        <p:nvSpPr>
          <p:cNvPr id="7" name="Subtitle">
            <a:extLst>
              <a:ext uri="{FF2B5EF4-FFF2-40B4-BE49-F238E27FC236}">
                <a16:creationId xmlns:a16="http://schemas.microsoft.com/office/drawing/2014/main" id="{1C3705B9-F5B6-D7DA-A986-BD252292278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6E20D12-1316-3177-701A-67F81626368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Subtitle">
            <a:extLst>
              <a:ext uri="{FF2B5EF4-FFF2-40B4-BE49-F238E27FC236}">
                <a16:creationId xmlns:a16="http://schemas.microsoft.com/office/drawing/2014/main" id="{491B9BE2-1C80-DD0F-2348-944405667FA4}"/>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Column Divider">
            <a:extLst>
              <a:ext uri="{FF2B5EF4-FFF2-40B4-BE49-F238E27FC236}">
                <a16:creationId xmlns:a16="http://schemas.microsoft.com/office/drawing/2014/main" id="{EF021091-A040-8AC0-0501-04709D496D73}"/>
              </a:ext>
              <a:ext uri="{C183D7F6-B498-43B3-948B-1728B52AA6E4}">
                <adec:decorative xmlns:adec="http://schemas.microsoft.com/office/drawing/2017/decorative" val="1"/>
              </a:ext>
            </a:extLst>
          </p:cNvPr>
          <p:cNvCxnSpPr>
            <a:cxnSpLocks/>
          </p:cNvCxnSpPr>
          <p:nvPr userDrawn="1"/>
        </p:nvCxnSpPr>
        <p:spPr>
          <a:xfrm>
            <a:off x="6096000"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7440551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Title/Subtitle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lnSpc>
                <a:spcPct val="100000"/>
              </a:lnSpc>
              <a:defRPr/>
            </a:lvl1pPr>
          </a:lstStyle>
          <a:p>
            <a:r>
              <a:rPr lang="en-US" dirty="0"/>
              <a:t>Title</a:t>
            </a:r>
          </a:p>
        </p:txBody>
      </p:sp>
      <p:sp>
        <p:nvSpPr>
          <p:cNvPr id="11" name="Subtitle">
            <a:extLst>
              <a:ext uri="{FF2B5EF4-FFF2-40B4-BE49-F238E27FC236}">
                <a16:creationId xmlns:a16="http://schemas.microsoft.com/office/drawing/2014/main" id="{AC6B64F9-2DA0-A690-C71E-B99D471B02D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CC34BF80-B5D4-D7B6-8CCA-80AF04A72B45}"/>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a:extLst>
              <a:ext uri="{FF2B5EF4-FFF2-40B4-BE49-F238E27FC236}">
                <a16:creationId xmlns:a16="http://schemas.microsoft.com/office/drawing/2014/main" id="{C0573275-C70D-AE89-EF3D-A7DAC9B01BE7}"/>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2CF00143-3379-1D5D-5D8F-463C800F8EA1}"/>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lvl1pPr>
              <a:defRPr>
                <a:solidFill>
                  <a:srgbClr val="514C47"/>
                </a:solidFill>
              </a:defRPr>
            </a:lvl1p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406420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EEBF987F-38F4-709F-2C5C-6A33F92ABAC2}"/>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C8007CC0-7806-5000-E1A2-EE5C157D0752}"/>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a:extLst>
              <a:ext uri="{FF2B5EF4-FFF2-40B4-BE49-F238E27FC236}">
                <a16:creationId xmlns:a16="http://schemas.microsoft.com/office/drawing/2014/main" id="{67D5716D-0077-0121-818A-02B0496ECCC9}"/>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3705370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514C47"/>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514C47"/>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514C47"/>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1" name="Subtitle">
            <a:extLst>
              <a:ext uri="{FF2B5EF4-FFF2-40B4-BE49-F238E27FC236}">
                <a16:creationId xmlns:a16="http://schemas.microsoft.com/office/drawing/2014/main" id="{C9A0F016-4DAC-1E29-77F1-0AE34075820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913024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userDrawn="1"/>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userDrawn="1"/>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757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230751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Tit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2338531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ubtitle">
            <a:extLst>
              <a:ext uri="{FF2B5EF4-FFF2-40B4-BE49-F238E27FC236}">
                <a16:creationId xmlns:a16="http://schemas.microsoft.com/office/drawing/2014/main" id="{120DA5B7-17E8-2CF4-4B51-F677DF6CE73C}"/>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3118533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 Title/Subtit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6362097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043354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 Blan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2210150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 3 Icons, Subhead and text">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sp>
        <p:nvSpPr>
          <p:cNvPr id="9" name="Footer Placeholder 8">
            <a:extLst>
              <a:ext uri="{FF2B5EF4-FFF2-40B4-BE49-F238E27FC236}">
                <a16:creationId xmlns:a16="http://schemas.microsoft.com/office/drawing/2014/main" id="{F59CF6BC-7A2F-38D3-C1EA-BEA6C37D79F5}"/>
              </a:ext>
            </a:extLst>
          </p:cNvPr>
          <p:cNvSpPr>
            <a:spLocks noGrp="1"/>
          </p:cNvSpPr>
          <p:nvPr>
            <p:ph type="ftr" sz="quarter" idx="40"/>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2E05EDD9-0672-4EB4-1B16-92CEDEB1EFE7}"/>
              </a:ext>
            </a:extLst>
          </p:cNvPr>
          <p:cNvSpPr>
            <a:spLocks noGrp="1"/>
          </p:cNvSpPr>
          <p:nvPr>
            <p:ph type="sldNum" sz="quarter" idx="41"/>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7B180CC4-74E6-A0D5-4CC7-34ABAEAABDF5}"/>
              </a:ext>
            </a:extLst>
          </p:cNvPr>
          <p:cNvSpPr>
            <a:spLocks noGrp="1"/>
          </p:cNvSpPr>
          <p:nvPr>
            <p:ph type="dt" sz="half" idx="39"/>
          </p:nvPr>
        </p:nvSpPr>
        <p:spPr/>
        <p:txBody>
          <a:bodyPr/>
          <a:lstStyle>
            <a:lvl1pPr>
              <a:defRPr>
                <a:solidFill>
                  <a:srgbClr val="514C47"/>
                </a:solidFill>
              </a:defRPr>
            </a:lvl1pPr>
          </a:lstStyle>
          <a:p>
            <a:r>
              <a:rPr lang="en-US"/>
              <a:t>[Date]</a:t>
            </a:r>
            <a:endParaRPr lang="en-US" dirty="0"/>
          </a:p>
        </p:txBody>
      </p:sp>
      <p:sp>
        <p:nvSpPr>
          <p:cNvPr id="4" name="Title 1">
            <a:extLst>
              <a:ext uri="{FF2B5EF4-FFF2-40B4-BE49-F238E27FC236}">
                <a16:creationId xmlns:a16="http://schemas.microsoft.com/office/drawing/2014/main" id="{F1EE7CC2-3DC4-3A0E-DFCB-453F03D3DB1D}"/>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32663600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 3 Icons, Subhead and tex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userDrawn="1"/>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userDrawn="1"/>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in.</a:t>
            </a:r>
            <a:endParaRPr lang="en-US" dirty="0"/>
          </a:p>
        </p:txBody>
      </p:sp>
      <p:sp>
        <p:nvSpPr>
          <p:cNvPr id="11" name="Slide Number Placeholder 10">
            <a:extLst>
              <a:ext uri="{FF2B5EF4-FFF2-40B4-BE49-F238E27FC236}">
                <a16:creationId xmlns:a16="http://schemas.microsoft.com/office/drawing/2014/main" id="{B35F74D1-A7D7-71F7-1C83-85B91CC54A17}"/>
              </a:ext>
            </a:extLst>
          </p:cNvPr>
          <p:cNvSpPr>
            <a:spLocks noGrp="1"/>
          </p:cNvSpPr>
          <p:nvPr>
            <p:ph type="sldNum" sz="quarter" idx="44"/>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9">
            <a:extLst>
              <a:ext uri="{FF2B5EF4-FFF2-40B4-BE49-F238E27FC236}">
                <a16:creationId xmlns:a16="http://schemas.microsoft.com/office/drawing/2014/main" id="{AB744A76-3388-A794-015D-56031177D79D}"/>
              </a:ext>
            </a:extLst>
          </p:cNvPr>
          <p:cNvSpPr>
            <a:spLocks noGrp="1"/>
          </p:cNvSpPr>
          <p:nvPr>
            <p:ph type="ftr" sz="quarter" idx="43"/>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9" name="Date Placeholder 8">
            <a:extLst>
              <a:ext uri="{FF2B5EF4-FFF2-40B4-BE49-F238E27FC236}">
                <a16:creationId xmlns:a16="http://schemas.microsoft.com/office/drawing/2014/main" id="{064EFACD-32BB-A724-F5A6-DF8C6A5C3279}"/>
              </a:ext>
            </a:extLst>
          </p:cNvPr>
          <p:cNvSpPr>
            <a:spLocks noGrp="1"/>
          </p:cNvSpPr>
          <p:nvPr>
            <p:ph type="dt" sz="half" idx="42"/>
          </p:nvPr>
        </p:nvSpPr>
        <p:spPr/>
        <p:txBody>
          <a:bodyPr/>
          <a:lstStyle>
            <a:lvl1pPr>
              <a:defRPr>
                <a:solidFill>
                  <a:srgbClr val="AEA8A2"/>
                </a:solidFill>
              </a:defRPr>
            </a:lvl1pPr>
          </a:lstStyle>
          <a:p>
            <a:r>
              <a:rPr lang="en-US"/>
              <a:t>[Date]</a:t>
            </a:r>
            <a:endParaRPr lang="en-US" dirty="0"/>
          </a:p>
        </p:txBody>
      </p:sp>
      <p:sp>
        <p:nvSpPr>
          <p:cNvPr id="2" name="Title 1">
            <a:extLst>
              <a:ext uri="{FF2B5EF4-FFF2-40B4-BE49-F238E27FC236}">
                <a16:creationId xmlns:a16="http://schemas.microsoft.com/office/drawing/2014/main" id="{715DEEB5-6ACE-E85C-517E-E2D4FF357203}"/>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4390873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 4 Icons, Subhead and text">
    <p:bg>
      <p:bgRef idx="1001">
        <a:schemeClr val="bg2"/>
      </p:bgRef>
    </p:bg>
    <p:spTree>
      <p:nvGrpSpPr>
        <p:cNvPr id="1" name=""/>
        <p:cNvGrpSpPr/>
        <p:nvPr/>
      </p:nvGrpSpPr>
      <p:grpSpPr>
        <a:xfrm>
          <a:off x="0" y="0"/>
          <a:ext cx="0" cy="0"/>
          <a:chOff x="0" y="0"/>
          <a:chExt cx="0" cy="0"/>
        </a:xfrm>
      </p:grpSpPr>
      <p:sp>
        <p:nvSpPr>
          <p:cNvPr id="3" name="Icon 1">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Column 1 Header">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Column 1 body">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5" name="Divider 1">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7" name="Icon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8" name="Column 2 header">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9" name="Column 2 body">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0" name="Icon 3">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1" name="Column 3 header">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2" name="Column 3 body">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6" name="Divider 3">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3" name="Icon 4">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4" name="Column 4 header">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5" name="Column 4 body">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10" name="Slide Number Placeholder 9">
            <a:extLst>
              <a:ext uri="{FF2B5EF4-FFF2-40B4-BE49-F238E27FC236}">
                <a16:creationId xmlns:a16="http://schemas.microsoft.com/office/drawing/2014/main" id="{3A79F2A5-B307-E6C2-A0A7-C9D34E2F7467}"/>
              </a:ext>
            </a:extLst>
          </p:cNvPr>
          <p:cNvSpPr>
            <a:spLocks noGrp="1"/>
          </p:cNvSpPr>
          <p:nvPr>
            <p:ph type="sldNum" sz="quarter" idx="53"/>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670E38B5-BB46-6801-B170-496504D1B9E3}"/>
              </a:ext>
            </a:extLst>
          </p:cNvPr>
          <p:cNvSpPr>
            <a:spLocks noGrp="1"/>
          </p:cNvSpPr>
          <p:nvPr>
            <p:ph type="dt" sz="half" idx="51"/>
          </p:nvPr>
        </p:nvSpPr>
        <p:spPr/>
        <p:txBody>
          <a:bodyPr/>
          <a:lstStyle>
            <a:lvl1pPr>
              <a:defRPr>
                <a:solidFill>
                  <a:srgbClr val="514C47"/>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C810DC55-90E5-32A0-7237-3A10A7B16970}"/>
              </a:ext>
            </a:extLst>
          </p:cNvPr>
          <p:cNvSpPr>
            <a:spLocks noGrp="1"/>
          </p:cNvSpPr>
          <p:nvPr>
            <p:ph type="ftr" sz="quarter" idx="52"/>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2" name="Title 1">
            <a:extLst>
              <a:ext uri="{FF2B5EF4-FFF2-40B4-BE49-F238E27FC236}">
                <a16:creationId xmlns:a16="http://schemas.microsoft.com/office/drawing/2014/main" id="{5C9513D9-54CD-33BE-8D41-C32CFC28EABB}"/>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360833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 4 Icons, Subhead and tex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7FE990-B651-C3E7-8034-84F4271BB4CF}"/>
              </a:ext>
            </a:extLst>
          </p:cNvPr>
          <p:cNvSpPr>
            <a:spLocks noGrp="1"/>
          </p:cNvSpPr>
          <p:nvPr>
            <p:ph type="dt" sz="half" idx="51"/>
          </p:nvPr>
        </p:nvSpPr>
        <p:spPr/>
        <p:txBody>
          <a:bodyPr/>
          <a:lstStyle>
            <a:lvl1pPr>
              <a:defRPr>
                <a:solidFill>
                  <a:srgbClr val="AEA8A2"/>
                </a:solidFill>
              </a:defRPr>
            </a:lvl1pPr>
          </a:lstStyle>
          <a:p>
            <a:r>
              <a:rPr lang="en-US"/>
              <a:t>[Date]</a:t>
            </a:r>
            <a:endParaRPr lang="en-US" dirty="0"/>
          </a:p>
        </p:txBody>
      </p:sp>
      <p:sp>
        <p:nvSpPr>
          <p:cNvPr id="4" name="Footer Placeholder 3">
            <a:extLst>
              <a:ext uri="{FF2B5EF4-FFF2-40B4-BE49-F238E27FC236}">
                <a16:creationId xmlns:a16="http://schemas.microsoft.com/office/drawing/2014/main" id="{CC0667AA-D964-7DEA-B216-0851D801CFAB}"/>
              </a:ext>
            </a:extLst>
          </p:cNvPr>
          <p:cNvSpPr>
            <a:spLocks noGrp="1"/>
          </p:cNvSpPr>
          <p:nvPr>
            <p:ph type="ftr" sz="quarter" idx="52"/>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EDF8007B-6F90-BFD8-9495-D7278DE9E432}"/>
              </a:ext>
            </a:extLst>
          </p:cNvPr>
          <p:cNvSpPr>
            <a:spLocks noGrp="1"/>
          </p:cNvSpPr>
          <p:nvPr>
            <p:ph type="sldNum" sz="quarter" idx="53"/>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8" name="Icon 1">
            <a:extLst>
              <a:ext uri="{FF2B5EF4-FFF2-40B4-BE49-F238E27FC236}">
                <a16:creationId xmlns:a16="http://schemas.microsoft.com/office/drawing/2014/main" id="{D7B5CD21-4DD7-F936-8109-65AA2FAAABD3}"/>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Column 1 Header">
            <a:extLst>
              <a:ext uri="{FF2B5EF4-FFF2-40B4-BE49-F238E27FC236}">
                <a16:creationId xmlns:a16="http://schemas.microsoft.com/office/drawing/2014/main" id="{10EEDB7A-9A85-DC86-94E9-0E2F22B43885}"/>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Column 1 body">
            <a:extLst>
              <a:ext uri="{FF2B5EF4-FFF2-40B4-BE49-F238E27FC236}">
                <a16:creationId xmlns:a16="http://schemas.microsoft.com/office/drawing/2014/main" id="{02016CD8-41CD-C86E-0617-6004BF4F7960}"/>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2" name="Divider 1">
            <a:extLst>
              <a:ext uri="{FF2B5EF4-FFF2-40B4-BE49-F238E27FC236}">
                <a16:creationId xmlns:a16="http://schemas.microsoft.com/office/drawing/2014/main" id="{EC2B660E-7263-4036-6661-495FCCE47117}"/>
              </a:ext>
              <a:ext uri="{C183D7F6-B498-43B3-948B-1728B52AA6E4}">
                <adec:decorative xmlns:adec="http://schemas.microsoft.com/office/drawing/2017/decorative" val="1"/>
              </a:ext>
            </a:extLst>
          </p:cNvPr>
          <p:cNvCxnSpPr>
            <a:cxnSpLocks/>
          </p:cNvCxnSpPr>
          <p:nvPr userDrawn="1"/>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Icon 2">
            <a:extLst>
              <a:ext uri="{FF2B5EF4-FFF2-40B4-BE49-F238E27FC236}">
                <a16:creationId xmlns:a16="http://schemas.microsoft.com/office/drawing/2014/main" id="{7A362649-C49E-B2E0-1EBB-6B4205DADC7B}"/>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6" name="Column 2 header">
            <a:extLst>
              <a:ext uri="{FF2B5EF4-FFF2-40B4-BE49-F238E27FC236}">
                <a16:creationId xmlns:a16="http://schemas.microsoft.com/office/drawing/2014/main" id="{11DD71F6-9080-E444-6D28-1CA7EAA2CCF5}"/>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7" name="Column 2 body">
            <a:extLst>
              <a:ext uri="{FF2B5EF4-FFF2-40B4-BE49-F238E27FC236}">
                <a16:creationId xmlns:a16="http://schemas.microsoft.com/office/drawing/2014/main" id="{8C5083C1-91B0-590A-D3D4-4F47F054BC4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69AD4ECD-9629-E5C4-D3F3-9498E300DA0C}"/>
              </a:ext>
              <a:ext uri="{C183D7F6-B498-43B3-948B-1728B52AA6E4}">
                <adec:decorative xmlns:adec="http://schemas.microsoft.com/office/drawing/2017/decorative" val="1"/>
              </a:ext>
            </a:extLst>
          </p:cNvPr>
          <p:cNvCxnSpPr>
            <a:cxnSpLocks/>
          </p:cNvCxnSpPr>
          <p:nvPr userDrawn="1"/>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9" name="Icon 3">
            <a:extLst>
              <a:ext uri="{FF2B5EF4-FFF2-40B4-BE49-F238E27FC236}">
                <a16:creationId xmlns:a16="http://schemas.microsoft.com/office/drawing/2014/main" id="{7EE9209C-55AF-784B-DB4D-42B6F5641729}"/>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0" name="Column 3 header">
            <a:extLst>
              <a:ext uri="{FF2B5EF4-FFF2-40B4-BE49-F238E27FC236}">
                <a16:creationId xmlns:a16="http://schemas.microsoft.com/office/drawing/2014/main" id="{CC2AE930-51E3-48D8-9C76-AD88C016BFFF}"/>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1" name="Column 3 body">
            <a:extLst>
              <a:ext uri="{FF2B5EF4-FFF2-40B4-BE49-F238E27FC236}">
                <a16:creationId xmlns:a16="http://schemas.microsoft.com/office/drawing/2014/main" id="{625601CC-C6AD-511C-CE3E-73A412076FBC}"/>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32" name="Divider 3">
            <a:extLst>
              <a:ext uri="{FF2B5EF4-FFF2-40B4-BE49-F238E27FC236}">
                <a16:creationId xmlns:a16="http://schemas.microsoft.com/office/drawing/2014/main" id="{B4995F09-2120-F77A-C9EE-2D85540F410B}"/>
              </a:ext>
              <a:ext uri="{C183D7F6-B498-43B3-948B-1728B52AA6E4}">
                <adec:decorative xmlns:adec="http://schemas.microsoft.com/office/drawing/2017/decorative" val="1"/>
              </a:ext>
            </a:extLst>
          </p:cNvPr>
          <p:cNvCxnSpPr>
            <a:cxnSpLocks/>
          </p:cNvCxnSpPr>
          <p:nvPr userDrawn="1"/>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3" name="Icon 4">
            <a:extLst>
              <a:ext uri="{FF2B5EF4-FFF2-40B4-BE49-F238E27FC236}">
                <a16:creationId xmlns:a16="http://schemas.microsoft.com/office/drawing/2014/main" id="{1D5109BD-DD12-1F75-C31F-D6C059B1A8E2}"/>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4" name="Column 4 header">
            <a:extLst>
              <a:ext uri="{FF2B5EF4-FFF2-40B4-BE49-F238E27FC236}">
                <a16:creationId xmlns:a16="http://schemas.microsoft.com/office/drawing/2014/main" id="{E473564E-FA78-F033-3F28-5FD25256A1FE}"/>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5" name="Column 4 body">
            <a:extLst>
              <a:ext uri="{FF2B5EF4-FFF2-40B4-BE49-F238E27FC236}">
                <a16:creationId xmlns:a16="http://schemas.microsoft.com/office/drawing/2014/main" id="{BDE27B49-6B98-F470-0364-79D3D53A8652}"/>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5" name="Title 1">
            <a:extLst>
              <a:ext uri="{FF2B5EF4-FFF2-40B4-BE49-F238E27FC236}">
                <a16:creationId xmlns:a16="http://schemas.microsoft.com/office/drawing/2014/main" id="{5A2B598C-93C2-52E4-6ADA-7A6A6A7BC1F2}"/>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Tree>
    <p:extLst>
      <p:ext uri="{BB962C8B-B14F-4D97-AF65-F5344CB8AC3E}">
        <p14:creationId xmlns:p14="http://schemas.microsoft.com/office/powerpoint/2010/main" val="32385195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 Title, Subtitle Content &amp; Cod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a:xfrm>
            <a:off x="6873138" y="6425604"/>
            <a:ext cx="2743200" cy="363500"/>
          </a:xfrm>
          <a:prstGeom prst="rect">
            <a:avLst/>
          </a:prstGeom>
        </p:spPr>
        <p:txBody>
          <a:bodyPr/>
          <a:lstStyle/>
          <a:p>
            <a:fld id="{A512C235-CFF0-0A46-A06C-2AFACB29A067}" type="datetime1">
              <a:rPr lang="en-GB" smtClean="0"/>
              <a:t>17/06/2025</a:t>
            </a:fld>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2024,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
        <p:nvSpPr>
          <p:cNvPr id="6" name="Title 1">
            <a:extLst>
              <a:ext uri="{FF2B5EF4-FFF2-40B4-BE49-F238E27FC236}">
                <a16:creationId xmlns:a16="http://schemas.microsoft.com/office/drawing/2014/main" id="{0E7BCF4C-6E0D-A9A3-A54A-F3C3A2DB8237}"/>
              </a:ext>
            </a:extLst>
          </p:cNvPr>
          <p:cNvSpPr>
            <a:spLocks noGrp="1"/>
          </p:cNvSpPr>
          <p:nvPr>
            <p:ph type="title" hasCustomPrompt="1"/>
          </p:nvPr>
        </p:nvSpPr>
        <p:spPr>
          <a:xfrm>
            <a:off x="768875" y="182403"/>
            <a:ext cx="10670400" cy="822960"/>
          </a:xfrm>
        </p:spPr>
        <p:txBody>
          <a:bodyPr/>
          <a:lstStyle>
            <a:lvl1pPr>
              <a:defRPr>
                <a:solidFill>
                  <a:schemeClr val="tx1"/>
                </a:solidFill>
              </a:defRPr>
            </a:lvl1pPr>
          </a:lstStyle>
          <a:p>
            <a:r>
              <a:rPr lang="en-US" dirty="0"/>
              <a:t>Title</a:t>
            </a:r>
          </a:p>
        </p:txBody>
      </p:sp>
      <p:sp>
        <p:nvSpPr>
          <p:cNvPr id="11" name="Content">
            <a:extLst>
              <a:ext uri="{FF2B5EF4-FFF2-40B4-BE49-F238E27FC236}">
                <a16:creationId xmlns:a16="http://schemas.microsoft.com/office/drawing/2014/main" id="{D651C04A-CFBC-6525-59DB-38669877FDD7}"/>
              </a:ext>
            </a:extLst>
          </p:cNvPr>
          <p:cNvSpPr>
            <a:spLocks noGrp="1"/>
          </p:cNvSpPr>
          <p:nvPr>
            <p:ph sz="quarter" idx="17"/>
          </p:nvPr>
        </p:nvSpPr>
        <p:spPr>
          <a:xfrm>
            <a:off x="766763" y="1609725"/>
            <a:ext cx="3983037" cy="4498466"/>
          </a:xfrm>
          <a:prstGeom prst="rect">
            <a:avLst/>
          </a:prstGeom>
        </p:spPr>
        <p:txBody>
          <a:bodyPr/>
          <a:lstStyle>
            <a:lvl1pPr marL="0" indent="0">
              <a:buClrTx/>
              <a:buNone/>
              <a:defRPr sz="2200" b="0" i="0">
                <a:solidFill>
                  <a:schemeClr val="tx1"/>
                </a:solidFill>
                <a:latin typeface="Oracle Sans" panose="020B0503020204020204" pitchFamily="34" charset="0"/>
                <a:cs typeface="Oracle Sans" panose="020B0503020204020204" pitchFamily="34" charset="0"/>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4" name="Group 13">
            <a:extLst>
              <a:ext uri="{FF2B5EF4-FFF2-40B4-BE49-F238E27FC236}">
                <a16:creationId xmlns:a16="http://schemas.microsoft.com/office/drawing/2014/main" id="{DADFA44F-DCD4-38F1-053F-A5AF0317B773}"/>
              </a:ext>
            </a:extLst>
          </p:cNvPr>
          <p:cNvGrpSpPr/>
          <p:nvPr userDrawn="1"/>
        </p:nvGrpSpPr>
        <p:grpSpPr>
          <a:xfrm>
            <a:off x="4990863" y="1581150"/>
            <a:ext cx="6872750" cy="4507992"/>
            <a:chOff x="4778477" y="1609725"/>
            <a:chExt cx="6872750" cy="4507992"/>
          </a:xfrm>
        </p:grpSpPr>
        <p:sp>
          <p:nvSpPr>
            <p:cNvPr id="5" name="Rectangle 4">
              <a:extLst>
                <a:ext uri="{FF2B5EF4-FFF2-40B4-BE49-F238E27FC236}">
                  <a16:creationId xmlns:a16="http://schemas.microsoft.com/office/drawing/2014/main" id="{2A83F446-24B5-3723-9593-08DD81B05F19}"/>
                </a:ext>
              </a:extLst>
            </p:cNvPr>
            <p:cNvSpPr/>
            <p:nvPr userDrawn="1"/>
          </p:nvSpPr>
          <p:spPr>
            <a:xfrm>
              <a:off x="4778477" y="1609725"/>
              <a:ext cx="6872749" cy="4507992"/>
            </a:xfrm>
            <a:prstGeom prst="rect">
              <a:avLst/>
            </a:prstGeom>
            <a:solidFill>
              <a:schemeClr val="tx1">
                <a:lumMod val="10000"/>
                <a:lumOff val="90000"/>
              </a:schemeClr>
            </a:solidFill>
            <a:ln>
              <a:noFill/>
            </a:ln>
            <a:effectLst>
              <a:outerShdw blurRad="109017" sx="102730" sy="102730"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7" name="Rectangle 6">
              <a:extLst>
                <a:ext uri="{FF2B5EF4-FFF2-40B4-BE49-F238E27FC236}">
                  <a16:creationId xmlns:a16="http://schemas.microsoft.com/office/drawing/2014/main" id="{E999A77D-002A-2AB2-0415-FE8C242109AD}"/>
                </a:ext>
              </a:extLst>
            </p:cNvPr>
            <p:cNvSpPr/>
            <p:nvPr userDrawn="1"/>
          </p:nvSpPr>
          <p:spPr>
            <a:xfrm>
              <a:off x="4782937" y="1615307"/>
              <a:ext cx="6868290" cy="228357"/>
            </a:xfrm>
            <a:prstGeom prst="rect">
              <a:avLst/>
            </a:prstGeom>
            <a:solidFill>
              <a:schemeClr val="tx1">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9" name="Oval 8">
              <a:extLst>
                <a:ext uri="{FF2B5EF4-FFF2-40B4-BE49-F238E27FC236}">
                  <a16:creationId xmlns:a16="http://schemas.microsoft.com/office/drawing/2014/main" id="{48119B8B-3F66-6C8A-6FAF-B331339F5962}"/>
                </a:ext>
              </a:extLst>
            </p:cNvPr>
            <p:cNvSpPr/>
            <p:nvPr userDrawn="1"/>
          </p:nvSpPr>
          <p:spPr>
            <a:xfrm>
              <a:off x="4873413" y="1660833"/>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0" name="Oval 9">
              <a:extLst>
                <a:ext uri="{FF2B5EF4-FFF2-40B4-BE49-F238E27FC236}">
                  <a16:creationId xmlns:a16="http://schemas.microsoft.com/office/drawing/2014/main" id="{B162D2A7-2A4A-0738-C834-DBB2F20C755A}"/>
                </a:ext>
              </a:extLst>
            </p:cNvPr>
            <p:cNvSpPr/>
            <p:nvPr userDrawn="1"/>
          </p:nvSpPr>
          <p:spPr>
            <a:xfrm>
              <a:off x="5093855" y="1660833"/>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2" name="Oval 11">
              <a:extLst>
                <a:ext uri="{FF2B5EF4-FFF2-40B4-BE49-F238E27FC236}">
                  <a16:creationId xmlns:a16="http://schemas.microsoft.com/office/drawing/2014/main" id="{BF36ED1A-6989-DA15-8987-0D973025B151}"/>
                </a:ext>
              </a:extLst>
            </p:cNvPr>
            <p:cNvSpPr/>
            <p:nvPr userDrawn="1"/>
          </p:nvSpPr>
          <p:spPr>
            <a:xfrm>
              <a:off x="5314297" y="1660833"/>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grpSp>
      <p:sp>
        <p:nvSpPr>
          <p:cNvPr id="15" name="Content 2">
            <a:extLst>
              <a:ext uri="{FF2B5EF4-FFF2-40B4-BE49-F238E27FC236}">
                <a16:creationId xmlns:a16="http://schemas.microsoft.com/office/drawing/2014/main" id="{2A32597A-6C85-6B1C-268F-39A3AD6BECD5}"/>
              </a:ext>
            </a:extLst>
          </p:cNvPr>
          <p:cNvSpPr>
            <a:spLocks noGrp="1"/>
          </p:cNvSpPr>
          <p:nvPr>
            <p:ph sz="quarter" idx="18"/>
          </p:nvPr>
        </p:nvSpPr>
        <p:spPr>
          <a:xfrm>
            <a:off x="5094276" y="1949884"/>
            <a:ext cx="6665924" cy="4076163"/>
          </a:xfrm>
          <a:prstGeom prst="rect">
            <a:avLst/>
          </a:prstGeom>
        </p:spPr>
        <p:txBody>
          <a:bodyPr/>
          <a:lstStyle>
            <a:lvl1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1pPr>
            <a:lvl2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2pPr>
            <a:lvl3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3pPr>
            <a:lvl4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4pPr>
            <a:lvl5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Subtitle">
            <a:extLst>
              <a:ext uri="{FF2B5EF4-FFF2-40B4-BE49-F238E27FC236}">
                <a16:creationId xmlns:a16="http://schemas.microsoft.com/office/drawing/2014/main" id="{BB1B1CA3-10CF-2042-FCB7-4EF0A1EF4C31}"/>
              </a:ext>
            </a:extLst>
          </p:cNvPr>
          <p:cNvSpPr>
            <a:spLocks noGrp="1"/>
          </p:cNvSpPr>
          <p:nvPr>
            <p:ph type="body" sz="quarter" idx="11" hasCustomPrompt="1"/>
          </p:nvPr>
        </p:nvSpPr>
        <p:spPr>
          <a:xfrm>
            <a:off x="766762" y="1014984"/>
            <a:ext cx="10670400" cy="330540"/>
          </a:xfrm>
          <a:prstGeom prst="rect">
            <a:avLst/>
          </a:prstGeom>
        </p:spPr>
        <p:txBody>
          <a:bodyPr lIns="0">
            <a:noAutofit/>
          </a:bodyPr>
          <a:lstStyle>
            <a:lvl1pPr marL="0" indent="0">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524286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 Title/Subtitle Text and Cod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BE07747-2893-48EF-5D50-A5BD340087FF}"/>
              </a:ext>
            </a:extLst>
          </p:cNvPr>
          <p:cNvGrpSpPr/>
          <p:nvPr userDrawn="1"/>
        </p:nvGrpSpPr>
        <p:grpSpPr>
          <a:xfrm>
            <a:off x="5003800" y="1609724"/>
            <a:ext cx="6872749" cy="4507992"/>
            <a:chOff x="4808363" y="1609724"/>
            <a:chExt cx="6872749" cy="4507992"/>
          </a:xfrm>
        </p:grpSpPr>
        <p:sp>
          <p:nvSpPr>
            <p:cNvPr id="10" name="Rectangle 9">
              <a:extLst>
                <a:ext uri="{FF2B5EF4-FFF2-40B4-BE49-F238E27FC236}">
                  <a16:creationId xmlns:a16="http://schemas.microsoft.com/office/drawing/2014/main" id="{E98A9172-9767-0970-3B7F-C65880FFA0EB}"/>
                </a:ext>
              </a:extLst>
            </p:cNvPr>
            <p:cNvSpPr/>
            <p:nvPr userDrawn="1"/>
          </p:nvSpPr>
          <p:spPr>
            <a:xfrm>
              <a:off x="4808363" y="1609724"/>
              <a:ext cx="6872749" cy="4507992"/>
            </a:xfrm>
            <a:prstGeom prst="rect">
              <a:avLst/>
            </a:prstGeom>
            <a:solidFill>
              <a:schemeClr val="bg1"/>
            </a:solidFill>
            <a:ln>
              <a:solidFill>
                <a:schemeClr val="bg1">
                  <a:lumMod val="65000"/>
                  <a:alpha val="59841"/>
                </a:schemeClr>
              </a:solidFill>
            </a:ln>
            <a:effectLst>
              <a:outerShdw blurRad="109017" sx="102730" sy="102730"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11" name="Rectangle 10">
              <a:extLst>
                <a:ext uri="{FF2B5EF4-FFF2-40B4-BE49-F238E27FC236}">
                  <a16:creationId xmlns:a16="http://schemas.microsoft.com/office/drawing/2014/main" id="{E44A923C-9FA2-AD47-3A1D-7DBE54547D8D}"/>
                </a:ext>
              </a:extLst>
            </p:cNvPr>
            <p:cNvSpPr/>
            <p:nvPr userDrawn="1"/>
          </p:nvSpPr>
          <p:spPr>
            <a:xfrm>
              <a:off x="4808363" y="1609724"/>
              <a:ext cx="6868290" cy="228357"/>
            </a:xfrm>
            <a:prstGeom prst="rect">
              <a:avLst/>
            </a:prstGeom>
            <a:solidFill>
              <a:schemeClr val="bg2">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12" name="Oval 11">
              <a:extLst>
                <a:ext uri="{FF2B5EF4-FFF2-40B4-BE49-F238E27FC236}">
                  <a16:creationId xmlns:a16="http://schemas.microsoft.com/office/drawing/2014/main" id="{118C9B2C-95BF-1294-054E-D2B2C13FC4CB}"/>
                </a:ext>
              </a:extLst>
            </p:cNvPr>
            <p:cNvSpPr/>
            <p:nvPr userDrawn="1"/>
          </p:nvSpPr>
          <p:spPr>
            <a:xfrm>
              <a:off x="4898839" y="1655250"/>
              <a:ext cx="125506" cy="125506"/>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3" name="Oval 12">
              <a:extLst>
                <a:ext uri="{FF2B5EF4-FFF2-40B4-BE49-F238E27FC236}">
                  <a16:creationId xmlns:a16="http://schemas.microsoft.com/office/drawing/2014/main" id="{C9646C5A-FAF2-FEA4-C26D-FD4DD9F2AE79}"/>
                </a:ext>
              </a:extLst>
            </p:cNvPr>
            <p:cNvSpPr/>
            <p:nvPr userDrawn="1"/>
          </p:nvSpPr>
          <p:spPr>
            <a:xfrm>
              <a:off x="5119281" y="1655250"/>
              <a:ext cx="125506" cy="125506"/>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4" name="Oval 13">
              <a:extLst>
                <a:ext uri="{FF2B5EF4-FFF2-40B4-BE49-F238E27FC236}">
                  <a16:creationId xmlns:a16="http://schemas.microsoft.com/office/drawing/2014/main" id="{579CD218-CCCA-32AD-17DD-D66E9EA98BD6}"/>
                </a:ext>
              </a:extLst>
            </p:cNvPr>
            <p:cNvSpPr/>
            <p:nvPr userDrawn="1"/>
          </p:nvSpPr>
          <p:spPr>
            <a:xfrm>
              <a:off x="5339723" y="1655250"/>
              <a:ext cx="125506" cy="125506"/>
            </a:xfrm>
            <a:prstGeom prst="ellipse">
              <a:avLst/>
            </a:prstGeom>
            <a:solidFill>
              <a:schemeClr val="tx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gr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0400" cy="330540"/>
          </a:xfrm>
          <a:prstGeom prst="rect">
            <a:avLst/>
          </a:prstGeom>
        </p:spPr>
        <p:txBody>
          <a:bodyPr lIns="0">
            <a:noAutofit/>
          </a:bodyPr>
          <a:lstStyle>
            <a:lvl1pPr marL="0" indent="0">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4062848" cy="4507992"/>
          </a:xfrm>
          <a:prstGeom prst="rect">
            <a:avLst/>
          </a:prstGeom>
        </p:spPr>
        <p:txBody>
          <a:bodyPr/>
          <a:lstStyle>
            <a:lvl1pPr>
              <a:buClrTx/>
              <a:defRPr sz="2200">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5094276" y="1949884"/>
            <a:ext cx="6665924" cy="4076163"/>
          </a:xfrm>
          <a:prstGeom prst="rect">
            <a:avLst/>
          </a:prstGeom>
        </p:spPr>
        <p:txBody>
          <a:bodyPr/>
          <a:lstStyle>
            <a:lvl1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1pPr>
            <a:lvl2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2pPr>
            <a:lvl3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3pPr>
            <a:lvl4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4pPr>
            <a:lvl5pPr>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a:xfrm>
            <a:off x="768875" y="182403"/>
            <a:ext cx="10670400" cy="822960"/>
          </a:xfrm>
        </p:spPr>
        <p:txBody>
          <a:bodyPr/>
          <a:lstStyle>
            <a:lvl1pPr>
              <a:defRPr>
                <a:solidFill>
                  <a:schemeClr val="tx1"/>
                </a:solidFill>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a:xfrm>
            <a:off x="6873138" y="6425604"/>
            <a:ext cx="2743200" cy="363500"/>
          </a:xfrm>
          <a:prstGeom prst="rect">
            <a:avLst/>
          </a:prstGeom>
        </p:spPr>
        <p:txBody>
          <a:bodyPr/>
          <a:lstStyle/>
          <a:p>
            <a:fld id="{5FA38885-3DC0-6E4D-975A-F39C96CBC06E}" type="datetime1">
              <a:rPr lang="en-GB" smtClean="0"/>
              <a:t>17/06/2025</a:t>
            </a:fld>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a:t>Copyright © 2024, Oracle and/or its affiliates  |  Confidential: Internal</a:t>
            </a:r>
            <a:endParaRPr lang="en-US" dirty="0"/>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0324937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 Title, Subtitle, Cod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a:xfrm>
            <a:off x="6873138" y="6425604"/>
            <a:ext cx="2743200" cy="363500"/>
          </a:xfrm>
          <a:prstGeom prst="rect">
            <a:avLst/>
          </a:prstGeom>
        </p:spPr>
        <p:txBody>
          <a:bodyPr/>
          <a:lstStyle/>
          <a:p>
            <a:fld id="{A512C235-CFF0-0A46-A06C-2AFACB29A067}" type="datetime1">
              <a:rPr lang="en-GB" smtClean="0"/>
              <a:t>17/06/2025</a:t>
            </a:fld>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2024, Oracle and/or its affiliates  |  Confidential: Internal</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
        <p:nvSpPr>
          <p:cNvPr id="6" name="Title 1">
            <a:extLst>
              <a:ext uri="{FF2B5EF4-FFF2-40B4-BE49-F238E27FC236}">
                <a16:creationId xmlns:a16="http://schemas.microsoft.com/office/drawing/2014/main" id="{0E7BCF4C-6E0D-A9A3-A54A-F3C3A2DB8237}"/>
              </a:ext>
            </a:extLst>
          </p:cNvPr>
          <p:cNvSpPr>
            <a:spLocks noGrp="1"/>
          </p:cNvSpPr>
          <p:nvPr>
            <p:ph type="title" hasCustomPrompt="1"/>
          </p:nvPr>
        </p:nvSpPr>
        <p:spPr>
          <a:xfrm>
            <a:off x="768875" y="182403"/>
            <a:ext cx="10670400" cy="822960"/>
          </a:xfrm>
        </p:spPr>
        <p:txBody>
          <a:bodyPr/>
          <a:lstStyle>
            <a:lvl1pPr>
              <a:defRPr>
                <a:solidFill>
                  <a:schemeClr val="tx1"/>
                </a:solidFill>
              </a:defRPr>
            </a:lvl1pPr>
          </a:lstStyle>
          <a:p>
            <a:r>
              <a:rPr lang="en-US" dirty="0"/>
              <a:t>Title</a:t>
            </a:r>
          </a:p>
        </p:txBody>
      </p:sp>
      <p:sp>
        <p:nvSpPr>
          <p:cNvPr id="5" name="Rectangle 4">
            <a:extLst>
              <a:ext uri="{FF2B5EF4-FFF2-40B4-BE49-F238E27FC236}">
                <a16:creationId xmlns:a16="http://schemas.microsoft.com/office/drawing/2014/main" id="{2A83F446-24B5-3723-9593-08DD81B05F19}"/>
              </a:ext>
            </a:extLst>
          </p:cNvPr>
          <p:cNvSpPr/>
          <p:nvPr userDrawn="1"/>
        </p:nvSpPr>
        <p:spPr>
          <a:xfrm>
            <a:off x="762000" y="1581150"/>
            <a:ext cx="9404465" cy="4507992"/>
          </a:xfrm>
          <a:prstGeom prst="rect">
            <a:avLst/>
          </a:prstGeom>
          <a:solidFill>
            <a:schemeClr val="tx1">
              <a:lumMod val="10000"/>
              <a:lumOff val="90000"/>
            </a:schemeClr>
          </a:solidFill>
          <a:ln>
            <a:noFill/>
          </a:ln>
          <a:effectLst>
            <a:outerShdw blurRad="109017" sx="102730" sy="102730"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7" name="Rectangle 6">
            <a:extLst>
              <a:ext uri="{FF2B5EF4-FFF2-40B4-BE49-F238E27FC236}">
                <a16:creationId xmlns:a16="http://schemas.microsoft.com/office/drawing/2014/main" id="{E999A77D-002A-2AB2-0415-FE8C242109AD}"/>
              </a:ext>
            </a:extLst>
          </p:cNvPr>
          <p:cNvSpPr/>
          <p:nvPr userDrawn="1"/>
        </p:nvSpPr>
        <p:spPr>
          <a:xfrm>
            <a:off x="768875" y="1586732"/>
            <a:ext cx="9395473" cy="268676"/>
          </a:xfrm>
          <a:prstGeom prst="rect">
            <a:avLst/>
          </a:prstGeom>
          <a:solidFill>
            <a:schemeClr val="tx1">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9" name="Oval 8">
            <a:extLst>
              <a:ext uri="{FF2B5EF4-FFF2-40B4-BE49-F238E27FC236}">
                <a16:creationId xmlns:a16="http://schemas.microsoft.com/office/drawing/2014/main" id="{48119B8B-3F66-6C8A-6FAF-B331339F5962}"/>
              </a:ext>
            </a:extLst>
          </p:cNvPr>
          <p:cNvSpPr/>
          <p:nvPr userDrawn="1"/>
        </p:nvSpPr>
        <p:spPr>
          <a:xfrm>
            <a:off x="864673" y="1653524"/>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0" name="Oval 9">
            <a:extLst>
              <a:ext uri="{FF2B5EF4-FFF2-40B4-BE49-F238E27FC236}">
                <a16:creationId xmlns:a16="http://schemas.microsoft.com/office/drawing/2014/main" id="{B162D2A7-2A4A-0738-C834-DBB2F20C755A}"/>
              </a:ext>
            </a:extLst>
          </p:cNvPr>
          <p:cNvSpPr/>
          <p:nvPr userDrawn="1"/>
        </p:nvSpPr>
        <p:spPr>
          <a:xfrm>
            <a:off x="1085115" y="1653524"/>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2" name="Oval 11">
            <a:extLst>
              <a:ext uri="{FF2B5EF4-FFF2-40B4-BE49-F238E27FC236}">
                <a16:creationId xmlns:a16="http://schemas.microsoft.com/office/drawing/2014/main" id="{BF36ED1A-6989-DA15-8987-0D973025B151}"/>
              </a:ext>
            </a:extLst>
          </p:cNvPr>
          <p:cNvSpPr/>
          <p:nvPr userDrawn="1"/>
        </p:nvSpPr>
        <p:spPr>
          <a:xfrm>
            <a:off x="1305557" y="1653524"/>
            <a:ext cx="125506" cy="125506"/>
          </a:xfrm>
          <a:prstGeom prst="ellipse">
            <a:avLst/>
          </a:prstGeom>
          <a:solidFill>
            <a:schemeClr val="bg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5" name="Content 2">
            <a:extLst>
              <a:ext uri="{FF2B5EF4-FFF2-40B4-BE49-F238E27FC236}">
                <a16:creationId xmlns:a16="http://schemas.microsoft.com/office/drawing/2014/main" id="{2A32597A-6C85-6B1C-268F-39A3AD6BECD5}"/>
              </a:ext>
            </a:extLst>
          </p:cNvPr>
          <p:cNvSpPr>
            <a:spLocks noGrp="1"/>
          </p:cNvSpPr>
          <p:nvPr>
            <p:ph sz="quarter" idx="18"/>
          </p:nvPr>
        </p:nvSpPr>
        <p:spPr>
          <a:xfrm>
            <a:off x="864674" y="1921312"/>
            <a:ext cx="9183094" cy="4086083"/>
          </a:xfrm>
          <a:prstGeom prst="rect">
            <a:avLst/>
          </a:prstGeom>
        </p:spPr>
        <p:txBody>
          <a:bodyPr/>
          <a:lstStyle>
            <a:lvl1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1pPr>
            <a:lvl2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2pPr>
            <a:lvl3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3pPr>
            <a:lvl4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4pPr>
            <a:lvl5pPr>
              <a:lnSpc>
                <a:spcPct val="100000"/>
              </a:lnSpc>
              <a:spcBef>
                <a:spcPts val="200"/>
              </a:spcBef>
              <a:buClrTx/>
              <a:defRPr sz="1200">
                <a:solidFill>
                  <a:schemeClr val="tx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Subtitle">
            <a:extLst>
              <a:ext uri="{FF2B5EF4-FFF2-40B4-BE49-F238E27FC236}">
                <a16:creationId xmlns:a16="http://schemas.microsoft.com/office/drawing/2014/main" id="{BB1B1CA3-10CF-2042-FCB7-4EF0A1EF4C31}"/>
              </a:ext>
            </a:extLst>
          </p:cNvPr>
          <p:cNvSpPr>
            <a:spLocks noGrp="1"/>
          </p:cNvSpPr>
          <p:nvPr>
            <p:ph type="body" sz="quarter" idx="11" hasCustomPrompt="1"/>
          </p:nvPr>
        </p:nvSpPr>
        <p:spPr>
          <a:xfrm>
            <a:off x="766762" y="1014984"/>
            <a:ext cx="10670400" cy="330540"/>
          </a:xfrm>
          <a:prstGeom prst="rect">
            <a:avLst/>
          </a:prstGeom>
        </p:spPr>
        <p:txBody>
          <a:bodyPr lIns="0">
            <a:noAutofit/>
          </a:bodyPr>
          <a:lstStyle>
            <a:lvl1pPr marL="0" indent="0">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033574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 Title, Subtitle, Code">
    <p:bg>
      <p:bgPr>
        <a:solidFill>
          <a:srgbClr val="1E2830"/>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06EAA0-B91E-97AD-32C2-F2C0D0F38C97}"/>
              </a:ext>
            </a:extLst>
          </p:cNvPr>
          <p:cNvSpPr>
            <a:spLocks noGrp="1"/>
          </p:cNvSpPr>
          <p:nvPr>
            <p:ph type="sldNum" sz="quarter" idx="10"/>
          </p:nvPr>
        </p:nvSpPr>
        <p:spPr/>
        <p:txBody>
          <a:body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68BB07F1-0D0C-D489-D1ED-6C4A9CB8204D}"/>
              </a:ext>
            </a:extLst>
          </p:cNvPr>
          <p:cNvSpPr>
            <a:spLocks noGrp="1"/>
          </p:cNvSpPr>
          <p:nvPr>
            <p:ph type="ftr" sz="quarter" idx="11"/>
          </p:nvPr>
        </p:nvSpPr>
        <p:spPr/>
        <p:txBody>
          <a:bodyPr/>
          <a:lstStyle/>
          <a:p>
            <a:r>
              <a:rPr lang="en-US"/>
              <a:t>Copyright © 2024, Oracle and/or its affiliates  |  Confidential: Internal</a:t>
            </a:r>
            <a:endParaRPr lang="en-US" dirty="0"/>
          </a:p>
        </p:txBody>
      </p:sp>
      <p:sp>
        <p:nvSpPr>
          <p:cNvPr id="5" name="Date Placeholder 4">
            <a:extLst>
              <a:ext uri="{FF2B5EF4-FFF2-40B4-BE49-F238E27FC236}">
                <a16:creationId xmlns:a16="http://schemas.microsoft.com/office/drawing/2014/main" id="{4058A8F5-211A-D62F-320A-1DD9DC0DEB32}"/>
              </a:ext>
            </a:extLst>
          </p:cNvPr>
          <p:cNvSpPr>
            <a:spLocks noGrp="1"/>
          </p:cNvSpPr>
          <p:nvPr>
            <p:ph type="dt" sz="half" idx="12"/>
          </p:nvPr>
        </p:nvSpPr>
        <p:spPr/>
        <p:txBody>
          <a:bodyPr/>
          <a:lstStyle/>
          <a:p>
            <a:fld id="{FE252845-66AE-524A-B3BC-1D3785F23502}" type="datetime1">
              <a:rPr lang="en-GB" smtClean="0"/>
              <a:t>17/06/2025</a:t>
            </a:fld>
            <a:endParaRPr lang="en-US" dirty="0"/>
          </a:p>
        </p:txBody>
      </p:sp>
      <p:sp>
        <p:nvSpPr>
          <p:cNvPr id="7" name="Rectangle 6">
            <a:extLst>
              <a:ext uri="{FF2B5EF4-FFF2-40B4-BE49-F238E27FC236}">
                <a16:creationId xmlns:a16="http://schemas.microsoft.com/office/drawing/2014/main" id="{DB79EE06-D580-5BC3-6997-6B94D9F00107}"/>
              </a:ext>
            </a:extLst>
          </p:cNvPr>
          <p:cNvSpPr/>
          <p:nvPr userDrawn="1"/>
        </p:nvSpPr>
        <p:spPr>
          <a:xfrm>
            <a:off x="768876" y="1629624"/>
            <a:ext cx="9418019" cy="4507992"/>
          </a:xfrm>
          <a:prstGeom prst="rect">
            <a:avLst/>
          </a:prstGeom>
          <a:solidFill>
            <a:schemeClr val="tx1"/>
          </a:solidFill>
          <a:ln>
            <a:solidFill>
              <a:schemeClr val="bg1">
                <a:lumMod val="65000"/>
                <a:alpha val="59841"/>
              </a:schemeClr>
            </a:solidFill>
          </a:ln>
          <a:effectLst>
            <a:outerShdw blurRad="160979" sx="102111" sy="102111" algn="ctr" rotWithShape="0">
              <a:schemeClr val="bg2">
                <a:alpha val="15000"/>
              </a:scheme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8" name="Rectangle 7">
            <a:extLst>
              <a:ext uri="{FF2B5EF4-FFF2-40B4-BE49-F238E27FC236}">
                <a16:creationId xmlns:a16="http://schemas.microsoft.com/office/drawing/2014/main" id="{049DE77C-297A-869C-03BA-E210803792BB}"/>
              </a:ext>
            </a:extLst>
          </p:cNvPr>
          <p:cNvSpPr/>
          <p:nvPr userDrawn="1"/>
        </p:nvSpPr>
        <p:spPr>
          <a:xfrm>
            <a:off x="775207" y="1635206"/>
            <a:ext cx="9411909" cy="228357"/>
          </a:xfrm>
          <a:prstGeom prst="rect">
            <a:avLst/>
          </a:prstGeom>
          <a:solidFill>
            <a:schemeClr val="tx1">
              <a:lumMod val="75000"/>
              <a:lumOff val="25000"/>
            </a:schemeClr>
          </a:solidFill>
          <a:ln>
            <a:noFill/>
          </a:ln>
          <a:effectLst>
            <a:softEdge rad="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9" name="Oval 8">
            <a:extLst>
              <a:ext uri="{FF2B5EF4-FFF2-40B4-BE49-F238E27FC236}">
                <a16:creationId xmlns:a16="http://schemas.microsoft.com/office/drawing/2014/main" id="{A4E4CE27-774E-F1E5-3DAE-2EDC6F3F8AC0}"/>
              </a:ext>
            </a:extLst>
          </p:cNvPr>
          <p:cNvSpPr/>
          <p:nvPr userDrawn="1"/>
        </p:nvSpPr>
        <p:spPr>
          <a:xfrm>
            <a:off x="886123" y="1677266"/>
            <a:ext cx="125506" cy="125506"/>
          </a:xfrm>
          <a:prstGeom prst="ellipse">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p>
        </p:txBody>
      </p:sp>
      <p:sp>
        <p:nvSpPr>
          <p:cNvPr id="10" name="Oval 9">
            <a:extLst>
              <a:ext uri="{FF2B5EF4-FFF2-40B4-BE49-F238E27FC236}">
                <a16:creationId xmlns:a16="http://schemas.microsoft.com/office/drawing/2014/main" id="{D8F5C5D4-A0A3-88EB-3653-569A95DD09B3}"/>
              </a:ext>
            </a:extLst>
          </p:cNvPr>
          <p:cNvSpPr/>
          <p:nvPr userDrawn="1"/>
        </p:nvSpPr>
        <p:spPr>
          <a:xfrm>
            <a:off x="1099684" y="1682398"/>
            <a:ext cx="125506" cy="125506"/>
          </a:xfrm>
          <a:prstGeom prst="ellipse">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12" name="Subtitle">
            <a:extLst>
              <a:ext uri="{FF2B5EF4-FFF2-40B4-BE49-F238E27FC236}">
                <a16:creationId xmlns:a16="http://schemas.microsoft.com/office/drawing/2014/main" id="{74440640-E27B-C848-0DE4-2AB09EAD9D21}"/>
              </a:ext>
            </a:extLst>
          </p:cNvPr>
          <p:cNvSpPr>
            <a:spLocks noGrp="1"/>
          </p:cNvSpPr>
          <p:nvPr>
            <p:ph type="body" sz="quarter" idx="14" hasCustomPrompt="1"/>
          </p:nvPr>
        </p:nvSpPr>
        <p:spPr>
          <a:xfrm>
            <a:off x="766763" y="1014984"/>
            <a:ext cx="10670400" cy="330540"/>
          </a:xfrm>
          <a:prstGeom prst="rect">
            <a:avLst/>
          </a:prstGeom>
        </p:spPr>
        <p:txBody>
          <a:bodyPr lIns="0">
            <a:noAutofit/>
          </a:bodyPr>
          <a:lstStyle>
            <a:lvl1pPr marL="0" indent="0">
              <a:spcAft>
                <a:spcPts val="0"/>
              </a:spcAft>
              <a:buNone/>
              <a:defRPr sz="2000" b="0" i="0">
                <a:solidFill>
                  <a:schemeClr val="bg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13" name="Title 4">
            <a:extLst>
              <a:ext uri="{FF2B5EF4-FFF2-40B4-BE49-F238E27FC236}">
                <a16:creationId xmlns:a16="http://schemas.microsoft.com/office/drawing/2014/main" id="{B7BC6395-B369-B287-34EC-F22701AE1009}"/>
              </a:ext>
            </a:extLst>
          </p:cNvPr>
          <p:cNvSpPr>
            <a:spLocks noGrp="1"/>
          </p:cNvSpPr>
          <p:nvPr>
            <p:ph type="title" hasCustomPrompt="1"/>
          </p:nvPr>
        </p:nvSpPr>
        <p:spPr>
          <a:xfrm>
            <a:off x="768875" y="182403"/>
            <a:ext cx="10670400" cy="822960"/>
          </a:xfrm>
        </p:spPr>
        <p:txBody>
          <a:bodyPr/>
          <a:lstStyle>
            <a:lvl1pPr>
              <a:defRPr>
                <a:solidFill>
                  <a:schemeClr val="bg1"/>
                </a:solidFill>
              </a:defRPr>
            </a:lvl1pPr>
          </a:lstStyle>
          <a:p>
            <a:r>
              <a:rPr lang="en-US" dirty="0"/>
              <a:t>Title</a:t>
            </a:r>
          </a:p>
        </p:txBody>
      </p:sp>
      <p:sp>
        <p:nvSpPr>
          <p:cNvPr id="2" name="Oval 1">
            <a:extLst>
              <a:ext uri="{FF2B5EF4-FFF2-40B4-BE49-F238E27FC236}">
                <a16:creationId xmlns:a16="http://schemas.microsoft.com/office/drawing/2014/main" id="{B5823805-F2EB-BF15-C79E-026EBED39A43}"/>
              </a:ext>
            </a:extLst>
          </p:cNvPr>
          <p:cNvSpPr/>
          <p:nvPr userDrawn="1"/>
        </p:nvSpPr>
        <p:spPr>
          <a:xfrm>
            <a:off x="1319539" y="1684898"/>
            <a:ext cx="125506" cy="125506"/>
          </a:xfrm>
          <a:prstGeom prst="ellipse">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a:p>
        </p:txBody>
      </p:sp>
      <p:sp>
        <p:nvSpPr>
          <p:cNvPr id="6" name="Content 2">
            <a:extLst>
              <a:ext uri="{FF2B5EF4-FFF2-40B4-BE49-F238E27FC236}">
                <a16:creationId xmlns:a16="http://schemas.microsoft.com/office/drawing/2014/main" id="{746793E3-7504-DF90-AF07-5207A3169165}"/>
              </a:ext>
            </a:extLst>
          </p:cNvPr>
          <p:cNvSpPr>
            <a:spLocks noGrp="1"/>
          </p:cNvSpPr>
          <p:nvPr>
            <p:ph sz="quarter" idx="18"/>
          </p:nvPr>
        </p:nvSpPr>
        <p:spPr>
          <a:xfrm>
            <a:off x="864674" y="1959949"/>
            <a:ext cx="9183094" cy="4086083"/>
          </a:xfrm>
          <a:prstGeom prst="rect">
            <a:avLst/>
          </a:prstGeom>
        </p:spPr>
        <p:txBody>
          <a:bodyPr/>
          <a:lstStyle>
            <a:lvl1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1pPr>
            <a:lvl2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2pPr>
            <a:lvl3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3pPr>
            <a:lvl4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4pPr>
            <a:lvl5pPr>
              <a:lnSpc>
                <a:spcPct val="100000"/>
              </a:lnSpc>
              <a:spcBef>
                <a:spcPts val="200"/>
              </a:spcBef>
              <a:buClrTx/>
              <a:defRPr sz="1200">
                <a:solidFill>
                  <a:schemeClr val="bg1"/>
                </a:solidFill>
                <a:latin typeface="Menlo" panose="020B0609030804020204" pitchFamily="49" charset="0"/>
                <a:ea typeface="Menlo" panose="020B0609030804020204" pitchFamily="49" charset="0"/>
                <a:cs typeface="Menlo" panose="020B0609030804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4293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789F089-C8C8-AD9E-8C9E-E12DE8E679BF}"/>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7698EDA6-BDA7-E689-E9CF-BD4E37893702}"/>
              </a:ext>
            </a:extLst>
          </p:cNvPr>
          <p:cNvSpPr>
            <a:spLocks noGrp="1"/>
          </p:cNvSpPr>
          <p:nvPr>
            <p:ph type="body" sz="quarter" idx="33" hasCustomPrompt="1"/>
          </p:nvPr>
        </p:nvSpPr>
        <p:spPr>
          <a:xfrm>
            <a:off x="776689" y="4135193"/>
            <a:ext cx="62179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3FBA7AF-1061-9E4C-9196-2D8F59748DFB}"/>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467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232B6FB-CB36-8E10-0171-4DD434FB37AC}"/>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accent4"/>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FCC5560E-F594-D1CD-5CDD-54514D4DAED9}"/>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296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Graal - Intro - o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extBox 2">
            <a:extLst>
              <a:ext uri="{FF2B5EF4-FFF2-40B4-BE49-F238E27FC236}">
                <a16:creationId xmlns:a16="http://schemas.microsoft.com/office/drawing/2014/main" id="{EEB3CFDF-09D8-72DE-4B7D-770B01D7D615}"/>
              </a:ext>
            </a:extLst>
          </p:cNvPr>
          <p:cNvSpPr txBox="1"/>
          <p:nvPr userDrawn="1"/>
        </p:nvSpPr>
        <p:spPr>
          <a:xfrm>
            <a:off x="2790447" y="901700"/>
            <a:ext cx="6611105" cy="3170099"/>
          </a:xfrm>
          <a:prstGeom prst="rect">
            <a:avLst/>
          </a:prstGeom>
          <a:noFill/>
        </p:spPr>
        <p:txBody>
          <a:bodyPr wrap="none" rtlCol="0">
            <a:spAutoFit/>
          </a:bodyPr>
          <a:lstStyle/>
          <a:p>
            <a:r>
              <a:rPr lang="en-UA" sz="20000" b="1" i="0" dirty="0">
                <a:solidFill>
                  <a:schemeClr val="bg1"/>
                </a:solidFill>
                <a:latin typeface="Oracle Sans" panose="020B0503020204020204" pitchFamily="34" charset="0"/>
                <a:cs typeface="Oracle Sans" panose="020B0503020204020204" pitchFamily="34" charset="0"/>
              </a:rPr>
              <a:t>Graal</a:t>
            </a:r>
          </a:p>
        </p:txBody>
      </p:sp>
      <p:sp>
        <p:nvSpPr>
          <p:cNvPr id="4" name="TextBox 3">
            <a:extLst>
              <a:ext uri="{FF2B5EF4-FFF2-40B4-BE49-F238E27FC236}">
                <a16:creationId xmlns:a16="http://schemas.microsoft.com/office/drawing/2014/main" id="{C326FAAE-5504-D946-1A67-F4AA2EC9E823}"/>
              </a:ext>
            </a:extLst>
          </p:cNvPr>
          <p:cNvSpPr txBox="1"/>
          <p:nvPr userDrawn="1"/>
        </p:nvSpPr>
        <p:spPr>
          <a:xfrm>
            <a:off x="1373360" y="3733245"/>
            <a:ext cx="9445278" cy="338554"/>
          </a:xfrm>
          <a:prstGeom prst="rect">
            <a:avLst/>
          </a:prstGeom>
          <a:noFill/>
        </p:spPr>
        <p:txBody>
          <a:bodyPr wrap="none" rtlCol="0">
            <a:spAutoFit/>
          </a:bodyPr>
          <a:lstStyle/>
          <a:p>
            <a:r>
              <a:rPr lang="en-US" sz="1600" b="0" i="0" dirty="0">
                <a:solidFill>
                  <a:schemeClr val="bg1"/>
                </a:solidFill>
                <a:effectLst/>
                <a:latin typeface="Oracle Sans Light" panose="020B0403020204020204" pitchFamily="34" charset="0"/>
                <a:cs typeface="Oracle Sans Light" panose="020B0403020204020204" pitchFamily="34" charset="0"/>
              </a:rPr>
              <a:t>A full stack for the development and deployment of high performance Java cloud native applications</a:t>
            </a:r>
            <a:endParaRPr lang="en-UA" sz="1600" b="0" i="0" dirty="0">
              <a:solidFill>
                <a:schemeClr val="bg1"/>
              </a:solidFill>
              <a:latin typeface="Oracle Sans Light" panose="020B0403020204020204" pitchFamily="34" charset="0"/>
              <a:cs typeface="Oracle Sans Light" panose="020B0403020204020204" pitchFamily="34" charset="0"/>
            </a:endParaRPr>
          </a:p>
        </p:txBody>
      </p:sp>
      <p:pic>
        <p:nvPicPr>
          <p:cNvPr id="7" name="Picture 6">
            <a:extLst>
              <a:ext uri="{FF2B5EF4-FFF2-40B4-BE49-F238E27FC236}">
                <a16:creationId xmlns:a16="http://schemas.microsoft.com/office/drawing/2014/main" id="{29FFDDDF-E426-5AED-857D-3D160E46AC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029526" y="5269037"/>
            <a:ext cx="1346200" cy="274468"/>
          </a:xfrm>
          <a:prstGeom prst="rect">
            <a:avLst/>
          </a:prstGeom>
        </p:spPr>
      </p:pic>
      <p:pic>
        <p:nvPicPr>
          <p:cNvPr id="9" name="Picture 8">
            <a:extLst>
              <a:ext uri="{FF2B5EF4-FFF2-40B4-BE49-F238E27FC236}">
                <a16:creationId xmlns:a16="http://schemas.microsoft.com/office/drawing/2014/main" id="{A39DCB6D-6C5C-3A50-459B-3E50617E772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73841" y="5137857"/>
            <a:ext cx="2044315" cy="698855"/>
          </a:xfrm>
          <a:prstGeom prst="rect">
            <a:avLst/>
          </a:prstGeom>
        </p:spPr>
      </p:pic>
      <p:pic>
        <p:nvPicPr>
          <p:cNvPr id="11" name="Picture 10">
            <a:extLst>
              <a:ext uri="{FF2B5EF4-FFF2-40B4-BE49-F238E27FC236}">
                <a16:creationId xmlns:a16="http://schemas.microsoft.com/office/drawing/2014/main" id="{20DD6828-908C-B062-66DA-EFEE7579C53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816271" y="5194005"/>
            <a:ext cx="1351591" cy="404152"/>
          </a:xfrm>
          <a:prstGeom prst="rect">
            <a:avLst/>
          </a:prstGeom>
        </p:spPr>
      </p:pic>
    </p:spTree>
    <p:extLst>
      <p:ext uri="{BB962C8B-B14F-4D97-AF65-F5344CB8AC3E}">
        <p14:creationId xmlns:p14="http://schemas.microsoft.com/office/powerpoint/2010/main" val="28122631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 Dark - Gra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6" name="Title">
            <a:extLst>
              <a:ext uri="{FF2B5EF4-FFF2-40B4-BE49-F238E27FC236}">
                <a16:creationId xmlns:a16="http://schemas.microsoft.com/office/drawing/2014/main" id="{D1FC8461-1995-7E08-95C1-D4FFB454B926}"/>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7" name="Subhead">
            <a:extLst>
              <a:ext uri="{FF2B5EF4-FFF2-40B4-BE49-F238E27FC236}">
                <a16:creationId xmlns:a16="http://schemas.microsoft.com/office/drawing/2014/main" id="{2FE2759A-7C68-874B-3C90-5C88D0767EC5}"/>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3" name="Date Placeholder 4">
            <a:extLst>
              <a:ext uri="{FF2B5EF4-FFF2-40B4-BE49-F238E27FC236}">
                <a16:creationId xmlns:a16="http://schemas.microsoft.com/office/drawing/2014/main" id="{9248A7C3-7C80-4287-FE2E-7DBFDEE42BF2}"/>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5" name="Footer Placeholder 6">
            <a:extLst>
              <a:ext uri="{FF2B5EF4-FFF2-40B4-BE49-F238E27FC236}">
                <a16:creationId xmlns:a16="http://schemas.microsoft.com/office/drawing/2014/main" id="{9BCDE209-168B-F7B5-BC2E-A44A93A1D2C2}"/>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DDADFAC8-0D02-0192-A2D3-FB46E3FFD62B}"/>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14" name="Picture 13">
            <a:extLst>
              <a:ext uri="{FF2B5EF4-FFF2-40B4-BE49-F238E27FC236}">
                <a16:creationId xmlns:a16="http://schemas.microsoft.com/office/drawing/2014/main" id="{C4D87047-085C-0E75-6C68-D7DECC3FAC4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1147504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 Dark - GraalV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0" y="4665516"/>
            <a:ext cx="5498515" cy="34940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pic>
        <p:nvPicPr>
          <p:cNvPr id="3" name="Picture 2">
            <a:extLst>
              <a:ext uri="{FF2B5EF4-FFF2-40B4-BE49-F238E27FC236}">
                <a16:creationId xmlns:a16="http://schemas.microsoft.com/office/drawing/2014/main" id="{8A3EF986-E388-00F7-0234-4EBBD1A39FB3}"/>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597479" y="547372"/>
            <a:ext cx="2165008" cy="434717"/>
          </a:xfrm>
          <a:prstGeom prst="rect">
            <a:avLst/>
          </a:prstGeom>
        </p:spPr>
      </p:pic>
      <p:sp>
        <p:nvSpPr>
          <p:cNvPr id="5" name="Date Placeholder 4">
            <a:extLst>
              <a:ext uri="{FF2B5EF4-FFF2-40B4-BE49-F238E27FC236}">
                <a16:creationId xmlns:a16="http://schemas.microsoft.com/office/drawing/2014/main" id="{A8F53524-F2E0-E7EC-DD3E-D5CAAAC76005}"/>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6" name="Footer Placeholder 6">
            <a:extLst>
              <a:ext uri="{FF2B5EF4-FFF2-40B4-BE49-F238E27FC236}">
                <a16:creationId xmlns:a16="http://schemas.microsoft.com/office/drawing/2014/main" id="{121831BD-35B6-53AE-EAD9-E66AEAE4304B}"/>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7" name="Slide Number Placeholder 7">
            <a:extLst>
              <a:ext uri="{FF2B5EF4-FFF2-40B4-BE49-F238E27FC236}">
                <a16:creationId xmlns:a16="http://schemas.microsoft.com/office/drawing/2014/main" id="{E2978A74-3EA8-7734-FF56-FEF7FEFDB481}"/>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27E00180-8769-64EF-62EE-CF7D7625A77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153859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 Dark - Graal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0" y="4665516"/>
            <a:ext cx="5498515" cy="34940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pic>
        <p:nvPicPr>
          <p:cNvPr id="6" name="Picture 5">
            <a:extLst>
              <a:ext uri="{FF2B5EF4-FFF2-40B4-BE49-F238E27FC236}">
                <a16:creationId xmlns:a16="http://schemas.microsoft.com/office/drawing/2014/main" id="{2F2E7960-D9B7-A981-5AC8-06E9394C1E3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431984"/>
            <a:ext cx="2040618" cy="656499"/>
          </a:xfrm>
          <a:prstGeom prst="rect">
            <a:avLst/>
          </a:prstGeom>
        </p:spPr>
      </p:pic>
      <p:sp>
        <p:nvSpPr>
          <p:cNvPr id="3" name="Date Placeholder 4">
            <a:extLst>
              <a:ext uri="{FF2B5EF4-FFF2-40B4-BE49-F238E27FC236}">
                <a16:creationId xmlns:a16="http://schemas.microsoft.com/office/drawing/2014/main" id="{28000CDC-C7E7-8D0C-EED9-E3856B0A2D7F}"/>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5" name="Footer Placeholder 6">
            <a:extLst>
              <a:ext uri="{FF2B5EF4-FFF2-40B4-BE49-F238E27FC236}">
                <a16:creationId xmlns:a16="http://schemas.microsoft.com/office/drawing/2014/main" id="{E7EF04EB-2567-5A6D-954F-D33F7ADCA7EA}"/>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7" name="Slide Number Placeholder 7">
            <a:extLst>
              <a:ext uri="{FF2B5EF4-FFF2-40B4-BE49-F238E27FC236}">
                <a16:creationId xmlns:a16="http://schemas.microsoft.com/office/drawing/2014/main" id="{96391BDC-E6F0-B383-459B-FE27E73E5636}"/>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3637EFED-00D1-A3BD-C7C0-AF69FFA3F14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35657507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 Dark - GD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bg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2" name="Rectangle 1">
            <a:extLst>
              <a:ext uri="{FF2B5EF4-FFF2-40B4-BE49-F238E27FC236}">
                <a16:creationId xmlns:a16="http://schemas.microsoft.com/office/drawing/2014/main" id="{1400C9D5-3C9B-6A5C-2ED8-DFB869416906}"/>
              </a:ext>
            </a:extLst>
          </p:cNvPr>
          <p:cNvSpPr/>
          <p:nvPr userDrawn="1"/>
        </p:nvSpPr>
        <p:spPr>
          <a:xfrm>
            <a:off x="0" y="4338947"/>
            <a:ext cx="5530645" cy="1430570"/>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597480" y="4665516"/>
            <a:ext cx="5498515" cy="349401"/>
          </a:xfrm>
          <a:prstGeom prst="rect">
            <a:avLst/>
          </a:prstGeom>
          <a:noFill/>
        </p:spPr>
        <p:txBody>
          <a:bodyPr>
            <a:noAutofit/>
          </a:bodyPr>
          <a:lstStyle>
            <a:lvl1pPr marL="0" indent="0">
              <a:buNone/>
              <a:defRPr b="1">
                <a:solidFill>
                  <a:schemeClr val="bg1"/>
                </a:solidFill>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bg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pic>
        <p:nvPicPr>
          <p:cNvPr id="12" name="Picture 11">
            <a:extLst>
              <a:ext uri="{FF2B5EF4-FFF2-40B4-BE49-F238E27FC236}">
                <a16:creationId xmlns:a16="http://schemas.microsoft.com/office/drawing/2014/main" id="{80A8ED11-D4C5-6B0E-523D-DE0ED826447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625524"/>
            <a:ext cx="2541166" cy="645375"/>
          </a:xfrm>
          <a:prstGeom prst="rect">
            <a:avLst/>
          </a:prstGeom>
        </p:spPr>
      </p:pic>
      <p:sp>
        <p:nvSpPr>
          <p:cNvPr id="3" name="Date Placeholder 4">
            <a:extLst>
              <a:ext uri="{FF2B5EF4-FFF2-40B4-BE49-F238E27FC236}">
                <a16:creationId xmlns:a16="http://schemas.microsoft.com/office/drawing/2014/main" id="{189C350F-8A92-A2EF-7D36-2EECB8DC7336}"/>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5" name="Footer Placeholder 6">
            <a:extLst>
              <a:ext uri="{FF2B5EF4-FFF2-40B4-BE49-F238E27FC236}">
                <a16:creationId xmlns:a16="http://schemas.microsoft.com/office/drawing/2014/main" id="{77E9CA49-D6C1-5D50-9BC5-BBF4E321CF1A}"/>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6" name="Slide Number Placeholder 7">
            <a:extLst>
              <a:ext uri="{FF2B5EF4-FFF2-40B4-BE49-F238E27FC236}">
                <a16:creationId xmlns:a16="http://schemas.microsoft.com/office/drawing/2014/main" id="{C0B442D6-EB1F-57E8-0B97-AD3DA6C6B1E6}"/>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B97D513E-8ADA-554C-0008-CCF266491B8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652971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 Light - Gra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4" name="Title">
            <a:extLst>
              <a:ext uri="{FF2B5EF4-FFF2-40B4-BE49-F238E27FC236}">
                <a16:creationId xmlns:a16="http://schemas.microsoft.com/office/drawing/2014/main" id="{035EDA70-DA41-735D-5ED3-D5B853DC795B}"/>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5" name="Subhead">
            <a:extLst>
              <a:ext uri="{FF2B5EF4-FFF2-40B4-BE49-F238E27FC236}">
                <a16:creationId xmlns:a16="http://schemas.microsoft.com/office/drawing/2014/main" id="{F117CB12-D450-9EEB-DE7B-86B968D13E63}"/>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6" name="Date Placeholder 4">
            <a:extLst>
              <a:ext uri="{FF2B5EF4-FFF2-40B4-BE49-F238E27FC236}">
                <a16:creationId xmlns:a16="http://schemas.microsoft.com/office/drawing/2014/main" id="{A68AA167-1303-5C3E-750D-038B9E9D7BDE}"/>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C573D015-9BA9-1070-2AF6-B1950E753C5D}"/>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596C9B7D-27BE-CF8D-F92A-7A25D3848933}"/>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5C192595-E53B-6198-7FE7-AABD7D07D6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3919112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 Light - GraalV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5" name="Title">
            <a:extLst>
              <a:ext uri="{FF2B5EF4-FFF2-40B4-BE49-F238E27FC236}">
                <a16:creationId xmlns:a16="http://schemas.microsoft.com/office/drawing/2014/main" id="{6730C637-7BBE-BE75-2A0A-AB26FAAB8CB6}"/>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6" name="Subhead">
            <a:extLst>
              <a:ext uri="{FF2B5EF4-FFF2-40B4-BE49-F238E27FC236}">
                <a16:creationId xmlns:a16="http://schemas.microsoft.com/office/drawing/2014/main" id="{95191FA2-DB72-859B-8EF1-D84A688473C1}"/>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pic>
        <p:nvPicPr>
          <p:cNvPr id="10" name="Picture 9">
            <a:extLst>
              <a:ext uri="{FF2B5EF4-FFF2-40B4-BE49-F238E27FC236}">
                <a16:creationId xmlns:a16="http://schemas.microsoft.com/office/drawing/2014/main" id="{2DC9D4E2-3728-A850-2A7F-56019A81C5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567734"/>
            <a:ext cx="2165008" cy="433002"/>
          </a:xfrm>
          <a:prstGeom prst="rect">
            <a:avLst/>
          </a:prstGeom>
        </p:spPr>
      </p:pic>
      <p:sp>
        <p:nvSpPr>
          <p:cNvPr id="4" name="Date Placeholder 4">
            <a:extLst>
              <a:ext uri="{FF2B5EF4-FFF2-40B4-BE49-F238E27FC236}">
                <a16:creationId xmlns:a16="http://schemas.microsoft.com/office/drawing/2014/main" id="{6399773D-09D3-D2C8-D004-EC3F7DEBFBE0}"/>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B990EC05-5E74-BF71-FA20-612B33884861}"/>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31FBA5A9-B0EB-4770-D2F2-B8C9CC75664A}"/>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A779281A-8676-BDFE-8DCA-05EF48C9E46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7589842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 Light - Graal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5" name="Title">
            <a:extLst>
              <a:ext uri="{FF2B5EF4-FFF2-40B4-BE49-F238E27FC236}">
                <a16:creationId xmlns:a16="http://schemas.microsoft.com/office/drawing/2014/main" id="{88D94C48-A6D0-4E21-63F1-8415BD44F707}"/>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6" name="Subhead">
            <a:extLst>
              <a:ext uri="{FF2B5EF4-FFF2-40B4-BE49-F238E27FC236}">
                <a16:creationId xmlns:a16="http://schemas.microsoft.com/office/drawing/2014/main" id="{8BC82EBF-CDCF-AB01-51D0-9B40B5568EF5}"/>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pic>
        <p:nvPicPr>
          <p:cNvPr id="10" name="Picture 9">
            <a:extLst>
              <a:ext uri="{FF2B5EF4-FFF2-40B4-BE49-F238E27FC236}">
                <a16:creationId xmlns:a16="http://schemas.microsoft.com/office/drawing/2014/main" id="{91778988-1C33-72F7-7163-578E4EEDE8C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597631"/>
            <a:ext cx="1975392" cy="410472"/>
          </a:xfrm>
          <a:prstGeom prst="rect">
            <a:avLst/>
          </a:prstGeom>
        </p:spPr>
      </p:pic>
      <p:sp>
        <p:nvSpPr>
          <p:cNvPr id="4" name="Date Placeholder 4">
            <a:extLst>
              <a:ext uri="{FF2B5EF4-FFF2-40B4-BE49-F238E27FC236}">
                <a16:creationId xmlns:a16="http://schemas.microsoft.com/office/drawing/2014/main" id="{BEC55440-F402-A01A-9F89-DE0C6652CE8C}"/>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9062D204-1C32-DC10-F63A-85CE859E56D9}"/>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82B77487-3822-AE3B-D0DF-58C1278F67BA}"/>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AB45865C-E78C-EC3D-DDD5-8C3A4AAAC00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2956576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 Light - GD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Rectangle 2">
            <a:extLst>
              <a:ext uri="{FF2B5EF4-FFF2-40B4-BE49-F238E27FC236}">
                <a16:creationId xmlns:a16="http://schemas.microsoft.com/office/drawing/2014/main" id="{F462E6AD-026C-68E6-48DB-DAEC4C982C6F}"/>
              </a:ext>
            </a:extLst>
          </p:cNvPr>
          <p:cNvSpPr/>
          <p:nvPr userDrawn="1"/>
        </p:nvSpPr>
        <p:spPr>
          <a:xfrm>
            <a:off x="0" y="4349252"/>
            <a:ext cx="7206031" cy="1430570"/>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3" name="Text Field">
            <a:extLst>
              <a:ext uri="{FF2B5EF4-FFF2-40B4-BE49-F238E27FC236}">
                <a16:creationId xmlns:a16="http://schemas.microsoft.com/office/drawing/2014/main" id="{2EA455A3-00D3-F81F-EBBD-128B8BA4669F}"/>
              </a:ext>
            </a:extLst>
          </p:cNvPr>
          <p:cNvSpPr>
            <a:spLocks noGrp="1"/>
          </p:cNvSpPr>
          <p:nvPr>
            <p:ph type="body" sz="quarter" idx="35" hasCustomPrompt="1"/>
          </p:nvPr>
        </p:nvSpPr>
        <p:spPr>
          <a:xfrm>
            <a:off x="597481" y="4665516"/>
            <a:ext cx="5077970" cy="266291"/>
          </a:xfrm>
          <a:prstGeom prst="rect">
            <a:avLst/>
          </a:prstGeom>
          <a:noFill/>
        </p:spPr>
        <p:txBody>
          <a:bodyPr>
            <a:noAutofit/>
          </a:bodyPr>
          <a:lstStyle>
            <a:lvl1pPr marL="0" indent="0">
              <a:buNone/>
              <a:defRPr b="1">
                <a:solidFill>
                  <a:schemeClr val="tx1"/>
                </a:solidFill>
              </a:defRPr>
            </a:lvl1pPr>
          </a:lstStyle>
          <a:p>
            <a:pPr lvl="0"/>
            <a:r>
              <a:rPr lang="en-US" dirty="0"/>
              <a:t>Name</a:t>
            </a:r>
          </a:p>
        </p:txBody>
      </p:sp>
      <p:sp>
        <p:nvSpPr>
          <p:cNvPr id="14" name="Text Field 2">
            <a:extLst>
              <a:ext uri="{FF2B5EF4-FFF2-40B4-BE49-F238E27FC236}">
                <a16:creationId xmlns:a16="http://schemas.microsoft.com/office/drawing/2014/main" id="{EE34D923-3C8F-B10D-DD8A-6376430039EA}"/>
              </a:ext>
            </a:extLst>
          </p:cNvPr>
          <p:cNvSpPr>
            <a:spLocks noGrp="1"/>
          </p:cNvSpPr>
          <p:nvPr>
            <p:ph type="body" sz="quarter" idx="34" hasCustomPrompt="1"/>
          </p:nvPr>
        </p:nvSpPr>
        <p:spPr>
          <a:xfrm>
            <a:off x="597481" y="5066458"/>
            <a:ext cx="5498517" cy="304927"/>
          </a:xfrm>
          <a:prstGeom prst="rect">
            <a:avLst/>
          </a:prstGeom>
          <a:noFill/>
        </p:spPr>
        <p:txBody>
          <a:bodyPr>
            <a:noAutofit/>
          </a:bodyPr>
          <a:lstStyle>
            <a:lvl1pPr marL="0" indent="0">
              <a:buNone/>
              <a:defRPr>
                <a:solidFill>
                  <a:schemeClr val="tx1"/>
                </a:solidFill>
              </a:defRPr>
            </a:lvl1pPr>
          </a:lstStyle>
          <a:p>
            <a:pPr lvl="0"/>
            <a:r>
              <a:rPr lang="en-US" dirty="0"/>
              <a:t>Presenter’s Title</a:t>
            </a:r>
            <a:r>
              <a:rPr lang="uk-UA" dirty="0"/>
              <a:t>, </a:t>
            </a:r>
            <a:r>
              <a:rPr lang="en-US" dirty="0"/>
              <a:t>Organization</a:t>
            </a:r>
            <a:r>
              <a:rPr lang="uk-UA" dirty="0"/>
              <a:t> </a:t>
            </a:r>
            <a:r>
              <a:rPr lang="en-US" dirty="0" err="1"/>
              <a:t>etc</a:t>
            </a:r>
            <a:endParaRPr lang="en-US" dirty="0"/>
          </a:p>
        </p:txBody>
      </p:sp>
      <p:sp>
        <p:nvSpPr>
          <p:cNvPr id="5" name="Title">
            <a:extLst>
              <a:ext uri="{FF2B5EF4-FFF2-40B4-BE49-F238E27FC236}">
                <a16:creationId xmlns:a16="http://schemas.microsoft.com/office/drawing/2014/main" id="{9BAB29B4-42F6-A802-AE37-62AF88F42CC2}"/>
              </a:ext>
            </a:extLst>
          </p:cNvPr>
          <p:cNvSpPr>
            <a:spLocks noGrp="1"/>
          </p:cNvSpPr>
          <p:nvPr>
            <p:ph type="ctrTitle" hasCustomPrompt="1"/>
          </p:nvPr>
        </p:nvSpPr>
        <p:spPr>
          <a:xfrm>
            <a:off x="597479" y="1933779"/>
            <a:ext cx="5498517" cy="1419601"/>
          </a:xfrm>
          <a:prstGeom prst="rect">
            <a:avLst/>
          </a:prstGeom>
          <a:noFill/>
        </p:spPr>
        <p:txBody>
          <a:bodyPr vert="horz" wrap="square" lIns="0" tIns="0" rIns="0" bIns="91440" rtlCol="0" anchor="t">
            <a:noAutofit/>
          </a:bodyPr>
          <a:lstStyle>
            <a:lvl1pPr>
              <a:defRPr lang="en-US" sz="4400" b="0" i="0" dirty="0">
                <a:solidFill>
                  <a:schemeClr val="tx1"/>
                </a:solidFill>
                <a:latin typeface="+mj-lt"/>
                <a:cs typeface="Oracle Sans Semi Bold" panose="020B0503020204020204" pitchFamily="34" charset="0"/>
              </a:defRPr>
            </a:lvl1pPr>
          </a:lstStyle>
          <a:p>
            <a:pPr lvl="0">
              <a:lnSpc>
                <a:spcPct val="100000"/>
              </a:lnSpc>
            </a:pPr>
            <a:r>
              <a:rPr lang="en-US" dirty="0"/>
              <a:t>Title (up to 2 lines recommended)</a:t>
            </a:r>
          </a:p>
        </p:txBody>
      </p:sp>
      <p:sp>
        <p:nvSpPr>
          <p:cNvPr id="6" name="Subhead">
            <a:extLst>
              <a:ext uri="{FF2B5EF4-FFF2-40B4-BE49-F238E27FC236}">
                <a16:creationId xmlns:a16="http://schemas.microsoft.com/office/drawing/2014/main" id="{AA23C384-72B9-C358-7F46-436D5E0C957A}"/>
              </a:ext>
            </a:extLst>
          </p:cNvPr>
          <p:cNvSpPr>
            <a:spLocks noGrp="1"/>
          </p:cNvSpPr>
          <p:nvPr>
            <p:ph type="body" sz="quarter" idx="33" hasCustomPrompt="1"/>
          </p:nvPr>
        </p:nvSpPr>
        <p:spPr>
          <a:xfrm>
            <a:off x="597480" y="3688101"/>
            <a:ext cx="5498517" cy="341249"/>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chemeClr val="accent4"/>
                </a:solidFill>
                <a:latin typeface="+mn-lt"/>
                <a:cs typeface="Oracle Sans Light" panose="020B04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pic>
        <p:nvPicPr>
          <p:cNvPr id="10" name="Picture 9">
            <a:extLst>
              <a:ext uri="{FF2B5EF4-FFF2-40B4-BE49-F238E27FC236}">
                <a16:creationId xmlns:a16="http://schemas.microsoft.com/office/drawing/2014/main" id="{BCE34C67-99DD-2D5E-8D93-D79B3A7B5CB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7479" y="625524"/>
            <a:ext cx="2541166" cy="653151"/>
          </a:xfrm>
          <a:prstGeom prst="rect">
            <a:avLst/>
          </a:prstGeom>
        </p:spPr>
      </p:pic>
      <p:sp>
        <p:nvSpPr>
          <p:cNvPr id="4" name="Date Placeholder 4">
            <a:extLst>
              <a:ext uri="{FF2B5EF4-FFF2-40B4-BE49-F238E27FC236}">
                <a16:creationId xmlns:a16="http://schemas.microsoft.com/office/drawing/2014/main" id="{B51F5FF1-4209-2567-53A6-D6C43DD1DFF8}"/>
              </a:ext>
            </a:extLst>
          </p:cNvPr>
          <p:cNvSpPr>
            <a:spLocks noGrp="1"/>
          </p:cNvSpPr>
          <p:nvPr>
            <p:ph type="dt" sz="half" idx="17"/>
          </p:nvPr>
        </p:nvSpPr>
        <p:spPr>
          <a:xfrm>
            <a:off x="6873138" y="6425604"/>
            <a:ext cx="2743200" cy="363500"/>
          </a:xfrm>
          <a:prstGeom prst="rect">
            <a:avLst/>
          </a:prstGeom>
        </p:spPr>
        <p:txBody>
          <a:bodyPr/>
          <a:lstStyle/>
          <a:p>
            <a:fld id="{33D56CE3-7E4D-5748-BB6B-B903CB735F36}" type="datetime1">
              <a:rPr lang="en-GB" smtClean="0"/>
              <a:t>17/06/2025</a:t>
            </a:fld>
            <a:endParaRPr lang="en-US" dirty="0"/>
          </a:p>
        </p:txBody>
      </p:sp>
      <p:sp>
        <p:nvSpPr>
          <p:cNvPr id="7" name="Footer Placeholder 6">
            <a:extLst>
              <a:ext uri="{FF2B5EF4-FFF2-40B4-BE49-F238E27FC236}">
                <a16:creationId xmlns:a16="http://schemas.microsoft.com/office/drawing/2014/main" id="{95170F7F-60A4-9231-6476-FB19184209CC}"/>
              </a:ext>
            </a:extLst>
          </p:cNvPr>
          <p:cNvSpPr>
            <a:spLocks noGrp="1"/>
          </p:cNvSpPr>
          <p:nvPr>
            <p:ph type="ftr" sz="quarter" idx="18"/>
          </p:nvPr>
        </p:nvSpPr>
        <p:spPr>
          <a:xfrm>
            <a:off x="1127759" y="6423978"/>
            <a:ext cx="5745379" cy="365125"/>
          </a:xfrm>
        </p:spPr>
        <p:txBody>
          <a:bodyPr/>
          <a:lstStyle/>
          <a:p>
            <a:r>
              <a:rPr lang="en-US" dirty="0"/>
              <a:t>Copyright © 2025, Oracle and/or its affiliates  |  Confidential: Internal</a:t>
            </a:r>
          </a:p>
        </p:txBody>
      </p:sp>
      <p:sp>
        <p:nvSpPr>
          <p:cNvPr id="8" name="Slide Number Placeholder 7">
            <a:extLst>
              <a:ext uri="{FF2B5EF4-FFF2-40B4-BE49-F238E27FC236}">
                <a16:creationId xmlns:a16="http://schemas.microsoft.com/office/drawing/2014/main" id="{1B55B1E4-A430-3F05-2AFA-6A7F2441476E}"/>
              </a:ext>
            </a:extLst>
          </p:cNvPr>
          <p:cNvSpPr>
            <a:spLocks noGrp="1"/>
          </p:cNvSpPr>
          <p:nvPr>
            <p:ph type="sldNum" sz="quarter" idx="19"/>
          </p:nvPr>
        </p:nvSpPr>
        <p:spPr>
          <a:xfrm>
            <a:off x="762000" y="6423660"/>
            <a:ext cx="365760" cy="365760"/>
          </a:xfrm>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3ED0DA41-75ED-2F68-A1ED-5819326864D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3944" y="1297891"/>
            <a:ext cx="6662088" cy="5029877"/>
          </a:xfrm>
          <a:prstGeom prst="rect">
            <a:avLst/>
          </a:prstGeom>
        </p:spPr>
      </p:pic>
    </p:spTree>
    <p:extLst>
      <p:ext uri="{BB962C8B-B14F-4D97-AF65-F5344CB8AC3E}">
        <p14:creationId xmlns:p14="http://schemas.microsoft.com/office/powerpoint/2010/main" val="3416777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full-imag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1" name="Gradient overlay">
            <a:extLst>
              <a:ext uri="{FF2B5EF4-FFF2-40B4-BE49-F238E27FC236}">
                <a16:creationId xmlns:a16="http://schemas.microsoft.com/office/drawing/2014/main" id="{E873D90A-E4A3-F78A-F391-D1DB29911070}"/>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a:extLst>
              <a:ext uri="{FF2B5EF4-FFF2-40B4-BE49-F238E27FC236}">
                <a16:creationId xmlns:a16="http://schemas.microsoft.com/office/drawing/2014/main" id="{5E1C8E87-14CA-EB0A-B967-57776EF53426}"/>
              </a:ext>
            </a:extLst>
          </p:cNvPr>
          <p:cNvSpPr>
            <a:spLocks noGrp="1"/>
          </p:cNvSpPr>
          <p:nvPr>
            <p:ph type="ctrTitle" hasCustomPrompt="1"/>
          </p:nvPr>
        </p:nvSpPr>
        <p:spPr>
          <a:xfrm>
            <a:off x="792538" y="2148840"/>
            <a:ext cx="6583608"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 title</a:t>
            </a:r>
            <a:br>
              <a:rPr lang="en-US" dirty="0"/>
            </a:br>
            <a:r>
              <a:rPr lang="en-US" dirty="0"/>
              <a:t>(up to two lines)</a:t>
            </a:r>
          </a:p>
        </p:txBody>
      </p:sp>
      <p:sp>
        <p:nvSpPr>
          <p:cNvPr id="8" name="Subhead">
            <a:extLst>
              <a:ext uri="{FF2B5EF4-FFF2-40B4-BE49-F238E27FC236}">
                <a16:creationId xmlns:a16="http://schemas.microsoft.com/office/drawing/2014/main" id="{9F13C004-6A96-3D61-9397-40C41F43523D}"/>
              </a:ext>
            </a:extLst>
          </p:cNvPr>
          <p:cNvSpPr>
            <a:spLocks noGrp="1"/>
          </p:cNvSpPr>
          <p:nvPr>
            <p:ph type="body" sz="quarter" idx="33" hasCustomPrompt="1"/>
          </p:nvPr>
        </p:nvSpPr>
        <p:spPr>
          <a:xfrm>
            <a:off x="792538" y="3519553"/>
            <a:ext cx="6583608"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29BC5DBB-6459-FA83-A3C0-242C30783B69}"/>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E4F8B91E-3CD8-7B6C-C073-0E255807CCEF}"/>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7" name="Oracle Logo" descr="Oracle Logo">
            <a:extLst>
              <a:ext uri="{FF2B5EF4-FFF2-40B4-BE49-F238E27FC236}">
                <a16:creationId xmlns:a16="http://schemas.microsoft.com/office/drawing/2014/main" id="{D3B9F45A-1FFB-8B3C-4F70-6D6363AA6D2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0502ED2C-D10E-1DB4-3557-E5C9C7E4D238}"/>
              </a:ext>
              <a:ext uri="{C183D7F6-B498-43B3-948B-1728B52AA6E4}">
                <adec:decorative xmlns:adec="http://schemas.microsoft.com/office/drawing/2017/decorative" val="1"/>
              </a:ext>
            </a:extLst>
          </p:cNvPr>
          <p:cNvSpPr/>
          <p:nvPr userDrawn="1"/>
        </p:nvSpPr>
        <p:spPr>
          <a:xfrm>
            <a:off x="793805" y="4166108"/>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3EBD9F2-E972-20CA-5EFD-A415BBB2662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28365" y="150"/>
            <a:ext cx="1718094" cy="1440000"/>
          </a:xfrm>
          <a:prstGeom prst="rect">
            <a:avLst/>
          </a:prstGeom>
        </p:spPr>
      </p:pic>
    </p:spTree>
    <p:extLst>
      <p:ext uri="{BB962C8B-B14F-4D97-AF65-F5344CB8AC3E}">
        <p14:creationId xmlns:p14="http://schemas.microsoft.com/office/powerpoint/2010/main" val="2533433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full-imag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Gradient overlay">
            <a:extLst>
              <a:ext uri="{FF2B5EF4-FFF2-40B4-BE49-F238E27FC236}">
                <a16:creationId xmlns:a16="http://schemas.microsoft.com/office/drawing/2014/main" id="{02A90784-90AA-1B27-460D-B876463465E4}"/>
              </a:ext>
            </a:extLst>
          </p:cNvPr>
          <p:cNvSpPr>
            <a:spLocks/>
          </p:cNvSpPr>
          <p:nvPr userDrawn="1"/>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5">
            <a:extLst>
              <a:ext uri="{FF2B5EF4-FFF2-40B4-BE49-F238E27FC236}">
                <a16:creationId xmlns:a16="http://schemas.microsoft.com/office/drawing/2014/main" id="{2A8370DC-7E17-3B48-B968-7FBF1A513E5D}"/>
              </a:ext>
            </a:extLst>
          </p:cNvPr>
          <p:cNvSpPr>
            <a:spLocks noGrp="1"/>
          </p:cNvSpPr>
          <p:nvPr>
            <p:ph type="title" hasCustomPrompt="1"/>
          </p:nvPr>
        </p:nvSpPr>
        <p:spPr>
          <a:xfrm>
            <a:off x="768871" y="2337132"/>
            <a:ext cx="6217920" cy="1280160"/>
          </a:xfrm>
          <a:noFill/>
        </p:spPr>
        <p:txBody>
          <a:bodyPr vert="horz" wrap="square" lIns="0" tIns="0" rIns="0" bIns="0" rtlCol="0" anchor="b">
            <a:noAutofit/>
          </a:bodyPr>
          <a:lstStyle>
            <a:lvl1pPr>
              <a:lnSpc>
                <a:spcPct val="100000"/>
              </a:lnSpc>
              <a:defRPr lang="en-US" sz="4000" b="1" i="0" dirty="0">
                <a:solidFill>
                  <a:schemeClr val="tx1"/>
                </a:solidFill>
                <a:latin typeface="Oracle Sans Tab" panose="020B0503020204020204" pitchFamily="34" charset="0"/>
              </a:defRPr>
            </a:lvl1pPr>
          </a:lstStyle>
          <a:p>
            <a:pPr lvl="0">
              <a:lnSpc>
                <a:spcPct val="100000"/>
              </a:lnSpc>
            </a:pPr>
            <a:r>
              <a:rPr lang="en-US" dirty="0"/>
              <a:t>Cross-pillar, Industries, and General Divider Title</a:t>
            </a:r>
          </a:p>
        </p:txBody>
      </p:sp>
      <p:sp>
        <p:nvSpPr>
          <p:cNvPr id="11" name="Slide Number Placeholder 7">
            <a:extLst>
              <a:ext uri="{FF2B5EF4-FFF2-40B4-BE49-F238E27FC236}">
                <a16:creationId xmlns:a16="http://schemas.microsoft.com/office/drawing/2014/main" id="{F080221B-C8EC-00E9-AA2D-F8C154AA3CA5}"/>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6C539CEF-A482-43F9-5E0C-FBA849CD6ADB}"/>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15" name="Date Placeholder 2">
            <a:extLst>
              <a:ext uri="{FF2B5EF4-FFF2-40B4-BE49-F238E27FC236}">
                <a16:creationId xmlns:a16="http://schemas.microsoft.com/office/drawing/2014/main" id="{F9083701-4310-37DF-B760-F9C5578E1E79}"/>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Subhead">
            <a:extLst>
              <a:ext uri="{FF2B5EF4-FFF2-40B4-BE49-F238E27FC236}">
                <a16:creationId xmlns:a16="http://schemas.microsoft.com/office/drawing/2014/main" id="{AC267B18-559A-5001-F10C-C0FCF070F435}"/>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8039191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ght - Divider_Image">
    <p:bg>
      <p:bgPr>
        <a:solidFill>
          <a:schemeClr val="bg2"/>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213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95435"/>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97377"/>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9" name="Accent mark">
            <a:extLst>
              <a:ext uri="{FF2B5EF4-FFF2-40B4-BE49-F238E27FC236}">
                <a16:creationId xmlns:a16="http://schemas.microsoft.com/office/drawing/2014/main" id="{EF7E4D86-EF60-0FEC-3E94-F74C96841A9C}"/>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head">
            <a:extLst>
              <a:ext uri="{FF2B5EF4-FFF2-40B4-BE49-F238E27FC236}">
                <a16:creationId xmlns:a16="http://schemas.microsoft.com/office/drawing/2014/main" id="{A763B6F6-4DFA-26D0-D8A9-4B0B1409391D}"/>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1604406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Divider_Imag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9048"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8912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938"/>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userDrawn="1"/>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D8947E02-814A-79D0-C68B-4A7749394CC0}"/>
              </a:ext>
              <a:ext uri="{C183D7F6-B498-43B3-948B-1728B52AA6E4}">
                <adec:decorative xmlns:adec="http://schemas.microsoft.com/office/drawing/2017/decorative" val="1"/>
              </a:ext>
            </a:extLst>
          </p:cNvPr>
          <p:cNvSpPr/>
          <p:nvPr userDrawn="1"/>
        </p:nvSpPr>
        <p:spPr>
          <a:xfrm>
            <a:off x="776689" y="3867907"/>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head">
            <a:extLst>
              <a:ext uri="{FF2B5EF4-FFF2-40B4-BE49-F238E27FC236}">
                <a16:creationId xmlns:a16="http://schemas.microsoft.com/office/drawing/2014/main" id="{C91DD99A-805D-7654-58A3-D6532DB17964}"/>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304597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1286051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Impact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221938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 Quote with Data Texture Background">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A88749-7EB5-2331-D33E-12835E3B776D}"/>
              </a:ext>
            </a:extLst>
          </p:cNvPr>
          <p:cNvSpPr/>
          <p:nvPr userDrawn="1"/>
        </p:nvSpPr>
        <p:spPr>
          <a:xfrm>
            <a:off x="0" y="4349639"/>
            <a:ext cx="7315201" cy="1165696"/>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8" name="Date Placeholder 7">
            <a:extLst>
              <a:ext uri="{FF2B5EF4-FFF2-40B4-BE49-F238E27FC236}">
                <a16:creationId xmlns:a16="http://schemas.microsoft.com/office/drawing/2014/main" id="{4BE25085-4A1E-D179-F719-60F3221F88FC}"/>
              </a:ext>
            </a:extLst>
          </p:cNvPr>
          <p:cNvSpPr>
            <a:spLocks noGrp="1"/>
          </p:cNvSpPr>
          <p:nvPr>
            <p:ph type="dt" sz="half" idx="46"/>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BDE401F7-9E49-F0E9-B298-16D634C82200}"/>
              </a:ext>
            </a:extLst>
          </p:cNvPr>
          <p:cNvSpPr>
            <a:spLocks noGrp="1"/>
          </p:cNvSpPr>
          <p:nvPr>
            <p:ph type="ftr" sz="quarter" idx="47"/>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0845080C-B81D-10C7-DC19-C0A0D33B390A}"/>
              </a:ext>
            </a:extLst>
          </p:cNvPr>
          <p:cNvSpPr>
            <a:spLocks noGrp="1"/>
          </p:cNvSpPr>
          <p:nvPr>
            <p:ph type="sldNum" sz="quarter" idx="48"/>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4049053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ight - Quote with Data Texture Backgroun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FE6D344-B58B-BFD1-9607-3045A45ED613}"/>
              </a:ext>
            </a:extLst>
          </p:cNvPr>
          <p:cNvSpPr/>
          <p:nvPr userDrawn="1"/>
        </p:nvSpPr>
        <p:spPr>
          <a:xfrm>
            <a:off x="0" y="4349639"/>
            <a:ext cx="7206031" cy="1165696"/>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768D3CF0-D6A4-3493-A61E-C80959981BE3}"/>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4" name="Date Placeholder 3">
            <a:extLst>
              <a:ext uri="{FF2B5EF4-FFF2-40B4-BE49-F238E27FC236}">
                <a16:creationId xmlns:a16="http://schemas.microsoft.com/office/drawing/2014/main" id="{3F5E1FD4-FF3D-53E2-B568-4096CAC1B9DC}"/>
              </a:ext>
            </a:extLst>
          </p:cNvPr>
          <p:cNvSpPr>
            <a:spLocks noGrp="1"/>
          </p:cNvSpPr>
          <p:nvPr>
            <p:ph type="dt" sz="half" idx="46"/>
          </p:nvPr>
        </p:nvSpPr>
        <p:spPr/>
        <p:txBody>
          <a:bodyPr/>
          <a:lstStyle>
            <a:lvl1pPr>
              <a:defRPr>
                <a:solidFill>
                  <a:srgbClr val="514C47"/>
                </a:solidFill>
              </a:defRPr>
            </a:lvl1pPr>
          </a:lstStyle>
          <a:p>
            <a:r>
              <a:rPr lang="en-US"/>
              <a:t>[Date]</a:t>
            </a:r>
            <a:endParaRPr lang="en-US" dirty="0"/>
          </a:p>
        </p:txBody>
      </p:sp>
      <p:sp>
        <p:nvSpPr>
          <p:cNvPr id="5" name="Footer Placeholder 4">
            <a:extLst>
              <a:ext uri="{FF2B5EF4-FFF2-40B4-BE49-F238E27FC236}">
                <a16:creationId xmlns:a16="http://schemas.microsoft.com/office/drawing/2014/main" id="{BBCA8205-86B8-B975-0254-A7323DE64A72}"/>
              </a:ext>
            </a:extLst>
          </p:cNvPr>
          <p:cNvSpPr>
            <a:spLocks noGrp="1"/>
          </p:cNvSpPr>
          <p:nvPr>
            <p:ph type="ftr" sz="quarter" idx="47"/>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0" name="Slide Number Placeholder 9">
            <a:extLst>
              <a:ext uri="{FF2B5EF4-FFF2-40B4-BE49-F238E27FC236}">
                <a16:creationId xmlns:a16="http://schemas.microsoft.com/office/drawing/2014/main" id="{99568EA0-EDF7-FD13-065F-C2A6ACEFCE3C}"/>
              </a:ext>
            </a:extLst>
          </p:cNvPr>
          <p:cNvSpPr>
            <a:spLocks noGrp="1"/>
          </p:cNvSpPr>
          <p:nvPr>
            <p:ph type="sldNum" sz="quarter" idx="48"/>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7402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ark - Quote, Picture, and logo">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DDDA32-0BA4-7E35-DEB5-D424217A8AA3}"/>
              </a:ext>
            </a:extLst>
          </p:cNvPr>
          <p:cNvSpPr/>
          <p:nvPr userDrawn="1"/>
        </p:nvSpPr>
        <p:spPr>
          <a:xfrm>
            <a:off x="5430982" y="4769734"/>
            <a:ext cx="7315201" cy="1165696"/>
          </a:xfrm>
          <a:prstGeom prst="rect">
            <a:avLst/>
          </a:prstGeom>
          <a:gradFill flip="none" rotWithShape="1">
            <a:gsLst>
              <a:gs pos="0">
                <a:schemeClr val="accent4">
                  <a:lumMod val="75000"/>
                </a:schemeClr>
              </a:gs>
              <a:gs pos="89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2" name="Picture Placeholder 4">
            <a:extLst>
              <a:ext uri="{FF2B5EF4-FFF2-40B4-BE49-F238E27FC236}">
                <a16:creationId xmlns:a16="http://schemas.microsoft.com/office/drawing/2014/main" id="{7CD08DE1-777E-CA25-0EDC-62A850ADB172}"/>
              </a:ext>
            </a:extLst>
          </p:cNvPr>
          <p:cNvSpPr>
            <a:spLocks noGrp="1"/>
          </p:cNvSpPr>
          <p:nvPr>
            <p:ph type="pic" sz="quarter" idx="42" hasCustomPrompt="1"/>
          </p:nvPr>
        </p:nvSpPr>
        <p:spPr>
          <a:xfrm>
            <a:off x="0" y="0"/>
            <a:ext cx="4876800" cy="6858000"/>
          </a:xfrm>
          <a:prstGeom prst="rect">
            <a:avLst/>
          </a:prstGeo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solidFill>
                  <a:schemeClr val="tx1"/>
                </a:solidFill>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lvl1pPr>
              <a:defRPr>
                <a:solidFill>
                  <a:srgbClr val="AEA8A2"/>
                </a:solidFill>
              </a:defRPr>
            </a:lvl1pPr>
          </a:lstStyle>
          <a:p>
            <a:r>
              <a:rPr lang="en-US"/>
              <a:t>[Date]</a:t>
            </a:r>
            <a:endParaRPr lang="en-US" dirty="0"/>
          </a:p>
        </p:txBody>
      </p:sp>
      <p:sp>
        <p:nvSpPr>
          <p:cNvPr id="2" name="Content Placeholder 2">
            <a:extLst>
              <a:ext uri="{FF2B5EF4-FFF2-40B4-BE49-F238E27FC236}">
                <a16:creationId xmlns:a16="http://schemas.microsoft.com/office/drawing/2014/main" id="{97B60F2A-F2ED-70AD-4768-5B8EF9B56420}"/>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Tree>
    <p:extLst>
      <p:ext uri="{BB962C8B-B14F-4D97-AF65-F5344CB8AC3E}">
        <p14:creationId xmlns:p14="http://schemas.microsoft.com/office/powerpoint/2010/main" val="39625372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ight - Quote, Picture, and log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0FEEA1-7B80-CB08-109A-86DD3E82B79F}"/>
              </a:ext>
            </a:extLst>
          </p:cNvPr>
          <p:cNvSpPr/>
          <p:nvPr userDrawn="1"/>
        </p:nvSpPr>
        <p:spPr>
          <a:xfrm>
            <a:off x="5430982" y="4769734"/>
            <a:ext cx="7206031" cy="1165696"/>
          </a:xfrm>
          <a:prstGeom prst="rect">
            <a:avLst/>
          </a:prstGeom>
          <a:gradFill flip="none" rotWithShape="1">
            <a:gsLst>
              <a:gs pos="0">
                <a:schemeClr val="accent4">
                  <a:lumMod val="40000"/>
                  <a:lumOff val="60000"/>
                </a:schemeClr>
              </a:gs>
              <a:gs pos="95000">
                <a:schemeClr val="accent4">
                  <a:alpha val="0"/>
                </a:schemeClr>
              </a:gs>
            </a:gsLst>
            <a:lin ang="0" scaled="1"/>
            <a:tileRect/>
          </a:gra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A"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4" name="Picture Placeholder 6">
            <a:extLst>
              <a:ext uri="{FF2B5EF4-FFF2-40B4-BE49-F238E27FC236}">
                <a16:creationId xmlns:a16="http://schemas.microsoft.com/office/drawing/2014/main" id="{6B072475-0C15-14B8-3B46-F4CEFDFAD762}"/>
              </a:ext>
            </a:extLst>
          </p:cNvPr>
          <p:cNvSpPr>
            <a:spLocks noGrp="1"/>
          </p:cNvSpPr>
          <p:nvPr>
            <p:ph type="pic" sz="quarter" idx="42" hasCustomPrompt="1"/>
          </p:nvPr>
        </p:nvSpPr>
        <p:spPr>
          <a:xfrm>
            <a:off x="0" y="0"/>
            <a:ext cx="4876800" cy="6858000"/>
          </a:xfrm>
          <a:prstGeom prst="rect">
            <a:avLst/>
          </a:prstGeom>
        </p:spPr>
        <p:txBody>
          <a:bodyPr anchor="ctr" anchorCtr="1"/>
          <a:lstStyle>
            <a:lvl1pPr marL="0" indent="0">
              <a:buNone/>
              <a:defRPr>
                <a:solidFill>
                  <a:schemeClr val="tx1"/>
                </a:solidFill>
              </a:defRPr>
            </a:lvl1pPr>
          </a:lstStyle>
          <a:p>
            <a:r>
              <a:rPr lang="en-US" dirty="0"/>
              <a:t>Click to add image</a:t>
            </a:r>
          </a:p>
        </p:txBody>
      </p:sp>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5384673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 Single metric">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endParaRPr lang="en-US" dirty="0"/>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89734" y="1600200"/>
            <a:ext cx="5085287" cy="2415700"/>
          </a:xfrm>
        </p:spPr>
        <p:txBody>
          <a:bodyPr anchor="b" anchorCtr="0"/>
          <a:lstStyle>
            <a:lvl1pPr>
              <a:defRPr sz="8000" b="1">
                <a:solidFill>
                  <a:schemeClr val="accent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841059"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7" name="Accent mark">
            <a:extLst>
              <a:ext uri="{FF2B5EF4-FFF2-40B4-BE49-F238E27FC236}">
                <a16:creationId xmlns:a16="http://schemas.microsoft.com/office/drawing/2014/main" id="{F914C2C0-AA33-B6B2-67CF-DCC0E7C6D76B}"/>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Tree>
    <p:extLst>
      <p:ext uri="{BB962C8B-B14F-4D97-AF65-F5344CB8AC3E}">
        <p14:creationId xmlns:p14="http://schemas.microsoft.com/office/powerpoint/2010/main" val="1667720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ight - Single metric">
    <p:bg>
      <p:bgPr>
        <a:solidFill>
          <a:schemeClr val="bg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C834F4C-E96D-655B-5790-3D3144B54C1C}"/>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92538" y="1600200"/>
            <a:ext cx="5072063" cy="2415700"/>
          </a:xfrm>
        </p:spPr>
        <p:txBody>
          <a:bodyPr anchor="b" anchorCtr="0"/>
          <a:lstStyle>
            <a:lvl1pPr>
              <a:lnSpc>
                <a:spcPct val="100000"/>
              </a:lnSpc>
              <a:defRPr sz="8000" b="1">
                <a:solidFill>
                  <a:schemeClr val="accent4"/>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92538"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
        <p:nvSpPr>
          <p:cNvPr id="10" name="Accent mark">
            <a:extLst>
              <a:ext uri="{FF2B5EF4-FFF2-40B4-BE49-F238E27FC236}">
                <a16:creationId xmlns:a16="http://schemas.microsoft.com/office/drawing/2014/main" id="{92B14C41-985E-E73E-2DEF-63120221F3B5}"/>
              </a:ext>
              <a:ext uri="{C183D7F6-B498-43B3-948B-1728B52AA6E4}">
                <adec:decorative xmlns:adec="http://schemas.microsoft.com/office/drawing/2017/decorative" val="1"/>
              </a:ext>
            </a:extLst>
          </p:cNvPr>
          <p:cNvSpPr/>
          <p:nvPr userDrawn="1"/>
        </p:nvSpPr>
        <p:spPr>
          <a:xfrm>
            <a:off x="805293" y="4325102"/>
            <a:ext cx="365760" cy="365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19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ark - Thank You">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6" name="OTag" descr="A small square in Oracle Red with the Oracle logo in the center in white">
            <a:extLst>
              <a:ext uri="{FF2B5EF4-FFF2-40B4-BE49-F238E27FC236}">
                <a16:creationId xmlns:a16="http://schemas.microsoft.com/office/drawing/2014/main" id="{D1B4FDA6-5EB7-1320-2A88-8EA99418C4FF}"/>
              </a:ext>
              <a:ext uri="{C183D7F6-B498-43B3-948B-1728B52AA6E4}">
                <adec:decorative xmlns:adec="http://schemas.microsoft.com/office/drawing/2017/decorative" val="0"/>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3" name="Date Placeholder 12">
            <a:extLst>
              <a:ext uri="{FF2B5EF4-FFF2-40B4-BE49-F238E27FC236}">
                <a16:creationId xmlns:a16="http://schemas.microsoft.com/office/drawing/2014/main" id="{3476C750-59D6-EB09-06A9-634F34474538}"/>
              </a:ext>
            </a:extLst>
          </p:cNvPr>
          <p:cNvSpPr>
            <a:spLocks noGrp="1"/>
          </p:cNvSpPr>
          <p:nvPr>
            <p:ph type="dt" sz="half" idx="38"/>
          </p:nvPr>
        </p:nvSpPr>
        <p:spPr/>
        <p:txBody>
          <a:bodyPr/>
          <a:lstStyle>
            <a:lvl1pPr>
              <a:defRPr>
                <a:solidFill>
                  <a:srgbClr val="AEA8A2"/>
                </a:solidFill>
              </a:defRPr>
            </a:lvl1pPr>
          </a:lstStyle>
          <a:p>
            <a:r>
              <a:rPr lang="en-US"/>
              <a:t>[Date]</a:t>
            </a:r>
            <a:endParaRPr lang="en-US" dirty="0"/>
          </a:p>
        </p:txBody>
      </p:sp>
      <p:sp>
        <p:nvSpPr>
          <p:cNvPr id="14" name="Footer Placeholder 13">
            <a:extLst>
              <a:ext uri="{FF2B5EF4-FFF2-40B4-BE49-F238E27FC236}">
                <a16:creationId xmlns:a16="http://schemas.microsoft.com/office/drawing/2014/main" id="{C0D2E1ED-2B0F-7B22-726D-4623578504D2}"/>
              </a:ext>
            </a:extLst>
          </p:cNvPr>
          <p:cNvSpPr>
            <a:spLocks noGrp="1"/>
          </p:cNvSpPr>
          <p:nvPr>
            <p:ph type="ftr" sz="quarter" idx="39"/>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5" name="Slide Number Placeholder 14">
            <a:extLst>
              <a:ext uri="{FF2B5EF4-FFF2-40B4-BE49-F238E27FC236}">
                <a16:creationId xmlns:a16="http://schemas.microsoft.com/office/drawing/2014/main" id="{83E4861B-95EB-30B4-4A73-1871E7B14738}"/>
              </a:ext>
            </a:extLst>
          </p:cNvPr>
          <p:cNvSpPr>
            <a:spLocks noGrp="1"/>
          </p:cNvSpPr>
          <p:nvPr>
            <p:ph type="sldNum" sz="quarter" idx="40"/>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2" name="Accent mark">
            <a:extLst>
              <a:ext uri="{FF2B5EF4-FFF2-40B4-BE49-F238E27FC236}">
                <a16:creationId xmlns:a16="http://schemas.microsoft.com/office/drawing/2014/main" id="{AED05725-671E-C225-6DF9-7BB572CF6458}"/>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ight - Thank You">
    <p:bg>
      <p:bgPr>
        <a:solidFill>
          <a:schemeClr val="bg2"/>
        </a:soli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12" name="OTag" descr="A small square in Oracle Red with the Oracle logo in the center in white">
            <a:extLst>
              <a:ext uri="{FF2B5EF4-FFF2-40B4-BE49-F238E27FC236}">
                <a16:creationId xmlns:a16="http://schemas.microsoft.com/office/drawing/2014/main" id="{7700FDE2-E876-37BC-F60A-8AE5E462616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3" name="Date Placeholder 32">
            <a:extLst>
              <a:ext uri="{FF2B5EF4-FFF2-40B4-BE49-F238E27FC236}">
                <a16:creationId xmlns:a16="http://schemas.microsoft.com/office/drawing/2014/main" id="{C757BBF7-1C67-AA09-584F-7A752DCB4BC9}"/>
              </a:ext>
            </a:extLst>
          </p:cNvPr>
          <p:cNvSpPr>
            <a:spLocks noGrp="1"/>
          </p:cNvSpPr>
          <p:nvPr>
            <p:ph type="dt" sz="half" idx="38"/>
          </p:nvPr>
        </p:nvSpPr>
        <p:spPr/>
        <p:txBody>
          <a:bodyPr/>
          <a:lstStyle>
            <a:lvl1pPr>
              <a:defRPr>
                <a:solidFill>
                  <a:srgbClr val="514C47"/>
                </a:solidFill>
              </a:defRPr>
            </a:lvl1pPr>
          </a:lstStyle>
          <a:p>
            <a:r>
              <a:rPr lang="en-US"/>
              <a:t>[Date]</a:t>
            </a:r>
            <a:endParaRPr lang="en-US" dirty="0"/>
          </a:p>
        </p:txBody>
      </p:sp>
      <p:sp>
        <p:nvSpPr>
          <p:cNvPr id="34" name="Footer Placeholder 33">
            <a:extLst>
              <a:ext uri="{FF2B5EF4-FFF2-40B4-BE49-F238E27FC236}">
                <a16:creationId xmlns:a16="http://schemas.microsoft.com/office/drawing/2014/main" id="{2B12D776-70C0-CC40-00F8-F8AB6108C9AA}"/>
              </a:ext>
            </a:extLst>
          </p:cNvPr>
          <p:cNvSpPr>
            <a:spLocks noGrp="1"/>
          </p:cNvSpPr>
          <p:nvPr>
            <p:ph type="ftr" sz="quarter" idx="39"/>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35" name="Slide Number Placeholder 34">
            <a:extLst>
              <a:ext uri="{FF2B5EF4-FFF2-40B4-BE49-F238E27FC236}">
                <a16:creationId xmlns:a16="http://schemas.microsoft.com/office/drawing/2014/main" id="{2021DDA7-EEBD-CE8D-1221-C07F76A0D39F}"/>
              </a:ext>
            </a:extLst>
          </p:cNvPr>
          <p:cNvSpPr>
            <a:spLocks noGrp="1"/>
          </p:cNvSpPr>
          <p:nvPr>
            <p:ph type="sldNum" sz="quarter" idx="40"/>
          </p:nvPr>
        </p:nvSpPr>
        <p:spPr/>
        <p:txBody>
          <a:bodyPr/>
          <a:lstStyle>
            <a:lvl1pPr>
              <a:defRPr>
                <a:solidFill>
                  <a:srgbClr val="514C47"/>
                </a:solidFill>
              </a:defRPr>
            </a:lvl1pPr>
          </a:lstStyle>
          <a:p>
            <a:fld id="{345D60D9-5372-5F40-9443-0F9AE5BDC3C8}" type="slidenum">
              <a:rPr lang="en-US" smtClean="0"/>
              <a:pPr/>
              <a:t>‹#›</a:t>
            </a:fld>
            <a:endParaRPr lang="en-US" dirty="0"/>
          </a:p>
        </p:txBody>
      </p:sp>
      <p:pic>
        <p:nvPicPr>
          <p:cNvPr id="8" name="OTag" descr="A small square in Oracle Red with the Oracle logo in the center in white">
            <a:extLst>
              <a:ext uri="{FF2B5EF4-FFF2-40B4-BE49-F238E27FC236}">
                <a16:creationId xmlns:a16="http://schemas.microsoft.com/office/drawing/2014/main" id="{3DA2B7A2-ED34-D984-C93F-D98D3EC21C9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11402373" y="6464808"/>
            <a:ext cx="393192" cy="393192"/>
          </a:xfrm>
          <a:prstGeom prst="rect">
            <a:avLst/>
          </a:prstGeom>
        </p:spPr>
      </p:pic>
      <p:sp>
        <p:nvSpPr>
          <p:cNvPr id="2" name="Accent mark">
            <a:extLst>
              <a:ext uri="{FF2B5EF4-FFF2-40B4-BE49-F238E27FC236}">
                <a16:creationId xmlns:a16="http://schemas.microsoft.com/office/drawing/2014/main" id="{B0EC2F66-9907-2F15-B317-36B39B8BBE6F}"/>
              </a:ext>
              <a:ext uri="{C183D7F6-B498-43B3-948B-1728B52AA6E4}">
                <adec:decorative xmlns:adec="http://schemas.microsoft.com/office/drawing/2017/decorative" val="1"/>
              </a:ext>
            </a:extLst>
          </p:cNvPr>
          <p:cNvSpPr/>
          <p:nvPr userDrawn="1"/>
        </p:nvSpPr>
        <p:spPr>
          <a:xfrm>
            <a:off x="792538" y="4502811"/>
            <a:ext cx="365760" cy="365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Dark - Closing Slide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082130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ark - Closing Slide Q&amp;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OTag">
            <a:extLst>
              <a:ext uri="{FF2B5EF4-FFF2-40B4-BE49-F238E27FC236}">
                <a16:creationId xmlns:a16="http://schemas.microsoft.com/office/drawing/2014/main" id="{4A332C52-B2AD-BBB7-E218-CC63173B9E9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389038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Safe harbor_Pillar">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8" name="TextBox 7">
            <a:extLst>
              <a:ext uri="{FF2B5EF4-FFF2-40B4-BE49-F238E27FC236}">
                <a16:creationId xmlns:a16="http://schemas.microsoft.com/office/drawing/2014/main" id="{F2087D21-F78B-45C7-2C05-43C5D2F54367}"/>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4926611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ight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5" name="TextBox 4">
            <a:extLst>
              <a:ext uri="{FF2B5EF4-FFF2-40B4-BE49-F238E27FC236}">
                <a16:creationId xmlns:a16="http://schemas.microsoft.com/office/drawing/2014/main" id="{CA4392FF-7C2C-D37B-DD7D-60C8C946E8C6}"/>
              </a:ext>
            </a:extLst>
          </p:cNvPr>
          <p:cNvSpPr txBox="1"/>
          <p:nvPr userDrawn="1"/>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73537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ote on safe harbor/forward looking">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harbor/forward looking</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7" name="TextBox 16">
            <a:extLst>
              <a:ext uri="{FF2B5EF4-FFF2-40B4-BE49-F238E27FC236}">
                <a16:creationId xmlns:a16="http://schemas.microsoft.com/office/drawing/2014/main" id="{E5EA32E2-5AE7-3199-6814-98A3082209E7}"/>
              </a:ext>
            </a:extLst>
          </p:cNvPr>
          <p:cNvSpPr txBox="1"/>
          <p:nvPr userDrawn="1"/>
        </p:nvSpPr>
        <p:spPr>
          <a:xfrm>
            <a:off x="762000" y="1608575"/>
            <a:ext cx="5084064" cy="3278398"/>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Legal Entity footer is required on every slide.</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Regulatory Statement is required on the title slide, and Forward-Looking statement slide (if the Forward-Looking statement slide is needed).</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Forward-Looking statement and Safe Harbor slides are required only for external presentations that pertain to:</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Product launches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Executive presentations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Keynotes at major events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Events attended by financial analysts</a:t>
            </a:r>
          </a:p>
        </p:txBody>
      </p:sp>
      <p:sp>
        <p:nvSpPr>
          <p:cNvPr id="19" name="TextBox 18">
            <a:extLst>
              <a:ext uri="{FF2B5EF4-FFF2-40B4-BE49-F238E27FC236}">
                <a16:creationId xmlns:a16="http://schemas.microsoft.com/office/drawing/2014/main" id="{08E9360F-1286-D2C8-A87B-E68B6EAEB555}"/>
              </a:ext>
            </a:extLst>
          </p:cNvPr>
          <p:cNvSpPr txBox="1"/>
          <p:nvPr userDrawn="1"/>
        </p:nvSpPr>
        <p:spPr>
          <a:xfrm>
            <a:off x="6345936" y="1608575"/>
            <a:ext cx="5084064" cy="3414589"/>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If it is required, it should appear twice: after the title slide and at the end of the slide deck.  When video recording, there should be a 3  second camera hold on the final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Safe harbor slide should be placed immediately following the title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rgbClr val="C74634"/>
                </a:solidFill>
                <a:latin typeface="Oracle Sans" panose="020B0503020204020204" pitchFamily="34" charset="0"/>
                <a:ea typeface="+mn-ea"/>
                <a:cs typeface="+mn-cs"/>
              </a:rPr>
              <a:t>If the presentation does not pertain to any one of the above, the Forward-Looking statement and Safe harbor slides can be left out entirely and should be deleted</a:t>
            </a:r>
          </a:p>
        </p:txBody>
      </p:sp>
      <p:cxnSp>
        <p:nvCxnSpPr>
          <p:cNvPr id="21" name="Column Divider">
            <a:extLst>
              <a:ext uri="{FF2B5EF4-FFF2-40B4-BE49-F238E27FC236}">
                <a16:creationId xmlns:a16="http://schemas.microsoft.com/office/drawing/2014/main" id="{FE86E375-F9AA-0C37-50B8-D4BCE2883B9B}"/>
              </a:ext>
              <a:ext uri="{C183D7F6-B498-43B3-948B-1728B52AA6E4}">
                <adec:decorative xmlns:adec="http://schemas.microsoft.com/office/drawing/2017/decorative" val="1"/>
              </a:ext>
            </a:extLst>
          </p:cNvPr>
          <p:cNvCxnSpPr>
            <a:cxnSpLocks/>
          </p:cNvCxnSpPr>
          <p:nvPr userDrawn="1"/>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248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peaker_1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One speaker on stage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Text Placeholder 33">
            <a:extLst>
              <a:ext uri="{FF2B5EF4-FFF2-40B4-BE49-F238E27FC236}">
                <a16:creationId xmlns:a16="http://schemas.microsoft.com/office/drawing/2014/main" id="{23FEB0B4-B182-7549-DC07-DDA74F8C8764}"/>
              </a:ext>
            </a:extLst>
          </p:cNvPr>
          <p:cNvSpPr>
            <a:spLocks noGrp="1"/>
          </p:cNvSpPr>
          <p:nvPr>
            <p:ph type="body" sz="quarter" idx="13" hasCustomPrompt="1"/>
          </p:nvPr>
        </p:nvSpPr>
        <p:spPr>
          <a:xfrm>
            <a:off x="3810000" y="2720621"/>
            <a:ext cx="4572000" cy="640073"/>
          </a:xfrm>
        </p:spPr>
        <p:txBody>
          <a:bodyPr vert="horz" lIns="0" tIns="0" rIns="0" bIns="0" rtlCol="0" anchor="b" anchorCtr="0">
            <a:noAutofit/>
          </a:bodyPr>
          <a:lstStyle>
            <a:lvl1pPr algn="ctr">
              <a:lnSpc>
                <a:spcPct val="100000"/>
              </a:lnSpc>
              <a:defRPr lang="en-US" sz="2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580B83F2-896B-0C6B-B807-89AAAC67626C}"/>
              </a:ext>
            </a:extLst>
          </p:cNvPr>
          <p:cNvSpPr>
            <a:spLocks noGrp="1"/>
          </p:cNvSpPr>
          <p:nvPr>
            <p:ph type="body" sz="quarter" idx="14" hasCustomPrompt="1"/>
          </p:nvPr>
        </p:nvSpPr>
        <p:spPr>
          <a:xfrm>
            <a:off x="3810000" y="3359674"/>
            <a:ext cx="4572000" cy="640073"/>
          </a:xfrm>
        </p:spPr>
        <p:txBody>
          <a:bodyPr vert="horz" lIns="0" tIns="0" rIns="0" bIns="0" rtlCol="0" anchor="t" anchorCtr="0">
            <a:noAutofit/>
          </a:bodyPr>
          <a:lstStyle>
            <a:lvl1pPr algn="ctr">
              <a:lnSpc>
                <a:spcPct val="100000"/>
              </a:lnSpc>
              <a:defRPr lang="en-US" sz="2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Tree>
    <p:extLst>
      <p:ext uri="{BB962C8B-B14F-4D97-AF65-F5344CB8AC3E}">
        <p14:creationId xmlns:p14="http://schemas.microsoft.com/office/powerpoint/2010/main" val="7990251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peaker_2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Two speakers on stage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Text Placeholder 33">
            <a:extLst>
              <a:ext uri="{FF2B5EF4-FFF2-40B4-BE49-F238E27FC236}">
                <a16:creationId xmlns:a16="http://schemas.microsoft.com/office/drawing/2014/main" id="{B08936F9-0286-6F6F-D932-A07929F397D4}"/>
              </a:ext>
            </a:extLst>
          </p:cNvPr>
          <p:cNvSpPr>
            <a:spLocks noGrp="1"/>
          </p:cNvSpPr>
          <p:nvPr>
            <p:ph type="body" sz="quarter" idx="13" hasCustomPrompt="1"/>
          </p:nvPr>
        </p:nvSpPr>
        <p:spPr>
          <a:xfrm>
            <a:off x="807676" y="1937607"/>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0715FEE8-35E5-A66D-91EB-17A751EFD8E6}"/>
              </a:ext>
            </a:extLst>
          </p:cNvPr>
          <p:cNvSpPr>
            <a:spLocks noGrp="1"/>
          </p:cNvSpPr>
          <p:nvPr>
            <p:ph type="body" sz="quarter" idx="14" hasCustomPrompt="1"/>
          </p:nvPr>
        </p:nvSpPr>
        <p:spPr>
          <a:xfrm>
            <a:off x="807676" y="2576660"/>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A476E992-5CB8-77CD-3D59-FC21C7FE9867}"/>
              </a:ext>
            </a:extLst>
          </p:cNvPr>
          <p:cNvSpPr>
            <a:spLocks noGrp="1"/>
          </p:cNvSpPr>
          <p:nvPr>
            <p:ph type="body" sz="quarter" idx="19" hasCustomPrompt="1"/>
          </p:nvPr>
        </p:nvSpPr>
        <p:spPr>
          <a:xfrm>
            <a:off x="792538" y="3429000"/>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A493C7D7-4F9B-DA7C-D7EB-59661A8EBDF7}"/>
              </a:ext>
            </a:extLst>
          </p:cNvPr>
          <p:cNvSpPr>
            <a:spLocks noGrp="1"/>
          </p:cNvSpPr>
          <p:nvPr>
            <p:ph type="body" sz="quarter" idx="20" hasCustomPrompt="1"/>
          </p:nvPr>
        </p:nvSpPr>
        <p:spPr>
          <a:xfrm>
            <a:off x="792538" y="4068053"/>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189835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peaker_3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Three speakers on stage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2" name="Text Placeholder 33">
            <a:extLst>
              <a:ext uri="{FF2B5EF4-FFF2-40B4-BE49-F238E27FC236}">
                <a16:creationId xmlns:a16="http://schemas.microsoft.com/office/drawing/2014/main" id="{B9B847CE-1494-EB76-B9F7-38F201281C5C}"/>
              </a:ext>
            </a:extLst>
          </p:cNvPr>
          <p:cNvSpPr>
            <a:spLocks noGrp="1"/>
          </p:cNvSpPr>
          <p:nvPr>
            <p:ph type="body" sz="quarter" idx="13" hasCustomPrompt="1"/>
          </p:nvPr>
        </p:nvSpPr>
        <p:spPr>
          <a:xfrm>
            <a:off x="797773" y="132590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 name="Text Placeholder 33">
            <a:extLst>
              <a:ext uri="{FF2B5EF4-FFF2-40B4-BE49-F238E27FC236}">
                <a16:creationId xmlns:a16="http://schemas.microsoft.com/office/drawing/2014/main" id="{2CBD8601-0EE0-1C22-9AF2-15631BDB0B16}"/>
              </a:ext>
            </a:extLst>
          </p:cNvPr>
          <p:cNvSpPr>
            <a:spLocks noGrp="1"/>
          </p:cNvSpPr>
          <p:nvPr>
            <p:ph type="body" sz="quarter" idx="14" hasCustomPrompt="1"/>
          </p:nvPr>
        </p:nvSpPr>
        <p:spPr>
          <a:xfrm>
            <a:off x="797774" y="196495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Text Placeholder 33">
            <a:extLst>
              <a:ext uri="{FF2B5EF4-FFF2-40B4-BE49-F238E27FC236}">
                <a16:creationId xmlns:a16="http://schemas.microsoft.com/office/drawing/2014/main" id="{0A0EB793-5D1B-7CAC-A983-72F74B5C0FB6}"/>
              </a:ext>
            </a:extLst>
          </p:cNvPr>
          <p:cNvSpPr>
            <a:spLocks noGrp="1"/>
          </p:cNvSpPr>
          <p:nvPr>
            <p:ph type="body" sz="quarter" idx="28" hasCustomPrompt="1"/>
          </p:nvPr>
        </p:nvSpPr>
        <p:spPr>
          <a:xfrm>
            <a:off x="792538" y="2792454"/>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ext Placeholder 33">
            <a:extLst>
              <a:ext uri="{FF2B5EF4-FFF2-40B4-BE49-F238E27FC236}">
                <a16:creationId xmlns:a16="http://schemas.microsoft.com/office/drawing/2014/main" id="{C8830B92-077C-42C2-7CF4-32E57CCAA196}"/>
              </a:ext>
            </a:extLst>
          </p:cNvPr>
          <p:cNvSpPr>
            <a:spLocks noGrp="1"/>
          </p:cNvSpPr>
          <p:nvPr>
            <p:ph type="body" sz="quarter" idx="29" hasCustomPrompt="1"/>
          </p:nvPr>
        </p:nvSpPr>
        <p:spPr>
          <a:xfrm>
            <a:off x="792539" y="3431508"/>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Text Placeholder 33">
            <a:extLst>
              <a:ext uri="{FF2B5EF4-FFF2-40B4-BE49-F238E27FC236}">
                <a16:creationId xmlns:a16="http://schemas.microsoft.com/office/drawing/2014/main" id="{283801B3-C270-4242-E8A4-95C95B9D6FBD}"/>
              </a:ext>
            </a:extLst>
          </p:cNvPr>
          <p:cNvSpPr>
            <a:spLocks noGrp="1"/>
          </p:cNvSpPr>
          <p:nvPr>
            <p:ph type="body" sz="quarter" idx="30" hasCustomPrompt="1"/>
          </p:nvPr>
        </p:nvSpPr>
        <p:spPr>
          <a:xfrm>
            <a:off x="795484" y="431229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6" name="Text Placeholder 33">
            <a:extLst>
              <a:ext uri="{FF2B5EF4-FFF2-40B4-BE49-F238E27FC236}">
                <a16:creationId xmlns:a16="http://schemas.microsoft.com/office/drawing/2014/main" id="{BF454C50-6F7C-4662-4836-A1158EEF6D4C}"/>
              </a:ext>
            </a:extLst>
          </p:cNvPr>
          <p:cNvSpPr>
            <a:spLocks noGrp="1"/>
          </p:cNvSpPr>
          <p:nvPr>
            <p:ph type="body" sz="quarter" idx="31" hasCustomPrompt="1"/>
          </p:nvPr>
        </p:nvSpPr>
        <p:spPr>
          <a:xfrm>
            <a:off x="795485" y="495134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62324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peaker_4_Nam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Four speakers on stage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Text Placeholder 33">
            <a:extLst>
              <a:ext uri="{FF2B5EF4-FFF2-40B4-BE49-F238E27FC236}">
                <a16:creationId xmlns:a16="http://schemas.microsoft.com/office/drawing/2014/main" id="{F9F38D12-CAEB-FD20-511D-40562DCAA1EA}"/>
              </a:ext>
            </a:extLst>
          </p:cNvPr>
          <p:cNvSpPr>
            <a:spLocks noGrp="1"/>
          </p:cNvSpPr>
          <p:nvPr>
            <p:ph type="body" sz="quarter" idx="13" hasCustomPrompt="1"/>
          </p:nvPr>
        </p:nvSpPr>
        <p:spPr>
          <a:xfrm>
            <a:off x="784794" y="2108629"/>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A141B714-1A78-6D82-F378-939B470D8736}"/>
              </a:ext>
            </a:extLst>
          </p:cNvPr>
          <p:cNvSpPr>
            <a:spLocks noGrp="1"/>
          </p:cNvSpPr>
          <p:nvPr>
            <p:ph type="body" sz="quarter" idx="14" hasCustomPrompt="1"/>
          </p:nvPr>
        </p:nvSpPr>
        <p:spPr>
          <a:xfrm>
            <a:off x="784795" y="2747683"/>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2" name="Text Placeholder 33">
            <a:extLst>
              <a:ext uri="{FF2B5EF4-FFF2-40B4-BE49-F238E27FC236}">
                <a16:creationId xmlns:a16="http://schemas.microsoft.com/office/drawing/2014/main" id="{B1EDA4C5-F281-1193-82E6-0BFE5AE994AE}"/>
              </a:ext>
            </a:extLst>
          </p:cNvPr>
          <p:cNvSpPr>
            <a:spLocks noGrp="1"/>
          </p:cNvSpPr>
          <p:nvPr>
            <p:ph type="body" sz="quarter" idx="35" hasCustomPrompt="1"/>
          </p:nvPr>
        </p:nvSpPr>
        <p:spPr>
          <a:xfrm>
            <a:off x="784795" y="3484327"/>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F247EF2C-2986-0D95-AC50-EE6C68BB5CE4}"/>
              </a:ext>
            </a:extLst>
          </p:cNvPr>
          <p:cNvSpPr>
            <a:spLocks noGrp="1"/>
          </p:cNvSpPr>
          <p:nvPr>
            <p:ph type="body" sz="quarter" idx="36" hasCustomPrompt="1"/>
          </p:nvPr>
        </p:nvSpPr>
        <p:spPr>
          <a:xfrm>
            <a:off x="784796" y="4123381"/>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7" name="Text Placeholder 33">
            <a:extLst>
              <a:ext uri="{FF2B5EF4-FFF2-40B4-BE49-F238E27FC236}">
                <a16:creationId xmlns:a16="http://schemas.microsoft.com/office/drawing/2014/main" id="{0B404AA4-79A5-18F0-CE9F-3921A0925B1E}"/>
              </a:ext>
            </a:extLst>
          </p:cNvPr>
          <p:cNvSpPr>
            <a:spLocks noGrp="1"/>
          </p:cNvSpPr>
          <p:nvPr>
            <p:ph type="body" sz="quarter" idx="37" hasCustomPrompt="1"/>
          </p:nvPr>
        </p:nvSpPr>
        <p:spPr>
          <a:xfrm>
            <a:off x="5806438" y="2130723"/>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8" name="Text Placeholder 33">
            <a:extLst>
              <a:ext uri="{FF2B5EF4-FFF2-40B4-BE49-F238E27FC236}">
                <a16:creationId xmlns:a16="http://schemas.microsoft.com/office/drawing/2014/main" id="{097CCA77-6454-4A36-DDFB-A9DE63B5C7E2}"/>
              </a:ext>
            </a:extLst>
          </p:cNvPr>
          <p:cNvSpPr>
            <a:spLocks noGrp="1"/>
          </p:cNvSpPr>
          <p:nvPr>
            <p:ph type="body" sz="quarter" idx="38" hasCustomPrompt="1"/>
          </p:nvPr>
        </p:nvSpPr>
        <p:spPr>
          <a:xfrm>
            <a:off x="5806439" y="2769777"/>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9" name="Text Placeholder 33">
            <a:extLst>
              <a:ext uri="{FF2B5EF4-FFF2-40B4-BE49-F238E27FC236}">
                <a16:creationId xmlns:a16="http://schemas.microsoft.com/office/drawing/2014/main" id="{644A9E89-1875-451D-C69D-99660290007D}"/>
              </a:ext>
            </a:extLst>
          </p:cNvPr>
          <p:cNvSpPr>
            <a:spLocks noGrp="1"/>
          </p:cNvSpPr>
          <p:nvPr>
            <p:ph type="body" sz="quarter" idx="39" hasCustomPrompt="1"/>
          </p:nvPr>
        </p:nvSpPr>
        <p:spPr>
          <a:xfrm>
            <a:off x="5806439" y="3506421"/>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0" name="Text Placeholder 33">
            <a:extLst>
              <a:ext uri="{FF2B5EF4-FFF2-40B4-BE49-F238E27FC236}">
                <a16:creationId xmlns:a16="http://schemas.microsoft.com/office/drawing/2014/main" id="{EC89510A-FA47-936C-E9A3-AD214B164A82}"/>
              </a:ext>
            </a:extLst>
          </p:cNvPr>
          <p:cNvSpPr>
            <a:spLocks noGrp="1"/>
          </p:cNvSpPr>
          <p:nvPr>
            <p:ph type="body" sz="quarter" idx="40" hasCustomPrompt="1"/>
          </p:nvPr>
        </p:nvSpPr>
        <p:spPr>
          <a:xfrm>
            <a:off x="5806440" y="4145475"/>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Tree>
    <p:extLst>
      <p:ext uri="{BB962C8B-B14F-4D97-AF65-F5344CB8AC3E}">
        <p14:creationId xmlns:p14="http://schemas.microsoft.com/office/powerpoint/2010/main" val="2861973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ark - Agenda">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79120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ight - Agenda">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4337567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 - Agenda Tab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76371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ight - Agenda Tab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0500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ulti Statement – 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pic>
        <p:nvPicPr>
          <p:cNvPr id="24" name="OTag" descr="A small square in Oracle Red with the Oracle logo in the center in white">
            <a:extLst>
              <a:ext uri="{FF2B5EF4-FFF2-40B4-BE49-F238E27FC236}">
                <a16:creationId xmlns:a16="http://schemas.microsoft.com/office/drawing/2014/main" id="{20586AEB-369F-B90B-F6AA-3183CB320619}"/>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6" name="Freeform 25">
            <a:extLst>
              <a:ext uri="{FF2B5EF4-FFF2-40B4-BE49-F238E27FC236}">
                <a16:creationId xmlns:a16="http://schemas.microsoft.com/office/drawing/2014/main" id="{2ECFE8BC-FBC3-206E-F574-E904CA38AAAE}"/>
              </a:ext>
            </a:extLst>
          </p:cNvPr>
          <p:cNvSpPr/>
          <p:nvPr userDrawn="1"/>
        </p:nvSpPr>
        <p:spPr>
          <a:xfrm>
            <a:off x="11405616" y="6857748"/>
            <a:ext cx="393192" cy="253"/>
          </a:xfrm>
          <a:custGeom>
            <a:avLst/>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192" h="253">
                <a:moveTo>
                  <a:pt x="0" y="0"/>
                </a:moveTo>
                <a:lnTo>
                  <a:pt x="393192" y="0"/>
                </a:lnTo>
                <a:lnTo>
                  <a:pt x="393192" y="253"/>
                </a:lnTo>
                <a:lnTo>
                  <a:pt x="0" y="25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004963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ulti Statement – Light">
    <p:bg>
      <p:bgPr>
        <a:solidFill>
          <a:schemeClr val="bg2"/>
        </a:solid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2" name="Text Placeholder 2">
            <a:extLst>
              <a:ext uri="{FF2B5EF4-FFF2-40B4-BE49-F238E27FC236}">
                <a16:creationId xmlns:a16="http://schemas.microsoft.com/office/drawing/2014/main" id="{BC4944C4-BCA7-F523-CDDB-B2F7B43789BD}"/>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7" name="Text Placeholder 4">
            <a:extLst>
              <a:ext uri="{FF2B5EF4-FFF2-40B4-BE49-F238E27FC236}">
                <a16:creationId xmlns:a16="http://schemas.microsoft.com/office/drawing/2014/main" id="{D42F262B-FAC2-7DDF-70B7-0EBEADDA66A9}"/>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9" name="Text Placeholder 7">
            <a:extLst>
              <a:ext uri="{FF2B5EF4-FFF2-40B4-BE49-F238E27FC236}">
                <a16:creationId xmlns:a16="http://schemas.microsoft.com/office/drawing/2014/main" id="{90E686AD-7CAC-8695-D0AC-A474A9002ACB}"/>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Tree>
    <p:extLst>
      <p:ext uri="{BB962C8B-B14F-4D97-AF65-F5344CB8AC3E}">
        <p14:creationId xmlns:p14="http://schemas.microsoft.com/office/powerpoint/2010/main" val="2195833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peaker_1">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2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325903"/>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4847342"/>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211447"/>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43612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peaker_1-Profil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7039" y="1583270"/>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35879"/>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499984"/>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2514610"/>
            <a:ext cx="6907212" cy="2651115"/>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9632298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peaker_2">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46925" y="1548702"/>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66157"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66157"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8157472" y="1599336"/>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15156"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15156"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5618001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peaker_3">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832060" y="502952"/>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53752" y="2682622"/>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53752" y="3011421"/>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463764"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285456" y="502118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285456" y="534998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593466"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415158" y="501840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415158" y="534720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187615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7362" userDrawn="1">
          <p15:clr>
            <a:srgbClr val="FBAE40"/>
          </p15:clr>
        </p15:guide>
        <p15:guide id="2" pos="5676"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peaker_4">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28574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225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225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9682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333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333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285744" y="3429000"/>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0225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225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9682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333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333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sz="800">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sz="800">
                <a:solidFill>
                  <a:srgbClr val="AEA8A2"/>
                </a:solidFill>
              </a:defRPr>
            </a:lvl1pPr>
          </a:lstStyle>
          <a:p>
            <a:r>
              <a:rPr lang="en-US"/>
              <a:t>[Date]</a:t>
            </a:r>
            <a:endParaRPr lang="en-US" dirty="0"/>
          </a:p>
        </p:txBody>
      </p:sp>
    </p:spTree>
    <p:extLst>
      <p:ext uri="{BB962C8B-B14F-4D97-AF65-F5344CB8AC3E}">
        <p14:creationId xmlns:p14="http://schemas.microsoft.com/office/powerpoint/2010/main" val="12919516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peaker_6">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endParaRPr lang="en-US" dirty="0"/>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768257"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2438576"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2438576"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8" name="Picture 2">
            <a:extLst>
              <a:ext uri="{FF2B5EF4-FFF2-40B4-BE49-F238E27FC236}">
                <a16:creationId xmlns:a16="http://schemas.microsoft.com/office/drawing/2014/main" id="{E87225CC-8F09-5A46-B785-5C244024F8BB}"/>
              </a:ext>
            </a:extLst>
          </p:cNvPr>
          <p:cNvSpPr>
            <a:spLocks noGrp="1" noChangeAspect="1"/>
          </p:cNvSpPr>
          <p:nvPr>
            <p:ph type="pic" sz="quarter" idx="38"/>
          </p:nvPr>
        </p:nvSpPr>
        <p:spPr>
          <a:xfrm>
            <a:off x="768257"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9" name="Name 2">
            <a:extLst>
              <a:ext uri="{FF2B5EF4-FFF2-40B4-BE49-F238E27FC236}">
                <a16:creationId xmlns:a16="http://schemas.microsoft.com/office/drawing/2014/main" id="{213DB2F1-1A57-00A0-D060-4C9E8EA12AC0}"/>
              </a:ext>
            </a:extLst>
          </p:cNvPr>
          <p:cNvSpPr>
            <a:spLocks noGrp="1"/>
          </p:cNvSpPr>
          <p:nvPr>
            <p:ph type="body" sz="quarter" idx="39" hasCustomPrompt="1"/>
          </p:nvPr>
        </p:nvSpPr>
        <p:spPr>
          <a:xfrm>
            <a:off x="2438576" y="3371397"/>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0" name="Title 2">
            <a:extLst>
              <a:ext uri="{FF2B5EF4-FFF2-40B4-BE49-F238E27FC236}">
                <a16:creationId xmlns:a16="http://schemas.microsoft.com/office/drawing/2014/main" id="{6D7EA926-2CBE-46FC-736F-448E6E0788B4}"/>
              </a:ext>
            </a:extLst>
          </p:cNvPr>
          <p:cNvSpPr>
            <a:spLocks noGrp="1"/>
          </p:cNvSpPr>
          <p:nvPr>
            <p:ph type="body" sz="quarter" idx="40" hasCustomPrompt="1"/>
          </p:nvPr>
        </p:nvSpPr>
        <p:spPr>
          <a:xfrm>
            <a:off x="2438576" y="3675928"/>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2" name="Picture 3">
            <a:extLst>
              <a:ext uri="{FF2B5EF4-FFF2-40B4-BE49-F238E27FC236}">
                <a16:creationId xmlns:a16="http://schemas.microsoft.com/office/drawing/2014/main" id="{B9743AA0-6CB0-2E48-9ADB-1CC690E743B4}"/>
              </a:ext>
            </a:extLst>
          </p:cNvPr>
          <p:cNvSpPr>
            <a:spLocks noGrp="1" noChangeAspect="1"/>
          </p:cNvSpPr>
          <p:nvPr>
            <p:ph type="pic" sz="quarter" idx="32"/>
          </p:nvPr>
        </p:nvSpPr>
        <p:spPr>
          <a:xfrm>
            <a:off x="768257"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3" name="Name 3">
            <a:extLst>
              <a:ext uri="{FF2B5EF4-FFF2-40B4-BE49-F238E27FC236}">
                <a16:creationId xmlns:a16="http://schemas.microsoft.com/office/drawing/2014/main" id="{7FE364B2-4B5D-0750-F686-7376A0054F8F}"/>
              </a:ext>
            </a:extLst>
          </p:cNvPr>
          <p:cNvSpPr>
            <a:spLocks noGrp="1"/>
          </p:cNvSpPr>
          <p:nvPr>
            <p:ph type="body" sz="quarter" idx="33" hasCustomPrompt="1"/>
          </p:nvPr>
        </p:nvSpPr>
        <p:spPr>
          <a:xfrm>
            <a:off x="2438576" y="5083641"/>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4" name="Name 3">
            <a:extLst>
              <a:ext uri="{FF2B5EF4-FFF2-40B4-BE49-F238E27FC236}">
                <a16:creationId xmlns:a16="http://schemas.microsoft.com/office/drawing/2014/main" id="{111F11BD-FB90-28F4-5BED-A457E1D33F32}"/>
              </a:ext>
            </a:extLst>
          </p:cNvPr>
          <p:cNvSpPr>
            <a:spLocks noGrp="1"/>
          </p:cNvSpPr>
          <p:nvPr>
            <p:ph type="body" sz="quarter" idx="34" hasCustomPrompt="1"/>
          </p:nvPr>
        </p:nvSpPr>
        <p:spPr>
          <a:xfrm>
            <a:off x="2438576" y="5388172"/>
            <a:ext cx="1920240" cy="246888"/>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1" name="Picture 4">
            <a:extLst>
              <a:ext uri="{FF2B5EF4-FFF2-40B4-BE49-F238E27FC236}">
                <a16:creationId xmlns:a16="http://schemas.microsoft.com/office/drawing/2014/main" id="{288C7677-74A4-87D5-B77D-03AC70679BAC}"/>
              </a:ext>
            </a:extLst>
          </p:cNvPr>
          <p:cNvSpPr>
            <a:spLocks noGrp="1" noChangeAspect="1"/>
          </p:cNvSpPr>
          <p:nvPr>
            <p:ph type="pic" sz="quarter" idx="41"/>
          </p:nvPr>
        </p:nvSpPr>
        <p:spPr>
          <a:xfrm>
            <a:off x="6379003"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2" name="Name 4">
            <a:extLst>
              <a:ext uri="{FF2B5EF4-FFF2-40B4-BE49-F238E27FC236}">
                <a16:creationId xmlns:a16="http://schemas.microsoft.com/office/drawing/2014/main" id="{AF588FE9-35BC-F09C-55DF-26752ACAD486}"/>
              </a:ext>
            </a:extLst>
          </p:cNvPr>
          <p:cNvSpPr>
            <a:spLocks noGrp="1"/>
          </p:cNvSpPr>
          <p:nvPr>
            <p:ph type="body" sz="quarter" idx="42" hasCustomPrompt="1"/>
          </p:nvPr>
        </p:nvSpPr>
        <p:spPr>
          <a:xfrm>
            <a:off x="8037558"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3" name="Title 4">
            <a:extLst>
              <a:ext uri="{FF2B5EF4-FFF2-40B4-BE49-F238E27FC236}">
                <a16:creationId xmlns:a16="http://schemas.microsoft.com/office/drawing/2014/main" id="{BC8C5213-FFE9-AE65-FDE6-CBF115337B71}"/>
              </a:ext>
            </a:extLst>
          </p:cNvPr>
          <p:cNvSpPr>
            <a:spLocks noGrp="1"/>
          </p:cNvSpPr>
          <p:nvPr>
            <p:ph type="body" sz="quarter" idx="43" hasCustomPrompt="1"/>
          </p:nvPr>
        </p:nvSpPr>
        <p:spPr>
          <a:xfrm>
            <a:off x="8037558"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5" name="Picture 5">
            <a:extLst>
              <a:ext uri="{FF2B5EF4-FFF2-40B4-BE49-F238E27FC236}">
                <a16:creationId xmlns:a16="http://schemas.microsoft.com/office/drawing/2014/main" id="{25483374-F780-293B-7C18-D75F9FA05893}"/>
              </a:ext>
            </a:extLst>
          </p:cNvPr>
          <p:cNvSpPr>
            <a:spLocks noGrp="1" noChangeAspect="1"/>
          </p:cNvSpPr>
          <p:nvPr>
            <p:ph type="pic" sz="quarter" idx="35"/>
          </p:nvPr>
        </p:nvSpPr>
        <p:spPr>
          <a:xfrm>
            <a:off x="6379003"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6" name="Name 5">
            <a:extLst>
              <a:ext uri="{FF2B5EF4-FFF2-40B4-BE49-F238E27FC236}">
                <a16:creationId xmlns:a16="http://schemas.microsoft.com/office/drawing/2014/main" id="{BF047364-28B8-1F30-EEEB-7B6E2368A6AB}"/>
              </a:ext>
            </a:extLst>
          </p:cNvPr>
          <p:cNvSpPr>
            <a:spLocks noGrp="1"/>
          </p:cNvSpPr>
          <p:nvPr>
            <p:ph type="body" sz="quarter" idx="36" hasCustomPrompt="1"/>
          </p:nvPr>
        </p:nvSpPr>
        <p:spPr>
          <a:xfrm>
            <a:off x="8037558" y="3355413"/>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7" name="Title 5">
            <a:extLst>
              <a:ext uri="{FF2B5EF4-FFF2-40B4-BE49-F238E27FC236}">
                <a16:creationId xmlns:a16="http://schemas.microsoft.com/office/drawing/2014/main" id="{09D55A0B-3944-9795-0EC9-244A2E8C0062}"/>
              </a:ext>
            </a:extLst>
          </p:cNvPr>
          <p:cNvSpPr>
            <a:spLocks noGrp="1"/>
          </p:cNvSpPr>
          <p:nvPr>
            <p:ph type="body" sz="quarter" idx="37" hasCustomPrompt="1"/>
          </p:nvPr>
        </p:nvSpPr>
        <p:spPr>
          <a:xfrm>
            <a:off x="8037558" y="3659944"/>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4" name="Picture 6">
            <a:extLst>
              <a:ext uri="{FF2B5EF4-FFF2-40B4-BE49-F238E27FC236}">
                <a16:creationId xmlns:a16="http://schemas.microsoft.com/office/drawing/2014/main" id="{C5596C01-BDD3-872C-1E20-6F26FD847F92}"/>
              </a:ext>
            </a:extLst>
          </p:cNvPr>
          <p:cNvSpPr>
            <a:spLocks noGrp="1" noChangeAspect="1"/>
          </p:cNvSpPr>
          <p:nvPr>
            <p:ph type="pic" sz="quarter" idx="44"/>
          </p:nvPr>
        </p:nvSpPr>
        <p:spPr>
          <a:xfrm>
            <a:off x="6379003"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5" name="Name 6">
            <a:extLst>
              <a:ext uri="{FF2B5EF4-FFF2-40B4-BE49-F238E27FC236}">
                <a16:creationId xmlns:a16="http://schemas.microsoft.com/office/drawing/2014/main" id="{908A6C8C-55F0-CAFA-799F-1586491CE534}"/>
              </a:ext>
            </a:extLst>
          </p:cNvPr>
          <p:cNvSpPr>
            <a:spLocks noGrp="1"/>
          </p:cNvSpPr>
          <p:nvPr>
            <p:ph type="body" sz="quarter" idx="45" hasCustomPrompt="1"/>
          </p:nvPr>
        </p:nvSpPr>
        <p:spPr>
          <a:xfrm>
            <a:off x="8037558" y="5078984"/>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6" name="Name 7">
            <a:extLst>
              <a:ext uri="{FF2B5EF4-FFF2-40B4-BE49-F238E27FC236}">
                <a16:creationId xmlns:a16="http://schemas.microsoft.com/office/drawing/2014/main" id="{80B8C125-5BDD-9CC4-70C3-CBF897A29E80}"/>
              </a:ext>
            </a:extLst>
          </p:cNvPr>
          <p:cNvSpPr>
            <a:spLocks noGrp="1"/>
          </p:cNvSpPr>
          <p:nvPr>
            <p:ph type="body" sz="quarter" idx="46" hasCustomPrompt="1"/>
          </p:nvPr>
        </p:nvSpPr>
        <p:spPr>
          <a:xfrm>
            <a:off x="8037558" y="5383515"/>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5236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peaker_10">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11129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010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010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2" name="Picture 2">
            <a:extLst>
              <a:ext uri="{FF2B5EF4-FFF2-40B4-BE49-F238E27FC236}">
                <a16:creationId xmlns:a16="http://schemas.microsoft.com/office/drawing/2014/main" id="{E3A8C480-E935-0DA4-A150-7A798552D69B}"/>
              </a:ext>
            </a:extLst>
          </p:cNvPr>
          <p:cNvSpPr>
            <a:spLocks noGrp="1" noChangeAspect="1"/>
          </p:cNvSpPr>
          <p:nvPr>
            <p:ph type="pic" sz="quarter" idx="32"/>
          </p:nvPr>
        </p:nvSpPr>
        <p:spPr>
          <a:xfrm>
            <a:off x="339896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3" name="Name 2">
            <a:extLst>
              <a:ext uri="{FF2B5EF4-FFF2-40B4-BE49-F238E27FC236}">
                <a16:creationId xmlns:a16="http://schemas.microsoft.com/office/drawing/2014/main" id="{D53E72DD-B667-6F64-FC11-B158256A1D6A}"/>
              </a:ext>
            </a:extLst>
          </p:cNvPr>
          <p:cNvSpPr>
            <a:spLocks noGrp="1"/>
          </p:cNvSpPr>
          <p:nvPr>
            <p:ph type="body" sz="quarter" idx="33" hasCustomPrompt="1"/>
          </p:nvPr>
        </p:nvSpPr>
        <p:spPr>
          <a:xfrm>
            <a:off x="298705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4" name="Title 2">
            <a:extLst>
              <a:ext uri="{FF2B5EF4-FFF2-40B4-BE49-F238E27FC236}">
                <a16:creationId xmlns:a16="http://schemas.microsoft.com/office/drawing/2014/main" id="{1151B9AB-CBE4-1067-D049-3E69A0E78E18}"/>
              </a:ext>
            </a:extLst>
          </p:cNvPr>
          <p:cNvSpPr>
            <a:spLocks noGrp="1"/>
          </p:cNvSpPr>
          <p:nvPr>
            <p:ph type="body" sz="quarter" idx="34" hasCustomPrompt="1"/>
          </p:nvPr>
        </p:nvSpPr>
        <p:spPr>
          <a:xfrm>
            <a:off x="298705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5" name="Picture 3 ">
            <a:extLst>
              <a:ext uri="{FF2B5EF4-FFF2-40B4-BE49-F238E27FC236}">
                <a16:creationId xmlns:a16="http://schemas.microsoft.com/office/drawing/2014/main" id="{B3646944-CB74-48E5-20C3-42C4C0663CDF}"/>
              </a:ext>
            </a:extLst>
          </p:cNvPr>
          <p:cNvSpPr>
            <a:spLocks noGrp="1" noChangeAspect="1"/>
          </p:cNvSpPr>
          <p:nvPr>
            <p:ph type="pic" sz="quarter" idx="35"/>
          </p:nvPr>
        </p:nvSpPr>
        <p:spPr>
          <a:xfrm>
            <a:off x="568493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6" name="Name 3">
            <a:extLst>
              <a:ext uri="{FF2B5EF4-FFF2-40B4-BE49-F238E27FC236}">
                <a16:creationId xmlns:a16="http://schemas.microsoft.com/office/drawing/2014/main" id="{4E1E4910-6DC5-4CFB-72D7-6EF41C7392E6}"/>
              </a:ext>
            </a:extLst>
          </p:cNvPr>
          <p:cNvSpPr>
            <a:spLocks noGrp="1"/>
          </p:cNvSpPr>
          <p:nvPr>
            <p:ph type="body" sz="quarter" idx="36" hasCustomPrompt="1"/>
          </p:nvPr>
        </p:nvSpPr>
        <p:spPr>
          <a:xfrm>
            <a:off x="527302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7" name="Title 3">
            <a:extLst>
              <a:ext uri="{FF2B5EF4-FFF2-40B4-BE49-F238E27FC236}">
                <a16:creationId xmlns:a16="http://schemas.microsoft.com/office/drawing/2014/main" id="{694BBFD6-ACCD-92AD-91C9-FA5C1A7A9F62}"/>
              </a:ext>
            </a:extLst>
          </p:cNvPr>
          <p:cNvSpPr>
            <a:spLocks noGrp="1"/>
          </p:cNvSpPr>
          <p:nvPr>
            <p:ph type="body" sz="quarter" idx="37" hasCustomPrompt="1"/>
          </p:nvPr>
        </p:nvSpPr>
        <p:spPr>
          <a:xfrm>
            <a:off x="527302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8" name="Picture 4">
            <a:extLst>
              <a:ext uri="{FF2B5EF4-FFF2-40B4-BE49-F238E27FC236}">
                <a16:creationId xmlns:a16="http://schemas.microsoft.com/office/drawing/2014/main" id="{8646106B-DADA-406C-A020-501C2210B615}"/>
              </a:ext>
            </a:extLst>
          </p:cNvPr>
          <p:cNvSpPr>
            <a:spLocks noGrp="1" noChangeAspect="1"/>
          </p:cNvSpPr>
          <p:nvPr>
            <p:ph type="pic" sz="quarter" idx="38"/>
          </p:nvPr>
        </p:nvSpPr>
        <p:spPr>
          <a:xfrm>
            <a:off x="797091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9" name="Name 4">
            <a:extLst>
              <a:ext uri="{FF2B5EF4-FFF2-40B4-BE49-F238E27FC236}">
                <a16:creationId xmlns:a16="http://schemas.microsoft.com/office/drawing/2014/main" id="{6279EEA7-C6AB-434D-DDF6-9F7C6BCDE10A}"/>
              </a:ext>
            </a:extLst>
          </p:cNvPr>
          <p:cNvSpPr>
            <a:spLocks noGrp="1"/>
          </p:cNvSpPr>
          <p:nvPr>
            <p:ph type="body" sz="quarter" idx="39" hasCustomPrompt="1"/>
          </p:nvPr>
        </p:nvSpPr>
        <p:spPr>
          <a:xfrm>
            <a:off x="755900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0" name="Title 4">
            <a:extLst>
              <a:ext uri="{FF2B5EF4-FFF2-40B4-BE49-F238E27FC236}">
                <a16:creationId xmlns:a16="http://schemas.microsoft.com/office/drawing/2014/main" id="{E6AFB52F-3CFF-BC09-B703-6A62B9560C5A}"/>
              </a:ext>
            </a:extLst>
          </p:cNvPr>
          <p:cNvSpPr>
            <a:spLocks noGrp="1"/>
          </p:cNvSpPr>
          <p:nvPr>
            <p:ph type="body" sz="quarter" idx="40" hasCustomPrompt="1"/>
          </p:nvPr>
        </p:nvSpPr>
        <p:spPr>
          <a:xfrm>
            <a:off x="755900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61" name="Picture 5">
            <a:extLst>
              <a:ext uri="{FF2B5EF4-FFF2-40B4-BE49-F238E27FC236}">
                <a16:creationId xmlns:a16="http://schemas.microsoft.com/office/drawing/2014/main" id="{10E92D5F-57AC-A19A-FED7-7254BA223549}"/>
              </a:ext>
            </a:extLst>
          </p:cNvPr>
          <p:cNvSpPr>
            <a:spLocks noGrp="1" noChangeAspect="1"/>
          </p:cNvSpPr>
          <p:nvPr>
            <p:ph type="pic" sz="quarter" idx="41"/>
          </p:nvPr>
        </p:nvSpPr>
        <p:spPr>
          <a:xfrm>
            <a:off x="102568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62" name="Name 5">
            <a:extLst>
              <a:ext uri="{FF2B5EF4-FFF2-40B4-BE49-F238E27FC236}">
                <a16:creationId xmlns:a16="http://schemas.microsoft.com/office/drawing/2014/main" id="{3CEC1BD5-E4C9-59CE-7CCC-3444C64A28AA}"/>
              </a:ext>
            </a:extLst>
          </p:cNvPr>
          <p:cNvSpPr>
            <a:spLocks noGrp="1"/>
          </p:cNvSpPr>
          <p:nvPr>
            <p:ph type="body" sz="quarter" idx="42" hasCustomPrompt="1"/>
          </p:nvPr>
        </p:nvSpPr>
        <p:spPr>
          <a:xfrm>
            <a:off x="98449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3" name="Title 5">
            <a:extLst>
              <a:ext uri="{FF2B5EF4-FFF2-40B4-BE49-F238E27FC236}">
                <a16:creationId xmlns:a16="http://schemas.microsoft.com/office/drawing/2014/main" id="{D34A6BDA-F544-70E1-6388-E3C1BF5771E8}"/>
              </a:ext>
            </a:extLst>
          </p:cNvPr>
          <p:cNvSpPr>
            <a:spLocks noGrp="1"/>
          </p:cNvSpPr>
          <p:nvPr>
            <p:ph type="body" sz="quarter" idx="43" hasCustomPrompt="1"/>
          </p:nvPr>
        </p:nvSpPr>
        <p:spPr>
          <a:xfrm>
            <a:off x="98449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Picture 1">
            <a:extLst>
              <a:ext uri="{FF2B5EF4-FFF2-40B4-BE49-F238E27FC236}">
                <a16:creationId xmlns:a16="http://schemas.microsoft.com/office/drawing/2014/main" id="{72521944-24A4-E7C1-7474-2B6FF0394BDA}"/>
              </a:ext>
            </a:extLst>
          </p:cNvPr>
          <p:cNvSpPr>
            <a:spLocks noGrp="1" noChangeAspect="1"/>
          </p:cNvSpPr>
          <p:nvPr>
            <p:ph type="pic" sz="quarter" idx="44"/>
          </p:nvPr>
        </p:nvSpPr>
        <p:spPr>
          <a:xfrm>
            <a:off x="11129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7" name="Name 1">
            <a:extLst>
              <a:ext uri="{FF2B5EF4-FFF2-40B4-BE49-F238E27FC236}">
                <a16:creationId xmlns:a16="http://schemas.microsoft.com/office/drawing/2014/main" id="{FB00A11F-459A-98FB-66B0-1222171BD164}"/>
              </a:ext>
            </a:extLst>
          </p:cNvPr>
          <p:cNvSpPr>
            <a:spLocks noGrp="1"/>
          </p:cNvSpPr>
          <p:nvPr>
            <p:ph type="body" sz="quarter" idx="45" hasCustomPrompt="1"/>
          </p:nvPr>
        </p:nvSpPr>
        <p:spPr>
          <a:xfrm>
            <a:off x="7010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itle 1">
            <a:extLst>
              <a:ext uri="{FF2B5EF4-FFF2-40B4-BE49-F238E27FC236}">
                <a16:creationId xmlns:a16="http://schemas.microsoft.com/office/drawing/2014/main" id="{66025BE5-0FFD-92F6-A4BA-CB6102BD8E75}"/>
              </a:ext>
            </a:extLst>
          </p:cNvPr>
          <p:cNvSpPr>
            <a:spLocks noGrp="1"/>
          </p:cNvSpPr>
          <p:nvPr>
            <p:ph type="body" sz="quarter" idx="46" hasCustomPrompt="1"/>
          </p:nvPr>
        </p:nvSpPr>
        <p:spPr>
          <a:xfrm>
            <a:off x="7010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Picture 2">
            <a:extLst>
              <a:ext uri="{FF2B5EF4-FFF2-40B4-BE49-F238E27FC236}">
                <a16:creationId xmlns:a16="http://schemas.microsoft.com/office/drawing/2014/main" id="{144C0724-9767-678B-A5C4-93F92C82A294}"/>
              </a:ext>
            </a:extLst>
          </p:cNvPr>
          <p:cNvSpPr>
            <a:spLocks noGrp="1" noChangeAspect="1"/>
          </p:cNvSpPr>
          <p:nvPr>
            <p:ph type="pic" sz="quarter" idx="47"/>
          </p:nvPr>
        </p:nvSpPr>
        <p:spPr>
          <a:xfrm>
            <a:off x="339896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0" name="Name 2">
            <a:extLst>
              <a:ext uri="{FF2B5EF4-FFF2-40B4-BE49-F238E27FC236}">
                <a16:creationId xmlns:a16="http://schemas.microsoft.com/office/drawing/2014/main" id="{8200242F-3C33-4861-1BBB-5205F5F9B02F}"/>
              </a:ext>
            </a:extLst>
          </p:cNvPr>
          <p:cNvSpPr>
            <a:spLocks noGrp="1"/>
          </p:cNvSpPr>
          <p:nvPr>
            <p:ph type="body" sz="quarter" idx="48" hasCustomPrompt="1"/>
          </p:nvPr>
        </p:nvSpPr>
        <p:spPr>
          <a:xfrm>
            <a:off x="298705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itle 2">
            <a:extLst>
              <a:ext uri="{FF2B5EF4-FFF2-40B4-BE49-F238E27FC236}">
                <a16:creationId xmlns:a16="http://schemas.microsoft.com/office/drawing/2014/main" id="{78E243D4-1A0C-2B5D-0602-EC28F75F2CDF}"/>
              </a:ext>
            </a:extLst>
          </p:cNvPr>
          <p:cNvSpPr>
            <a:spLocks noGrp="1"/>
          </p:cNvSpPr>
          <p:nvPr>
            <p:ph type="body" sz="quarter" idx="49" hasCustomPrompt="1"/>
          </p:nvPr>
        </p:nvSpPr>
        <p:spPr>
          <a:xfrm>
            <a:off x="298705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Picture 3 ">
            <a:extLst>
              <a:ext uri="{FF2B5EF4-FFF2-40B4-BE49-F238E27FC236}">
                <a16:creationId xmlns:a16="http://schemas.microsoft.com/office/drawing/2014/main" id="{25BE96FF-1149-A871-059D-5FC5C5724DE2}"/>
              </a:ext>
            </a:extLst>
          </p:cNvPr>
          <p:cNvSpPr>
            <a:spLocks noGrp="1" noChangeAspect="1"/>
          </p:cNvSpPr>
          <p:nvPr>
            <p:ph type="pic" sz="quarter" idx="50"/>
          </p:nvPr>
        </p:nvSpPr>
        <p:spPr>
          <a:xfrm>
            <a:off x="568493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3" name="Name 3">
            <a:extLst>
              <a:ext uri="{FF2B5EF4-FFF2-40B4-BE49-F238E27FC236}">
                <a16:creationId xmlns:a16="http://schemas.microsoft.com/office/drawing/2014/main" id="{C79E27DB-CB5A-5B10-1D20-382BE231D8B4}"/>
              </a:ext>
            </a:extLst>
          </p:cNvPr>
          <p:cNvSpPr>
            <a:spLocks noGrp="1"/>
          </p:cNvSpPr>
          <p:nvPr>
            <p:ph type="body" sz="quarter" idx="51" hasCustomPrompt="1"/>
          </p:nvPr>
        </p:nvSpPr>
        <p:spPr>
          <a:xfrm>
            <a:off x="527302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itle 3">
            <a:extLst>
              <a:ext uri="{FF2B5EF4-FFF2-40B4-BE49-F238E27FC236}">
                <a16:creationId xmlns:a16="http://schemas.microsoft.com/office/drawing/2014/main" id="{E3168F24-D5E1-A01A-9FE4-02BBEBCAC256}"/>
              </a:ext>
            </a:extLst>
          </p:cNvPr>
          <p:cNvSpPr>
            <a:spLocks noGrp="1"/>
          </p:cNvSpPr>
          <p:nvPr>
            <p:ph type="body" sz="quarter" idx="52" hasCustomPrompt="1"/>
          </p:nvPr>
        </p:nvSpPr>
        <p:spPr>
          <a:xfrm>
            <a:off x="527302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Picture 4">
            <a:extLst>
              <a:ext uri="{FF2B5EF4-FFF2-40B4-BE49-F238E27FC236}">
                <a16:creationId xmlns:a16="http://schemas.microsoft.com/office/drawing/2014/main" id="{C28F1BA1-9C38-C15A-DAF0-7D7D17BF4911}"/>
              </a:ext>
            </a:extLst>
          </p:cNvPr>
          <p:cNvSpPr>
            <a:spLocks noGrp="1" noChangeAspect="1"/>
          </p:cNvSpPr>
          <p:nvPr>
            <p:ph type="pic" sz="quarter" idx="53"/>
          </p:nvPr>
        </p:nvSpPr>
        <p:spPr>
          <a:xfrm>
            <a:off x="797091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6" name="Name 4">
            <a:extLst>
              <a:ext uri="{FF2B5EF4-FFF2-40B4-BE49-F238E27FC236}">
                <a16:creationId xmlns:a16="http://schemas.microsoft.com/office/drawing/2014/main" id="{A736C04C-99C8-5B44-F5FF-04676206CDF7}"/>
              </a:ext>
            </a:extLst>
          </p:cNvPr>
          <p:cNvSpPr>
            <a:spLocks noGrp="1"/>
          </p:cNvSpPr>
          <p:nvPr>
            <p:ph type="body" sz="quarter" idx="54" hasCustomPrompt="1"/>
          </p:nvPr>
        </p:nvSpPr>
        <p:spPr>
          <a:xfrm>
            <a:off x="755900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7" name="Title 4">
            <a:extLst>
              <a:ext uri="{FF2B5EF4-FFF2-40B4-BE49-F238E27FC236}">
                <a16:creationId xmlns:a16="http://schemas.microsoft.com/office/drawing/2014/main" id="{1B6CC2B9-2432-DD61-FFD2-E986BE8E9F35}"/>
              </a:ext>
            </a:extLst>
          </p:cNvPr>
          <p:cNvSpPr>
            <a:spLocks noGrp="1"/>
          </p:cNvSpPr>
          <p:nvPr>
            <p:ph type="body" sz="quarter" idx="55" hasCustomPrompt="1"/>
          </p:nvPr>
        </p:nvSpPr>
        <p:spPr>
          <a:xfrm>
            <a:off x="755900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8" name="Picture 5">
            <a:extLst>
              <a:ext uri="{FF2B5EF4-FFF2-40B4-BE49-F238E27FC236}">
                <a16:creationId xmlns:a16="http://schemas.microsoft.com/office/drawing/2014/main" id="{3A558EAD-D220-0239-69EF-648F93A62478}"/>
              </a:ext>
            </a:extLst>
          </p:cNvPr>
          <p:cNvSpPr>
            <a:spLocks noGrp="1" noChangeAspect="1"/>
          </p:cNvSpPr>
          <p:nvPr>
            <p:ph type="pic" sz="quarter" idx="56"/>
          </p:nvPr>
        </p:nvSpPr>
        <p:spPr>
          <a:xfrm>
            <a:off x="102568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0" name="Name 5">
            <a:extLst>
              <a:ext uri="{FF2B5EF4-FFF2-40B4-BE49-F238E27FC236}">
                <a16:creationId xmlns:a16="http://schemas.microsoft.com/office/drawing/2014/main" id="{007E775B-15B1-5428-C8C9-4B614DEE17D1}"/>
              </a:ext>
            </a:extLst>
          </p:cNvPr>
          <p:cNvSpPr>
            <a:spLocks noGrp="1"/>
          </p:cNvSpPr>
          <p:nvPr>
            <p:ph type="body" sz="quarter" idx="57" hasCustomPrompt="1"/>
          </p:nvPr>
        </p:nvSpPr>
        <p:spPr>
          <a:xfrm>
            <a:off x="98449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1" name="Title 5">
            <a:extLst>
              <a:ext uri="{FF2B5EF4-FFF2-40B4-BE49-F238E27FC236}">
                <a16:creationId xmlns:a16="http://schemas.microsoft.com/office/drawing/2014/main" id="{5A22EC85-7769-2401-038D-634693151760}"/>
              </a:ext>
            </a:extLst>
          </p:cNvPr>
          <p:cNvSpPr>
            <a:spLocks noGrp="1"/>
          </p:cNvSpPr>
          <p:nvPr>
            <p:ph type="body" sz="quarter" idx="58" hasCustomPrompt="1"/>
          </p:nvPr>
        </p:nvSpPr>
        <p:spPr>
          <a:xfrm>
            <a:off x="98449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Tree>
    <p:extLst>
      <p:ext uri="{BB962C8B-B14F-4D97-AF65-F5344CB8AC3E}">
        <p14:creationId xmlns:p14="http://schemas.microsoft.com/office/powerpoint/2010/main" val="4160616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97214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 3points 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4" name="Date Placeholder 3">
            <a:extLst>
              <a:ext uri="{FF2B5EF4-FFF2-40B4-BE49-F238E27FC236}">
                <a16:creationId xmlns:a16="http://schemas.microsoft.com/office/drawing/2014/main" id="{998C7B89-9919-27D5-3CA3-59231744A8D1}"/>
              </a:ext>
            </a:extLst>
          </p:cNvPr>
          <p:cNvSpPr>
            <a:spLocks noGrp="1"/>
          </p:cNvSpPr>
          <p:nvPr>
            <p:ph type="dt" sz="half" idx="19"/>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3E870DE9-DE63-752A-F432-5906F9312978}"/>
              </a:ext>
            </a:extLst>
          </p:cNvPr>
          <p:cNvSpPr>
            <a:spLocks noGrp="1"/>
          </p:cNvSpPr>
          <p:nvPr>
            <p:ph type="ftr" sz="quarter" idx="20"/>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5" name="Slide Number Placeholder 14">
            <a:extLst>
              <a:ext uri="{FF2B5EF4-FFF2-40B4-BE49-F238E27FC236}">
                <a16:creationId xmlns:a16="http://schemas.microsoft.com/office/drawing/2014/main" id="{883696C6-F350-8E61-ECA5-EDD80B9EF607}"/>
              </a:ext>
            </a:extLst>
          </p:cNvPr>
          <p:cNvSpPr>
            <a:spLocks noGrp="1"/>
          </p:cNvSpPr>
          <p:nvPr>
            <p:ph type="sldNum" sz="quarter" idx="21"/>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64788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8132064" y="0"/>
            <a:ext cx="4059936" cy="6858000"/>
          </a:xfrm>
          <a:solidFill>
            <a:srgbClr val="AEA8A2"/>
          </a:solidFill>
        </p:spPr>
        <p:txBody>
          <a:bodyPr/>
          <a:lstStyle/>
          <a:p>
            <a:r>
              <a:rPr lang="en-US"/>
              <a:t>Click icon to add picture</a:t>
            </a:r>
          </a:p>
        </p:txBody>
      </p:sp>
    </p:spTree>
    <p:extLst>
      <p:ext uri="{BB962C8B-B14F-4D97-AF65-F5344CB8AC3E}">
        <p14:creationId xmlns:p14="http://schemas.microsoft.com/office/powerpoint/2010/main" val="455559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ark - Title, Content and 1/3 Photo">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hasCustomPrompt="1"/>
          </p:nvPr>
        </p:nvSpPr>
        <p:spPr>
          <a:xfrm>
            <a:off x="8132064" y="0"/>
            <a:ext cx="4059936" cy="6858000"/>
          </a:xfrm>
          <a:solidFill>
            <a:srgbClr val="AEA8A2"/>
          </a:solidFill>
        </p:spPr>
        <p:txBody>
          <a:bodyPr/>
          <a:lstStyle>
            <a:lvl1pPr algn="ct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22896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Accent mark">
            <a:extLst>
              <a:ext uri="{FF2B5EF4-FFF2-40B4-BE49-F238E27FC236}">
                <a16:creationId xmlns:a16="http://schemas.microsoft.com/office/drawing/2014/main" id="{9693ED60-0244-537F-7CCC-D2E56AF0B93F}"/>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5049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rk - Quote with Pictur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Accent mark">
            <a:extLst>
              <a:ext uri="{FF2B5EF4-FFF2-40B4-BE49-F238E27FC236}">
                <a16:creationId xmlns:a16="http://schemas.microsoft.com/office/drawing/2014/main" id="{99B99AF4-E9E4-23D9-4E0C-A8017ECCDA64}"/>
              </a:ext>
              <a:ext uri="{C183D7F6-B498-43B3-948B-1728B52AA6E4}">
                <adec:decorative xmlns:adec="http://schemas.microsoft.com/office/drawing/2017/decorative" val="1"/>
              </a:ext>
            </a:extLst>
          </p:cNvPr>
          <p:cNvSpPr/>
          <p:nvPr userDrawn="1"/>
        </p:nvSpPr>
        <p:spPr>
          <a:xfrm>
            <a:off x="5372844" y="463858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679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 Illustration_L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2F837A2F-4A14-0DC4-608A-F65C24823266}"/>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4" name="Text Placeholder 21">
            <a:extLst>
              <a:ext uri="{FF2B5EF4-FFF2-40B4-BE49-F238E27FC236}">
                <a16:creationId xmlns:a16="http://schemas.microsoft.com/office/drawing/2014/main" id="{91B7B17D-763D-5F99-0CC2-80B2CC63E130}"/>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7" name="Text Placeholder 19">
            <a:extLst>
              <a:ext uri="{FF2B5EF4-FFF2-40B4-BE49-F238E27FC236}">
                <a16:creationId xmlns:a16="http://schemas.microsoft.com/office/drawing/2014/main" id="{F95C4F20-D940-4F84-4840-DD649575E2CD}"/>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5" name="Text Placeholder 21">
            <a:extLst>
              <a:ext uri="{FF2B5EF4-FFF2-40B4-BE49-F238E27FC236}">
                <a16:creationId xmlns:a16="http://schemas.microsoft.com/office/drawing/2014/main" id="{5DE24B9A-F5B4-C415-A25C-25FE02976EEF}"/>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9" name="Text Placeholder 19">
            <a:extLst>
              <a:ext uri="{FF2B5EF4-FFF2-40B4-BE49-F238E27FC236}">
                <a16:creationId xmlns:a16="http://schemas.microsoft.com/office/drawing/2014/main" id="{E725E68E-222F-2174-3EDA-49279B3A0D6A}"/>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6" name="Text Placeholder 21">
            <a:extLst>
              <a:ext uri="{FF2B5EF4-FFF2-40B4-BE49-F238E27FC236}">
                <a16:creationId xmlns:a16="http://schemas.microsoft.com/office/drawing/2014/main" id="{2080E49F-0C27-1D0D-3ADD-B37ABD6F37FA}"/>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85BD9371-1A26-2813-D974-5AAA802C8FF9}"/>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7" name="Date Placeholder 6">
            <a:extLst>
              <a:ext uri="{FF2B5EF4-FFF2-40B4-BE49-F238E27FC236}">
                <a16:creationId xmlns:a16="http://schemas.microsoft.com/office/drawing/2014/main" id="{94AF7987-C710-3871-B657-891515739542}"/>
              </a:ext>
            </a:extLst>
          </p:cNvPr>
          <p:cNvSpPr>
            <a:spLocks noGrp="1"/>
          </p:cNvSpPr>
          <p:nvPr>
            <p:ph type="dt" sz="half" idx="47"/>
          </p:nvPr>
        </p:nvSpPr>
        <p:spPr/>
        <p:txBody>
          <a:bodyPr/>
          <a:lstStyle>
            <a:lvl1pPr>
              <a:defRPr>
                <a:solidFill>
                  <a:srgbClr val="514C47"/>
                </a:solidFill>
              </a:defRPr>
            </a:lvl1pPr>
          </a:lstStyle>
          <a:p>
            <a:r>
              <a:rPr lang="en-US"/>
              <a:t>[Date]</a:t>
            </a:r>
            <a:endParaRPr lang="en-US" dirty="0"/>
          </a:p>
        </p:txBody>
      </p:sp>
      <p:sp>
        <p:nvSpPr>
          <p:cNvPr id="8" name="Footer Placeholder 7">
            <a:extLst>
              <a:ext uri="{FF2B5EF4-FFF2-40B4-BE49-F238E27FC236}">
                <a16:creationId xmlns:a16="http://schemas.microsoft.com/office/drawing/2014/main" id="{A47B4B01-B49C-CB08-78E3-DAB353AFE68D}"/>
              </a:ext>
            </a:extLst>
          </p:cNvPr>
          <p:cNvSpPr>
            <a:spLocks noGrp="1"/>
          </p:cNvSpPr>
          <p:nvPr>
            <p:ph type="ftr" sz="quarter" idx="48"/>
          </p:nvPr>
        </p:nvSpPr>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9" name="Slide Number Placeholder 8">
            <a:extLst>
              <a:ext uri="{FF2B5EF4-FFF2-40B4-BE49-F238E27FC236}">
                <a16:creationId xmlns:a16="http://schemas.microsoft.com/office/drawing/2014/main" id="{6378DD8F-6EC1-338B-B6F1-7361BA5C390D}"/>
              </a:ext>
            </a:extLst>
          </p:cNvPr>
          <p:cNvSpPr>
            <a:spLocks noGrp="1"/>
          </p:cNvSpPr>
          <p:nvPr>
            <p:ph type="sldNum" sz="quarter" idx="4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578403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 Illustration_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AAD36B-6012-46AE-9059-48412FF4F4CE}"/>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3" name="Subtitle">
            <a:extLst>
              <a:ext uri="{FF2B5EF4-FFF2-40B4-BE49-F238E27FC236}">
                <a16:creationId xmlns:a16="http://schemas.microsoft.com/office/drawing/2014/main" id="{2F0BE92C-B4B2-428B-05A0-35A0A1E50208}"/>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7" name="Text Placeholder 21">
            <a:extLst>
              <a:ext uri="{FF2B5EF4-FFF2-40B4-BE49-F238E27FC236}">
                <a16:creationId xmlns:a16="http://schemas.microsoft.com/office/drawing/2014/main" id="{D94B5212-F918-DF01-5172-A319C17449A7}"/>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3FE2B7B3-F269-EFB7-7B21-A67456B5D4CB}"/>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9" name="Text Placeholder 21">
            <a:extLst>
              <a:ext uri="{FF2B5EF4-FFF2-40B4-BE49-F238E27FC236}">
                <a16:creationId xmlns:a16="http://schemas.microsoft.com/office/drawing/2014/main" id="{BCEC7A68-80D1-7F0E-65E6-F442ED207687}"/>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19">
            <a:extLst>
              <a:ext uri="{FF2B5EF4-FFF2-40B4-BE49-F238E27FC236}">
                <a16:creationId xmlns:a16="http://schemas.microsoft.com/office/drawing/2014/main" id="{D61461B8-CD09-2000-05E6-9B3BC9D25CD5}"/>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1" name="Text Placeholder 21">
            <a:extLst>
              <a:ext uri="{FF2B5EF4-FFF2-40B4-BE49-F238E27FC236}">
                <a16:creationId xmlns:a16="http://schemas.microsoft.com/office/drawing/2014/main" id="{A3E124E7-38A2-4149-5708-BE9F62CFA604}"/>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2" name="Text Placeholder 19">
            <a:extLst>
              <a:ext uri="{FF2B5EF4-FFF2-40B4-BE49-F238E27FC236}">
                <a16:creationId xmlns:a16="http://schemas.microsoft.com/office/drawing/2014/main" id="{4FBE4EEC-B947-E852-0B29-987839C3A3D6}"/>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bg1"/>
                </a:solidFill>
                <a:latin typeface="Oracle Sans Tab Light" panose="020B0403020204020204" pitchFamily="34" charset="0"/>
                <a:cs typeface="Oracle Sans Tab Light" panose="020B0403020204020204" pitchFamily="34" charset="0"/>
              </a:defRPr>
            </a:lvl1pPr>
          </a:lstStyle>
          <a:p>
            <a:r>
              <a:rPr lang="en-US" dirty="0"/>
              <a:t>Click to add photo or illustration</a:t>
            </a:r>
          </a:p>
          <a:p>
            <a:endParaRPr lang="en-US" dirty="0"/>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a:t>Copyright © 2025, Oracle and/or its affiliates |  Confidential: Internal/Restricted/Highly Restricted</a:t>
            </a:r>
            <a:endParaRPr lang="en-US" dirty="0"/>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090114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rk - Split content with line">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7">
            <a:extLst>
              <a:ext uri="{FF2B5EF4-FFF2-40B4-BE49-F238E27FC236}">
                <a16:creationId xmlns:a16="http://schemas.microsoft.com/office/drawing/2014/main" id="{E1B5D46F-65FA-89E8-E05A-6E937CA1C2EC}"/>
              </a:ext>
            </a:extLst>
          </p:cNvPr>
          <p:cNvSpPr>
            <a:spLocks noGrp="1" noRot="1" noMove="1" noResize="1" noEditPoints="1" noAdjustHandles="1" noChangeArrowheads="1" noChangeShapeType="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noRot="1" noMove="1" noResize="1" noEditPoints="1" noAdjustHandles="1" noChangeArrowheads="1" noChangeShapeType="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7" name="Date Placeholder 4">
            <a:extLst>
              <a:ext uri="{FF2B5EF4-FFF2-40B4-BE49-F238E27FC236}">
                <a16:creationId xmlns:a16="http://schemas.microsoft.com/office/drawing/2014/main" id="{CA222E66-0FD4-1E10-21D6-748A24D406C5}"/>
              </a:ext>
            </a:extLst>
          </p:cNvPr>
          <p:cNvSpPr>
            <a:spLocks noGrp="1" noRot="1" noMove="1" noResize="1" noEditPoints="1" noAdjustHandles="1" noChangeArrowheads="1" noChangeShapeType="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2700">
            <a:solidFill>
              <a:srgbClr val="8B85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9654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ight - Split content with line">
    <p:bg>
      <p:bgRef idx="1001">
        <a:schemeClr val="bg2"/>
      </p:bgRef>
    </p:bg>
    <p:spTree>
      <p:nvGrpSpPr>
        <p:cNvPr id="1" name=""/>
        <p:cNvGrpSpPr/>
        <p:nvPr/>
      </p:nvGrpSpPr>
      <p:grpSpPr>
        <a:xfrm>
          <a:off x="0" y="0"/>
          <a:ext cx="0" cy="0"/>
          <a:chOff x="0" y="0"/>
          <a:chExt cx="0" cy="0"/>
        </a:xfrm>
      </p:grpSpPr>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userDrawn="1"/>
        </p:nvCxnSpPr>
        <p:spPr>
          <a:xfrm>
            <a:off x="4076567" y="1600210"/>
            <a:ext cx="0" cy="3657580"/>
          </a:xfrm>
          <a:prstGeom prst="line">
            <a:avLst/>
          </a:prstGeom>
          <a:ln w="19050">
            <a:solidFill>
              <a:srgbClr val="8B8580"/>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498924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hoto Collage + Content Dark">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928615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8414200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a:t>Copyright © 2025, Oracle and/or its affiliates |  Confidential: Internal/Restricted/Highly Restricted</a:t>
            </a:r>
            <a:endParaRPr lang="en-US" dirty="0"/>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hasCustomPrompt="1"/>
          </p:nvPr>
        </p:nvSpPr>
        <p:spPr>
          <a:xfrm>
            <a:off x="0" y="0"/>
            <a:ext cx="12192000" cy="6858000"/>
          </a:xfrm>
        </p:spPr>
        <p:txBody>
          <a:bodyPr anchor="ctr"/>
          <a:lstStyle>
            <a:lvl1pPr algn="ctr">
              <a:defRPr/>
            </a:lvl1pPr>
          </a:lstStyle>
          <a:p>
            <a:pPr marL="0" marR="0" lvl="0" indent="0" algn="ctr"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endParaRPr lang="en-US" dirty="0"/>
          </a:p>
          <a:p>
            <a:endParaRPr lang="en-US" dirty="0"/>
          </a:p>
        </p:txBody>
      </p:sp>
    </p:spTree>
    <p:extLst>
      <p:ext uri="{BB962C8B-B14F-4D97-AF65-F5344CB8AC3E}">
        <p14:creationId xmlns:p14="http://schemas.microsoft.com/office/powerpoint/2010/main" val="25613988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ark 2 Images and Conten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a:p>
            <a:pPr lvl="0" algn="ctr"/>
            <a:endParaRPr lang="en-US" dirty="0"/>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87035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6548716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ark - Bold Statement with Photo half">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10" name="Date Placeholder 9">
            <a:extLst>
              <a:ext uri="{FF2B5EF4-FFF2-40B4-BE49-F238E27FC236}">
                <a16:creationId xmlns:a16="http://schemas.microsoft.com/office/drawing/2014/main" id="{CFB698A3-54A9-FB17-B2D4-7F20F0A79C40}"/>
              </a:ext>
            </a:extLst>
          </p:cNvPr>
          <p:cNvSpPr>
            <a:spLocks noGrp="1"/>
          </p:cNvSpPr>
          <p:nvPr>
            <p:ph type="dt" sz="half" idx="12"/>
          </p:nvPr>
        </p:nvSpPr>
        <p:spPr/>
        <p:txBody>
          <a:bodyPr/>
          <a:lstStyle>
            <a:lvl1pPr>
              <a:defRPr>
                <a:solidFill>
                  <a:srgbClr val="AEA8A2"/>
                </a:solidFill>
              </a:defRPr>
            </a:lvl1pPr>
          </a:lstStyle>
          <a:p>
            <a:r>
              <a:rPr lang="en-US"/>
              <a:t>[Date]</a:t>
            </a:r>
            <a:endParaRPr lang="en-US" dirty="0"/>
          </a:p>
        </p:txBody>
      </p:sp>
      <p:sp>
        <p:nvSpPr>
          <p:cNvPr id="11" name="Footer Placeholder 10">
            <a:extLst>
              <a:ext uri="{FF2B5EF4-FFF2-40B4-BE49-F238E27FC236}">
                <a16:creationId xmlns:a16="http://schemas.microsoft.com/office/drawing/2014/main" id="{E8BE4CB4-E754-6D7A-B9E5-FD0C6A6204BF}"/>
              </a:ext>
            </a:extLst>
          </p:cNvPr>
          <p:cNvSpPr>
            <a:spLocks noGrp="1"/>
          </p:cNvSpPr>
          <p:nvPr>
            <p:ph type="ftr" sz="quarter" idx="13"/>
          </p:nvPr>
        </p:nvSpPr>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2" name="Slide Number Placeholder 11">
            <a:extLst>
              <a:ext uri="{FF2B5EF4-FFF2-40B4-BE49-F238E27FC236}">
                <a16:creationId xmlns:a16="http://schemas.microsoft.com/office/drawing/2014/main" id="{17986784-5975-D9F1-203A-0BD838E5E21F}"/>
              </a:ext>
            </a:extLst>
          </p:cNvPr>
          <p:cNvSpPr>
            <a:spLocks noGrp="1"/>
          </p:cNvSpPr>
          <p:nvPr>
            <p:ph type="sldNum" sz="quarter" idx="14"/>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24919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Light - Bold Statement with Photo half">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956069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ark - Screenshot">
    <p:bg>
      <p:bgPr>
        <a:gradFill>
          <a:gsLst>
            <a:gs pos="35000">
              <a:srgbClr val="1E2830"/>
            </a:gs>
            <a:gs pos="19000">
              <a:srgbClr val="191F25"/>
            </a:gs>
            <a:gs pos="100000">
              <a:srgbClr val="2E4253"/>
            </a:gs>
          </a:gsLst>
          <a:lin ang="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6" name="Slide Number Placeholder 5">
            <a:extLst>
              <a:ext uri="{FF2B5EF4-FFF2-40B4-BE49-F238E27FC236}">
                <a16:creationId xmlns:a16="http://schemas.microsoft.com/office/drawing/2014/main" id="{957B489F-6C53-0670-3CA3-C344A6796DB7}"/>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4" name="Footer Placeholder 4">
            <a:extLst>
              <a:ext uri="{FF2B5EF4-FFF2-40B4-BE49-F238E27FC236}">
                <a16:creationId xmlns:a16="http://schemas.microsoft.com/office/drawing/2014/main" id="{73C65335-0F11-C316-1B11-B923DAF34CA7}"/>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a:t>Copyright © 2025, Oracle and/or its affiliates |  Confidential: Internal/Restricted/Highly Restricted</a:t>
            </a:r>
            <a:endParaRPr lang="en-US" dirty="0"/>
          </a:p>
        </p:txBody>
      </p:sp>
      <p:sp>
        <p:nvSpPr>
          <p:cNvPr id="15" name="Date Placeholder 3">
            <a:extLst>
              <a:ext uri="{FF2B5EF4-FFF2-40B4-BE49-F238E27FC236}">
                <a16:creationId xmlns:a16="http://schemas.microsoft.com/office/drawing/2014/main" id="{249F2E88-1C3B-E905-DE13-29B4AD6670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5" name="Picture 4">
            <a:extLst>
              <a:ext uri="{FF2B5EF4-FFF2-40B4-BE49-F238E27FC236}">
                <a16:creationId xmlns:a16="http://schemas.microsoft.com/office/drawing/2014/main" id="{10527129-53F9-ED4F-2DBB-9365E8BF2A8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7" name="Picture Placeholder 21">
            <a:extLst>
              <a:ext uri="{FF2B5EF4-FFF2-40B4-BE49-F238E27FC236}">
                <a16:creationId xmlns:a16="http://schemas.microsoft.com/office/drawing/2014/main" id="{4A787595-7363-9A8E-E513-2117DE88759B}"/>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Tree>
    <p:extLst>
      <p:ext uri="{BB962C8B-B14F-4D97-AF65-F5344CB8AC3E}">
        <p14:creationId xmlns:p14="http://schemas.microsoft.com/office/powerpoint/2010/main" val="29252508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Light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pic>
        <p:nvPicPr>
          <p:cNvPr id="11" name="Picture 10">
            <a:extLst>
              <a:ext uri="{FF2B5EF4-FFF2-40B4-BE49-F238E27FC236}">
                <a16:creationId xmlns:a16="http://schemas.microsoft.com/office/drawing/2014/main" id="{4B4EE190-AAB7-148D-83A3-3508D5F54ED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13" name="Picture Placeholder 21">
            <a:extLst>
              <a:ext uri="{FF2B5EF4-FFF2-40B4-BE49-F238E27FC236}">
                <a16:creationId xmlns:a16="http://schemas.microsoft.com/office/drawing/2014/main" id="{A6B73051-9D1F-22B3-EB86-F2801CD8E323}"/>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a:t>Copyright © 2025, Oracle and/or its affiliates |  Confidential: Internal/Restricted/Highly Restricted</a:t>
            </a:r>
            <a:endParaRPr lang="en-US" dirty="0"/>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868498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ight - Closing Slide">
    <p:bg>
      <p:bgRef idx="1001">
        <a:schemeClr val="bg2"/>
      </p:bgRef>
    </p:bg>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16643125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ark - 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TOP">
    <p:bg>
      <p:bgPr>
        <a:solidFill>
          <a:srgbClr val="C74634"/>
        </a:solidFill>
        <a:effectLst/>
      </p:bgPr>
    </p:bg>
    <p:spTree>
      <p:nvGrpSpPr>
        <p:cNvPr id="1" name=""/>
        <p:cNvGrpSpPr/>
        <p:nvPr/>
      </p:nvGrpSpPr>
      <p:grpSpPr>
        <a:xfrm>
          <a:off x="0" y="0"/>
          <a:ext cx="0" cy="0"/>
          <a:chOff x="0" y="0"/>
          <a:chExt cx="0" cy="0"/>
        </a:xfrm>
      </p:grpSpPr>
      <p:grpSp>
        <p:nvGrpSpPr>
          <p:cNvPr id="6" name="Group 4" descr="An image of a hand with an X on it indicating stop">
            <a:extLst>
              <a:ext uri="{FF2B5EF4-FFF2-40B4-BE49-F238E27FC236}">
                <a16:creationId xmlns:a16="http://schemas.microsoft.com/office/drawing/2014/main" id="{AC301DFA-236B-43E0-F195-C886E29BCFA8}"/>
              </a:ext>
            </a:extLst>
          </p:cNvPr>
          <p:cNvGrpSpPr>
            <a:grpSpLocks noChangeAspect="1"/>
          </p:cNvGrpSpPr>
          <p:nvPr userDrawn="1"/>
        </p:nvGrpSpPr>
        <p:grpSpPr bwMode="auto">
          <a:xfrm>
            <a:off x="1706928" y="2759469"/>
            <a:ext cx="1112546" cy="1096345"/>
            <a:chOff x="1040" y="1809"/>
            <a:chExt cx="618" cy="609"/>
          </a:xfrm>
          <a:solidFill>
            <a:schemeClr val="tx1"/>
          </a:solidFill>
        </p:grpSpPr>
        <p:sp>
          <p:nvSpPr>
            <p:cNvPr id="7" name="Freeform 5">
              <a:extLst>
                <a:ext uri="{FF2B5EF4-FFF2-40B4-BE49-F238E27FC236}">
                  <a16:creationId xmlns:a16="http://schemas.microsoft.com/office/drawing/2014/main" id="{8D479378-DEC7-2ADF-53B1-0BD27B66492B}"/>
                </a:ext>
              </a:extLst>
            </p:cNvPr>
            <p:cNvSpPr>
              <a:spLocks noChangeArrowheads="1"/>
            </p:cNvSpPr>
            <p:nvPr/>
          </p:nvSpPr>
          <p:spPr bwMode="auto">
            <a:xfrm>
              <a:off x="1035" y="2123"/>
              <a:ext cx="358" cy="292"/>
            </a:xfrm>
            <a:custGeom>
              <a:avLst/>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8" name="Freeform 6">
              <a:extLst>
                <a:ext uri="{FF2B5EF4-FFF2-40B4-BE49-F238E27FC236}">
                  <a16:creationId xmlns:a16="http://schemas.microsoft.com/office/drawing/2014/main" id="{21479569-80A4-2098-1ABC-98C920F1FCDA}"/>
                </a:ext>
              </a:extLst>
            </p:cNvPr>
            <p:cNvSpPr>
              <a:spLocks noChangeArrowheads="1"/>
            </p:cNvSpPr>
            <p:nvPr/>
          </p:nvSpPr>
          <p:spPr bwMode="auto">
            <a:xfrm>
              <a:off x="1196" y="1808"/>
              <a:ext cx="347" cy="361"/>
            </a:xfrm>
            <a:custGeom>
              <a:avLst/>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9" name="Freeform 7">
              <a:extLst>
                <a:ext uri="{FF2B5EF4-FFF2-40B4-BE49-F238E27FC236}">
                  <a16:creationId xmlns:a16="http://schemas.microsoft.com/office/drawing/2014/main" id="{FA1BF811-5A06-549B-D001-A8EB9DAFD738}"/>
                </a:ext>
              </a:extLst>
            </p:cNvPr>
            <p:cNvSpPr>
              <a:spLocks noChangeArrowheads="1"/>
            </p:cNvSpPr>
            <p:nvPr/>
          </p:nvSpPr>
          <p:spPr bwMode="auto">
            <a:xfrm>
              <a:off x="1244" y="2175"/>
              <a:ext cx="130" cy="103"/>
            </a:xfrm>
            <a:custGeom>
              <a:avLst/>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0" name="Freeform 8">
              <a:extLst>
                <a:ext uri="{FF2B5EF4-FFF2-40B4-BE49-F238E27FC236}">
                  <a16:creationId xmlns:a16="http://schemas.microsoft.com/office/drawing/2014/main" id="{29B31A47-1DBD-1652-5D57-90F2000198A7}"/>
                </a:ext>
              </a:extLst>
            </p:cNvPr>
            <p:cNvSpPr>
              <a:spLocks noChangeArrowheads="1"/>
            </p:cNvSpPr>
            <p:nvPr/>
          </p:nvSpPr>
          <p:spPr bwMode="auto">
            <a:xfrm>
              <a:off x="1396" y="2157"/>
              <a:ext cx="276" cy="276"/>
            </a:xfrm>
            <a:custGeom>
              <a:avLst/>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1" name="Freeform 9">
              <a:extLst>
                <a:ext uri="{FF2B5EF4-FFF2-40B4-BE49-F238E27FC236}">
                  <a16:creationId xmlns:a16="http://schemas.microsoft.com/office/drawing/2014/main" id="{98CEA400-2F99-24D8-1CAC-FD508D0F9288}"/>
                </a:ext>
              </a:extLst>
            </p:cNvPr>
            <p:cNvSpPr>
              <a:spLocks noChangeArrowheads="1"/>
            </p:cNvSpPr>
            <p:nvPr/>
          </p:nvSpPr>
          <p:spPr bwMode="auto">
            <a:xfrm>
              <a:off x="1477" y="2236"/>
              <a:ext cx="102" cy="102"/>
            </a:xfrm>
            <a:custGeom>
              <a:avLst/>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sp>
        <p:nvSpPr>
          <p:cNvPr id="12" name="TextBox 11">
            <a:extLst>
              <a:ext uri="{FF2B5EF4-FFF2-40B4-BE49-F238E27FC236}">
                <a16:creationId xmlns:a16="http://schemas.microsoft.com/office/drawing/2014/main" id="{F8B44FF3-28AB-10D7-B1C4-E339265AAF9B}"/>
              </a:ext>
            </a:extLst>
          </p:cNvPr>
          <p:cNvSpPr txBox="1"/>
          <p:nvPr userDrawn="1"/>
        </p:nvSpPr>
        <p:spPr>
          <a:xfrm>
            <a:off x="3261391" y="2485152"/>
            <a:ext cx="8046632" cy="1887696"/>
          </a:xfrm>
          <a:prstGeom prst="rect">
            <a:avLst/>
          </a:prstGeom>
          <a:noFill/>
        </p:spPr>
        <p:txBody>
          <a:bodyPr wrap="square" rtlCol="0">
            <a:spAutoFit/>
          </a:bodyPr>
          <a:lstStyle/>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Any master slides that appear after this end slide have been accidentally imported from other slide decks and </a:t>
            </a:r>
            <a:br>
              <a:rPr lang="en-US" sz="2000" b="0" i="0" dirty="0">
                <a:solidFill>
                  <a:schemeClr val="tx1"/>
                </a:solidFill>
                <a:latin typeface="Oracle Sans Tab" panose="020B0503020204020204" pitchFamily="34" charset="0"/>
                <a:cs typeface="Oracle Sans Tab" panose="020B0503020204020204" pitchFamily="34" charset="0"/>
              </a:rPr>
            </a:br>
            <a:r>
              <a:rPr lang="en-US" sz="2000" b="0" i="0" dirty="0">
                <a:solidFill>
                  <a:schemeClr val="tx1"/>
                </a:solidFill>
                <a:latin typeface="Oracle Sans Tab" panose="020B0503020204020204" pitchFamily="34" charset="0"/>
                <a:cs typeface="Oracle Sans Tab" panose="020B0503020204020204" pitchFamily="34" charset="0"/>
              </a:rPr>
              <a:t>may not match the style of this template.</a:t>
            </a:r>
          </a:p>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Please locate slides that are referencing these imported slide layouts and reselect/apply a layout from the master slide options above.</a:t>
            </a:r>
          </a:p>
        </p:txBody>
      </p:sp>
    </p:spTree>
    <p:extLst>
      <p:ext uri="{BB962C8B-B14F-4D97-AF65-F5344CB8AC3E}">
        <p14:creationId xmlns:p14="http://schemas.microsoft.com/office/powerpoint/2010/main" val="7338991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theme" Target="../theme/theme1.xml"/><Relationship Id="rId9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8B8580"/>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8B8580"/>
                </a:solidFill>
                <a:latin typeface="+mn-lt"/>
              </a:defRPr>
            </a:lvl1pPr>
          </a:lstStyle>
          <a:p>
            <a:r>
              <a:rPr lang="en-US" dirty="0"/>
              <a:t>Copyright © 2025,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8B8580"/>
                </a:solidFill>
                <a:latin typeface="+mn-lt"/>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userDrawn="1"/>
        </p:nvPicPr>
        <p:blipFill>
          <a:blip r:embed="rId95"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917" r:id="rId1"/>
    <p:sldLayoutId id="2147484286" r:id="rId2"/>
    <p:sldLayoutId id="2147484077" r:id="rId3"/>
    <p:sldLayoutId id="2147484078" r:id="rId4"/>
    <p:sldLayoutId id="2147483922" r:id="rId5"/>
    <p:sldLayoutId id="2147484079" r:id="rId6"/>
    <p:sldLayoutId id="2147484296" r:id="rId7"/>
    <p:sldLayoutId id="2147484297" r:id="rId8"/>
    <p:sldLayoutId id="2147484309" r:id="rId9"/>
    <p:sldLayoutId id="2147484308" r:id="rId10"/>
    <p:sldLayoutId id="2147483994" r:id="rId11"/>
    <p:sldLayoutId id="2147484069" r:id="rId12"/>
    <p:sldLayoutId id="2147484074" r:id="rId13"/>
    <p:sldLayoutId id="2147484075" r:id="rId14"/>
    <p:sldLayoutId id="2147484254" r:id="rId15"/>
    <p:sldLayoutId id="2147484008" r:id="rId16"/>
    <p:sldLayoutId id="2147484152" r:id="rId17"/>
    <p:sldLayoutId id="2147484155" r:id="rId18"/>
    <p:sldLayoutId id="2147484227" r:id="rId19"/>
    <p:sldLayoutId id="2147484228" r:id="rId20"/>
    <p:sldLayoutId id="2147484330" r:id="rId21"/>
    <p:sldLayoutId id="2147484331" r:id="rId22"/>
    <p:sldLayoutId id="2147484332" r:id="rId23"/>
    <p:sldLayoutId id="2147484333" r:id="rId24"/>
    <p:sldLayoutId id="2147484219" r:id="rId25"/>
    <p:sldLayoutId id="2147484220" r:id="rId26"/>
    <p:sldLayoutId id="2147484321" r:id="rId27"/>
    <p:sldLayoutId id="2147484322" r:id="rId28"/>
    <p:sldLayoutId id="2147484323" r:id="rId29"/>
    <p:sldLayoutId id="2147484324" r:id="rId30"/>
    <p:sldLayoutId id="2147484325" r:id="rId31"/>
    <p:sldLayoutId id="2147484326" r:id="rId32"/>
    <p:sldLayoutId id="2147484327" r:id="rId33"/>
    <p:sldLayoutId id="2147484328" r:id="rId34"/>
    <p:sldLayoutId id="2147484329" r:id="rId35"/>
    <p:sldLayoutId id="2147484283" r:id="rId36"/>
    <p:sldLayoutId id="2147484295" r:id="rId37"/>
    <p:sldLayoutId id="2147484290" r:id="rId38"/>
    <p:sldLayoutId id="2147484292" r:id="rId39"/>
    <p:sldLayoutId id="2147484259" r:id="rId40"/>
    <p:sldLayoutId id="2147484313" r:id="rId41"/>
    <p:sldLayoutId id="2147484226" r:id="rId42"/>
    <p:sldLayoutId id="2147484003" r:id="rId43"/>
    <p:sldLayoutId id="2147484221" r:id="rId44"/>
    <p:sldLayoutId id="2147484222" r:id="rId45"/>
    <p:sldLayoutId id="2147484031" r:id="rId46"/>
    <p:sldLayoutId id="2147484030" r:id="rId47"/>
    <p:sldLayoutId id="2147483943" r:id="rId48"/>
    <p:sldLayoutId id="2147483763" r:id="rId49"/>
    <p:sldLayoutId id="2147484334" r:id="rId50"/>
    <p:sldLayoutId id="2147484335" r:id="rId51"/>
    <p:sldLayoutId id="2147484237" r:id="rId52"/>
    <p:sldLayoutId id="2147484093" r:id="rId53"/>
    <p:sldLayoutId id="2147484314" r:id="rId54"/>
    <p:sldLayoutId id="2147484315" r:id="rId55"/>
    <p:sldLayoutId id="2147484316" r:id="rId56"/>
    <p:sldLayoutId id="2147484317" r:id="rId57"/>
    <p:sldLayoutId id="2147484318" r:id="rId58"/>
    <p:sldLayoutId id="2147484255" r:id="rId59"/>
    <p:sldLayoutId id="2147484310" r:id="rId60"/>
    <p:sldLayoutId id="2147484311" r:id="rId61"/>
    <p:sldLayoutId id="2147484312" r:id="rId62"/>
    <p:sldLayoutId id="2147484250" r:id="rId63"/>
    <p:sldLayoutId id="2147484251" r:id="rId64"/>
    <p:sldLayoutId id="2147484044" r:id="rId65"/>
    <p:sldLayoutId id="2147484274" r:id="rId66"/>
    <p:sldLayoutId id="2147484045" r:id="rId67"/>
    <p:sldLayoutId id="2147484046" r:id="rId68"/>
    <p:sldLayoutId id="2147484047" r:id="rId69"/>
    <p:sldLayoutId id="2147484293" r:id="rId70"/>
    <p:sldLayoutId id="2147484294" r:id="rId71"/>
    <p:sldLayoutId id="2147484256" r:id="rId72"/>
    <p:sldLayoutId id="2147484319" r:id="rId73"/>
    <p:sldLayoutId id="2147484285" r:id="rId74"/>
    <p:sldLayoutId id="2147484284" r:id="rId75"/>
    <p:sldLayoutId id="2147484005" r:id="rId76"/>
    <p:sldLayoutId id="2147484006" r:id="rId77"/>
    <p:sldLayoutId id="2147484159" r:id="rId78"/>
    <p:sldLayoutId id="2147484157" r:id="rId79"/>
    <p:sldLayoutId id="2147484275" r:id="rId80"/>
    <p:sldLayoutId id="2147484276" r:id="rId81"/>
    <p:sldLayoutId id="2147484282" r:id="rId82"/>
    <p:sldLayoutId id="2147484258" r:id="rId83"/>
    <p:sldLayoutId id="2147484277" r:id="rId84"/>
    <p:sldLayoutId id="2147484252" r:id="rId85"/>
    <p:sldLayoutId id="2147484257" r:id="rId86"/>
    <p:sldLayoutId id="2147484320" r:id="rId87"/>
    <p:sldLayoutId id="2147484281" r:id="rId88"/>
    <p:sldLayoutId id="2147484298" r:id="rId89"/>
    <p:sldLayoutId id="2147484299" r:id="rId90"/>
    <p:sldLayoutId id="2147483744" r:id="rId91"/>
    <p:sldLayoutId id="2147483944" r:id="rId92"/>
    <p:sldLayoutId id="2147484287" r:id="rId9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600" b="0" i="0" kern="1200">
          <a:solidFill>
            <a:schemeClr val="tx1"/>
          </a:solidFill>
          <a:latin typeface="Oracle Sans Tab" panose="020B0503020204020204" pitchFamily="34" charset="0"/>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600" b="0" i="0" kern="1200">
          <a:solidFill>
            <a:schemeClr val="tx1"/>
          </a:solidFill>
          <a:latin typeface="Oracle Sans" panose="020B0503020204020204" pitchFamily="34" charset="0"/>
          <a:ea typeface="+mn-ea"/>
          <a:cs typeface="Oracle Sans" panose="020B0503020204020204" pitchFamily="34" charset="0"/>
        </a:defRPr>
      </a:lvl6pPr>
      <a:lvl7pPr marL="1280160" indent="-182880" algn="l" defTabSz="914400" rtl="0" eaLnBrk="1" latinLnBrk="0" hangingPunct="1">
        <a:lnSpc>
          <a:spcPct val="95000"/>
        </a:lnSpc>
        <a:spcBef>
          <a:spcPts val="400"/>
        </a:spcBef>
        <a:spcAft>
          <a:spcPts val="0"/>
        </a:spcAft>
        <a:buFont typeface="System Font Regular"/>
        <a:buChar char="-"/>
        <a:defRPr sz="1600" b="0" i="0" kern="1200">
          <a:solidFill>
            <a:schemeClr val="tx1"/>
          </a:solidFill>
          <a:latin typeface="Oracle Sans" panose="020B0503020204020204" pitchFamily="34" charset="0"/>
          <a:ea typeface="+mn-ea"/>
          <a:cs typeface="Oracle Sans" panose="020B0503020204020204" pitchFamily="34" charset="0"/>
        </a:defRPr>
      </a:lvl7pPr>
      <a:lvl8pPr marL="1604963" indent="-203200"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8pPr>
      <a:lvl9pPr marL="1889125" indent="-203200" algn="l" defTabSz="914400" rtl="0" eaLnBrk="1" latinLnBrk="0" hangingPunct="1">
        <a:lnSpc>
          <a:spcPct val="90000"/>
        </a:lnSpc>
        <a:spcBef>
          <a:spcPts val="500"/>
        </a:spcBef>
        <a:buFont typeface="System Font Regular"/>
        <a:buChar char="-"/>
        <a:tabLst/>
        <a:defRPr sz="16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5ACBF0"/>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5.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6.png"/><Relationship Id="rId3" Type="http://schemas.openxmlformats.org/officeDocument/2006/relationships/image" Target="../media/image2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6.png"/><Relationship Id="rId3" Type="http://schemas.openxmlformats.org/officeDocument/2006/relationships/image" Target="../media/image2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chart" Target="../charts/char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chart" Target="../charts/char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sp>
        <p:nvSpPr>
          <p:cNvPr id="5" name="TextBox 4"/>
          <p:cNvSpPr txBox="1"/>
          <p:nvPr/>
        </p:nvSpPr>
        <p:spPr>
          <a:xfrm>
            <a:off x="768096" y="1234440"/>
            <a:ext cx="5669280" cy="320040"/>
          </a:xfrm>
          <a:prstGeom prst="rect">
            <a:avLst/>
          </a:prstGeom>
          <a:noFill/>
        </p:spPr>
        <p:txBody>
          <a:bodyPr wrap="square" lIns="0" rIns="0" tIns="0" bIns="0" anchor="t"/>
          <a:lstStyle/>
          <a:p>
            <a:pPr>
              <a:buNone/>
            </a:pPr>
            <a:r>
              <a:rPr sz="1200" b="1">
                <a:solidFill>
                  <a:srgbClr val="F19111"/>
                </a:solidFill>
              </a:rPr>
              <a:t>MICRONAUT ENGINEERING  ·  INTERNAL PREVIEW</a:t>
            </a:r>
          </a:p>
        </p:txBody>
      </p:sp>
      <p:sp>
        <p:nvSpPr>
          <p:cNvPr id="6" name="TextBox 5"/>
          <p:cNvSpPr txBox="1"/>
          <p:nvPr/>
        </p:nvSpPr>
        <p:spPr>
          <a:xfrm>
            <a:off x="768096" y="1691640"/>
            <a:ext cx="5852160" cy="1737360"/>
          </a:xfrm>
          <a:prstGeom prst="rect">
            <a:avLst/>
          </a:prstGeom>
          <a:noFill/>
        </p:spPr>
        <p:txBody>
          <a:bodyPr wrap="square" lIns="0" rIns="0" tIns="0" bIns="0" anchor="t"/>
          <a:lstStyle/>
          <a:p>
            <a:pPr>
              <a:lnSpc>
                <a:spcPct val="95000"/>
              </a:lnSpc>
              <a:buNone/>
            </a:pPr>
            <a:r>
              <a:rPr sz="4400" b="1">
                <a:solidFill>
                  <a:srgbClr val="FFFFFF"/>
                </a:solidFill>
              </a:rPr>
              <a:t>Bringing Python</a:t>
            </a:r>
          </a:p>
          <a:p>
            <a:pPr>
              <a:lnSpc>
                <a:spcPct val="95000"/>
              </a:lnSpc>
              <a:buNone/>
            </a:pPr>
            <a:r>
              <a:rPr sz="4400" b="1">
                <a:solidFill>
                  <a:srgbClr val="FFFFFF"/>
                </a:solidFill>
              </a:rPr>
              <a:t>to Micronaut</a:t>
            </a:r>
          </a:p>
        </p:txBody>
      </p:sp>
      <p:sp>
        <p:nvSpPr>
          <p:cNvPr id="7" name="TextBox 6"/>
          <p:cNvSpPr txBox="1"/>
          <p:nvPr/>
        </p:nvSpPr>
        <p:spPr>
          <a:xfrm>
            <a:off x="768096" y="3520440"/>
            <a:ext cx="5486400" cy="914400"/>
          </a:xfrm>
          <a:prstGeom prst="rect">
            <a:avLst/>
          </a:prstGeom>
          <a:noFill/>
        </p:spPr>
        <p:txBody>
          <a:bodyPr wrap="square" lIns="0" rIns="0" tIns="0" bIns="0" anchor="t"/>
          <a:lstStyle/>
          <a:p>
            <a:pPr>
              <a:buNone/>
            </a:pPr>
            <a:r>
              <a:rPr sz="1900">
                <a:solidFill>
                  <a:srgbClr val="A9B7C4"/>
                </a:solidFill>
              </a:rPr>
              <a:t>The challenges of adding a new language to the framework — and how we solved them</a:t>
            </a:r>
          </a:p>
        </p:txBody>
      </p:sp>
      <p:sp>
        <p:nvSpPr>
          <p:cNvPr id="8" name="Rounded Rectangle 7"/>
          <p:cNvSpPr/>
          <p:nvPr/>
        </p:nvSpPr>
        <p:spPr>
          <a:xfrm>
            <a:off x="768096" y="4754880"/>
            <a:ext cx="5120640" cy="914400"/>
          </a:xfrm>
          <a:prstGeom prst="roundRect">
            <a:avLst>
              <a:gd name="adj" fmla="val 8000"/>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600" b="1">
                <a:solidFill>
                  <a:srgbClr val="FFFFFF"/>
                </a:solidFill>
              </a:rPr>
              <a:t>Graeme Rocher</a:t>
            </a:r>
          </a:p>
          <a:p>
            <a:pPr algn="l">
              <a:buNone/>
            </a:pPr>
            <a:r>
              <a:rPr sz="1300">
                <a:solidFill>
                  <a:srgbClr val="A9B7C4"/>
                </a:solidFill>
              </a:rPr>
              <a:t>Micronaut Team  ·  September 2026</a:t>
            </a:r>
          </a:p>
        </p:txBody>
      </p:sp>
      <p:pic>
        <p:nvPicPr>
          <p:cNvPr id="9" name="Picture 8" descr="logo_full.png"/>
          <p:cNvPicPr>
            <a:picLocks noChangeAspect="1"/>
          </p:cNvPicPr>
          <p:nvPr/>
        </p:nvPicPr>
        <p:blipFill>
          <a:blip r:embed="rId2"/>
          <a:stretch>
            <a:fillRect/>
          </a:stretch>
        </p:blipFill>
        <p:spPr>
          <a:xfrm>
            <a:off x="6446520" y="1097280"/>
            <a:ext cx="5120640" cy="35127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Pyronaut in one slide</a:t>
            </a:r>
          </a:p>
        </p:txBody>
      </p:sp>
      <p:sp>
        <p:nvSpPr>
          <p:cNvPr id="3" name="Text Placeholder 2"/>
          <p:cNvSpPr>
            <a:spLocks noGrp="1"/>
          </p:cNvSpPr>
          <p:nvPr>
            <p:ph type="body" idx="11" sz="quarter"/>
          </p:nvPr>
        </p:nvSpPr>
        <p:spPr/>
        <p:txBody>
          <a:bodyPr/>
          <a:lstStyle/>
          <a:p>
            <a:r>
              <a:t>Ordinary Python with type hints and decorators, on the full framework</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00200"/>
            <a:ext cx="5577840" cy="2331720"/>
          </a:xfrm>
          <a:prstGeom prst="roundRect">
            <a:avLst>
              <a:gd name="adj" fmla="val 2352"/>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768096" y="1600200"/>
            <a:ext cx="557784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896112"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9848"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9616" y="1600200"/>
            <a:ext cx="4709159" cy="274320"/>
          </a:xfrm>
          <a:prstGeom prst="rect">
            <a:avLst/>
          </a:prstGeom>
          <a:noFill/>
        </p:spPr>
        <p:txBody>
          <a:bodyPr wrap="square" lIns="0" rIns="0" tIns="0" bIns="0" anchor="ctr"/>
          <a:lstStyle/>
          <a:p>
            <a:pPr algn="r">
              <a:buNone/>
            </a:pPr>
            <a:r>
              <a:rPr sz="1050">
                <a:solidFill>
                  <a:srgbClr val="A9B7C4"/>
                </a:solidFill>
                <a:latin typeface="Consolas"/>
              </a:rPr>
              <a:t>app.py</a:t>
            </a:r>
          </a:p>
        </p:txBody>
      </p:sp>
      <p:sp>
        <p:nvSpPr>
          <p:cNvPr id="16" name="TextBox 15"/>
          <p:cNvSpPr txBox="1"/>
          <p:nvPr/>
        </p:nvSpPr>
        <p:spPr>
          <a:xfrm>
            <a:off x="932688" y="1984248"/>
            <a:ext cx="5303520" cy="1874519"/>
          </a:xfrm>
          <a:prstGeom prst="rect">
            <a:avLst/>
          </a:prstGeom>
          <a:noFill/>
        </p:spPr>
        <p:txBody>
          <a:bodyPr wrap="none" lIns="0" rIns="0" tIns="0" bIns="0"/>
          <a:lstStyle/>
          <a:p>
            <a:pPr>
              <a:lnSpc>
                <a:spcPct val="100000"/>
              </a:lnSpc>
              <a:buNone/>
            </a:pPr>
            <a:r>
              <a:rPr sz="1400">
                <a:solidFill>
                  <a:srgbClr val="F19111"/>
                </a:solidFill>
                <a:latin typeface="Consolas"/>
              </a:rPr>
              <a:t>from</a:t>
            </a:r>
            <a:r>
              <a:rPr sz="1400">
                <a:solidFill>
                  <a:srgbClr val="D8E1E8"/>
                </a:solidFill>
                <a:latin typeface="Consolas"/>
              </a:rPr>
              <a:t> </a:t>
            </a:r>
            <a:r>
              <a:rPr sz="1400">
                <a:solidFill>
                  <a:srgbClr val="D8E1E8"/>
                </a:solidFill>
                <a:latin typeface="Consolas"/>
              </a:rPr>
              <a:t>micronaut</a:t>
            </a:r>
            <a:r>
              <a:rPr sz="1400">
                <a:solidFill>
                  <a:srgbClr val="D8E1E8"/>
                </a:solidFill>
                <a:latin typeface="Consolas"/>
              </a:rPr>
              <a:t>.</a:t>
            </a:r>
            <a:r>
              <a:rPr sz="1400">
                <a:solidFill>
                  <a:srgbClr val="D8E1E8"/>
                </a:solidFill>
                <a:latin typeface="Consolas"/>
              </a:rPr>
              <a:t>http</a:t>
            </a:r>
            <a:r>
              <a:rPr sz="1400">
                <a:solidFill>
                  <a:srgbClr val="D8E1E8"/>
                </a:solidFill>
                <a:latin typeface="Consolas"/>
              </a:rPr>
              <a:t>.</a:t>
            </a:r>
            <a:r>
              <a:rPr sz="1400">
                <a:solidFill>
                  <a:srgbClr val="D8E1E8"/>
                </a:solidFill>
                <a:latin typeface="Consolas"/>
              </a:rPr>
              <a:t>annotation</a:t>
            </a:r>
            <a:r>
              <a:rPr sz="1400">
                <a:solidFill>
                  <a:srgbClr val="D8E1E8"/>
                </a:solidFill>
                <a:latin typeface="Consolas"/>
              </a:rPr>
              <a:t> </a:t>
            </a:r>
            <a:r>
              <a:rPr sz="1400">
                <a:solidFill>
                  <a:srgbClr val="F19111"/>
                </a:solidFill>
                <a:latin typeface="Consolas"/>
              </a:rPr>
              <a:t>import</a:t>
            </a:r>
            <a:r>
              <a:rPr sz="1400">
                <a:solidFill>
                  <a:srgbClr val="D8E1E8"/>
                </a:solidFill>
                <a:latin typeface="Consolas"/>
              </a:rPr>
              <a:t> </a:t>
            </a:r>
            <a:r>
              <a:rPr sz="1400">
                <a:solidFill>
                  <a:srgbClr val="6DBEE7"/>
                </a:solidFill>
                <a:latin typeface="Consolas"/>
              </a:rPr>
              <a:t>Get</a:t>
            </a:r>
          </a:p>
          <a:p>
            <a:pPr>
              <a:lnSpc>
                <a:spcPct val="100000"/>
              </a:lnSpc>
              <a:buNone/>
            </a:pPr>
            <a:r>
              <a:rPr sz="1400">
                <a:latin typeface="Consolas"/>
              </a:rPr>
              <a:t> </a:t>
            </a:r>
          </a:p>
          <a:p>
            <a:pPr>
              <a:lnSpc>
                <a:spcPct val="100000"/>
              </a:lnSpc>
              <a:buNone/>
            </a:pPr>
            <a:r>
              <a:rPr sz="1400">
                <a:latin typeface="Consolas"/>
              </a:rPr>
              <a:t> </a:t>
            </a:r>
          </a:p>
          <a:p>
            <a:pPr>
              <a:lnSpc>
                <a:spcPct val="100000"/>
              </a:lnSpc>
              <a:buNone/>
            </a:pPr>
            <a:r>
              <a:rPr sz="1400">
                <a:solidFill>
                  <a:srgbClr val="F0CC72"/>
                </a:solidFill>
                <a:latin typeface="Consolas"/>
              </a:rPr>
              <a:t>@Get</a:t>
            </a:r>
            <a:r>
              <a:rPr sz="1400">
                <a:solidFill>
                  <a:srgbClr val="D8E1E8"/>
                </a:solidFill>
                <a:latin typeface="Consolas"/>
              </a:rPr>
              <a:t>(</a:t>
            </a:r>
            <a:r>
              <a:rPr sz="1400">
                <a:solidFill>
                  <a:srgbClr val="A5D6A7"/>
                </a:solidFill>
                <a:latin typeface="Consolas"/>
              </a:rPr>
              <a:t>"/"</a:t>
            </a:r>
            <a:r>
              <a:rPr sz="1400">
                <a:solidFill>
                  <a:srgbClr val="D8E1E8"/>
                </a:solidFill>
                <a:latin typeface="Consolas"/>
              </a:rPr>
              <a:t>)</a:t>
            </a:r>
          </a:p>
          <a:p>
            <a:pPr>
              <a:lnSpc>
                <a:spcPct val="100000"/>
              </a:lnSpc>
              <a:buNone/>
            </a:pPr>
            <a:r>
              <a:rPr sz="1400">
                <a:solidFill>
                  <a:srgbClr val="F19111"/>
                </a:solidFill>
                <a:latin typeface="Consolas"/>
              </a:rPr>
              <a:t>def</a:t>
            </a:r>
            <a:r>
              <a:rPr sz="1400">
                <a:solidFill>
                  <a:srgbClr val="D8E1E8"/>
                </a:solidFill>
                <a:latin typeface="Consolas"/>
              </a:rPr>
              <a:t> </a:t>
            </a:r>
            <a:r>
              <a:rPr sz="1400">
                <a:solidFill>
                  <a:srgbClr val="D8E1E8"/>
                </a:solidFill>
                <a:latin typeface="Consolas"/>
              </a:rPr>
              <a:t>index</a:t>
            </a:r>
            <a:r>
              <a:rPr sz="1400">
                <a:solidFill>
                  <a:srgbClr val="D8E1E8"/>
                </a:solidFill>
                <a:latin typeface="Consolas"/>
              </a:rPr>
              <a:t>(</a:t>
            </a:r>
            <a:r>
              <a:rPr sz="1400">
                <a:solidFill>
                  <a:srgbClr val="D8E1E8"/>
                </a:solidFill>
                <a:latin typeface="Consolas"/>
              </a:rPr>
              <a:t>)</a:t>
            </a:r>
            <a:r>
              <a:rPr sz="1400">
                <a:solidFill>
                  <a:srgbClr val="D8E1E8"/>
                </a:solidFill>
                <a:latin typeface="Consolas"/>
              </a:rPr>
              <a:t> </a:t>
            </a:r>
            <a:r>
              <a:rPr sz="1400">
                <a:solidFill>
                  <a:srgbClr val="D8E1E8"/>
                </a:solidFill>
                <a:latin typeface="Consolas"/>
              </a:rPr>
              <a:t>-</a:t>
            </a:r>
            <a:r>
              <a:rPr sz="1400">
                <a:solidFill>
                  <a:srgbClr val="D8E1E8"/>
                </a:solidFill>
                <a:latin typeface="Consolas"/>
              </a:rPr>
              <a:t>&gt;</a:t>
            </a:r>
            <a:r>
              <a:rPr sz="1400">
                <a:solidFill>
                  <a:srgbClr val="D8E1E8"/>
                </a:solidFill>
                <a:latin typeface="Consolas"/>
              </a:rPr>
              <a:t> </a:t>
            </a:r>
            <a:r>
              <a:rPr sz="1400">
                <a:solidFill>
                  <a:srgbClr val="D8E1E8"/>
                </a:solidFill>
                <a:latin typeface="Consolas"/>
              </a:rPr>
              <a:t>dict</a:t>
            </a:r>
            <a:r>
              <a:rPr sz="1400">
                <a:solidFill>
                  <a:srgbClr val="D8E1E8"/>
                </a:solidFill>
                <a:latin typeface="Consolas"/>
              </a:rPr>
              <a:t>[</a:t>
            </a:r>
            <a:r>
              <a:rPr sz="1400">
                <a:solidFill>
                  <a:srgbClr val="D8E1E8"/>
                </a:solidFill>
                <a:latin typeface="Consolas"/>
              </a:rPr>
              <a:t>str</a:t>
            </a:r>
            <a:r>
              <a:rPr sz="1400">
                <a:solidFill>
                  <a:srgbClr val="D8E1E8"/>
                </a:solidFill>
                <a:latin typeface="Consolas"/>
              </a:rPr>
              <a:t>,</a:t>
            </a:r>
            <a:r>
              <a:rPr sz="1400">
                <a:solidFill>
                  <a:srgbClr val="D8E1E8"/>
                </a:solidFill>
                <a:latin typeface="Consolas"/>
              </a:rPr>
              <a:t> </a:t>
            </a:r>
            <a:r>
              <a:rPr sz="1400">
                <a:solidFill>
                  <a:srgbClr val="D8E1E8"/>
                </a:solidFill>
                <a:latin typeface="Consolas"/>
              </a:rPr>
              <a:t>str</a:t>
            </a:r>
            <a:r>
              <a:rPr sz="1400">
                <a:solidFill>
                  <a:srgbClr val="D8E1E8"/>
                </a:solidFill>
                <a:latin typeface="Consolas"/>
              </a:rPr>
              <a:t>]</a:t>
            </a:r>
            <a:r>
              <a:rPr sz="1400">
                <a:solidFill>
                  <a:srgbClr val="D8E1E8"/>
                </a:solidFill>
                <a:latin typeface="Consolas"/>
              </a:rPr>
              <a:t>:</a:t>
            </a:r>
          </a:p>
          <a:p>
            <a:pPr>
              <a:lnSpc>
                <a:spcPct val="100000"/>
              </a:lnSpc>
              <a:buNone/>
            </a:pPr>
            <a:r>
              <a:rPr sz="1400">
                <a:solidFill>
                  <a:srgbClr val="D8E1E8"/>
                </a:solidFill>
                <a:latin typeface="Consolas"/>
              </a:rPr>
              <a:t>    </a:t>
            </a:r>
            <a:r>
              <a:rPr sz="1400">
                <a:solidFill>
                  <a:srgbClr val="F19111"/>
                </a:solidFill>
                <a:latin typeface="Consolas"/>
              </a:rPr>
              <a:t>return</a:t>
            </a:r>
            <a:r>
              <a:rPr sz="1400">
                <a:solidFill>
                  <a:srgbClr val="D8E1E8"/>
                </a:solidFill>
                <a:latin typeface="Consolas"/>
              </a:rPr>
              <a:t> </a:t>
            </a:r>
            <a:r>
              <a:rPr sz="1400">
                <a:solidFill>
                  <a:srgbClr val="D8E1E8"/>
                </a:solidFill>
                <a:latin typeface="Consolas"/>
              </a:rPr>
              <a:t>{</a:t>
            </a:r>
            <a:r>
              <a:rPr sz="1400">
                <a:solidFill>
                  <a:srgbClr val="A5D6A7"/>
                </a:solidFill>
                <a:latin typeface="Consolas"/>
              </a:rPr>
              <a:t>"Hello"</a:t>
            </a:r>
            <a:r>
              <a:rPr sz="1400">
                <a:solidFill>
                  <a:srgbClr val="D8E1E8"/>
                </a:solidFill>
                <a:latin typeface="Consolas"/>
              </a:rPr>
              <a:t>:</a:t>
            </a:r>
            <a:r>
              <a:rPr sz="1400">
                <a:solidFill>
                  <a:srgbClr val="D8E1E8"/>
                </a:solidFill>
                <a:latin typeface="Consolas"/>
              </a:rPr>
              <a:t> </a:t>
            </a:r>
            <a:r>
              <a:rPr sz="1400">
                <a:solidFill>
                  <a:srgbClr val="A5D6A7"/>
                </a:solidFill>
                <a:latin typeface="Consolas"/>
              </a:rPr>
              <a:t>"World"</a:t>
            </a:r>
            <a:r>
              <a:rPr sz="1400">
                <a:solidFill>
                  <a:srgbClr val="D8E1E8"/>
                </a:solidFill>
                <a:latin typeface="Consolas"/>
              </a:rPr>
              <a:t>}</a:t>
            </a:r>
          </a:p>
        </p:txBody>
      </p:sp>
      <p:sp>
        <p:nvSpPr>
          <p:cNvPr id="17" name="Rounded Rectangle 16"/>
          <p:cNvSpPr/>
          <p:nvPr/>
        </p:nvSpPr>
        <p:spPr>
          <a:xfrm>
            <a:off x="768096" y="4114800"/>
            <a:ext cx="5577840" cy="960120"/>
          </a:xfrm>
          <a:prstGeom prst="roundRect">
            <a:avLst>
              <a:gd name="adj" fmla="val 5714"/>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Rectangle 17"/>
          <p:cNvSpPr/>
          <p:nvPr/>
        </p:nvSpPr>
        <p:spPr>
          <a:xfrm>
            <a:off x="768096" y="4114800"/>
            <a:ext cx="557784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Oval 18"/>
          <p:cNvSpPr/>
          <p:nvPr/>
        </p:nvSpPr>
        <p:spPr>
          <a:xfrm>
            <a:off x="896112" y="42016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9848" y="42016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43584" y="42016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99616" y="4114800"/>
            <a:ext cx="4709159" cy="274320"/>
          </a:xfrm>
          <a:prstGeom prst="rect">
            <a:avLst/>
          </a:prstGeom>
          <a:noFill/>
        </p:spPr>
        <p:txBody>
          <a:bodyPr wrap="square" lIns="0" rIns="0" tIns="0" bIns="0" anchor="ctr"/>
          <a:lstStyle/>
          <a:p>
            <a:pPr algn="r">
              <a:buNone/>
            </a:pPr>
            <a:r>
              <a:rPr sz="1050">
                <a:solidFill>
                  <a:srgbClr val="A9B7C4"/>
                </a:solidFill>
                <a:latin typeface="Consolas"/>
              </a:rPr>
              <a:t>terminal</a:t>
            </a:r>
          </a:p>
        </p:txBody>
      </p:sp>
      <p:sp>
        <p:nvSpPr>
          <p:cNvPr id="23" name="TextBox 22"/>
          <p:cNvSpPr txBox="1"/>
          <p:nvPr/>
        </p:nvSpPr>
        <p:spPr>
          <a:xfrm>
            <a:off x="932688" y="4498848"/>
            <a:ext cx="5303520" cy="502920"/>
          </a:xfrm>
          <a:prstGeom prst="rect">
            <a:avLst/>
          </a:prstGeom>
          <a:noFill/>
        </p:spPr>
        <p:txBody>
          <a:bodyPr wrap="none" lIns="0" rIns="0" tIns="0" bIns="0"/>
          <a:lstStyle/>
          <a:p>
            <a:pPr>
              <a:lnSpc>
                <a:spcPct val="100000"/>
              </a:lnSpc>
              <a:buNone/>
            </a:pPr>
            <a:r>
              <a:rPr sz="1500">
                <a:solidFill>
                  <a:srgbClr val="7D8B98"/>
                </a:solidFill>
                <a:latin typeface="Consolas"/>
              </a:rPr>
              <a:t>$</a:t>
            </a:r>
            <a:r>
              <a:rPr sz="1500">
                <a:solidFill>
                  <a:srgbClr val="D8E1E8"/>
                </a:solidFill>
                <a:latin typeface="Consolas"/>
              </a:rPr>
              <a:t> </a:t>
            </a:r>
            <a:r>
              <a:rPr sz="1500">
                <a:solidFill>
                  <a:srgbClr val="F19111"/>
                </a:solidFill>
                <a:latin typeface="Consolas"/>
              </a:rPr>
              <a:t>pyronaut</a:t>
            </a:r>
            <a:r>
              <a:rPr sz="1500">
                <a:solidFill>
                  <a:srgbClr val="D8E1E8"/>
                </a:solidFill>
                <a:latin typeface="Consolas"/>
              </a:rPr>
              <a:t> </a:t>
            </a:r>
            <a:r>
              <a:rPr sz="1500">
                <a:solidFill>
                  <a:srgbClr val="D8E1E8"/>
                </a:solidFill>
                <a:latin typeface="Consolas"/>
              </a:rPr>
              <a:t>dev</a:t>
            </a:r>
            <a:r>
              <a:rPr sz="1500">
                <a:solidFill>
                  <a:srgbClr val="D8E1E8"/>
                </a:solidFill>
                <a:latin typeface="Consolas"/>
              </a:rPr>
              <a:t> </a:t>
            </a:r>
            <a:r>
              <a:rPr sz="1500">
                <a:solidFill>
                  <a:srgbClr val="D8E1E8"/>
                </a:solidFill>
                <a:latin typeface="Consolas"/>
              </a:rPr>
              <a:t>app</a:t>
            </a:r>
            <a:r>
              <a:rPr sz="1500">
                <a:solidFill>
                  <a:srgbClr val="D8E1E8"/>
                </a:solidFill>
                <a:latin typeface="Consolas"/>
              </a:rPr>
              <a:t>.</a:t>
            </a:r>
            <a:r>
              <a:rPr sz="1500">
                <a:solidFill>
                  <a:srgbClr val="D8E1E8"/>
                </a:solidFill>
                <a:latin typeface="Consolas"/>
              </a:rPr>
              <a:t>py</a:t>
            </a:r>
          </a:p>
        </p:txBody>
      </p:sp>
      <p:sp>
        <p:nvSpPr>
          <p:cNvPr id="24" name="Rounded Rectangle 23"/>
          <p:cNvSpPr/>
          <p:nvPr/>
        </p:nvSpPr>
        <p:spPr>
          <a:xfrm>
            <a:off x="768096" y="5257800"/>
            <a:ext cx="5577840" cy="868680"/>
          </a:xfrm>
          <a:prstGeom prst="roundRect">
            <a:avLst>
              <a:gd name="adj" fmla="val 842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buNone/>
            </a:pPr>
            <a:r>
              <a:rPr sz="1250">
                <a:solidFill>
                  <a:srgbClr val="A9B7C4"/>
                </a:solidFill>
              </a:rPr>
              <a:t>No project file, virtual environment or application server needed for the first step — routes, JSON, OpenAPI and Swagger UI included.</a:t>
            </a:r>
          </a:p>
        </p:txBody>
      </p:sp>
      <p:sp>
        <p:nvSpPr>
          <p:cNvPr id="25" name="TextBox 24"/>
          <p:cNvSpPr txBox="1"/>
          <p:nvPr/>
        </p:nvSpPr>
        <p:spPr>
          <a:xfrm>
            <a:off x="6675120" y="1572768"/>
            <a:ext cx="4754880" cy="256032"/>
          </a:xfrm>
          <a:prstGeom prst="rect">
            <a:avLst/>
          </a:prstGeom>
          <a:noFill/>
        </p:spPr>
        <p:txBody>
          <a:bodyPr wrap="square" lIns="0" rIns="0" tIns="0" bIns="0" anchor="ctr"/>
          <a:lstStyle/>
          <a:p>
            <a:pPr algn="l">
              <a:buNone/>
            </a:pPr>
            <a:r>
              <a:rPr sz="1100" b="1">
                <a:solidFill>
                  <a:srgbClr val="F19111"/>
                </a:solidFill>
              </a:rPr>
              <a:t>WHAT YOU GET</a:t>
            </a:r>
          </a:p>
        </p:txBody>
      </p:sp>
      <p:sp>
        <p:nvSpPr>
          <p:cNvPr id="26" name="Oval 25"/>
          <p:cNvSpPr/>
          <p:nvPr/>
        </p:nvSpPr>
        <p:spPr>
          <a:xfrm>
            <a:off x="6675120" y="2011680"/>
            <a:ext cx="384048" cy="384048"/>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300" b="1">
                <a:solidFill>
                  <a:srgbClr val="1B222A"/>
                </a:solidFill>
              </a:rPr>
              <a:t>1</a:t>
            </a:r>
          </a:p>
        </p:txBody>
      </p:sp>
      <p:sp>
        <p:nvSpPr>
          <p:cNvPr id="27" name="TextBox 26"/>
          <p:cNvSpPr txBox="1"/>
          <p:nvPr/>
        </p:nvSpPr>
        <p:spPr>
          <a:xfrm>
            <a:off x="7223760" y="1920240"/>
            <a:ext cx="4206240" cy="329184"/>
          </a:xfrm>
          <a:prstGeom prst="rect">
            <a:avLst/>
          </a:prstGeom>
          <a:noFill/>
        </p:spPr>
        <p:txBody>
          <a:bodyPr wrap="square" lIns="0" rIns="0" tIns="0" bIns="0" anchor="ctr"/>
          <a:lstStyle/>
          <a:p>
            <a:pPr>
              <a:buNone/>
            </a:pPr>
            <a:r>
              <a:rPr sz="1500" b="1">
                <a:solidFill>
                  <a:srgbClr val="FFFFFF"/>
                </a:solidFill>
              </a:rPr>
              <a:t>Netty HTTP server</a:t>
            </a:r>
          </a:p>
        </p:txBody>
      </p:sp>
      <p:sp>
        <p:nvSpPr>
          <p:cNvPr id="28" name="TextBox 27"/>
          <p:cNvSpPr txBox="1"/>
          <p:nvPr/>
        </p:nvSpPr>
        <p:spPr>
          <a:xfrm>
            <a:off x="7223760" y="2231136"/>
            <a:ext cx="4206240" cy="292608"/>
          </a:xfrm>
          <a:prstGeom prst="rect">
            <a:avLst/>
          </a:prstGeom>
          <a:noFill/>
        </p:spPr>
        <p:txBody>
          <a:bodyPr wrap="square" lIns="0" rIns="0" tIns="0" bIns="0" anchor="ctr"/>
          <a:lstStyle/>
          <a:p>
            <a:pPr>
              <a:buNone/>
            </a:pPr>
            <a:r>
              <a:rPr sz="1200">
                <a:solidFill>
                  <a:srgbClr val="A9B7C4"/>
                </a:solidFill>
              </a:rPr>
              <a:t>event loops, HTTP/2 and HTTP/3</a:t>
            </a:r>
          </a:p>
        </p:txBody>
      </p:sp>
      <p:sp>
        <p:nvSpPr>
          <p:cNvPr id="29" name="Oval 28"/>
          <p:cNvSpPr/>
          <p:nvPr/>
        </p:nvSpPr>
        <p:spPr>
          <a:xfrm>
            <a:off x="6675120" y="2715768"/>
            <a:ext cx="384048" cy="384048"/>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300" b="1">
                <a:solidFill>
                  <a:srgbClr val="1B222A"/>
                </a:solidFill>
              </a:rPr>
              <a:t>2</a:t>
            </a:r>
          </a:p>
        </p:txBody>
      </p:sp>
      <p:sp>
        <p:nvSpPr>
          <p:cNvPr id="30" name="TextBox 29"/>
          <p:cNvSpPr txBox="1"/>
          <p:nvPr/>
        </p:nvSpPr>
        <p:spPr>
          <a:xfrm>
            <a:off x="7223760" y="2624328"/>
            <a:ext cx="4206240" cy="329184"/>
          </a:xfrm>
          <a:prstGeom prst="rect">
            <a:avLst/>
          </a:prstGeom>
          <a:noFill/>
        </p:spPr>
        <p:txBody>
          <a:bodyPr wrap="square" lIns="0" rIns="0" tIns="0" bIns="0" anchor="ctr"/>
          <a:lstStyle/>
          <a:p>
            <a:pPr>
              <a:buNone/>
            </a:pPr>
            <a:r>
              <a:rPr sz="1500" b="1">
                <a:solidFill>
                  <a:srgbClr val="FFFFFF"/>
                </a:solidFill>
              </a:rPr>
              <a:t>Micronaut programming model</a:t>
            </a:r>
          </a:p>
        </p:txBody>
      </p:sp>
      <p:sp>
        <p:nvSpPr>
          <p:cNvPr id="31" name="TextBox 30"/>
          <p:cNvSpPr txBox="1"/>
          <p:nvPr/>
        </p:nvSpPr>
        <p:spPr>
          <a:xfrm>
            <a:off x="7223760" y="2935224"/>
            <a:ext cx="4206240" cy="292608"/>
          </a:xfrm>
          <a:prstGeom prst="rect">
            <a:avLst/>
          </a:prstGeom>
          <a:noFill/>
        </p:spPr>
        <p:txBody>
          <a:bodyPr wrap="square" lIns="0" rIns="0" tIns="0" bIns="0" anchor="ctr"/>
          <a:lstStyle/>
          <a:p>
            <a:pPr>
              <a:buNone/>
            </a:pPr>
            <a:r>
              <a:rPr sz="1200">
                <a:solidFill>
                  <a:srgbClr val="A9B7C4"/>
                </a:solidFill>
              </a:rPr>
              <a:t>dependency injection, configuration, AOP</a:t>
            </a:r>
          </a:p>
        </p:txBody>
      </p:sp>
      <p:sp>
        <p:nvSpPr>
          <p:cNvPr id="32" name="Oval 31"/>
          <p:cNvSpPr/>
          <p:nvPr/>
        </p:nvSpPr>
        <p:spPr>
          <a:xfrm>
            <a:off x="6675120" y="3419856"/>
            <a:ext cx="384048" cy="384048"/>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300" b="1">
                <a:solidFill>
                  <a:srgbClr val="1B222A"/>
                </a:solidFill>
              </a:rPr>
              <a:t>3</a:t>
            </a:r>
          </a:p>
        </p:txBody>
      </p:sp>
      <p:sp>
        <p:nvSpPr>
          <p:cNvPr id="33" name="TextBox 32"/>
          <p:cNvSpPr txBox="1"/>
          <p:nvPr/>
        </p:nvSpPr>
        <p:spPr>
          <a:xfrm>
            <a:off x="7223760" y="3328416"/>
            <a:ext cx="4206240" cy="329184"/>
          </a:xfrm>
          <a:prstGeom prst="rect">
            <a:avLst/>
          </a:prstGeom>
          <a:noFill/>
        </p:spPr>
        <p:txBody>
          <a:bodyPr wrap="square" lIns="0" rIns="0" tIns="0" bIns="0" anchor="ctr"/>
          <a:lstStyle/>
          <a:p>
            <a:pPr>
              <a:buNone/>
            </a:pPr>
            <a:r>
              <a:rPr sz="1500" b="1">
                <a:solidFill>
                  <a:srgbClr val="FFFFFF"/>
                </a:solidFill>
              </a:rPr>
              <a:t>Build-time processing</a:t>
            </a:r>
          </a:p>
        </p:txBody>
      </p:sp>
      <p:sp>
        <p:nvSpPr>
          <p:cNvPr id="34" name="TextBox 33"/>
          <p:cNvSpPr txBox="1"/>
          <p:nvPr/>
        </p:nvSpPr>
        <p:spPr>
          <a:xfrm>
            <a:off x="7223760" y="3639312"/>
            <a:ext cx="4206240" cy="292608"/>
          </a:xfrm>
          <a:prstGeom prst="rect">
            <a:avLst/>
          </a:prstGeom>
          <a:noFill/>
        </p:spPr>
        <p:txBody>
          <a:bodyPr wrap="square" lIns="0" rIns="0" tIns="0" bIns="0" anchor="ctr"/>
          <a:lstStyle/>
          <a:p>
            <a:pPr>
              <a:buNone/>
            </a:pPr>
            <a:r>
              <a:rPr sz="1200">
                <a:solidFill>
                  <a:srgbClr val="A9B7C4"/>
                </a:solidFill>
              </a:rPr>
              <a:t>routes, serializers, validation generated up front</a:t>
            </a:r>
          </a:p>
        </p:txBody>
      </p:sp>
      <p:sp>
        <p:nvSpPr>
          <p:cNvPr id="35" name="Oval 34"/>
          <p:cNvSpPr/>
          <p:nvPr/>
        </p:nvSpPr>
        <p:spPr>
          <a:xfrm>
            <a:off x="6675120" y="4123944"/>
            <a:ext cx="384048" cy="384048"/>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300" b="1">
                <a:solidFill>
                  <a:srgbClr val="1B222A"/>
                </a:solidFill>
              </a:rPr>
              <a:t>4</a:t>
            </a:r>
          </a:p>
        </p:txBody>
      </p:sp>
      <p:sp>
        <p:nvSpPr>
          <p:cNvPr id="36" name="TextBox 35"/>
          <p:cNvSpPr txBox="1"/>
          <p:nvPr/>
        </p:nvSpPr>
        <p:spPr>
          <a:xfrm>
            <a:off x="7223760" y="4032504"/>
            <a:ext cx="4206240" cy="329184"/>
          </a:xfrm>
          <a:prstGeom prst="rect">
            <a:avLst/>
          </a:prstGeom>
          <a:noFill/>
        </p:spPr>
        <p:txBody>
          <a:bodyPr wrap="square" lIns="0" rIns="0" tIns="0" bIns="0" anchor="ctr"/>
          <a:lstStyle/>
          <a:p>
            <a:pPr>
              <a:buNone/>
            </a:pPr>
            <a:r>
              <a:rPr sz="1500" b="1">
                <a:solidFill>
                  <a:srgbClr val="FFFFFF"/>
                </a:solidFill>
              </a:rPr>
              <a:t>Java ecosystem</a:t>
            </a:r>
          </a:p>
        </p:txBody>
      </p:sp>
      <p:sp>
        <p:nvSpPr>
          <p:cNvPr id="37" name="TextBox 36"/>
          <p:cNvSpPr txBox="1"/>
          <p:nvPr/>
        </p:nvSpPr>
        <p:spPr>
          <a:xfrm>
            <a:off x="7223760" y="4343400"/>
            <a:ext cx="4206240" cy="292608"/>
          </a:xfrm>
          <a:prstGeom prst="rect">
            <a:avLst/>
          </a:prstGeom>
          <a:noFill/>
        </p:spPr>
        <p:txBody>
          <a:bodyPr wrap="square" lIns="0" rIns="0" tIns="0" bIns="0" anchor="ctr"/>
          <a:lstStyle/>
          <a:p>
            <a:pPr>
              <a:buNone/>
            </a:pPr>
            <a:r>
              <a:rPr sz="1200">
                <a:solidFill>
                  <a:srgbClr val="A9B7C4"/>
                </a:solidFill>
              </a:rPr>
              <a:t>any Java library, one import away</a:t>
            </a:r>
          </a:p>
        </p:txBody>
      </p:sp>
      <p:sp>
        <p:nvSpPr>
          <p:cNvPr id="38" name="Oval 37"/>
          <p:cNvSpPr/>
          <p:nvPr/>
        </p:nvSpPr>
        <p:spPr>
          <a:xfrm>
            <a:off x="6675120" y="4828031"/>
            <a:ext cx="384048" cy="384048"/>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300" b="1">
                <a:solidFill>
                  <a:srgbClr val="1B222A"/>
                </a:solidFill>
              </a:rPr>
              <a:t>5</a:t>
            </a:r>
          </a:p>
        </p:txBody>
      </p:sp>
      <p:sp>
        <p:nvSpPr>
          <p:cNvPr id="39" name="TextBox 38"/>
          <p:cNvSpPr txBox="1"/>
          <p:nvPr/>
        </p:nvSpPr>
        <p:spPr>
          <a:xfrm>
            <a:off x="7223760" y="4736592"/>
            <a:ext cx="4206240" cy="329184"/>
          </a:xfrm>
          <a:prstGeom prst="rect">
            <a:avLst/>
          </a:prstGeom>
          <a:noFill/>
        </p:spPr>
        <p:txBody>
          <a:bodyPr wrap="square" lIns="0" rIns="0" tIns="0" bIns="0" anchor="ctr"/>
          <a:lstStyle/>
          <a:p>
            <a:pPr>
              <a:buNone/>
            </a:pPr>
            <a:r>
              <a:rPr sz="1500" b="1">
                <a:solidFill>
                  <a:srgbClr val="FFFFFF"/>
                </a:solidFill>
              </a:rPr>
              <a:t>pytest + Test Resources</a:t>
            </a:r>
          </a:p>
        </p:txBody>
      </p:sp>
      <p:sp>
        <p:nvSpPr>
          <p:cNvPr id="40" name="TextBox 39"/>
          <p:cNvSpPr txBox="1"/>
          <p:nvPr/>
        </p:nvSpPr>
        <p:spPr>
          <a:xfrm>
            <a:off x="7223760" y="5047488"/>
            <a:ext cx="4206240" cy="292608"/>
          </a:xfrm>
          <a:prstGeom prst="rect">
            <a:avLst/>
          </a:prstGeom>
          <a:noFill/>
        </p:spPr>
        <p:txBody>
          <a:bodyPr wrap="square" lIns="0" rIns="0" tIns="0" bIns="0" anchor="ctr"/>
          <a:lstStyle/>
          <a:p>
            <a:pPr>
              <a:buNone/>
            </a:pPr>
            <a:r>
              <a:rPr sz="1200">
                <a:solidFill>
                  <a:srgbClr val="A9B7C4"/>
                </a:solidFill>
              </a:rPr>
              <a:t>real application context, containers on demand</a:t>
            </a:r>
          </a:p>
        </p:txBody>
      </p:sp>
      <p:sp>
        <p:nvSpPr>
          <p:cNvPr id="41" name="Oval 40"/>
          <p:cNvSpPr/>
          <p:nvPr/>
        </p:nvSpPr>
        <p:spPr>
          <a:xfrm>
            <a:off x="6675120" y="5532120"/>
            <a:ext cx="384048" cy="384048"/>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300" b="1">
                <a:solidFill>
                  <a:srgbClr val="1B222A"/>
                </a:solidFill>
              </a:rPr>
              <a:t>6</a:t>
            </a:r>
          </a:p>
        </p:txBody>
      </p:sp>
      <p:sp>
        <p:nvSpPr>
          <p:cNvPr id="42" name="TextBox 41"/>
          <p:cNvSpPr txBox="1"/>
          <p:nvPr/>
        </p:nvSpPr>
        <p:spPr>
          <a:xfrm>
            <a:off x="7223760" y="5440680"/>
            <a:ext cx="4206240" cy="329184"/>
          </a:xfrm>
          <a:prstGeom prst="rect">
            <a:avLst/>
          </a:prstGeom>
          <a:noFill/>
        </p:spPr>
        <p:txBody>
          <a:bodyPr wrap="square" lIns="0" rIns="0" tIns="0" bIns="0" anchor="ctr"/>
          <a:lstStyle/>
          <a:p>
            <a:pPr>
              <a:buNone/>
            </a:pPr>
            <a:r>
              <a:rPr sz="1500" b="1">
                <a:solidFill>
                  <a:srgbClr val="FFFFFF"/>
                </a:solidFill>
              </a:rPr>
              <a:t>JVM, native, Crema, Docker</a:t>
            </a:r>
          </a:p>
        </p:txBody>
      </p:sp>
      <p:sp>
        <p:nvSpPr>
          <p:cNvPr id="43" name="TextBox 42"/>
          <p:cNvSpPr txBox="1"/>
          <p:nvPr/>
        </p:nvSpPr>
        <p:spPr>
          <a:xfrm>
            <a:off x="7223760" y="5751576"/>
            <a:ext cx="4206240" cy="292608"/>
          </a:xfrm>
          <a:prstGeom prst="rect">
            <a:avLst/>
          </a:prstGeom>
          <a:noFill/>
        </p:spPr>
        <p:txBody>
          <a:bodyPr wrap="square" lIns="0" rIns="0" tIns="0" bIns="0" anchor="ctr"/>
          <a:lstStyle/>
          <a:p>
            <a:pPr>
              <a:buNone/>
            </a:pPr>
            <a:r>
              <a:rPr sz="1200">
                <a:solidFill>
                  <a:srgbClr val="A9B7C4"/>
                </a:solidFill>
              </a:rPr>
              <a:t>one project, many packaging formats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stop assembling your Python backend</a:t>
            </a:r>
          </a:p>
        </p:txBody>
      </p:sp>
      <p:sp>
        <p:nvSpPr>
          <p:cNvPr id="3" name="Text Placeholder 2"/>
          <p:cNvSpPr>
            <a:spLocks noGrp="1"/>
          </p:cNvSpPr>
          <p:nvPr>
            <p:ph type="body" idx="11" sz="quarter"/>
          </p:nvPr>
        </p:nvSpPr>
        <p:spPr/>
        <p:txBody>
          <a:bodyPr/>
          <a:lstStyle/>
          <a:p>
            <a:r>
              <a:t>A production Python service is usually hand-assembled from many projects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72768"/>
            <a:ext cx="5120640" cy="256032"/>
          </a:xfrm>
          <a:prstGeom prst="rect">
            <a:avLst/>
          </a:prstGeom>
          <a:noFill/>
        </p:spPr>
        <p:txBody>
          <a:bodyPr wrap="square" lIns="0" rIns="0" tIns="0" bIns="0" anchor="ctr"/>
          <a:lstStyle/>
          <a:p>
            <a:pPr algn="l">
              <a:buNone/>
            </a:pPr>
            <a:r>
              <a:rPr sz="1100" b="1">
                <a:solidFill>
                  <a:srgbClr val="A9B7C4"/>
                </a:solidFill>
              </a:rPr>
              <a:t>TYPICAL PYTHON SERVICE</a:t>
            </a:r>
          </a:p>
        </p:txBody>
      </p:sp>
      <p:sp>
        <p:nvSpPr>
          <p:cNvPr id="11" name="Rounded Rectangle 10"/>
          <p:cNvSpPr/>
          <p:nvPr/>
        </p:nvSpPr>
        <p:spPr>
          <a:xfrm>
            <a:off x="768096" y="1920240"/>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FastAPI or Flask</a:t>
            </a:r>
          </a:p>
        </p:txBody>
      </p:sp>
      <p:sp>
        <p:nvSpPr>
          <p:cNvPr id="12" name="Rounded Rectangle 11"/>
          <p:cNvSpPr/>
          <p:nvPr/>
        </p:nvSpPr>
        <p:spPr>
          <a:xfrm>
            <a:off x="1088136" y="2468880"/>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Uvicorn or Gunicorn</a:t>
            </a:r>
          </a:p>
        </p:txBody>
      </p:sp>
      <p:sp>
        <p:nvSpPr>
          <p:cNvPr id="13" name="Rounded Rectangle 12"/>
          <p:cNvSpPr/>
          <p:nvPr/>
        </p:nvSpPr>
        <p:spPr>
          <a:xfrm>
            <a:off x="859536" y="3017520"/>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Pydantic + pydantic-settings</a:t>
            </a:r>
          </a:p>
        </p:txBody>
      </p:sp>
      <p:sp>
        <p:nvSpPr>
          <p:cNvPr id="14" name="Rounded Rectangle 13"/>
          <p:cNvSpPr/>
          <p:nvPr/>
        </p:nvSpPr>
        <p:spPr>
          <a:xfrm>
            <a:off x="1179576" y="3566160"/>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pytest + Testcontainers fixtures</a:t>
            </a:r>
          </a:p>
        </p:txBody>
      </p:sp>
      <p:sp>
        <p:nvSpPr>
          <p:cNvPr id="15" name="Rounded Rectangle 14"/>
          <p:cNvSpPr/>
          <p:nvPr/>
        </p:nvSpPr>
        <p:spPr>
          <a:xfrm>
            <a:off x="950976" y="4114800"/>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structlog</a:t>
            </a:r>
          </a:p>
        </p:txBody>
      </p:sp>
      <p:sp>
        <p:nvSpPr>
          <p:cNvPr id="16" name="Rounded Rectangle 15"/>
          <p:cNvSpPr/>
          <p:nvPr/>
        </p:nvSpPr>
        <p:spPr>
          <a:xfrm>
            <a:off x="1271016" y="4663440"/>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OpenAPI setup</a:t>
            </a:r>
          </a:p>
        </p:txBody>
      </p:sp>
      <p:sp>
        <p:nvSpPr>
          <p:cNvPr id="17" name="Rounded Rectangle 16"/>
          <p:cNvSpPr/>
          <p:nvPr/>
        </p:nvSpPr>
        <p:spPr>
          <a:xfrm>
            <a:off x="813816" y="5212079"/>
            <a:ext cx="402336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Dockerfile + CI templates</a:t>
            </a:r>
          </a:p>
        </p:txBody>
      </p:sp>
      <p:sp>
        <p:nvSpPr>
          <p:cNvPr id="18" name="TextBox 17"/>
          <p:cNvSpPr txBox="1"/>
          <p:nvPr/>
        </p:nvSpPr>
        <p:spPr>
          <a:xfrm>
            <a:off x="768096" y="5806440"/>
            <a:ext cx="5120640" cy="365760"/>
          </a:xfrm>
          <a:prstGeom prst="rect">
            <a:avLst/>
          </a:prstGeom>
          <a:noFill/>
        </p:spPr>
        <p:txBody>
          <a:bodyPr wrap="square" lIns="0" rIns="0" tIns="0" bIns="0" anchor="t"/>
          <a:lstStyle/>
          <a:p>
            <a:pPr>
              <a:buNone/>
            </a:pPr>
            <a:r>
              <a:rPr sz="1300" b="1">
                <a:solidFill>
                  <a:srgbClr val="A9B7C4"/>
                </a:solidFill>
              </a:rPr>
              <a:t>Each piece is good — the integration work is yours.</a:t>
            </a:r>
          </a:p>
        </p:txBody>
      </p:sp>
      <p:cxnSp>
        <p:nvCxnSpPr>
          <p:cNvPr id="19" name="Connector 18"/>
          <p:cNvCxnSpPr/>
          <p:nvPr/>
        </p:nvCxnSpPr>
        <p:spPr>
          <a:xfrm>
            <a:off x="5532120" y="3657600"/>
            <a:ext cx="640080" cy="0"/>
          </a:xfrm>
          <a:prstGeom prst="line">
            <a:avLst/>
          </a:prstGeom>
          <a:ln w="381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0" y="1572768"/>
            <a:ext cx="5029200" cy="256032"/>
          </a:xfrm>
          <a:prstGeom prst="rect">
            <a:avLst/>
          </a:prstGeom>
          <a:noFill/>
        </p:spPr>
        <p:txBody>
          <a:bodyPr wrap="square" lIns="0" rIns="0" tIns="0" bIns="0" anchor="ctr"/>
          <a:lstStyle/>
          <a:p>
            <a:pPr algn="l">
              <a:buNone/>
            </a:pPr>
            <a:r>
              <a:rPr sz="1100" b="1">
                <a:solidFill>
                  <a:srgbClr val="F19111"/>
                </a:solidFill>
              </a:rPr>
              <a:t>PYRONAUT</a:t>
            </a:r>
          </a:p>
        </p:txBody>
      </p:sp>
      <p:sp>
        <p:nvSpPr>
          <p:cNvPr id="21" name="Rounded Rectangle 20"/>
          <p:cNvSpPr/>
          <p:nvPr/>
        </p:nvSpPr>
        <p:spPr>
          <a:xfrm>
            <a:off x="6400800" y="1920240"/>
            <a:ext cx="5029200" cy="3794760"/>
          </a:xfrm>
          <a:prstGeom prst="roundRect">
            <a:avLst>
              <a:gd name="adj" fmla="val 2891"/>
            </a:avLst>
          </a:prstGeom>
          <a:solidFill>
            <a:srgbClr val="2E3B47"/>
          </a:solidFill>
          <a:ln w="254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36576" bIns="36576"/>
          <a:lstStyle/>
          <a:p>
            <a:pPr algn="l">
              <a:spcBef>
                <a:spcPts val="800"/>
              </a:spcBef>
              <a:spcAft>
                <a:spcPts val="1000"/>
              </a:spcAft>
              <a:buNone/>
            </a:pPr>
            <a:r>
              <a:rPr sz="1700" b="1">
                <a:solidFill>
                  <a:srgbClr val="FFFFFF"/>
                </a:solidFill>
              </a:rPr>
              <a:t>One application model on Micronaut</a:t>
            </a:r>
          </a:p>
          <a:p>
            <a:pPr algn="l" marL="201168" indent="-201168">
              <a:spcAft>
                <a:spcPts val="600"/>
              </a:spcAft>
              <a:buClr>
                <a:srgbClr val="F19111"/>
              </a:buClr>
              <a:buSzPct val="100000"/>
              <a:buFont typeface="Arial"/>
              <a:buChar char="▪"/>
            </a:pPr>
            <a:r>
              <a:rPr sz="1400">
                <a:solidFill>
                  <a:srgbClr val="FFFFFF"/>
                </a:solidFill>
              </a:rPr>
              <a:t>Decorators are Micronaut annotations</a:t>
            </a:r>
          </a:p>
          <a:p>
            <a:pPr algn="l" marL="201168" indent="-201168">
              <a:spcAft>
                <a:spcPts val="600"/>
              </a:spcAft>
              <a:buClr>
                <a:srgbClr val="F19111"/>
              </a:buClr>
              <a:buSzPct val="100000"/>
              <a:buFont typeface="Arial"/>
              <a:buChar char="▪"/>
            </a:pPr>
            <a:r>
              <a:rPr sz="1400">
                <a:solidFill>
                  <a:srgbClr val="FFFFFF"/>
                </a:solidFill>
              </a:rPr>
              <a:t>Type hints drive HTTP binding, validation, serialization, OpenAPI and editor completion</a:t>
            </a:r>
          </a:p>
          <a:p>
            <a:pPr algn="l" marL="201168" indent="-201168">
              <a:spcAft>
                <a:spcPts val="600"/>
              </a:spcAft>
              <a:buClr>
                <a:srgbClr val="F19111"/>
              </a:buClr>
              <a:buSzPct val="100000"/>
              <a:buFont typeface="Arial"/>
              <a:buChar char="▪"/>
            </a:pPr>
            <a:r>
              <a:rPr sz="1400">
                <a:solidFill>
                  <a:srgbClr val="FFFFFF"/>
                </a:solidFill>
              </a:rPr>
              <a:t>Mistakes fail </a:t>
            </a:r>
            <a:r>
              <a:rPr sz="1400">
                <a:solidFill>
                  <a:srgbClr val="F0CC72"/>
                </a:solidFill>
                <a:latin typeface="Consolas"/>
              </a:rPr>
              <a:t>pyronaut process</a:t>
            </a:r>
            <a:r>
              <a:rPr sz="1400">
                <a:solidFill>
                  <a:srgbClr val="FFFFFF"/>
                </a:solidFill>
              </a:rPr>
              <a:t>, not the first request</a:t>
            </a:r>
          </a:p>
          <a:p>
            <a:pPr algn="l" marL="201168" indent="-201168">
              <a:spcAft>
                <a:spcPts val="600"/>
              </a:spcAft>
              <a:buClr>
                <a:srgbClr val="F19111"/>
              </a:buClr>
              <a:buSzPct val="100000"/>
              <a:buFont typeface="Arial"/>
              <a:buChar char="▪"/>
            </a:pPr>
            <a:r>
              <a:rPr sz="1400">
                <a:solidFill>
                  <a:srgbClr val="FFFFFF"/>
                </a:solidFill>
              </a:rPr>
              <a:t>Any Java library, and Java code in the same project</a:t>
            </a:r>
          </a:p>
          <a:p>
            <a:pPr algn="l" marL="201168" indent="-201168">
              <a:buClr>
                <a:srgbClr val="F19111"/>
              </a:buClr>
              <a:buSzPct val="100000"/>
              <a:buFont typeface="Arial"/>
              <a:buChar char="▪"/>
            </a:pPr>
            <a:r>
              <a:rPr sz="1400">
                <a:solidFill>
                  <a:srgbClr val="FFFFFF"/>
                </a:solidFill>
              </a:rPr>
              <a:t>One CLI from create to package</a:t>
            </a:r>
          </a:p>
        </p:txBody>
      </p:sp>
      <p:pic>
        <p:nvPicPr>
          <p:cNvPr id="22" name="Picture 21" descr="mascot.png"/>
          <p:cNvPicPr>
            <a:picLocks noChangeAspect="1"/>
          </p:cNvPicPr>
          <p:nvPr/>
        </p:nvPicPr>
        <p:blipFill>
          <a:blip r:embed="rId3"/>
          <a:stretch>
            <a:fillRect/>
          </a:stretch>
        </p:blipFill>
        <p:spPr>
          <a:xfrm>
            <a:off x="10287000" y="4526280"/>
            <a:ext cx="1408175" cy="1600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Seven challenges</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6" name="Picture 5" descr="pyro-footer.png"/>
          <p:cNvPicPr>
            <a:picLocks noChangeAspect="1"/>
          </p:cNvPicPr>
          <p:nvPr/>
        </p:nvPicPr>
        <p:blipFill>
          <a:blip r:embed="rId2"/>
          <a:stretch>
            <a:fillRect/>
          </a:stretch>
        </p:blipFill>
        <p:spPr>
          <a:xfrm>
            <a:off x="9646920" y="6519672"/>
            <a:ext cx="1470429" cy="219456"/>
          </a:xfrm>
          <a:prstGeom prst="rect">
            <a:avLst/>
          </a:prstGeom>
        </p:spPr>
      </p:pic>
      <p:sp>
        <p:nvSpPr>
          <p:cNvPr id="7" name="Oval 6"/>
          <p:cNvSpPr/>
          <p:nvPr/>
        </p:nvSpPr>
        <p:spPr>
          <a:xfrm>
            <a:off x="768096" y="1389888"/>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1</a:t>
            </a:r>
          </a:p>
        </p:txBody>
      </p:sp>
      <p:sp>
        <p:nvSpPr>
          <p:cNvPr id="8" name="TextBox 7"/>
          <p:cNvSpPr txBox="1"/>
          <p:nvPr/>
        </p:nvSpPr>
        <p:spPr>
          <a:xfrm>
            <a:off x="1371600" y="1298448"/>
            <a:ext cx="5486400" cy="329184"/>
          </a:xfrm>
          <a:prstGeom prst="rect">
            <a:avLst/>
          </a:prstGeom>
          <a:noFill/>
        </p:spPr>
        <p:txBody>
          <a:bodyPr wrap="square" lIns="0" rIns="0" tIns="0" bIns="0" anchor="ctr"/>
          <a:lstStyle/>
          <a:p>
            <a:pPr>
              <a:buNone/>
            </a:pPr>
            <a:r>
              <a:rPr sz="1600" b="1">
                <a:solidFill>
                  <a:srgbClr val="FFFFFF"/>
                </a:solidFill>
              </a:rPr>
              <a:t>Seeing Python at compile time</a:t>
            </a:r>
          </a:p>
        </p:txBody>
      </p:sp>
      <p:sp>
        <p:nvSpPr>
          <p:cNvPr id="9" name="TextBox 8"/>
          <p:cNvSpPr txBox="1"/>
          <p:nvPr/>
        </p:nvSpPr>
        <p:spPr>
          <a:xfrm>
            <a:off x="1371600" y="1609344"/>
            <a:ext cx="5486400" cy="274320"/>
          </a:xfrm>
          <a:prstGeom prst="rect">
            <a:avLst/>
          </a:prstGeom>
          <a:noFill/>
        </p:spPr>
        <p:txBody>
          <a:bodyPr wrap="square" lIns="0" rIns="0" tIns="0" bIns="0" anchor="ctr"/>
          <a:lstStyle/>
          <a:p>
            <a:pPr>
              <a:buNone/>
            </a:pPr>
            <a:r>
              <a:rPr sz="1200">
                <a:solidFill>
                  <a:srgbClr val="A9B7C4"/>
                </a:solidFill>
              </a:rPr>
              <a:t>Marrying javac and Python</a:t>
            </a:r>
          </a:p>
        </p:txBody>
      </p:sp>
      <p:sp>
        <p:nvSpPr>
          <p:cNvPr id="10" name="TextBox 9"/>
          <p:cNvSpPr txBox="1"/>
          <p:nvPr/>
        </p:nvSpPr>
        <p:spPr>
          <a:xfrm>
            <a:off x="6858000" y="1316736"/>
            <a:ext cx="1097280" cy="329184"/>
          </a:xfrm>
          <a:prstGeom prst="rect">
            <a:avLst/>
          </a:prstGeom>
          <a:noFill/>
        </p:spPr>
        <p:txBody>
          <a:bodyPr wrap="square" lIns="0" rIns="0" tIns="0" bIns="0" anchor="ctr"/>
          <a:lstStyle/>
          <a:p>
            <a:pPr algn="r">
              <a:buNone/>
            </a:pPr>
            <a:r>
              <a:rPr sz="1300">
                <a:solidFill>
                  <a:srgbClr val="F19111"/>
                </a:solidFill>
              </a:rPr>
              <a:t>9 min</a:t>
            </a:r>
          </a:p>
        </p:txBody>
      </p:sp>
      <p:cxnSp>
        <p:nvCxnSpPr>
          <p:cNvPr id="11" name="Connector 10"/>
          <p:cNvCxnSpPr/>
          <p:nvPr/>
        </p:nvCxnSpPr>
        <p:spPr>
          <a:xfrm>
            <a:off x="1371600" y="1920240"/>
            <a:ext cx="6583679" cy="0"/>
          </a:xfrm>
          <a:prstGeom prst="line">
            <a:avLst/>
          </a:prstGeom>
          <a:ln w="9525">
            <a:solidFill>
              <a:srgbClr val="34414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68096" y="2057400"/>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2</a:t>
            </a:r>
          </a:p>
        </p:txBody>
      </p:sp>
      <p:sp>
        <p:nvSpPr>
          <p:cNvPr id="13" name="TextBox 12"/>
          <p:cNvSpPr txBox="1"/>
          <p:nvPr/>
        </p:nvSpPr>
        <p:spPr>
          <a:xfrm>
            <a:off x="1371600" y="1965960"/>
            <a:ext cx="5486400" cy="329184"/>
          </a:xfrm>
          <a:prstGeom prst="rect">
            <a:avLst/>
          </a:prstGeom>
          <a:noFill/>
        </p:spPr>
        <p:txBody>
          <a:bodyPr wrap="square" lIns="0" rIns="0" tIns="0" bIns="0" anchor="ctr"/>
          <a:lstStyle/>
          <a:p>
            <a:pPr>
              <a:buNone/>
            </a:pPr>
            <a:r>
              <a:rPr sz="1600" b="1">
                <a:solidFill>
                  <a:srgbClr val="FFFFFF"/>
                </a:solidFill>
              </a:rPr>
              <a:t>Annotations as decorators</a:t>
            </a:r>
          </a:p>
        </p:txBody>
      </p:sp>
      <p:sp>
        <p:nvSpPr>
          <p:cNvPr id="14" name="TextBox 13"/>
          <p:cNvSpPr txBox="1"/>
          <p:nvPr/>
        </p:nvSpPr>
        <p:spPr>
          <a:xfrm>
            <a:off x="1371600" y="2276856"/>
            <a:ext cx="5486400" cy="274320"/>
          </a:xfrm>
          <a:prstGeom prst="rect">
            <a:avLst/>
          </a:prstGeom>
          <a:noFill/>
        </p:spPr>
        <p:txBody>
          <a:bodyPr wrap="square" lIns="0" rIns="0" tIns="0" bIns="0" anchor="ctr"/>
          <a:lstStyle/>
          <a:p>
            <a:pPr>
              <a:buNone/>
            </a:pPr>
            <a:r>
              <a:rPr sz="1200">
                <a:solidFill>
                  <a:srgbClr val="A9B7C4"/>
                </a:solidFill>
              </a:rPr>
              <a:t>Making Python code “just work”</a:t>
            </a:r>
          </a:p>
        </p:txBody>
      </p:sp>
      <p:sp>
        <p:nvSpPr>
          <p:cNvPr id="15" name="TextBox 14"/>
          <p:cNvSpPr txBox="1"/>
          <p:nvPr/>
        </p:nvSpPr>
        <p:spPr>
          <a:xfrm>
            <a:off x="6858000" y="1984248"/>
            <a:ext cx="1097280" cy="329184"/>
          </a:xfrm>
          <a:prstGeom prst="rect">
            <a:avLst/>
          </a:prstGeom>
          <a:noFill/>
        </p:spPr>
        <p:txBody>
          <a:bodyPr wrap="square" lIns="0" rIns="0" tIns="0" bIns="0" anchor="ctr"/>
          <a:lstStyle/>
          <a:p>
            <a:pPr algn="r">
              <a:buNone/>
            </a:pPr>
            <a:r>
              <a:rPr sz="1300">
                <a:solidFill>
                  <a:srgbClr val="F19111"/>
                </a:solidFill>
              </a:rPr>
              <a:t>4 min</a:t>
            </a:r>
          </a:p>
        </p:txBody>
      </p:sp>
      <p:cxnSp>
        <p:nvCxnSpPr>
          <p:cNvPr id="16" name="Connector 15"/>
          <p:cNvCxnSpPr/>
          <p:nvPr/>
        </p:nvCxnSpPr>
        <p:spPr>
          <a:xfrm>
            <a:off x="1371600" y="2587752"/>
            <a:ext cx="6583679" cy="0"/>
          </a:xfrm>
          <a:prstGeom prst="line">
            <a:avLst/>
          </a:prstGeom>
          <a:ln w="9525">
            <a:solidFill>
              <a:srgbClr val="34414D"/>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68096" y="2724912"/>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3</a:t>
            </a:r>
          </a:p>
        </p:txBody>
      </p:sp>
      <p:sp>
        <p:nvSpPr>
          <p:cNvPr id="18" name="TextBox 17"/>
          <p:cNvSpPr txBox="1"/>
          <p:nvPr/>
        </p:nvSpPr>
        <p:spPr>
          <a:xfrm>
            <a:off x="1371600" y="2633472"/>
            <a:ext cx="5486400" cy="329184"/>
          </a:xfrm>
          <a:prstGeom prst="rect">
            <a:avLst/>
          </a:prstGeom>
          <a:noFill/>
        </p:spPr>
        <p:txBody>
          <a:bodyPr wrap="square" lIns="0" rIns="0" tIns="0" bIns="0" anchor="ctr"/>
          <a:lstStyle/>
          <a:p>
            <a:pPr>
              <a:buNone/>
            </a:pPr>
            <a:r>
              <a:rPr sz="1600" b="1">
                <a:solidFill>
                  <a:srgbClr val="FFFFFF"/>
                </a:solidFill>
              </a:rPr>
              <a:t>Crossing the language boundary</a:t>
            </a:r>
          </a:p>
        </p:txBody>
      </p:sp>
      <p:sp>
        <p:nvSpPr>
          <p:cNvPr id="19" name="TextBox 18"/>
          <p:cNvSpPr txBox="1"/>
          <p:nvPr/>
        </p:nvSpPr>
        <p:spPr>
          <a:xfrm>
            <a:off x="1371600" y="2944368"/>
            <a:ext cx="5486400" cy="274320"/>
          </a:xfrm>
          <a:prstGeom prst="rect">
            <a:avLst/>
          </a:prstGeom>
          <a:noFill/>
        </p:spPr>
        <p:txBody>
          <a:bodyPr wrap="square" lIns="0" rIns="0" tIns="0" bIns="0" anchor="ctr"/>
          <a:lstStyle/>
          <a:p>
            <a:pPr>
              <a:buNone/>
            </a:pPr>
            <a:r>
              <a:rPr sz="1200">
                <a:solidFill>
                  <a:srgbClr val="A9B7C4"/>
                </a:solidFill>
              </a:rPr>
              <a:t>Bridge classes, boxing and unboxing</a:t>
            </a:r>
          </a:p>
        </p:txBody>
      </p:sp>
      <p:sp>
        <p:nvSpPr>
          <p:cNvPr id="20" name="TextBox 19"/>
          <p:cNvSpPr txBox="1"/>
          <p:nvPr/>
        </p:nvSpPr>
        <p:spPr>
          <a:xfrm>
            <a:off x="6858000" y="2651760"/>
            <a:ext cx="1097280" cy="329184"/>
          </a:xfrm>
          <a:prstGeom prst="rect">
            <a:avLst/>
          </a:prstGeom>
          <a:noFill/>
        </p:spPr>
        <p:txBody>
          <a:bodyPr wrap="square" lIns="0" rIns="0" tIns="0" bIns="0" anchor="ctr"/>
          <a:lstStyle/>
          <a:p>
            <a:pPr algn="r">
              <a:buNone/>
            </a:pPr>
            <a:r>
              <a:rPr sz="1300">
                <a:solidFill>
                  <a:srgbClr val="F19111"/>
                </a:solidFill>
              </a:rPr>
              <a:t>7 min</a:t>
            </a:r>
          </a:p>
        </p:txBody>
      </p:sp>
      <p:cxnSp>
        <p:nvCxnSpPr>
          <p:cNvPr id="21" name="Connector 20"/>
          <p:cNvCxnSpPr/>
          <p:nvPr/>
        </p:nvCxnSpPr>
        <p:spPr>
          <a:xfrm>
            <a:off x="1371600" y="3255264"/>
            <a:ext cx="6583679" cy="0"/>
          </a:xfrm>
          <a:prstGeom prst="line">
            <a:avLst/>
          </a:prstGeom>
          <a:ln w="9525">
            <a:solidFill>
              <a:srgbClr val="34414D"/>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68096" y="3392424"/>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4</a:t>
            </a:r>
          </a:p>
        </p:txBody>
      </p:sp>
      <p:sp>
        <p:nvSpPr>
          <p:cNvPr id="23" name="TextBox 22"/>
          <p:cNvSpPr txBox="1"/>
          <p:nvPr/>
        </p:nvSpPr>
        <p:spPr>
          <a:xfrm>
            <a:off x="1371600" y="3300984"/>
            <a:ext cx="5486400" cy="329184"/>
          </a:xfrm>
          <a:prstGeom prst="rect">
            <a:avLst/>
          </a:prstGeom>
          <a:noFill/>
        </p:spPr>
        <p:txBody>
          <a:bodyPr wrap="square" lIns="0" rIns="0" tIns="0" bIns="0" anchor="ctr"/>
          <a:lstStyle/>
          <a:p>
            <a:pPr>
              <a:buNone/>
            </a:pPr>
            <a:r>
              <a:rPr sz="1600" b="1">
                <a:solidFill>
                  <a:srgbClr val="FFFFFF"/>
                </a:solidFill>
              </a:rPr>
              <a:t>Concurrency</a:t>
            </a:r>
          </a:p>
        </p:txBody>
      </p:sp>
      <p:sp>
        <p:nvSpPr>
          <p:cNvPr id="24" name="TextBox 23"/>
          <p:cNvSpPr txBox="1"/>
          <p:nvPr/>
        </p:nvSpPr>
        <p:spPr>
          <a:xfrm>
            <a:off x="1371600" y="3611879"/>
            <a:ext cx="5486400" cy="274320"/>
          </a:xfrm>
          <a:prstGeom prst="rect">
            <a:avLst/>
          </a:prstGeom>
          <a:noFill/>
        </p:spPr>
        <p:txBody>
          <a:bodyPr wrap="square" lIns="0" rIns="0" tIns="0" bIns="0" anchor="ctr"/>
          <a:lstStyle/>
          <a:p>
            <a:pPr>
              <a:buNone/>
            </a:pPr>
            <a:r>
              <a:rPr sz="1200">
                <a:solidFill>
                  <a:srgbClr val="A9B7C4"/>
                </a:solidFill>
              </a:rPr>
              <a:t>Living with the GIL</a:t>
            </a:r>
          </a:p>
        </p:txBody>
      </p:sp>
      <p:sp>
        <p:nvSpPr>
          <p:cNvPr id="25" name="TextBox 24"/>
          <p:cNvSpPr txBox="1"/>
          <p:nvPr/>
        </p:nvSpPr>
        <p:spPr>
          <a:xfrm>
            <a:off x="6858000" y="3319272"/>
            <a:ext cx="1097280" cy="329184"/>
          </a:xfrm>
          <a:prstGeom prst="rect">
            <a:avLst/>
          </a:prstGeom>
          <a:noFill/>
        </p:spPr>
        <p:txBody>
          <a:bodyPr wrap="square" lIns="0" rIns="0" tIns="0" bIns="0" anchor="ctr"/>
          <a:lstStyle/>
          <a:p>
            <a:pPr algn="r">
              <a:buNone/>
            </a:pPr>
            <a:r>
              <a:rPr sz="1300">
                <a:solidFill>
                  <a:srgbClr val="F19111"/>
                </a:solidFill>
              </a:rPr>
              <a:t>5 min</a:t>
            </a:r>
          </a:p>
        </p:txBody>
      </p:sp>
      <p:cxnSp>
        <p:nvCxnSpPr>
          <p:cNvPr id="26" name="Connector 25"/>
          <p:cNvCxnSpPr/>
          <p:nvPr/>
        </p:nvCxnSpPr>
        <p:spPr>
          <a:xfrm>
            <a:off x="1371600" y="3922776"/>
            <a:ext cx="6583679" cy="0"/>
          </a:xfrm>
          <a:prstGeom prst="line">
            <a:avLst/>
          </a:prstGeom>
          <a:ln w="9525">
            <a:solidFill>
              <a:srgbClr val="34414D"/>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68096" y="4059935"/>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5</a:t>
            </a:r>
          </a:p>
        </p:txBody>
      </p:sp>
      <p:sp>
        <p:nvSpPr>
          <p:cNvPr id="28" name="TextBox 27"/>
          <p:cNvSpPr txBox="1"/>
          <p:nvPr/>
        </p:nvSpPr>
        <p:spPr>
          <a:xfrm>
            <a:off x="1371600" y="3968496"/>
            <a:ext cx="5486400" cy="329184"/>
          </a:xfrm>
          <a:prstGeom prst="rect">
            <a:avLst/>
          </a:prstGeom>
          <a:noFill/>
        </p:spPr>
        <p:txBody>
          <a:bodyPr wrap="square" lIns="0" rIns="0" tIns="0" bIns="0" anchor="ctr"/>
          <a:lstStyle/>
          <a:p>
            <a:pPr>
              <a:buNone/>
            </a:pPr>
            <a:r>
              <a:rPr sz="1600" b="1">
                <a:solidFill>
                  <a:srgbClr val="FFFFFF"/>
                </a:solidFill>
              </a:rPr>
              <a:t>Developer experience</a:t>
            </a:r>
          </a:p>
        </p:txBody>
      </p:sp>
      <p:sp>
        <p:nvSpPr>
          <p:cNvPr id="29" name="TextBox 28"/>
          <p:cNvSpPr txBox="1"/>
          <p:nvPr/>
        </p:nvSpPr>
        <p:spPr>
          <a:xfrm>
            <a:off x="1371600" y="4279392"/>
            <a:ext cx="5486400" cy="274320"/>
          </a:xfrm>
          <a:prstGeom prst="rect">
            <a:avLst/>
          </a:prstGeom>
          <a:noFill/>
        </p:spPr>
        <p:txBody>
          <a:bodyPr wrap="square" lIns="0" rIns="0" tIns="0" bIns="0" anchor="ctr"/>
          <a:lstStyle/>
          <a:p>
            <a:pPr>
              <a:buNone/>
            </a:pPr>
            <a:r>
              <a:rPr sz="1200">
                <a:solidFill>
                  <a:srgbClr val="A9B7C4"/>
                </a:solidFill>
              </a:rPr>
              <a:t>Tooling from a Python developer’s perspective</a:t>
            </a:r>
          </a:p>
        </p:txBody>
      </p:sp>
      <p:sp>
        <p:nvSpPr>
          <p:cNvPr id="30" name="TextBox 29"/>
          <p:cNvSpPr txBox="1"/>
          <p:nvPr/>
        </p:nvSpPr>
        <p:spPr>
          <a:xfrm>
            <a:off x="6858000" y="3986783"/>
            <a:ext cx="1097280" cy="329184"/>
          </a:xfrm>
          <a:prstGeom prst="rect">
            <a:avLst/>
          </a:prstGeom>
          <a:noFill/>
        </p:spPr>
        <p:txBody>
          <a:bodyPr wrap="square" lIns="0" rIns="0" tIns="0" bIns="0" anchor="ctr"/>
          <a:lstStyle/>
          <a:p>
            <a:pPr algn="r">
              <a:buNone/>
            </a:pPr>
            <a:r>
              <a:rPr sz="1300">
                <a:solidFill>
                  <a:srgbClr val="F19111"/>
                </a:solidFill>
              </a:rPr>
              <a:t>10 min</a:t>
            </a:r>
          </a:p>
        </p:txBody>
      </p:sp>
      <p:cxnSp>
        <p:nvCxnSpPr>
          <p:cNvPr id="31" name="Connector 30"/>
          <p:cNvCxnSpPr/>
          <p:nvPr/>
        </p:nvCxnSpPr>
        <p:spPr>
          <a:xfrm>
            <a:off x="1371600" y="4590288"/>
            <a:ext cx="6583679" cy="0"/>
          </a:xfrm>
          <a:prstGeom prst="line">
            <a:avLst/>
          </a:prstGeom>
          <a:ln w="9525">
            <a:solidFill>
              <a:srgbClr val="34414D"/>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768096" y="4727448"/>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6</a:t>
            </a:r>
          </a:p>
        </p:txBody>
      </p:sp>
      <p:sp>
        <p:nvSpPr>
          <p:cNvPr id="33" name="TextBox 32"/>
          <p:cNvSpPr txBox="1"/>
          <p:nvPr/>
        </p:nvSpPr>
        <p:spPr>
          <a:xfrm>
            <a:off x="1371600" y="4636008"/>
            <a:ext cx="5486400" cy="329184"/>
          </a:xfrm>
          <a:prstGeom prst="rect">
            <a:avLst/>
          </a:prstGeom>
          <a:noFill/>
        </p:spPr>
        <p:txBody>
          <a:bodyPr wrap="square" lIns="0" rIns="0" tIns="0" bIns="0" anchor="ctr"/>
          <a:lstStyle/>
          <a:p>
            <a:pPr>
              <a:buNone/>
            </a:pPr>
            <a:r>
              <a:rPr sz="1600" b="1">
                <a:solidFill>
                  <a:srgbClr val="FFFFFF"/>
                </a:solidFill>
              </a:rPr>
              <a:t>Startup and distribution</a:t>
            </a:r>
          </a:p>
        </p:txBody>
      </p:sp>
      <p:sp>
        <p:nvSpPr>
          <p:cNvPr id="34" name="TextBox 33"/>
          <p:cNvSpPr txBox="1"/>
          <p:nvPr/>
        </p:nvSpPr>
        <p:spPr>
          <a:xfrm>
            <a:off x="1371600" y="4946904"/>
            <a:ext cx="5486400" cy="274320"/>
          </a:xfrm>
          <a:prstGeom prst="rect">
            <a:avLst/>
          </a:prstGeom>
          <a:noFill/>
        </p:spPr>
        <p:txBody>
          <a:bodyPr wrap="square" lIns="0" rIns="0" tIns="0" bIns="0" anchor="ctr"/>
          <a:lstStyle/>
          <a:p>
            <a:pPr>
              <a:buNone/>
            </a:pPr>
            <a:r>
              <a:rPr sz="1200">
                <a:solidFill>
                  <a:srgbClr val="A9B7C4"/>
                </a:solidFill>
              </a:rPr>
              <a:t>Native Image and Crema</a:t>
            </a:r>
          </a:p>
        </p:txBody>
      </p:sp>
      <p:sp>
        <p:nvSpPr>
          <p:cNvPr id="35" name="TextBox 34"/>
          <p:cNvSpPr txBox="1"/>
          <p:nvPr/>
        </p:nvSpPr>
        <p:spPr>
          <a:xfrm>
            <a:off x="6858000" y="4654296"/>
            <a:ext cx="1097280" cy="329184"/>
          </a:xfrm>
          <a:prstGeom prst="rect">
            <a:avLst/>
          </a:prstGeom>
          <a:noFill/>
        </p:spPr>
        <p:txBody>
          <a:bodyPr wrap="square" lIns="0" rIns="0" tIns="0" bIns="0" anchor="ctr"/>
          <a:lstStyle/>
          <a:p>
            <a:pPr algn="r">
              <a:buNone/>
            </a:pPr>
            <a:r>
              <a:rPr sz="1300">
                <a:solidFill>
                  <a:srgbClr val="F19111"/>
                </a:solidFill>
              </a:rPr>
              <a:t>6 min</a:t>
            </a:r>
          </a:p>
        </p:txBody>
      </p:sp>
      <p:cxnSp>
        <p:nvCxnSpPr>
          <p:cNvPr id="36" name="Connector 35"/>
          <p:cNvCxnSpPr/>
          <p:nvPr/>
        </p:nvCxnSpPr>
        <p:spPr>
          <a:xfrm>
            <a:off x="1371600" y="5257800"/>
            <a:ext cx="6583679" cy="0"/>
          </a:xfrm>
          <a:prstGeom prst="line">
            <a:avLst/>
          </a:prstGeom>
          <a:ln w="9525">
            <a:solidFill>
              <a:srgbClr val="34414D"/>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68096" y="5394959"/>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a:solidFill>
                  <a:srgbClr val="1B222A"/>
                </a:solidFill>
              </a:rPr>
              <a:t>7</a:t>
            </a:r>
          </a:p>
        </p:txBody>
      </p:sp>
      <p:sp>
        <p:nvSpPr>
          <p:cNvPr id="38" name="TextBox 37"/>
          <p:cNvSpPr txBox="1"/>
          <p:nvPr/>
        </p:nvSpPr>
        <p:spPr>
          <a:xfrm>
            <a:off x="1371600" y="5303520"/>
            <a:ext cx="5486400" cy="329184"/>
          </a:xfrm>
          <a:prstGeom prst="rect">
            <a:avLst/>
          </a:prstGeom>
          <a:noFill/>
        </p:spPr>
        <p:txBody>
          <a:bodyPr wrap="square" lIns="0" rIns="0" tIns="0" bIns="0" anchor="ctr"/>
          <a:lstStyle/>
          <a:p>
            <a:pPr>
              <a:buNone/>
            </a:pPr>
            <a:r>
              <a:rPr sz="1600" b="1">
                <a:solidFill>
                  <a:srgbClr val="FFFFFF"/>
                </a:solidFill>
              </a:rPr>
              <a:t>Performance</a:t>
            </a:r>
          </a:p>
        </p:txBody>
      </p:sp>
      <p:sp>
        <p:nvSpPr>
          <p:cNvPr id="39" name="TextBox 38"/>
          <p:cNvSpPr txBox="1"/>
          <p:nvPr/>
        </p:nvSpPr>
        <p:spPr>
          <a:xfrm>
            <a:off x="1371600" y="5614416"/>
            <a:ext cx="5486400" cy="274320"/>
          </a:xfrm>
          <a:prstGeom prst="rect">
            <a:avLst/>
          </a:prstGeom>
          <a:noFill/>
        </p:spPr>
        <p:txBody>
          <a:bodyPr wrap="square" lIns="0" rIns="0" tIns="0" bIns="0" anchor="ctr"/>
          <a:lstStyle/>
          <a:p>
            <a:pPr>
              <a:buNone/>
            </a:pPr>
            <a:r>
              <a:rPr sz="1200">
                <a:solidFill>
                  <a:srgbClr val="A9B7C4"/>
                </a:solidFill>
              </a:rPr>
              <a:t>JVM, native and other frameworks</a:t>
            </a:r>
          </a:p>
        </p:txBody>
      </p:sp>
      <p:sp>
        <p:nvSpPr>
          <p:cNvPr id="40" name="TextBox 39"/>
          <p:cNvSpPr txBox="1"/>
          <p:nvPr/>
        </p:nvSpPr>
        <p:spPr>
          <a:xfrm>
            <a:off x="6858000" y="5321807"/>
            <a:ext cx="1097280" cy="329184"/>
          </a:xfrm>
          <a:prstGeom prst="rect">
            <a:avLst/>
          </a:prstGeom>
          <a:noFill/>
        </p:spPr>
        <p:txBody>
          <a:bodyPr wrap="square" lIns="0" rIns="0" tIns="0" bIns="0" anchor="ctr"/>
          <a:lstStyle/>
          <a:p>
            <a:pPr algn="r">
              <a:buNone/>
            </a:pPr>
            <a:r>
              <a:rPr sz="1300">
                <a:solidFill>
                  <a:srgbClr val="F19111"/>
                </a:solidFill>
              </a:rPr>
              <a:t>8 min</a:t>
            </a:r>
          </a:p>
        </p:txBody>
      </p:sp>
      <p:sp>
        <p:nvSpPr>
          <p:cNvPr id="41" name="TextBox 40"/>
          <p:cNvSpPr txBox="1"/>
          <p:nvPr/>
        </p:nvSpPr>
        <p:spPr>
          <a:xfrm>
            <a:off x="1371600" y="5989320"/>
            <a:ext cx="6583680" cy="274320"/>
          </a:xfrm>
          <a:prstGeom prst="rect">
            <a:avLst/>
          </a:prstGeom>
          <a:noFill/>
        </p:spPr>
        <p:txBody>
          <a:bodyPr wrap="square" lIns="0" rIns="0" tIns="0" bIns="0" anchor="t"/>
          <a:lstStyle/>
          <a:p>
            <a:pPr>
              <a:buNone/>
            </a:pPr>
            <a:r>
              <a:rPr sz="1200">
                <a:solidFill>
                  <a:srgbClr val="A9B7C4"/>
                </a:solidFill>
              </a:rPr>
              <a:t>…then today’s limitations, what’s next, and lessons learned</a:t>
            </a:r>
          </a:p>
        </p:txBody>
      </p:sp>
      <p:pic>
        <p:nvPicPr>
          <p:cNvPr id="42" name="Picture 41" descr="mascot_flame.png"/>
          <p:cNvPicPr>
            <a:picLocks noChangeAspect="1"/>
          </p:cNvPicPr>
          <p:nvPr/>
        </p:nvPicPr>
        <p:blipFill>
          <a:blip r:embed="rId3"/>
          <a:stretch>
            <a:fillRect/>
          </a:stretch>
        </p:blipFill>
        <p:spPr>
          <a:xfrm>
            <a:off x="8183879" y="2103120"/>
            <a:ext cx="3566160" cy="202557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Marrying javac and Python</a:t>
            </a:r>
          </a:p>
        </p:txBody>
      </p:sp>
      <p:sp>
        <p:nvSpPr>
          <p:cNvPr id="3" name="Text Placeholder 2"/>
          <p:cNvSpPr>
            <a:spLocks noGrp="1"/>
          </p:cNvSpPr>
          <p:nvPr>
            <p:ph type="body" idx="33" sz="quarter"/>
          </p:nvPr>
        </p:nvSpPr>
        <p:spPr>
          <a:xfrm>
            <a:ext cx="7498079" cy="0"/>
          </a:xfrm>
        </p:spPr>
        <p:txBody>
          <a:bodyPr/>
          <a:lstStyle/>
          <a:p>
            <a:r>
              <a:t>Micronaut is a compiler-first framework — so Python has to go through the compiler</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01</a:t>
            </a:r>
          </a:p>
        </p:txBody>
      </p:sp>
      <p:pic>
        <p:nvPicPr>
          <p:cNvPr id="11" name="Picture 10" descr="python.png"/>
          <p:cNvPicPr>
            <a:picLocks noChangeAspect="1"/>
          </p:cNvPicPr>
          <p:nvPr/>
        </p:nvPicPr>
        <p:blipFill>
          <a:blip r:embed="rId3"/>
          <a:stretch>
            <a:fillRect/>
          </a:stretch>
        </p:blipFill>
        <p:spPr>
          <a:xfrm>
            <a:off x="8503920" y="1828800"/>
            <a:ext cx="2926080" cy="298579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pipeline: Python inside the Java compiler</a:t>
            </a:r>
          </a:p>
        </p:txBody>
      </p:sp>
      <p:sp>
        <p:nvSpPr>
          <p:cNvPr id="3" name="Text Placeholder 2"/>
          <p:cNvSpPr>
            <a:spLocks noGrp="1"/>
          </p:cNvSpPr>
          <p:nvPr>
            <p:ph type="body" idx="11" sz="quarter"/>
          </p:nvPr>
        </p:nvSpPr>
        <p:spPr/>
        <p:txBody>
          <a:bodyPr/>
          <a:lstStyle/>
          <a:p>
            <a:r>
              <a:rPr>
                <a:latin typeface="Consolas"/>
              </a:rPr>
              <a:t>pyronaut process</a:t>
            </a:r>
            <a:r>
              <a:t> runs javac, and javac runs GraalPy</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1280160" y="1453895"/>
            <a:ext cx="5486400" cy="274320"/>
          </a:xfrm>
          <a:prstGeom prst="rect">
            <a:avLst/>
          </a:prstGeom>
          <a:noFill/>
        </p:spPr>
        <p:txBody>
          <a:bodyPr wrap="square" lIns="0" rIns="0" tIns="0" bIns="0" anchor="t"/>
          <a:lstStyle/>
          <a:p>
            <a:pPr>
              <a:buNone/>
            </a:pPr>
            <a:r>
              <a:rPr sz="1050" b="1">
                <a:solidFill>
                  <a:srgbClr val="6DBEE7"/>
                </a:solidFill>
              </a:rPr>
              <a:t>JAVAC</a:t>
            </a:r>
          </a:p>
        </p:txBody>
      </p:sp>
      <p:sp>
        <p:nvSpPr>
          <p:cNvPr id="11" name="Rounded Rectangle 10"/>
          <p:cNvSpPr/>
          <p:nvPr/>
        </p:nvSpPr>
        <p:spPr>
          <a:xfrm>
            <a:off x="768096" y="178308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pyronaut process</a:t>
            </a:r>
          </a:p>
          <a:p>
            <a:pPr algn="ctr">
              <a:buNone/>
            </a:pPr>
            <a:r>
              <a:rPr sz="1050">
                <a:solidFill>
                  <a:srgbClr val="A9B7C4"/>
                </a:solidFill>
              </a:rPr>
              <a:t>CLI → pyronaut-processor</a:t>
            </a:r>
          </a:p>
        </p:txBody>
      </p:sp>
      <p:cxnSp>
        <p:nvCxnSpPr>
          <p:cNvPr id="12" name="Connector 11"/>
          <p:cNvCxnSpPr/>
          <p:nvPr/>
        </p:nvCxnSpPr>
        <p:spPr>
          <a:xfrm>
            <a:off x="3191256" y="2240280"/>
            <a:ext cx="301752" cy="0"/>
          </a:xfrm>
          <a:prstGeom prst="line">
            <a:avLst/>
          </a:prstGeom>
          <a:ln w="2222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178308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PyronautCompiler</a:t>
            </a:r>
          </a:p>
          <a:p>
            <a:pPr algn="ctr">
              <a:buNone/>
            </a:pPr>
            <a:r>
              <a:rPr sz="1050">
                <a:solidFill>
                  <a:srgbClr val="A9B7C4"/>
                </a:solidFill>
              </a:rPr>
              <a:t>generates @PythonApplication PyronautMain</a:t>
            </a:r>
          </a:p>
        </p:txBody>
      </p:sp>
      <p:cxnSp>
        <p:nvCxnSpPr>
          <p:cNvPr id="14" name="Connector 13"/>
          <p:cNvCxnSpPr/>
          <p:nvPr/>
        </p:nvCxnSpPr>
        <p:spPr>
          <a:xfrm>
            <a:off x="5943600" y="2240280"/>
            <a:ext cx="301752" cy="0"/>
          </a:xfrm>
          <a:prstGeom prst="line">
            <a:avLst/>
          </a:prstGeom>
          <a:ln w="2222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72784" y="178308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050" b="1">
                <a:solidFill>
                  <a:srgbClr val="FFFFFF"/>
                </a:solidFill>
              </a:rPr>
              <a:t>javac + annotation processors</a:t>
            </a:r>
          </a:p>
          <a:p>
            <a:pPr algn="ctr">
              <a:buNone/>
            </a:pPr>
            <a:r>
              <a:rPr sz="1050">
                <a:solidFill>
                  <a:srgbClr val="A9B7C4"/>
                </a:solidFill>
              </a:rPr>
              <a:t>in-memory or on-disk file manager</a:t>
            </a:r>
          </a:p>
        </p:txBody>
      </p:sp>
      <p:cxnSp>
        <p:nvCxnSpPr>
          <p:cNvPr id="16" name="Connector 15"/>
          <p:cNvCxnSpPr/>
          <p:nvPr/>
        </p:nvCxnSpPr>
        <p:spPr>
          <a:xfrm>
            <a:off x="8695944" y="2240280"/>
            <a:ext cx="301752" cy="0"/>
          </a:xfrm>
          <a:prstGeom prst="line">
            <a:avLst/>
          </a:prstGeom>
          <a:ln w="2222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25128" y="178308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050" b="1">
                <a:solidFill>
                  <a:srgbClr val="FFFFFF"/>
                </a:solidFill>
              </a:rPr>
              <a:t>PythonAnnotationProcessor</a:t>
            </a:r>
          </a:p>
          <a:p>
            <a:pPr algn="ctr">
              <a:buNone/>
            </a:pPr>
            <a:r>
              <a:rPr sz="1050">
                <a:solidFill>
                  <a:srgbClr val="A9B7C4"/>
                </a:solidFill>
              </a:rPr>
              <a:t>handles @PythonApplication</a:t>
            </a:r>
          </a:p>
        </p:txBody>
      </p:sp>
      <p:cxnSp>
        <p:nvCxnSpPr>
          <p:cNvPr id="18" name="Connector 17"/>
          <p:cNvCxnSpPr/>
          <p:nvPr/>
        </p:nvCxnSpPr>
        <p:spPr>
          <a:xfrm>
            <a:off x="10222992" y="2715768"/>
            <a:ext cx="0" cy="91440"/>
          </a:xfrm>
          <a:prstGeom prst="line">
            <a:avLst/>
          </a:prstGeom>
          <a:ln w="15875">
            <a:solidFill>
              <a:srgbClr val="A9B7C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51560" y="2807208"/>
            <a:ext cx="9171432" cy="0"/>
          </a:xfrm>
          <a:prstGeom prst="line">
            <a:avLst/>
          </a:prstGeom>
          <a:ln w="15875">
            <a:solidFill>
              <a:srgbClr val="A9B7C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1560" y="2807208"/>
            <a:ext cx="0" cy="420624"/>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80160" y="2916936"/>
            <a:ext cx="5486400" cy="274320"/>
          </a:xfrm>
          <a:prstGeom prst="rect">
            <a:avLst/>
          </a:prstGeom>
          <a:noFill/>
        </p:spPr>
        <p:txBody>
          <a:bodyPr wrap="square" lIns="0" rIns="0" tIns="0" bIns="0" anchor="t"/>
          <a:lstStyle/>
          <a:p>
            <a:pPr>
              <a:buNone/>
            </a:pPr>
            <a:r>
              <a:rPr sz="1050" b="1">
                <a:solidFill>
                  <a:srgbClr val="F19111"/>
                </a:solidFill>
              </a:rPr>
              <a:t>GRAALPY, EMBEDDED IN THE COMPILER</a:t>
            </a:r>
          </a:p>
        </p:txBody>
      </p:sp>
      <p:sp>
        <p:nvSpPr>
          <p:cNvPr id="22" name="Rounded Rectangle 21"/>
          <p:cNvSpPr/>
          <p:nvPr/>
        </p:nvSpPr>
        <p:spPr>
          <a:xfrm>
            <a:off x="768096" y="3246120"/>
            <a:ext cx="2395728" cy="914400"/>
          </a:xfrm>
          <a:prstGeom prst="roundRect">
            <a:avLst>
              <a:gd name="adj" fmla="val 8000"/>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GraalPy context</a:t>
            </a:r>
          </a:p>
          <a:p>
            <a:pPr algn="ctr">
              <a:buNone/>
            </a:pPr>
            <a:r>
              <a:rPr sz="1050">
                <a:solidFill>
                  <a:srgbClr val="A9B7C4"/>
                </a:solidFill>
              </a:rPr>
              <a:t>scripts shipped in the jar’s virtual filesystem</a:t>
            </a:r>
          </a:p>
        </p:txBody>
      </p:sp>
      <p:cxnSp>
        <p:nvCxnSpPr>
          <p:cNvPr id="23" name="Connector 22"/>
          <p:cNvCxnSpPr/>
          <p:nvPr/>
        </p:nvCxnSpPr>
        <p:spPr>
          <a:xfrm>
            <a:off x="3191256" y="3703320"/>
            <a:ext cx="301752" cy="0"/>
          </a:xfrm>
          <a:prstGeom prst="line">
            <a:avLst/>
          </a:prstGeom>
          <a:ln w="2222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520440" y="3246120"/>
            <a:ext cx="2395728" cy="914400"/>
          </a:xfrm>
          <a:prstGeom prst="roundRect">
            <a:avLst>
              <a:gd name="adj" fmla="val 8000"/>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MicronautTransformer</a:t>
            </a:r>
          </a:p>
          <a:p>
            <a:pPr algn="ctr">
              <a:buNone/>
            </a:pPr>
            <a:r>
              <a:rPr sz="1050">
                <a:solidFill>
                  <a:srgbClr val="A9B7C4"/>
                </a:solidFill>
              </a:rPr>
              <a:t>ast.NodeTransformer: imports → decorators</a:t>
            </a:r>
          </a:p>
        </p:txBody>
      </p:sp>
      <p:cxnSp>
        <p:nvCxnSpPr>
          <p:cNvPr id="25" name="Connector 24"/>
          <p:cNvCxnSpPr/>
          <p:nvPr/>
        </p:nvCxnSpPr>
        <p:spPr>
          <a:xfrm>
            <a:off x="5943600" y="3703320"/>
            <a:ext cx="301752" cy="0"/>
          </a:xfrm>
          <a:prstGeom prst="line">
            <a:avLst/>
          </a:prstGeom>
          <a:ln w="2222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72784" y="3246120"/>
            <a:ext cx="2395728" cy="914400"/>
          </a:xfrm>
          <a:prstGeom prst="roundRect">
            <a:avLst>
              <a:gd name="adj" fmla="val 8000"/>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MicronautAstVisitor</a:t>
            </a:r>
          </a:p>
          <a:p>
            <a:pPr algn="ctr">
              <a:buNone/>
            </a:pPr>
            <a:r>
              <a:rPr sz="1050">
                <a:solidFill>
                  <a:srgbClr val="A9B7C4"/>
                </a:solidFill>
              </a:rPr>
              <a:t>ast.NodeVisitor → Java model records</a:t>
            </a:r>
          </a:p>
        </p:txBody>
      </p:sp>
      <p:cxnSp>
        <p:nvCxnSpPr>
          <p:cNvPr id="27" name="Connector 26"/>
          <p:cNvCxnSpPr/>
          <p:nvPr/>
        </p:nvCxnSpPr>
        <p:spPr>
          <a:xfrm>
            <a:off x="8695944" y="3703320"/>
            <a:ext cx="301752" cy="0"/>
          </a:xfrm>
          <a:prstGeom prst="line">
            <a:avLst/>
          </a:prstGeom>
          <a:ln w="2222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25128" y="3246120"/>
            <a:ext cx="2395728" cy="914400"/>
          </a:xfrm>
          <a:prstGeom prst="roundRect">
            <a:avLst>
              <a:gd name="adj" fmla="val 8000"/>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Python*Element</a:t>
            </a:r>
          </a:p>
          <a:p>
            <a:pPr algn="ctr">
              <a:buNone/>
            </a:pPr>
            <a:r>
              <a:rPr sz="1050">
                <a:solidFill>
                  <a:srgbClr val="A9B7C4"/>
                </a:solidFill>
              </a:rPr>
              <a:t>implements Micronaut’s Element API</a:t>
            </a:r>
          </a:p>
        </p:txBody>
      </p:sp>
      <p:cxnSp>
        <p:nvCxnSpPr>
          <p:cNvPr id="29" name="Connector 28"/>
          <p:cNvCxnSpPr/>
          <p:nvPr/>
        </p:nvCxnSpPr>
        <p:spPr>
          <a:xfrm>
            <a:off x="10222992" y="4178807"/>
            <a:ext cx="0" cy="91441"/>
          </a:xfrm>
          <a:prstGeom prst="line">
            <a:avLst/>
          </a:prstGeom>
          <a:ln w="15875">
            <a:solidFill>
              <a:srgbClr val="A9B7C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051560" y="4270248"/>
            <a:ext cx="9171432" cy="0"/>
          </a:xfrm>
          <a:prstGeom prst="line">
            <a:avLst/>
          </a:prstGeom>
          <a:ln w="15875">
            <a:solidFill>
              <a:srgbClr val="A9B7C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51560" y="4270248"/>
            <a:ext cx="0" cy="420624"/>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80160" y="4379976"/>
            <a:ext cx="5486400" cy="274320"/>
          </a:xfrm>
          <a:prstGeom prst="rect">
            <a:avLst/>
          </a:prstGeom>
          <a:noFill/>
        </p:spPr>
        <p:txBody>
          <a:bodyPr wrap="square" lIns="0" rIns="0" tIns="0" bIns="0" anchor="t"/>
          <a:lstStyle/>
          <a:p>
            <a:pPr>
              <a:buNone/>
            </a:pPr>
            <a:r>
              <a:rPr sz="1050" b="1">
                <a:solidFill>
                  <a:srgbClr val="6DBEE7"/>
                </a:solidFill>
              </a:rPr>
              <a:t>MICRONAUT COMPILER</a:t>
            </a:r>
          </a:p>
        </p:txBody>
      </p:sp>
      <p:sp>
        <p:nvSpPr>
          <p:cNvPr id="33" name="Rounded Rectangle 32"/>
          <p:cNvSpPr/>
          <p:nvPr/>
        </p:nvSpPr>
        <p:spPr>
          <a:xfrm>
            <a:off x="768096" y="470916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Micronaut visitors</a:t>
            </a:r>
          </a:p>
          <a:p>
            <a:pPr algn="ctr">
              <a:buNone/>
            </a:pPr>
            <a:r>
              <a:rPr sz="1050">
                <a:solidFill>
                  <a:srgbClr val="A9B7C4"/>
                </a:solidFill>
              </a:rPr>
              <a:t>DI · AOP · Serde · Validation · Data · OpenAPI</a:t>
            </a:r>
          </a:p>
        </p:txBody>
      </p:sp>
      <p:cxnSp>
        <p:nvCxnSpPr>
          <p:cNvPr id="34" name="Connector 33"/>
          <p:cNvCxnSpPr/>
          <p:nvPr/>
        </p:nvCxnSpPr>
        <p:spPr>
          <a:xfrm>
            <a:off x="3191256" y="5166360"/>
            <a:ext cx="301752" cy="0"/>
          </a:xfrm>
          <a:prstGeom prst="line">
            <a:avLst/>
          </a:prstGeom>
          <a:ln w="2222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520440" y="470916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PythonStubGenerator</a:t>
            </a:r>
          </a:p>
          <a:p>
            <a:pPr algn="ctr">
              <a:buNone/>
            </a:pPr>
            <a:r>
              <a:rPr sz="1050">
                <a:solidFill>
                  <a:srgbClr val="A9B7C4"/>
                </a:solidFill>
              </a:rPr>
              <a:t>bridge classes via SourceGen</a:t>
            </a:r>
          </a:p>
        </p:txBody>
      </p:sp>
      <p:cxnSp>
        <p:nvCxnSpPr>
          <p:cNvPr id="36" name="Connector 35"/>
          <p:cNvCxnSpPr/>
          <p:nvPr/>
        </p:nvCxnSpPr>
        <p:spPr>
          <a:xfrm>
            <a:off x="5943600" y="5166360"/>
            <a:ext cx="301752" cy="0"/>
          </a:xfrm>
          <a:prstGeom prst="line">
            <a:avLst/>
          </a:prstGeom>
          <a:ln w="2222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272784" y="470916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Python bytecode</a:t>
            </a:r>
          </a:p>
          <a:p>
            <a:pPr algn="ctr">
              <a:buNone/>
            </a:pPr>
            <a:r>
              <a:rPr sz="1050">
                <a:solidFill>
                  <a:srgbClr val="A9B7C4"/>
                </a:solidFill>
              </a:rPr>
              <a:t>transformed AST → hash-based .pyc</a:t>
            </a:r>
          </a:p>
        </p:txBody>
      </p:sp>
      <p:cxnSp>
        <p:nvCxnSpPr>
          <p:cNvPr id="38" name="Connector 37"/>
          <p:cNvCxnSpPr/>
          <p:nvPr/>
        </p:nvCxnSpPr>
        <p:spPr>
          <a:xfrm>
            <a:off x="8695944" y="5166360"/>
            <a:ext cx="301752" cy="0"/>
          </a:xfrm>
          <a:prstGeom prst="line">
            <a:avLst/>
          </a:prstGeom>
          <a:ln w="2222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25128" y="4709160"/>
            <a:ext cx="2395728" cy="914400"/>
          </a:xfrm>
          <a:prstGeom prst="roundRect">
            <a:avLst>
              <a:gd name="adj" fmla="val 8000"/>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buNone/>
            </a:pPr>
            <a:r>
              <a:rPr sz="1300" b="1">
                <a:solidFill>
                  <a:srgbClr val="FFFFFF"/>
                </a:solidFill>
              </a:rPr>
              <a:t>Output</a:t>
            </a:r>
          </a:p>
          <a:p>
            <a:pPr algn="ctr">
              <a:buNone/>
            </a:pPr>
            <a:r>
              <a:rPr sz="1050">
                <a:solidFill>
                  <a:srgbClr val="A9B7C4"/>
                </a:solidFill>
              </a:rPr>
              <a:t>classes, bean definitions, VFS resources</a:t>
            </a:r>
          </a:p>
        </p:txBody>
      </p:sp>
      <p:sp>
        <p:nvSpPr>
          <p:cNvPr id="40" name="TextBox 39"/>
          <p:cNvSpPr txBox="1"/>
          <p:nvPr/>
        </p:nvSpPr>
        <p:spPr>
          <a:xfrm>
            <a:off x="768096" y="5852160"/>
            <a:ext cx="10661904" cy="320040"/>
          </a:xfrm>
          <a:prstGeom prst="rect">
            <a:avLst/>
          </a:prstGeom>
          <a:noFill/>
        </p:spPr>
        <p:txBody>
          <a:bodyPr wrap="square" lIns="0" rIns="0" tIns="0" bIns="0" anchor="t"/>
          <a:lstStyle/>
          <a:p>
            <a:pPr>
              <a:buNone/>
            </a:pPr>
            <a:r>
              <a:rPr sz="1300" b="1">
                <a:solidFill>
                  <a:srgbClr val="FFFFFF"/>
                </a:solidFill>
              </a:rPr>
              <a:t>Everything after the Python*Element step is the existing Micronaut compiler — unchanged.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Python’s own ast module — running inside javac</a:t>
            </a:r>
          </a:p>
        </p:txBody>
      </p:sp>
      <p:sp>
        <p:nvSpPr>
          <p:cNvPr id="3" name="Text Placeholder 2"/>
          <p:cNvSpPr>
            <a:spLocks noGrp="1"/>
          </p:cNvSpPr>
          <p:nvPr>
            <p:ph type="body" idx="11" sz="quarter"/>
          </p:nvPr>
        </p:nvSpPr>
        <p:spPr/>
        <p:txBody>
          <a:bodyPr/>
          <a:lstStyle/>
          <a:p>
            <a:r>
              <a:t>No hand-written Python parser: GraalPy gives us exact Python 3.13 semantics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36192"/>
            <a:ext cx="5212080" cy="256032"/>
          </a:xfrm>
          <a:prstGeom prst="rect">
            <a:avLst/>
          </a:prstGeom>
          <a:noFill/>
        </p:spPr>
        <p:txBody>
          <a:bodyPr wrap="square" lIns="0" rIns="0" tIns="0" bIns="0" anchor="ctr"/>
          <a:lstStyle/>
          <a:p>
            <a:pPr algn="l">
              <a:buNone/>
            </a:pPr>
            <a:r>
              <a:rPr sz="1100" b="1">
                <a:solidFill>
                  <a:srgbClr val="6DBEE7"/>
                </a:solidFill>
              </a:rPr>
              <a:t>JAVA SIDE · PYTHONASTPARSER (SIMPLIFIED)</a:t>
            </a:r>
          </a:p>
        </p:txBody>
      </p:sp>
      <p:sp>
        <p:nvSpPr>
          <p:cNvPr id="11" name="Rounded Rectangle 10"/>
          <p:cNvSpPr/>
          <p:nvPr/>
        </p:nvSpPr>
        <p:spPr>
          <a:xfrm>
            <a:off x="768096" y="1828800"/>
            <a:ext cx="5349240" cy="3429000"/>
          </a:xfrm>
          <a:prstGeom prst="roundRect">
            <a:avLst>
              <a:gd name="adj" fmla="val 16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768096" y="1828800"/>
            <a:ext cx="534924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896112" y="19156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9848" y="19156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43584" y="19156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9616" y="1828800"/>
            <a:ext cx="4480559" cy="274320"/>
          </a:xfrm>
          <a:prstGeom prst="rect">
            <a:avLst/>
          </a:prstGeom>
          <a:noFill/>
        </p:spPr>
        <p:txBody>
          <a:bodyPr wrap="square" lIns="0" rIns="0" tIns="0" bIns="0" anchor="ctr"/>
          <a:lstStyle/>
          <a:p>
            <a:pPr algn="r">
              <a:buNone/>
            </a:pPr>
            <a:r>
              <a:rPr sz="1050">
                <a:solidFill>
                  <a:srgbClr val="A9B7C4"/>
                </a:solidFill>
                <a:latin typeface="Consolas"/>
              </a:rPr>
              <a:t>PythonAstParser.java</a:t>
            </a:r>
          </a:p>
        </p:txBody>
      </p:sp>
      <p:sp>
        <p:nvSpPr>
          <p:cNvPr id="17" name="TextBox 16"/>
          <p:cNvSpPr txBox="1"/>
          <p:nvPr/>
        </p:nvSpPr>
        <p:spPr>
          <a:xfrm>
            <a:off x="932688" y="2212848"/>
            <a:ext cx="5074920" cy="2971800"/>
          </a:xfrm>
          <a:prstGeom prst="rect">
            <a:avLst/>
          </a:prstGeom>
          <a:noFill/>
        </p:spPr>
        <p:txBody>
          <a:bodyPr wrap="none" lIns="0" rIns="0" tIns="0" bIns="0"/>
          <a:lstStyle/>
          <a:p>
            <a:pPr>
              <a:lnSpc>
                <a:spcPct val="100000"/>
              </a:lnSpc>
              <a:buNone/>
            </a:pPr>
            <a:r>
              <a:rPr sz="1050">
                <a:solidFill>
                  <a:srgbClr val="6DBEE7"/>
                </a:solidFill>
                <a:latin typeface="Consolas"/>
              </a:rPr>
              <a:t>Context</a:t>
            </a:r>
            <a:r>
              <a:rPr sz="1050">
                <a:solidFill>
                  <a:srgbClr val="D8E1E8"/>
                </a:solidFill>
                <a:latin typeface="Consolas"/>
              </a:rPr>
              <a:t> </a:t>
            </a:r>
            <a:r>
              <a:rPr sz="1050">
                <a:solidFill>
                  <a:srgbClr val="D8E1E8"/>
                </a:solidFill>
                <a:latin typeface="Consolas"/>
              </a:rPr>
              <a:t>context</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 </a:t>
            </a:r>
            <a:r>
              <a:rPr sz="1050">
                <a:solidFill>
                  <a:srgbClr val="6DBEE7"/>
                </a:solidFill>
                <a:latin typeface="Consolas"/>
              </a:rPr>
              <a:t>GraalPyResources</a:t>
            </a:r>
          </a:p>
          <a:p>
            <a:pPr>
              <a:lnSpc>
                <a:spcPct val="100000"/>
              </a:lnSpc>
              <a:buNone/>
            </a:pPr>
            <a:r>
              <a:rPr sz="1050">
                <a:solidFill>
                  <a:srgbClr val="D8E1E8"/>
                </a:solidFill>
                <a:latin typeface="Consolas"/>
              </a:rPr>
              <a:t>    </a:t>
            </a:r>
            <a:r>
              <a:rPr sz="1050">
                <a:solidFill>
                  <a:srgbClr val="D8E1E8"/>
                </a:solidFill>
                <a:latin typeface="Consolas"/>
              </a:rPr>
              <a:t>.</a:t>
            </a:r>
            <a:r>
              <a:rPr sz="1050">
                <a:solidFill>
                  <a:srgbClr val="D8E1E8"/>
                </a:solidFill>
                <a:latin typeface="Consolas"/>
              </a:rPr>
              <a:t>contextBuilder</a:t>
            </a:r>
            <a:r>
              <a:rPr sz="1050">
                <a:solidFill>
                  <a:srgbClr val="D8E1E8"/>
                </a:solidFill>
                <a:latin typeface="Consolas"/>
              </a:rPr>
              <a:t>(</a:t>
            </a:r>
            <a:r>
              <a:rPr sz="1050">
                <a:solidFill>
                  <a:srgbClr val="D8E1E8"/>
                </a:solidFill>
                <a:latin typeface="Consolas"/>
              </a:rPr>
              <a:t>virtualFileSystem</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a:t>
            </a:r>
            <a:r>
              <a:rPr sz="1050">
                <a:solidFill>
                  <a:srgbClr val="D8E1E8"/>
                </a:solidFill>
                <a:latin typeface="Consolas"/>
              </a:rPr>
              <a:t>allowHostAccess</a:t>
            </a:r>
            <a:r>
              <a:rPr sz="1050">
                <a:solidFill>
                  <a:srgbClr val="D8E1E8"/>
                </a:solidFill>
                <a:latin typeface="Consolas"/>
              </a:rPr>
              <a:t>(</a:t>
            </a:r>
            <a:r>
              <a:rPr sz="1050">
                <a:solidFill>
                  <a:srgbClr val="6DBEE7"/>
                </a:solidFill>
                <a:latin typeface="Consolas"/>
              </a:rPr>
              <a:t>HostAccess</a:t>
            </a:r>
            <a:r>
              <a:rPr sz="1050">
                <a:solidFill>
                  <a:srgbClr val="D8E1E8"/>
                </a:solidFill>
                <a:latin typeface="Consolas"/>
              </a:rPr>
              <a:t>.</a:t>
            </a:r>
            <a:r>
              <a:rPr sz="1050">
                <a:solidFill>
                  <a:srgbClr val="6DBEE7"/>
                </a:solidFill>
                <a:latin typeface="Consolas"/>
              </a:rPr>
              <a:t>ALL</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a:t>
            </a:r>
            <a:r>
              <a:rPr sz="1050">
                <a:solidFill>
                  <a:srgbClr val="D8E1E8"/>
                </a:solidFill>
                <a:latin typeface="Consolas"/>
              </a:rPr>
              <a:t>hostClassLoader</a:t>
            </a:r>
            <a:r>
              <a:rPr sz="1050">
                <a:solidFill>
                  <a:srgbClr val="D8E1E8"/>
                </a:solidFill>
                <a:latin typeface="Consolas"/>
              </a:rPr>
              <a:t>(</a:t>
            </a:r>
            <a:r>
              <a:rPr sz="1050">
                <a:solidFill>
                  <a:srgbClr val="D8E1E8"/>
                </a:solidFill>
                <a:latin typeface="Consolas"/>
              </a:rPr>
              <a:t>classLoader</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a:t>
            </a:r>
            <a:r>
              <a:rPr sz="1050">
                <a:solidFill>
                  <a:srgbClr val="D8E1E8"/>
                </a:solidFill>
                <a:latin typeface="Consolas"/>
              </a:rPr>
              <a:t>allowHostClassLookup</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n</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&gt;</a:t>
            </a:r>
            <a:r>
              <a:rPr sz="1050">
                <a:solidFill>
                  <a:srgbClr val="D8E1E8"/>
                </a:solidFill>
                <a:latin typeface="Consolas"/>
              </a:rPr>
              <a:t> </a:t>
            </a:r>
            <a:r>
              <a:rPr sz="1050">
                <a:solidFill>
                  <a:srgbClr val="D8E1E8"/>
                </a:solidFill>
                <a:latin typeface="Consolas"/>
              </a:rPr>
              <a:t>n</a:t>
            </a:r>
            <a:r>
              <a:rPr sz="1050">
                <a:solidFill>
                  <a:srgbClr val="D8E1E8"/>
                </a:solidFill>
                <a:latin typeface="Consolas"/>
              </a:rPr>
              <a:t>.</a:t>
            </a:r>
            <a:r>
              <a:rPr sz="1050">
                <a:solidFill>
                  <a:srgbClr val="D8E1E8"/>
                </a:solidFill>
                <a:latin typeface="Consolas"/>
              </a:rPr>
              <a:t>startsWith</a:t>
            </a:r>
            <a:r>
              <a:rPr sz="1050">
                <a:solidFill>
                  <a:srgbClr val="D8E1E8"/>
                </a:solidFill>
                <a:latin typeface="Consolas"/>
              </a:rPr>
              <a:t>(</a:t>
            </a:r>
            <a:r>
              <a:rPr sz="1050">
                <a:solidFill>
                  <a:srgbClr val="A5D6A7"/>
                </a:solidFill>
                <a:latin typeface="Consolas"/>
              </a:rPr>
              <a:t>"io.micronaut"</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a:t>
            </a:r>
            <a:r>
              <a:rPr sz="1050">
                <a:solidFill>
                  <a:srgbClr val="D8E1E8"/>
                </a:solidFill>
                <a:latin typeface="Consolas"/>
              </a:rPr>
              <a:t>build</a:t>
            </a:r>
            <a:r>
              <a:rPr sz="1050">
                <a:solidFill>
                  <a:srgbClr val="D8E1E8"/>
                </a:solidFill>
                <a:latin typeface="Consolas"/>
              </a:rPr>
              <a:t>(</a:t>
            </a:r>
            <a:r>
              <a:rPr sz="1050">
                <a:solidFill>
                  <a:srgbClr val="D8E1E8"/>
                </a:solidFill>
                <a:latin typeface="Consolas"/>
              </a:rPr>
              <a:t>)</a:t>
            </a:r>
            <a:r>
              <a:rPr sz="1050">
                <a:solidFill>
                  <a:srgbClr val="D8E1E8"/>
                </a:solidFill>
                <a:latin typeface="Consolas"/>
              </a:rPr>
              <a:t>;</a:t>
            </a:r>
          </a:p>
          <a:p>
            <a:pPr>
              <a:lnSpc>
                <a:spcPct val="100000"/>
              </a:lnSpc>
              <a:buNone/>
            </a:pPr>
            <a:r>
              <a:rPr sz="1050">
                <a:latin typeface="Consolas"/>
              </a:rPr>
              <a:t> </a:t>
            </a:r>
          </a:p>
          <a:p>
            <a:pPr>
              <a:lnSpc>
                <a:spcPct val="100000"/>
              </a:lnSpc>
              <a:buNone/>
            </a:pPr>
            <a:r>
              <a:rPr sz="1050">
                <a:solidFill>
                  <a:srgbClr val="D8E1E8"/>
                </a:solidFill>
                <a:latin typeface="Consolas"/>
              </a:rPr>
              <a:t>bindings</a:t>
            </a:r>
            <a:r>
              <a:rPr sz="1050">
                <a:solidFill>
                  <a:srgbClr val="D8E1E8"/>
                </a:solidFill>
                <a:latin typeface="Consolas"/>
              </a:rPr>
              <a:t>.</a:t>
            </a:r>
            <a:r>
              <a:rPr sz="1050">
                <a:solidFill>
                  <a:srgbClr val="D8E1E8"/>
                </a:solidFill>
                <a:latin typeface="Consolas"/>
              </a:rPr>
              <a:t>putMember</a:t>
            </a:r>
            <a:r>
              <a:rPr sz="1050">
                <a:solidFill>
                  <a:srgbClr val="D8E1E8"/>
                </a:solidFill>
                <a:latin typeface="Consolas"/>
              </a:rPr>
              <a:t>(</a:t>
            </a:r>
            <a:r>
              <a:rPr sz="1050">
                <a:solidFill>
                  <a:srgbClr val="A5D6A7"/>
                </a:solidFill>
                <a:latin typeface="Consolas"/>
              </a:rPr>
              <a:t>"callback"</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t>
            </a:r>
            <a:r>
              <a:rPr sz="1050">
                <a:solidFill>
                  <a:srgbClr val="6DBEE7"/>
                </a:solidFill>
                <a:latin typeface="Consolas"/>
              </a:rPr>
              <a:t>Function</a:t>
            </a:r>
            <a:r>
              <a:rPr sz="1050">
                <a:solidFill>
                  <a:srgbClr val="D8E1E8"/>
                </a:solidFill>
                <a:latin typeface="Consolas"/>
              </a:rPr>
              <a:t>&lt;</a:t>
            </a:r>
            <a:r>
              <a:rPr sz="1050">
                <a:solidFill>
                  <a:srgbClr val="6DBEE7"/>
                </a:solidFill>
                <a:latin typeface="Consolas"/>
              </a:rPr>
              <a:t>Object</a:t>
            </a:r>
            <a:r>
              <a:rPr sz="1050">
                <a:solidFill>
                  <a:srgbClr val="D8E1E8"/>
                </a:solidFill>
                <a:latin typeface="Consolas"/>
              </a:rPr>
              <a:t>,</a:t>
            </a:r>
            <a:r>
              <a:rPr sz="1050">
                <a:solidFill>
                  <a:srgbClr val="D8E1E8"/>
                </a:solidFill>
                <a:latin typeface="Consolas"/>
              </a:rPr>
              <a:t> </a:t>
            </a:r>
            <a:r>
              <a:rPr sz="1050">
                <a:solidFill>
                  <a:srgbClr val="6DBEE7"/>
                </a:solidFill>
                <a:latin typeface="Consolas"/>
              </a:rPr>
              <a:t>Object</a:t>
            </a:r>
            <a:r>
              <a:rPr sz="1050">
                <a:solidFill>
                  <a:srgbClr val="D8E1E8"/>
                </a:solidFill>
                <a:latin typeface="Consolas"/>
              </a:rPr>
              <a:t>&gt;</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o</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&gt;</a:t>
            </a:r>
            <a:r>
              <a:rPr sz="1050">
                <a:solidFill>
                  <a:srgbClr val="D8E1E8"/>
                </a:solidFill>
                <a:latin typeface="Consolas"/>
              </a:rPr>
              <a:t> </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if</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o</a:t>
            </a:r>
            <a:r>
              <a:rPr sz="1050">
                <a:solidFill>
                  <a:srgbClr val="D8E1E8"/>
                </a:solidFill>
                <a:latin typeface="Consolas"/>
              </a:rPr>
              <a:t> </a:t>
            </a:r>
            <a:r>
              <a:rPr sz="1050">
                <a:solidFill>
                  <a:srgbClr val="D8E1E8"/>
                </a:solidFill>
                <a:latin typeface="Consolas"/>
              </a:rPr>
              <a:t>instanceof</a:t>
            </a:r>
            <a:r>
              <a:rPr sz="1050">
                <a:solidFill>
                  <a:srgbClr val="D8E1E8"/>
                </a:solidFill>
                <a:latin typeface="Consolas"/>
              </a:rPr>
              <a:t> </a:t>
            </a:r>
            <a:r>
              <a:rPr sz="1050">
                <a:solidFill>
                  <a:srgbClr val="6DBEE7"/>
                </a:solidFill>
                <a:latin typeface="Consolas"/>
              </a:rPr>
              <a:t>ClassDef</a:t>
            </a:r>
            <a:r>
              <a:rPr sz="1050">
                <a:solidFill>
                  <a:srgbClr val="D8E1E8"/>
                </a:solidFill>
                <a:latin typeface="Consolas"/>
              </a:rPr>
              <a:t> </a:t>
            </a:r>
            <a:r>
              <a:rPr sz="1050">
                <a:solidFill>
                  <a:srgbClr val="D8E1E8"/>
                </a:solidFill>
                <a:latin typeface="Consolas"/>
              </a:rPr>
              <a:t>c</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classes</a:t>
            </a:r>
            <a:r>
              <a:rPr sz="1050">
                <a:solidFill>
                  <a:srgbClr val="D8E1E8"/>
                </a:solidFill>
                <a:latin typeface="Consolas"/>
              </a:rPr>
              <a:t>.</a:t>
            </a:r>
            <a:r>
              <a:rPr sz="1050">
                <a:solidFill>
                  <a:srgbClr val="D8E1E8"/>
                </a:solidFill>
                <a:latin typeface="Consolas"/>
              </a:rPr>
              <a:t>put</a:t>
            </a:r>
            <a:r>
              <a:rPr sz="1050">
                <a:solidFill>
                  <a:srgbClr val="D8E1E8"/>
                </a:solidFill>
                <a:latin typeface="Consolas"/>
              </a:rPr>
              <a:t>(</a:t>
            </a:r>
            <a:r>
              <a:rPr sz="1050">
                <a:solidFill>
                  <a:srgbClr val="D8E1E8"/>
                </a:solidFill>
                <a:latin typeface="Consolas"/>
              </a:rPr>
              <a:t>name</a:t>
            </a:r>
            <a:r>
              <a:rPr sz="1050">
                <a:solidFill>
                  <a:srgbClr val="D8E1E8"/>
                </a:solidFill>
                <a:latin typeface="Consolas"/>
              </a:rPr>
              <a:t>(</a:t>
            </a:r>
            <a:r>
              <a:rPr sz="1050">
                <a:solidFill>
                  <a:srgbClr val="D8E1E8"/>
                </a:solidFill>
                <a:latin typeface="Consolas"/>
              </a:rPr>
              <a:t>c</a:t>
            </a:r>
            <a:r>
              <a:rPr sz="1050">
                <a:solidFill>
                  <a:srgbClr val="D8E1E8"/>
                </a:solidFill>
                <a:latin typeface="Consolas"/>
              </a:rPr>
              <a:t>)</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c</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return</a:t>
            </a:r>
            <a:r>
              <a:rPr sz="1050">
                <a:solidFill>
                  <a:srgbClr val="D8E1E8"/>
                </a:solidFill>
                <a:latin typeface="Consolas"/>
              </a:rPr>
              <a:t> </a:t>
            </a:r>
            <a:r>
              <a:rPr sz="1050">
                <a:solidFill>
                  <a:srgbClr val="D8E1E8"/>
                </a:solidFill>
                <a:latin typeface="Consolas"/>
              </a:rPr>
              <a:t>o</a:t>
            </a:r>
            <a:r>
              <a:rPr sz="1050">
                <a:solidFill>
                  <a:srgbClr val="D8E1E8"/>
                </a:solidFill>
                <a:latin typeface="Consolas"/>
              </a:rPr>
              <a:t>;</a:t>
            </a:r>
          </a:p>
          <a:p>
            <a:pPr>
              <a:lnSpc>
                <a:spcPct val="100000"/>
              </a:lnSpc>
              <a:buNone/>
            </a:pPr>
            <a:r>
              <a:rPr sz="1050">
                <a:solidFill>
                  <a:srgbClr val="D8E1E8"/>
                </a:solidFill>
                <a:latin typeface="Consolas"/>
              </a:rPr>
              <a:t>}</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bindings</a:t>
            </a:r>
            <a:r>
              <a:rPr sz="1050">
                <a:solidFill>
                  <a:srgbClr val="D8E1E8"/>
                </a:solidFill>
                <a:latin typeface="Consolas"/>
              </a:rPr>
              <a:t>.</a:t>
            </a:r>
            <a:r>
              <a:rPr sz="1050">
                <a:solidFill>
                  <a:srgbClr val="D8E1E8"/>
                </a:solidFill>
                <a:latin typeface="Consolas"/>
              </a:rPr>
              <a:t>putMember</a:t>
            </a:r>
            <a:r>
              <a:rPr sz="1050">
                <a:solidFill>
                  <a:srgbClr val="D8E1E8"/>
                </a:solidFill>
                <a:latin typeface="Consolas"/>
              </a:rPr>
              <a:t>(</a:t>
            </a:r>
            <a:r>
              <a:rPr sz="1050">
                <a:solidFill>
                  <a:srgbClr val="A5D6A7"/>
                </a:solidFill>
                <a:latin typeface="Consolas"/>
              </a:rPr>
              <a:t>"src"</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sources</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context</a:t>
            </a:r>
            <a:r>
              <a:rPr sz="1050">
                <a:solidFill>
                  <a:srgbClr val="D8E1E8"/>
                </a:solidFill>
                <a:latin typeface="Consolas"/>
              </a:rPr>
              <a:t>.</a:t>
            </a:r>
            <a:r>
              <a:rPr sz="1050">
                <a:solidFill>
                  <a:srgbClr val="D8E1E8"/>
                </a:solidFill>
                <a:latin typeface="Consolas"/>
              </a:rPr>
              <a:t>eval</a:t>
            </a:r>
            <a:r>
              <a:rPr sz="1050">
                <a:solidFill>
                  <a:srgbClr val="D8E1E8"/>
                </a:solidFill>
                <a:latin typeface="Consolas"/>
              </a:rPr>
              <a:t>(</a:t>
            </a:r>
            <a:r>
              <a:rPr sz="1050">
                <a:solidFill>
                  <a:srgbClr val="D8E1E8"/>
                </a:solidFill>
                <a:latin typeface="Consolas"/>
              </a:rPr>
              <a:t>processorSource</a:t>
            </a:r>
            <a:r>
              <a:rPr sz="1050">
                <a:solidFill>
                  <a:srgbClr val="D8E1E8"/>
                </a:solidFill>
                <a:latin typeface="Consolas"/>
              </a:rPr>
              <a:t>)</a:t>
            </a:r>
            <a:r>
              <a:rPr sz="1050">
                <a:solidFill>
                  <a:srgbClr val="D8E1E8"/>
                </a:solidFill>
                <a:latin typeface="Consolas"/>
              </a:rPr>
              <a:t>;</a:t>
            </a:r>
          </a:p>
        </p:txBody>
      </p:sp>
      <p:sp>
        <p:nvSpPr>
          <p:cNvPr id="18" name="TextBox 17"/>
          <p:cNvSpPr txBox="1"/>
          <p:nvPr/>
        </p:nvSpPr>
        <p:spPr>
          <a:xfrm>
            <a:off x="6309360" y="1536192"/>
            <a:ext cx="5120640" cy="256032"/>
          </a:xfrm>
          <a:prstGeom prst="rect">
            <a:avLst/>
          </a:prstGeom>
          <a:noFill/>
        </p:spPr>
        <p:txBody>
          <a:bodyPr wrap="square" lIns="0" rIns="0" tIns="0" bIns="0" anchor="ctr"/>
          <a:lstStyle/>
          <a:p>
            <a:pPr algn="l">
              <a:buNone/>
            </a:pPr>
            <a:r>
              <a:rPr sz="1100" b="1">
                <a:solidFill>
                  <a:srgbClr val="F19111"/>
                </a:solidFill>
              </a:rPr>
              <a:t>PYTHON SIDE · MICRONAUT_PROCESSOR.PY (SIMPLIFIED)</a:t>
            </a:r>
          </a:p>
        </p:txBody>
      </p:sp>
      <p:sp>
        <p:nvSpPr>
          <p:cNvPr id="19" name="Rounded Rectangle 18"/>
          <p:cNvSpPr/>
          <p:nvPr/>
        </p:nvSpPr>
        <p:spPr>
          <a:xfrm>
            <a:off x="6309360" y="1828800"/>
            <a:ext cx="5120640" cy="3429000"/>
          </a:xfrm>
          <a:prstGeom prst="roundRect">
            <a:avLst>
              <a:gd name="adj" fmla="val 16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Rectangle 19"/>
          <p:cNvSpPr/>
          <p:nvPr/>
        </p:nvSpPr>
        <p:spPr>
          <a:xfrm>
            <a:off x="6309360" y="1828800"/>
            <a:ext cx="512064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Oval 20"/>
          <p:cNvSpPr/>
          <p:nvPr/>
        </p:nvSpPr>
        <p:spPr>
          <a:xfrm>
            <a:off x="6437376" y="19156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11112" y="19156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84848" y="19156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1828800"/>
            <a:ext cx="4251959" cy="274320"/>
          </a:xfrm>
          <a:prstGeom prst="rect">
            <a:avLst/>
          </a:prstGeom>
          <a:noFill/>
        </p:spPr>
        <p:txBody>
          <a:bodyPr wrap="square" lIns="0" rIns="0" tIns="0" bIns="0" anchor="ctr"/>
          <a:lstStyle/>
          <a:p>
            <a:pPr algn="r">
              <a:buNone/>
            </a:pPr>
            <a:r>
              <a:rPr sz="1050">
                <a:solidFill>
                  <a:srgbClr val="A9B7C4"/>
                </a:solidFill>
                <a:latin typeface="Consolas"/>
              </a:rPr>
              <a:t>micronaut_processor.py</a:t>
            </a:r>
          </a:p>
        </p:txBody>
      </p:sp>
      <p:sp>
        <p:nvSpPr>
          <p:cNvPr id="25" name="TextBox 24"/>
          <p:cNvSpPr txBox="1"/>
          <p:nvPr/>
        </p:nvSpPr>
        <p:spPr>
          <a:xfrm>
            <a:off x="6473952" y="2212848"/>
            <a:ext cx="4846320" cy="2971800"/>
          </a:xfrm>
          <a:prstGeom prst="rect">
            <a:avLst/>
          </a:prstGeom>
          <a:noFill/>
        </p:spPr>
        <p:txBody>
          <a:bodyPr wrap="none" lIns="0" rIns="0" tIns="0" bIns="0"/>
          <a:lstStyle/>
          <a:p>
            <a:pPr>
              <a:lnSpc>
                <a:spcPct val="100000"/>
              </a:lnSpc>
              <a:buNone/>
            </a:pPr>
            <a:r>
              <a:rPr sz="1050">
                <a:solidFill>
                  <a:srgbClr val="F19111"/>
                </a:solidFill>
                <a:latin typeface="Consolas"/>
              </a:rPr>
              <a:t>import</a:t>
            </a:r>
            <a:r>
              <a:rPr sz="1050">
                <a:solidFill>
                  <a:srgbClr val="D8E1E8"/>
                </a:solidFill>
                <a:latin typeface="Consolas"/>
              </a:rPr>
              <a:t> </a:t>
            </a:r>
            <a:r>
              <a:rPr sz="1050">
                <a:solidFill>
                  <a:srgbClr val="D8E1E8"/>
                </a:solidFill>
                <a:latin typeface="Consolas"/>
              </a:rPr>
              <a:t>ast</a:t>
            </a:r>
          </a:p>
          <a:p>
            <a:pPr>
              <a:lnSpc>
                <a:spcPct val="100000"/>
              </a:lnSpc>
              <a:buNone/>
            </a:pPr>
            <a:r>
              <a:rPr sz="1050">
                <a:solidFill>
                  <a:srgbClr val="F19111"/>
                </a:solidFill>
                <a:latin typeface="Consolas"/>
              </a:rPr>
              <a:t>import</a:t>
            </a:r>
            <a:r>
              <a:rPr sz="1050">
                <a:solidFill>
                  <a:srgbClr val="D8E1E8"/>
                </a:solidFill>
                <a:latin typeface="Consolas"/>
              </a:rPr>
              <a:t> </a:t>
            </a:r>
            <a:r>
              <a:rPr sz="1050">
                <a:solidFill>
                  <a:srgbClr val="D8E1E8"/>
                </a:solidFill>
                <a:latin typeface="Consolas"/>
              </a:rPr>
              <a:t>java</a:t>
            </a:r>
          </a:p>
          <a:p>
            <a:pPr>
              <a:lnSpc>
                <a:spcPct val="100000"/>
              </a:lnSpc>
              <a:buNone/>
            </a:pPr>
            <a:r>
              <a:rPr sz="1050">
                <a:latin typeface="Consolas"/>
              </a:rPr>
              <a:t> </a:t>
            </a:r>
          </a:p>
          <a:p>
            <a:pPr>
              <a:lnSpc>
                <a:spcPct val="100000"/>
              </a:lnSpc>
              <a:buNone/>
            </a:pPr>
            <a:r>
              <a:rPr sz="1050">
                <a:solidFill>
                  <a:srgbClr val="6DBEE7"/>
                </a:solidFill>
                <a:latin typeface="Consolas"/>
              </a:rPr>
              <a:t>JavaClassDef</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java</a:t>
            </a:r>
            <a:r>
              <a:rPr sz="1050">
                <a:solidFill>
                  <a:srgbClr val="D8E1E8"/>
                </a:solidFill>
                <a:latin typeface="Consolas"/>
              </a:rPr>
              <a:t>.</a:t>
            </a:r>
            <a:r>
              <a:rPr sz="1050">
                <a:solidFill>
                  <a:srgbClr val="D8E1E8"/>
                </a:solidFill>
                <a:latin typeface="Consolas"/>
              </a:rPr>
              <a:t>type</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A5D6A7"/>
                </a:solidFill>
                <a:latin typeface="Consolas"/>
              </a:rPr>
              <a:t>"io.micronaut.python.processing.model.ClassDef"</a:t>
            </a:r>
            <a:r>
              <a:rPr sz="1050">
                <a:solidFill>
                  <a:srgbClr val="D8E1E8"/>
                </a:solidFill>
                <a:latin typeface="Consolas"/>
              </a:rPr>
              <a:t>)</a:t>
            </a:r>
          </a:p>
          <a:p>
            <a:pPr>
              <a:lnSpc>
                <a:spcPct val="100000"/>
              </a:lnSpc>
              <a:buNone/>
            </a:pPr>
            <a:r>
              <a:rPr sz="1050">
                <a:latin typeface="Consolas"/>
              </a:rPr>
              <a:t> </a:t>
            </a:r>
          </a:p>
          <a:p>
            <a:pPr>
              <a:lnSpc>
                <a:spcPct val="100000"/>
              </a:lnSpc>
              <a:buNone/>
            </a:pPr>
            <a:r>
              <a:rPr sz="1050">
                <a:solidFill>
                  <a:srgbClr val="F19111"/>
                </a:solidFill>
                <a:latin typeface="Consolas"/>
              </a:rPr>
              <a:t>class</a:t>
            </a:r>
            <a:r>
              <a:rPr sz="1050">
                <a:solidFill>
                  <a:srgbClr val="D8E1E8"/>
                </a:solidFill>
                <a:latin typeface="Consolas"/>
              </a:rPr>
              <a:t> </a:t>
            </a:r>
            <a:r>
              <a:rPr sz="1050">
                <a:solidFill>
                  <a:srgbClr val="6DBEE7"/>
                </a:solidFill>
                <a:latin typeface="Consolas"/>
              </a:rPr>
              <a:t>MicronautAstVisitor</a:t>
            </a:r>
            <a:r>
              <a:rPr sz="1050">
                <a:solidFill>
                  <a:srgbClr val="D8E1E8"/>
                </a:solidFill>
                <a:latin typeface="Consolas"/>
              </a:rPr>
              <a:t>(</a:t>
            </a:r>
            <a:r>
              <a:rPr sz="1050">
                <a:solidFill>
                  <a:srgbClr val="D8E1E8"/>
                </a:solidFill>
                <a:latin typeface="Consolas"/>
              </a:rPr>
              <a:t>ast</a:t>
            </a:r>
            <a:r>
              <a:rPr sz="1050">
                <a:solidFill>
                  <a:srgbClr val="D8E1E8"/>
                </a:solidFill>
                <a:latin typeface="Consolas"/>
              </a:rPr>
              <a:t>.</a:t>
            </a:r>
            <a:r>
              <a:rPr sz="1050">
                <a:solidFill>
                  <a:srgbClr val="6DBEE7"/>
                </a:solidFill>
                <a:latin typeface="Consolas"/>
              </a:rPr>
              <a:t>NodeVisitor</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def</a:t>
            </a:r>
            <a:r>
              <a:rPr sz="1050">
                <a:solidFill>
                  <a:srgbClr val="D8E1E8"/>
                </a:solidFill>
                <a:latin typeface="Consolas"/>
              </a:rPr>
              <a:t> </a:t>
            </a:r>
            <a:r>
              <a:rPr sz="1050">
                <a:solidFill>
                  <a:srgbClr val="D8E1E8"/>
                </a:solidFill>
                <a:latin typeface="Consolas"/>
              </a:rPr>
              <a:t>_visit_class_def</a:t>
            </a:r>
            <a:r>
              <a:rPr sz="1050">
                <a:solidFill>
                  <a:srgbClr val="D8E1E8"/>
                </a:solidFill>
                <a:latin typeface="Consolas"/>
              </a:rPr>
              <a:t>(</a:t>
            </a:r>
            <a:r>
              <a:rPr sz="1050">
                <a:solidFill>
                  <a:srgbClr val="F19111"/>
                </a:solidFill>
                <a:latin typeface="Consolas"/>
              </a:rPr>
              <a:t>self</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node</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decorators</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decorator_to_function</a:t>
            </a:r>
            <a:r>
              <a:rPr sz="1050">
                <a:solidFill>
                  <a:srgbClr val="D8E1E8"/>
                </a:solidFill>
                <a:latin typeface="Consolas"/>
              </a:rPr>
              <a:t>(</a:t>
            </a:r>
            <a:r>
              <a:rPr sz="1050">
                <a:solidFill>
                  <a:srgbClr val="F19111"/>
                </a:solidFill>
                <a:latin typeface="Consolas"/>
              </a:rPr>
              <a:t>self</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d</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for</a:t>
            </a:r>
            <a:r>
              <a:rPr sz="1050">
                <a:solidFill>
                  <a:srgbClr val="D8E1E8"/>
                </a:solidFill>
                <a:latin typeface="Consolas"/>
              </a:rPr>
              <a:t> </a:t>
            </a:r>
            <a:r>
              <a:rPr sz="1050">
                <a:solidFill>
                  <a:srgbClr val="D8E1E8"/>
                </a:solidFill>
                <a:latin typeface="Consolas"/>
              </a:rPr>
              <a:t>d</a:t>
            </a:r>
            <a:r>
              <a:rPr sz="1050">
                <a:solidFill>
                  <a:srgbClr val="D8E1E8"/>
                </a:solidFill>
                <a:latin typeface="Consolas"/>
              </a:rPr>
              <a:t> </a:t>
            </a:r>
            <a:r>
              <a:rPr sz="1050">
                <a:solidFill>
                  <a:srgbClr val="F19111"/>
                </a:solidFill>
                <a:latin typeface="Consolas"/>
              </a:rPr>
              <a:t>in</a:t>
            </a:r>
            <a:r>
              <a:rPr sz="1050">
                <a:solidFill>
                  <a:srgbClr val="D8E1E8"/>
                </a:solidFill>
                <a:latin typeface="Consolas"/>
              </a:rPr>
              <a:t> </a:t>
            </a:r>
            <a:r>
              <a:rPr sz="1050">
                <a:solidFill>
                  <a:srgbClr val="D8E1E8"/>
                </a:solidFill>
                <a:latin typeface="Consolas"/>
              </a:rPr>
              <a:t>node</a:t>
            </a:r>
            <a:r>
              <a:rPr sz="1050">
                <a:solidFill>
                  <a:srgbClr val="D8E1E8"/>
                </a:solidFill>
                <a:latin typeface="Consolas"/>
              </a:rPr>
              <a:t>.</a:t>
            </a:r>
            <a:r>
              <a:rPr sz="1050">
                <a:solidFill>
                  <a:srgbClr val="D8E1E8"/>
                </a:solidFill>
                <a:latin typeface="Consolas"/>
              </a:rPr>
              <a:t>decorator_list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bases</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t>
            </a:r>
            <a:r>
              <a:rPr sz="1050">
                <a:solidFill>
                  <a:srgbClr val="F19111"/>
                </a:solidFill>
                <a:latin typeface="Consolas"/>
              </a:rPr>
              <a:t>self</a:t>
            </a:r>
            <a:r>
              <a:rPr sz="1050">
                <a:solidFill>
                  <a:srgbClr val="D8E1E8"/>
                </a:solidFill>
                <a:latin typeface="Consolas"/>
              </a:rPr>
              <a:t>.</a:t>
            </a:r>
            <a:r>
              <a:rPr sz="1050">
                <a:solidFill>
                  <a:srgbClr val="D8E1E8"/>
                </a:solidFill>
                <a:latin typeface="Consolas"/>
              </a:rPr>
              <a:t>_parse_base_class</a:t>
            </a:r>
            <a:r>
              <a:rPr sz="1050">
                <a:solidFill>
                  <a:srgbClr val="D8E1E8"/>
                </a:solidFill>
                <a:latin typeface="Consolas"/>
              </a:rPr>
              <a:t>(</a:t>
            </a:r>
            <a:r>
              <a:rPr sz="1050">
                <a:solidFill>
                  <a:srgbClr val="D8E1E8"/>
                </a:solidFill>
                <a:latin typeface="Consolas"/>
              </a:rPr>
              <a:t>b</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for</a:t>
            </a:r>
            <a:r>
              <a:rPr sz="1050">
                <a:solidFill>
                  <a:srgbClr val="D8E1E8"/>
                </a:solidFill>
                <a:latin typeface="Consolas"/>
              </a:rPr>
              <a:t> </a:t>
            </a:r>
            <a:r>
              <a:rPr sz="1050">
                <a:solidFill>
                  <a:srgbClr val="D8E1E8"/>
                </a:solidFill>
                <a:latin typeface="Consolas"/>
              </a:rPr>
              <a:t>b</a:t>
            </a:r>
            <a:r>
              <a:rPr sz="1050">
                <a:solidFill>
                  <a:srgbClr val="D8E1E8"/>
                </a:solidFill>
                <a:latin typeface="Consolas"/>
              </a:rPr>
              <a:t> </a:t>
            </a:r>
            <a:r>
              <a:rPr sz="1050">
                <a:solidFill>
                  <a:srgbClr val="F19111"/>
                </a:solidFill>
                <a:latin typeface="Consolas"/>
              </a:rPr>
              <a:t>in</a:t>
            </a:r>
            <a:r>
              <a:rPr sz="1050">
                <a:solidFill>
                  <a:srgbClr val="D8E1E8"/>
                </a:solidFill>
                <a:latin typeface="Consolas"/>
              </a:rPr>
              <a:t> </a:t>
            </a:r>
            <a:r>
              <a:rPr sz="1050">
                <a:solidFill>
                  <a:srgbClr val="D8E1E8"/>
                </a:solidFill>
                <a:latin typeface="Consolas"/>
              </a:rPr>
              <a:t>node</a:t>
            </a:r>
            <a:r>
              <a:rPr sz="1050">
                <a:solidFill>
                  <a:srgbClr val="D8E1E8"/>
                </a:solidFill>
                <a:latin typeface="Consolas"/>
              </a:rPr>
              <a:t>.</a:t>
            </a:r>
            <a:r>
              <a:rPr sz="1050">
                <a:solidFill>
                  <a:srgbClr val="D8E1E8"/>
                </a:solidFill>
                <a:latin typeface="Consolas"/>
              </a:rPr>
              <a:t>bases</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self</a:t>
            </a:r>
            <a:r>
              <a:rPr sz="1050">
                <a:solidFill>
                  <a:srgbClr val="D8E1E8"/>
                </a:solidFill>
                <a:latin typeface="Consolas"/>
              </a:rPr>
              <a:t>.</a:t>
            </a:r>
            <a:r>
              <a:rPr sz="1050">
                <a:solidFill>
                  <a:srgbClr val="D8E1E8"/>
                </a:solidFill>
                <a:latin typeface="Consolas"/>
              </a:rPr>
              <a:t>current_class</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 </a:t>
            </a:r>
            <a:r>
              <a:rPr sz="1050">
                <a:solidFill>
                  <a:srgbClr val="6DBEE7"/>
                </a:solidFill>
                <a:latin typeface="Consolas"/>
              </a:rPr>
              <a:t>JavaClassDef</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node</a:t>
            </a:r>
            <a:r>
              <a:rPr sz="1050">
                <a:solidFill>
                  <a:srgbClr val="D8E1E8"/>
                </a:solidFill>
                <a:latin typeface="Consolas"/>
              </a:rPr>
              <a:t>.</a:t>
            </a:r>
            <a:r>
              <a:rPr sz="1050">
                <a:solidFill>
                  <a:srgbClr val="D8E1E8"/>
                </a:solidFill>
                <a:latin typeface="Consolas"/>
              </a:rPr>
              <a:t>name</a:t>
            </a:r>
            <a:r>
              <a:rPr sz="1050">
                <a:solidFill>
                  <a:srgbClr val="D8E1E8"/>
                </a:solidFill>
                <a:latin typeface="Consolas"/>
              </a:rPr>
              <a:t>,</a:t>
            </a:r>
            <a:r>
              <a:rPr sz="1050">
                <a:solidFill>
                  <a:srgbClr val="D8E1E8"/>
                </a:solidFill>
                <a:latin typeface="Consolas"/>
              </a:rPr>
              <a:t> </a:t>
            </a:r>
            <a:r>
              <a:rPr sz="1050">
                <a:solidFill>
                  <a:srgbClr val="F19111"/>
                </a:solidFill>
                <a:latin typeface="Consolas"/>
              </a:rPr>
              <a:t>self</a:t>
            </a:r>
            <a:r>
              <a:rPr sz="1050">
                <a:solidFill>
                  <a:srgbClr val="D8E1E8"/>
                </a:solidFill>
                <a:latin typeface="Consolas"/>
              </a:rPr>
              <a:t>.</a:t>
            </a:r>
            <a:r>
              <a:rPr sz="1050">
                <a:solidFill>
                  <a:srgbClr val="D8E1E8"/>
                </a:solidFill>
                <a:latin typeface="Consolas"/>
              </a:rPr>
              <a:t>package_name</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bases</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self</a:t>
            </a:r>
            <a:r>
              <a:rPr sz="1050">
                <a:solidFill>
                  <a:srgbClr val="D8E1E8"/>
                </a:solidFill>
                <a:latin typeface="Consolas"/>
              </a:rPr>
              <a:t>.</a:t>
            </a:r>
            <a:r>
              <a:rPr sz="1050">
                <a:solidFill>
                  <a:srgbClr val="D8E1E8"/>
                </a:solidFill>
                <a:latin typeface="Consolas"/>
              </a:rPr>
              <a:t>callback</a:t>
            </a:r>
            <a:r>
              <a:rPr sz="1050">
                <a:solidFill>
                  <a:srgbClr val="D8E1E8"/>
                </a:solidFill>
                <a:latin typeface="Consolas"/>
              </a:rPr>
              <a:t>.</a:t>
            </a:r>
            <a:r>
              <a:rPr sz="1050">
                <a:solidFill>
                  <a:srgbClr val="D8E1E8"/>
                </a:solidFill>
                <a:latin typeface="Consolas"/>
              </a:rPr>
              <a:t>apply</a:t>
            </a:r>
            <a:r>
              <a:rPr sz="1050">
                <a:solidFill>
                  <a:srgbClr val="D8E1E8"/>
                </a:solidFill>
                <a:latin typeface="Consolas"/>
              </a:rPr>
              <a:t>(</a:t>
            </a:r>
            <a:r>
              <a:rPr sz="1050">
                <a:solidFill>
                  <a:srgbClr val="D8E1E8"/>
                </a:solidFill>
                <a:latin typeface="Consolas"/>
              </a:rPr>
              <a:t>completed_class</a:t>
            </a:r>
            <a:r>
              <a:rPr sz="1050">
                <a:solidFill>
                  <a:srgbClr val="D8E1E8"/>
                </a:solidFill>
                <a:latin typeface="Consolas"/>
              </a:rPr>
              <a:t>)</a:t>
            </a:r>
          </a:p>
        </p:txBody>
      </p:sp>
      <p:sp>
        <p:nvSpPr>
          <p:cNvPr id="26" name="TextBox 25"/>
          <p:cNvSpPr txBox="1"/>
          <p:nvPr/>
        </p:nvSpPr>
        <p:spPr>
          <a:xfrm>
            <a:off x="768096" y="5440680"/>
            <a:ext cx="3429000" cy="320040"/>
          </a:xfrm>
          <a:prstGeom prst="rect">
            <a:avLst/>
          </a:prstGeom>
          <a:noFill/>
        </p:spPr>
        <p:txBody>
          <a:bodyPr wrap="square" lIns="0" rIns="0" tIns="0" bIns="0" anchor="t"/>
          <a:lstStyle/>
          <a:p>
            <a:pPr>
              <a:buNone/>
            </a:pPr>
            <a:r>
              <a:rPr sz="1400" b="1">
                <a:solidFill>
                  <a:srgbClr val="F19111"/>
                </a:solidFill>
              </a:rPr>
              <a:t>Real Python parsing</a:t>
            </a:r>
          </a:p>
        </p:txBody>
      </p:sp>
      <p:sp>
        <p:nvSpPr>
          <p:cNvPr id="27" name="TextBox 26"/>
          <p:cNvSpPr txBox="1"/>
          <p:nvPr/>
        </p:nvSpPr>
        <p:spPr>
          <a:xfrm>
            <a:off x="768096" y="5760720"/>
            <a:ext cx="3429000" cy="457200"/>
          </a:xfrm>
          <a:prstGeom prst="rect">
            <a:avLst/>
          </a:prstGeom>
          <a:noFill/>
        </p:spPr>
        <p:txBody>
          <a:bodyPr wrap="square" lIns="0" rIns="0" tIns="0" bIns="0" anchor="t"/>
          <a:lstStyle/>
          <a:p>
            <a:pPr>
              <a:buNone/>
            </a:pPr>
            <a:r>
              <a:rPr sz="1200">
                <a:solidFill>
                  <a:srgbClr val="F0CC72"/>
                </a:solidFill>
                <a:latin typeface="Consolas"/>
              </a:rPr>
              <a:t>ast.parse</a:t>
            </a:r>
            <a:r>
              <a:rPr sz="1200">
                <a:solidFill>
                  <a:srgbClr val="A9B7C4"/>
                </a:solidFill>
              </a:rPr>
              <a:t> handles every construct the language supports</a:t>
            </a:r>
          </a:p>
        </p:txBody>
      </p:sp>
      <p:sp>
        <p:nvSpPr>
          <p:cNvPr id="28" name="TextBox 27"/>
          <p:cNvSpPr txBox="1"/>
          <p:nvPr/>
        </p:nvSpPr>
        <p:spPr>
          <a:xfrm>
            <a:off x="4379976" y="5440680"/>
            <a:ext cx="3429000" cy="320040"/>
          </a:xfrm>
          <a:prstGeom prst="rect">
            <a:avLst/>
          </a:prstGeom>
          <a:noFill/>
        </p:spPr>
        <p:txBody>
          <a:bodyPr wrap="square" lIns="0" rIns="0" tIns="0" bIns="0" anchor="t"/>
          <a:lstStyle/>
          <a:p>
            <a:pPr>
              <a:buNone/>
            </a:pPr>
            <a:r>
              <a:rPr sz="1400" b="1">
                <a:solidFill>
                  <a:srgbClr val="F19111"/>
                </a:solidFill>
              </a:rPr>
              <a:t>Python builds Java objects</a:t>
            </a:r>
          </a:p>
        </p:txBody>
      </p:sp>
      <p:sp>
        <p:nvSpPr>
          <p:cNvPr id="29" name="TextBox 28"/>
          <p:cNvSpPr txBox="1"/>
          <p:nvPr/>
        </p:nvSpPr>
        <p:spPr>
          <a:xfrm>
            <a:off x="4379976" y="5760720"/>
            <a:ext cx="3429000" cy="457200"/>
          </a:xfrm>
          <a:prstGeom prst="rect">
            <a:avLst/>
          </a:prstGeom>
          <a:noFill/>
        </p:spPr>
        <p:txBody>
          <a:bodyPr wrap="square" lIns="0" rIns="0" tIns="0" bIns="0" anchor="t"/>
          <a:lstStyle/>
          <a:p>
            <a:pPr>
              <a:buNone/>
            </a:pPr>
            <a:r>
              <a:rPr sz="1200">
                <a:solidFill>
                  <a:srgbClr val="F0CC72"/>
                </a:solidFill>
                <a:latin typeface="Consolas"/>
              </a:rPr>
              <a:t>java.type(...)</a:t>
            </a:r>
            <a:r>
              <a:rPr sz="1200">
                <a:solidFill>
                  <a:srgbClr val="A9B7C4"/>
                </a:solidFill>
              </a:rPr>
              <a:t> records flow straight back to the processor</a:t>
            </a:r>
          </a:p>
        </p:txBody>
      </p:sp>
      <p:sp>
        <p:nvSpPr>
          <p:cNvPr id="30" name="TextBox 29"/>
          <p:cNvSpPr txBox="1"/>
          <p:nvPr/>
        </p:nvSpPr>
        <p:spPr>
          <a:xfrm>
            <a:off x="7991856" y="5440680"/>
            <a:ext cx="3429000" cy="320040"/>
          </a:xfrm>
          <a:prstGeom prst="rect">
            <a:avLst/>
          </a:prstGeom>
          <a:noFill/>
        </p:spPr>
        <p:txBody>
          <a:bodyPr wrap="square" lIns="0" rIns="0" tIns="0" bIns="0" anchor="t"/>
          <a:lstStyle/>
          <a:p>
            <a:pPr>
              <a:buNone/>
            </a:pPr>
            <a:r>
              <a:rPr sz="1400" b="1">
                <a:solidFill>
                  <a:srgbClr val="F19111"/>
                </a:solidFill>
              </a:rPr>
              <a:t>Warm contexts</a:t>
            </a:r>
          </a:p>
        </p:txBody>
      </p:sp>
      <p:sp>
        <p:nvSpPr>
          <p:cNvPr id="31" name="TextBox 30"/>
          <p:cNvSpPr txBox="1"/>
          <p:nvPr/>
        </p:nvSpPr>
        <p:spPr>
          <a:xfrm>
            <a:off x="7991856" y="5760720"/>
            <a:ext cx="3429000" cy="457200"/>
          </a:xfrm>
          <a:prstGeom prst="rect">
            <a:avLst/>
          </a:prstGeom>
          <a:noFill/>
        </p:spPr>
        <p:txBody>
          <a:bodyPr wrap="square" lIns="0" rIns="0" tIns="0" bIns="0" anchor="t"/>
          <a:lstStyle/>
          <a:p>
            <a:pPr>
              <a:buNone/>
            </a:pPr>
            <a:r>
              <a:rPr sz="1200">
                <a:solidFill>
                  <a:srgbClr val="A9B7C4"/>
                </a:solidFill>
              </a:rPr>
              <a:t>the compiler daemon reuses GraalPy sessions between builds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Python AST to Micronaut’s Element API</a:t>
            </a:r>
          </a:p>
        </p:txBody>
      </p:sp>
      <p:sp>
        <p:nvSpPr>
          <p:cNvPr id="3" name="Text Placeholder 2"/>
          <p:cNvSpPr>
            <a:spLocks noGrp="1"/>
          </p:cNvSpPr>
          <p:nvPr>
            <p:ph type="body" idx="11" sz="quarter"/>
          </p:nvPr>
        </p:nvSpPr>
        <p:spPr/>
        <p:txBody>
          <a:bodyPr/>
          <a:lstStyle/>
          <a:p>
            <a:r>
              <a:t>Once Python is an Element, every existing Micronaut visitor just works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graphicFrame>
        <p:nvGraphicFramePr>
          <p:cNvPr id="10" name="Table 9"/>
          <p:cNvGraphicFramePr>
            <a:graphicFrameLocks noGrp="1"/>
          </p:cNvGraphicFramePr>
          <p:nvPr/>
        </p:nvGraphicFramePr>
        <p:xfrm>
          <a:off x="768096" y="1600200"/>
          <a:ext cx="10661904" cy="3803904"/>
        </p:xfrm>
        <a:graphic>
          <a:graphicData uri="http://schemas.openxmlformats.org/drawingml/2006/table">
            <a:tbl>
              <a:tblPr firstRow="0" bandRow="0">
                <a:tableStyleId>{2D5ABB26-0587-4C30-8999-92F81FD0307C}</a:tableStyleId>
              </a:tblPr>
              <a:tblGrid>
                <a:gridCol w="3246120"/>
                <a:gridCol w="3154680"/>
                <a:gridCol w="4261104"/>
              </a:tblGrid>
              <a:tr h="475488">
                <a:tc>
                  <a:txBody>
                    <a:bodyPr/>
                    <a:lstStyle/>
                    <a:p>
                      <a:pPr>
                        <a:buNone/>
                      </a:pPr>
                      <a:r>
                        <a:rPr sz="1200" b="1">
                          <a:solidFill>
                            <a:srgbClr val="F19111"/>
                          </a:solidFill>
                        </a:rPr>
                        <a:t>Python construct</a:t>
                      </a:r>
                    </a:p>
                  </a:txBody>
                  <a:tcPr marL="137160" anchor="ctr">
                    <a:solidFill>
                      <a:srgbClr val="2E3B47"/>
                    </a:solidFill>
                  </a:tcPr>
                </a:tc>
                <a:tc>
                  <a:txBody>
                    <a:bodyPr/>
                    <a:lstStyle/>
                    <a:p>
                      <a:pPr>
                        <a:buNone/>
                      </a:pPr>
                      <a:r>
                        <a:rPr sz="1200" b="1">
                          <a:solidFill>
                            <a:srgbClr val="A9B7C4"/>
                          </a:solidFill>
                        </a:rPr>
                        <a:t>Model record</a:t>
                      </a:r>
                    </a:p>
                  </a:txBody>
                  <a:tcPr marL="137160" anchor="ctr">
                    <a:solidFill>
                      <a:srgbClr val="2E3B47"/>
                    </a:solidFill>
                  </a:tcPr>
                </a:tc>
                <a:tc>
                  <a:txBody>
                    <a:bodyPr/>
                    <a:lstStyle/>
                    <a:p>
                      <a:pPr>
                        <a:buNone/>
                      </a:pPr>
                      <a:r>
                        <a:rPr sz="1200" b="1">
                          <a:solidFill>
                            <a:srgbClr val="6DBEE7"/>
                          </a:solidFill>
                        </a:rPr>
                        <a:t>Micronaut element</a:t>
                      </a:r>
                    </a:p>
                  </a:txBody>
                  <a:tcPr marL="137160" anchor="ctr">
                    <a:solidFill>
                      <a:srgbClr val="2E3B47"/>
                    </a:solidFill>
                  </a:tcPr>
                </a:tc>
              </a:tr>
              <a:tr h="475488">
                <a:tc>
                  <a:txBody>
                    <a:bodyPr/>
                    <a:lstStyle/>
                    <a:p>
                      <a:pPr>
                        <a:buNone/>
                      </a:pPr>
                      <a:r>
                        <a:rPr sz="1250" b="0">
                          <a:solidFill>
                            <a:srgbClr val="F0CC72"/>
                          </a:solidFill>
                          <a:latin typeface="Consolas"/>
                        </a:rPr>
                        <a:t>class Room: / @dataclass</a:t>
                      </a:r>
                    </a:p>
                  </a:txBody>
                  <a:tcPr marL="137160" anchor="ctr">
                    <a:solidFill>
                      <a:srgbClr val="25303A"/>
                    </a:solidFill>
                  </a:tcPr>
                </a:tc>
                <a:tc>
                  <a:txBody>
                    <a:bodyPr/>
                    <a:lstStyle/>
                    <a:p>
                      <a:pPr>
                        <a:buNone/>
                      </a:pPr>
                      <a:r>
                        <a:rPr sz="1250" b="0">
                          <a:solidFill>
                            <a:srgbClr val="FFFFFF"/>
                          </a:solidFill>
                        </a:rPr>
                        <a:t>ClassDef</a:t>
                      </a:r>
                    </a:p>
                  </a:txBody>
                  <a:tcPr marL="137160" anchor="ctr">
                    <a:solidFill>
                      <a:srgbClr val="25303A"/>
                    </a:solidFill>
                  </a:tcPr>
                </a:tc>
                <a:tc>
                  <a:txBody>
                    <a:bodyPr/>
                    <a:lstStyle/>
                    <a:p>
                      <a:pPr>
                        <a:buNone/>
                      </a:pPr>
                      <a:r>
                        <a:rPr sz="1250" b="0">
                          <a:solidFill>
                            <a:srgbClr val="FFFFFF"/>
                          </a:solidFill>
                        </a:rPr>
                        <a:t>PythonClassElement</a:t>
                      </a:r>
                    </a:p>
                  </a:txBody>
                  <a:tcPr marL="137160" anchor="ctr">
                    <a:solidFill>
                      <a:srgbClr val="25303A"/>
                    </a:solidFill>
                  </a:tcPr>
                </a:tc>
              </a:tr>
              <a:tr h="475488">
                <a:tc>
                  <a:txBody>
                    <a:bodyPr/>
                    <a:lstStyle/>
                    <a:p>
                      <a:pPr>
                        <a:buNone/>
                      </a:pPr>
                      <a:r>
                        <a:rPr sz="1250" b="0">
                          <a:solidFill>
                            <a:srgbClr val="F0CC72"/>
                          </a:solidFill>
                          <a:latin typeface="Consolas"/>
                        </a:rPr>
                        <a:t>def / async def</a:t>
                      </a:r>
                    </a:p>
                  </a:txBody>
                  <a:tcPr marL="137160" anchor="ctr">
                    <a:solidFill>
                      <a:srgbClr val="212A33"/>
                    </a:solidFill>
                  </a:tcPr>
                </a:tc>
                <a:tc>
                  <a:txBody>
                    <a:bodyPr/>
                    <a:lstStyle/>
                    <a:p>
                      <a:pPr>
                        <a:buNone/>
                      </a:pPr>
                      <a:r>
                        <a:rPr sz="1250" b="0">
                          <a:solidFill>
                            <a:srgbClr val="FFFFFF"/>
                          </a:solidFill>
                        </a:rPr>
                        <a:t>FunctionDef · AsyncFunctionDef</a:t>
                      </a:r>
                    </a:p>
                  </a:txBody>
                  <a:tcPr marL="137160" anchor="ctr">
                    <a:solidFill>
                      <a:srgbClr val="212A33"/>
                    </a:solidFill>
                  </a:tcPr>
                </a:tc>
                <a:tc>
                  <a:txBody>
                    <a:bodyPr/>
                    <a:lstStyle/>
                    <a:p>
                      <a:pPr>
                        <a:buNone/>
                      </a:pPr>
                      <a:r>
                        <a:rPr sz="1250" b="0">
                          <a:solidFill>
                            <a:srgbClr val="FFFFFF"/>
                          </a:solidFill>
                        </a:rPr>
                        <a:t>PythonMethodElement</a:t>
                      </a:r>
                    </a:p>
                  </a:txBody>
                  <a:tcPr marL="137160" anchor="ctr">
                    <a:solidFill>
                      <a:srgbClr val="212A33"/>
                    </a:solidFill>
                  </a:tcPr>
                </a:tc>
              </a:tr>
              <a:tr h="475488">
                <a:tc>
                  <a:txBody>
                    <a:bodyPr/>
                    <a:lstStyle/>
                    <a:p>
                      <a:pPr>
                        <a:buNone/>
                      </a:pPr>
                      <a:r>
                        <a:rPr sz="1250" b="0">
                          <a:solidFill>
                            <a:srgbClr val="F0CC72"/>
                          </a:solidFill>
                          <a:latin typeface="Consolas"/>
                        </a:rPr>
                        <a:t>typed attributes, Annotated[...]</a:t>
                      </a:r>
                    </a:p>
                  </a:txBody>
                  <a:tcPr marL="137160" anchor="ctr">
                    <a:solidFill>
                      <a:srgbClr val="25303A"/>
                    </a:solidFill>
                  </a:tcPr>
                </a:tc>
                <a:tc>
                  <a:txBody>
                    <a:bodyPr/>
                    <a:lstStyle/>
                    <a:p>
                      <a:pPr>
                        <a:buNone/>
                      </a:pPr>
                      <a:r>
                        <a:rPr sz="1250" b="0">
                          <a:solidFill>
                            <a:srgbClr val="FFFFFF"/>
                          </a:solidFill>
                        </a:rPr>
                        <a:t>AttributeDef · PropertyDef</a:t>
                      </a:r>
                    </a:p>
                  </a:txBody>
                  <a:tcPr marL="137160" anchor="ctr">
                    <a:solidFill>
                      <a:srgbClr val="25303A"/>
                    </a:solidFill>
                  </a:tcPr>
                </a:tc>
                <a:tc>
                  <a:txBody>
                    <a:bodyPr/>
                    <a:lstStyle/>
                    <a:p>
                      <a:pPr>
                        <a:buNone/>
                      </a:pPr>
                      <a:r>
                        <a:rPr sz="1250" b="0">
                          <a:solidFill>
                            <a:srgbClr val="FFFFFF"/>
                          </a:solidFill>
                        </a:rPr>
                        <a:t>PythonFieldElement · PythonPropertyElement</a:t>
                      </a:r>
                    </a:p>
                  </a:txBody>
                  <a:tcPr marL="137160" anchor="ctr">
                    <a:solidFill>
                      <a:srgbClr val="25303A"/>
                    </a:solidFill>
                  </a:tcPr>
                </a:tc>
              </a:tr>
              <a:tr h="475488">
                <a:tc>
                  <a:txBody>
                    <a:bodyPr/>
                    <a:lstStyle/>
                    <a:p>
                      <a:pPr>
                        <a:buNone/>
                      </a:pPr>
                      <a:r>
                        <a:rPr sz="1250" b="0">
                          <a:solidFill>
                            <a:srgbClr val="F0CC72"/>
                          </a:solidFill>
                          <a:latin typeface="Consolas"/>
                        </a:rPr>
                        <a:t>@Decorator(...)</a:t>
                      </a:r>
                    </a:p>
                  </a:txBody>
                  <a:tcPr marL="137160" anchor="ctr">
                    <a:solidFill>
                      <a:srgbClr val="212A33"/>
                    </a:solidFill>
                  </a:tcPr>
                </a:tc>
                <a:tc>
                  <a:txBody>
                    <a:bodyPr/>
                    <a:lstStyle/>
                    <a:p>
                      <a:pPr>
                        <a:buNone/>
                      </a:pPr>
                      <a:r>
                        <a:rPr sz="1250" b="0">
                          <a:solidFill>
                            <a:srgbClr val="FFFFFF"/>
                          </a:solidFill>
                        </a:rPr>
                        <a:t>DecoratorDef</a:t>
                      </a:r>
                    </a:p>
                  </a:txBody>
                  <a:tcPr marL="137160" anchor="ctr">
                    <a:solidFill>
                      <a:srgbClr val="212A33"/>
                    </a:solidFill>
                  </a:tcPr>
                </a:tc>
                <a:tc>
                  <a:txBody>
                    <a:bodyPr/>
                    <a:lstStyle/>
                    <a:p>
                      <a:pPr>
                        <a:buNone/>
                      </a:pPr>
                      <a:r>
                        <a:rPr sz="1250" b="0">
                          <a:solidFill>
                            <a:srgbClr val="FFFFFF"/>
                          </a:solidFill>
                        </a:rPr>
                        <a:t>AnnotationMetadata</a:t>
                      </a:r>
                    </a:p>
                  </a:txBody>
                  <a:tcPr marL="137160" anchor="ctr">
                    <a:solidFill>
                      <a:srgbClr val="212A33"/>
                    </a:solidFill>
                  </a:tcPr>
                </a:tc>
              </a:tr>
              <a:tr h="475488">
                <a:tc>
                  <a:txBody>
                    <a:bodyPr/>
                    <a:lstStyle/>
                    <a:p>
                      <a:pPr>
                        <a:buNone/>
                      </a:pPr>
                      <a:r>
                        <a:rPr sz="1250" b="0">
                          <a:solidFill>
                            <a:srgbClr val="F0CC72"/>
                          </a:solidFill>
                          <a:latin typeface="Consolas"/>
                        </a:rPr>
                        <a:t>list[Message] | None</a:t>
                      </a:r>
                    </a:p>
                  </a:txBody>
                  <a:tcPr marL="137160" anchor="ctr">
                    <a:solidFill>
                      <a:srgbClr val="25303A"/>
                    </a:solidFill>
                  </a:tcPr>
                </a:tc>
                <a:tc>
                  <a:txBody>
                    <a:bodyPr/>
                    <a:lstStyle/>
                    <a:p>
                      <a:pPr>
                        <a:buNone/>
                      </a:pPr>
                      <a:r>
                        <a:rPr sz="1250" b="0">
                          <a:solidFill>
                            <a:srgbClr val="FFFFFF"/>
                          </a:solidFill>
                        </a:rPr>
                        <a:t>TypeRef · TypeVar</a:t>
                      </a:r>
                    </a:p>
                  </a:txBody>
                  <a:tcPr marL="137160" anchor="ctr">
                    <a:solidFill>
                      <a:srgbClr val="25303A"/>
                    </a:solidFill>
                  </a:tcPr>
                </a:tc>
                <a:tc>
                  <a:txBody>
                    <a:bodyPr/>
                    <a:lstStyle/>
                    <a:p>
                      <a:pPr>
                        <a:buNone/>
                      </a:pPr>
                      <a:r>
                        <a:rPr sz="1250" b="0">
                          <a:solidFill>
                            <a:srgbClr val="FFFFFF"/>
                          </a:solidFill>
                        </a:rPr>
                        <a:t>generic ClassElement + nullability</a:t>
                      </a:r>
                    </a:p>
                  </a:txBody>
                  <a:tcPr marL="137160" anchor="ctr">
                    <a:solidFill>
                      <a:srgbClr val="25303A"/>
                    </a:solidFill>
                  </a:tcPr>
                </a:tc>
              </a:tr>
              <a:tr h="475488">
                <a:tc>
                  <a:txBody>
                    <a:bodyPr/>
                    <a:lstStyle/>
                    <a:p>
                      <a:pPr>
                        <a:buNone/>
                      </a:pPr>
                      <a:r>
                        <a:rPr sz="1250" b="0">
                          <a:solidFill>
                            <a:srgbClr val="F0CC72"/>
                          </a:solidFill>
                          <a:latin typeface="Consolas"/>
                        </a:rPr>
                        <a:t>module-level functions</a:t>
                      </a:r>
                    </a:p>
                  </a:txBody>
                  <a:tcPr marL="137160" anchor="ctr">
                    <a:solidFill>
                      <a:srgbClr val="212A33"/>
                    </a:solidFill>
                  </a:tcPr>
                </a:tc>
                <a:tc>
                  <a:txBody>
                    <a:bodyPr/>
                    <a:lstStyle/>
                    <a:p>
                      <a:pPr>
                        <a:buNone/>
                      </a:pPr>
                      <a:r>
                        <a:rPr sz="1250" b="0">
                          <a:solidFill>
                            <a:srgbClr val="FFFFFF"/>
                          </a:solidFill>
                        </a:rPr>
                        <a:t>ScriptDef</a:t>
                      </a:r>
                    </a:p>
                  </a:txBody>
                  <a:tcPr marL="137160" anchor="ctr">
                    <a:solidFill>
                      <a:srgbClr val="212A33"/>
                    </a:solidFill>
                  </a:tcPr>
                </a:tc>
                <a:tc>
                  <a:txBody>
                    <a:bodyPr/>
                    <a:lstStyle/>
                    <a:p>
                      <a:pPr>
                        <a:buNone/>
                      </a:pPr>
                      <a:r>
                        <a:rPr sz="1250" b="0">
                          <a:solidFill>
                            <a:srgbClr val="FFFFFF"/>
                          </a:solidFill>
                        </a:rPr>
                        <a:t>PythonScriptElement (classless routes)</a:t>
                      </a:r>
                    </a:p>
                  </a:txBody>
                  <a:tcPr marL="137160" anchor="ctr">
                    <a:solidFill>
                      <a:srgbClr val="212A33"/>
                    </a:solidFill>
                  </a:tcPr>
                </a:tc>
              </a:tr>
              <a:tr h="475488">
                <a:tc>
                  <a:txBody>
                    <a:bodyPr/>
                    <a:lstStyle/>
                    <a:p>
                      <a:pPr>
                        <a:buNone/>
                      </a:pPr>
                      <a:r>
                        <a:rPr sz="1250" b="0">
                          <a:solidFill>
                            <a:srgbClr val="F0CC72"/>
                          </a:solidFill>
                          <a:latin typeface="Consolas"/>
                        </a:rPr>
                        <a:t>class Color(Enum)</a:t>
                      </a:r>
                    </a:p>
                  </a:txBody>
                  <a:tcPr marL="137160" anchor="ctr">
                    <a:solidFill>
                      <a:srgbClr val="25303A"/>
                    </a:solidFill>
                  </a:tcPr>
                </a:tc>
                <a:tc>
                  <a:txBody>
                    <a:bodyPr/>
                    <a:lstStyle/>
                    <a:p>
                      <a:pPr>
                        <a:buNone/>
                      </a:pPr>
                      <a:r>
                        <a:rPr sz="1250" b="0">
                          <a:solidFill>
                            <a:srgbClr val="FFFFFF"/>
                          </a:solidFill>
                        </a:rPr>
                        <a:t>ClassDef</a:t>
                      </a:r>
                    </a:p>
                  </a:txBody>
                  <a:tcPr marL="137160" anchor="ctr">
                    <a:solidFill>
                      <a:srgbClr val="25303A"/>
                    </a:solidFill>
                  </a:tcPr>
                </a:tc>
                <a:tc>
                  <a:txBody>
                    <a:bodyPr/>
                    <a:lstStyle/>
                    <a:p>
                      <a:pPr>
                        <a:buNone/>
                      </a:pPr>
                      <a:r>
                        <a:rPr sz="1250" b="0">
                          <a:solidFill>
                            <a:srgbClr val="FFFFFF"/>
                          </a:solidFill>
                        </a:rPr>
                        <a:t>PythonEnumElement</a:t>
                      </a:r>
                    </a:p>
                  </a:txBody>
                  <a:tcPr marL="137160" anchor="ctr">
                    <a:solidFill>
                      <a:srgbClr val="25303A"/>
                    </a:solidFill>
                  </a:tcPr>
                </a:tc>
              </a:tr>
            </a:tbl>
          </a:graphicData>
        </a:graphic>
      </p:graphicFrame>
      <p:sp>
        <p:nvSpPr>
          <p:cNvPr id="11" name="TextBox 10"/>
          <p:cNvSpPr txBox="1"/>
          <p:nvPr/>
        </p:nvSpPr>
        <p:spPr>
          <a:xfrm>
            <a:off x="768096" y="5577840"/>
            <a:ext cx="2011680" cy="411480"/>
          </a:xfrm>
          <a:prstGeom prst="rect">
            <a:avLst/>
          </a:prstGeom>
          <a:noFill/>
        </p:spPr>
        <p:txBody>
          <a:bodyPr wrap="square" lIns="0" rIns="0" tIns="0" bIns="0" anchor="ctr"/>
          <a:lstStyle/>
          <a:p>
            <a:pPr>
              <a:buNone/>
            </a:pPr>
            <a:r>
              <a:rPr sz="1300" b="1">
                <a:solidFill>
                  <a:srgbClr val="FFFFFF"/>
                </a:solidFill>
              </a:rPr>
              <a:t>Works unchanged:</a:t>
            </a:r>
          </a:p>
        </p:txBody>
      </p:sp>
      <p:sp>
        <p:nvSpPr>
          <p:cNvPr id="12" name="Rounded Rectangle 11"/>
          <p:cNvSpPr/>
          <p:nvPr/>
        </p:nvSpPr>
        <p:spPr>
          <a:xfrm>
            <a:off x="2697480" y="5596128"/>
            <a:ext cx="2011679"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Dependency injection</a:t>
            </a:r>
          </a:p>
        </p:txBody>
      </p:sp>
      <p:sp>
        <p:nvSpPr>
          <p:cNvPr id="13" name="Rounded Rectangle 12"/>
          <p:cNvSpPr/>
          <p:nvPr/>
        </p:nvSpPr>
        <p:spPr>
          <a:xfrm>
            <a:off x="4818888" y="5596128"/>
            <a:ext cx="534924"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AOP</a:t>
            </a:r>
          </a:p>
        </p:txBody>
      </p:sp>
      <p:sp>
        <p:nvSpPr>
          <p:cNvPr id="14" name="Rounded Rectangle 13"/>
          <p:cNvSpPr/>
          <p:nvPr/>
        </p:nvSpPr>
        <p:spPr>
          <a:xfrm>
            <a:off x="5463540" y="5596128"/>
            <a:ext cx="1403604"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Serialization</a:t>
            </a:r>
          </a:p>
        </p:txBody>
      </p:sp>
      <p:sp>
        <p:nvSpPr>
          <p:cNvPr id="15" name="Rounded Rectangle 14"/>
          <p:cNvSpPr/>
          <p:nvPr/>
        </p:nvSpPr>
        <p:spPr>
          <a:xfrm>
            <a:off x="6976872" y="5596128"/>
            <a:ext cx="1143000"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Validation</a:t>
            </a:r>
          </a:p>
        </p:txBody>
      </p:sp>
      <p:sp>
        <p:nvSpPr>
          <p:cNvPr id="16" name="Rounded Rectangle 15"/>
          <p:cNvSpPr/>
          <p:nvPr/>
        </p:nvSpPr>
        <p:spPr>
          <a:xfrm>
            <a:off x="8229600" y="5596128"/>
            <a:ext cx="1490472"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Micronaut Data</a:t>
            </a:r>
          </a:p>
        </p:txBody>
      </p:sp>
      <p:sp>
        <p:nvSpPr>
          <p:cNvPr id="17" name="Rounded Rectangle 16"/>
          <p:cNvSpPr/>
          <p:nvPr/>
        </p:nvSpPr>
        <p:spPr>
          <a:xfrm>
            <a:off x="9829800" y="5596128"/>
            <a:ext cx="882396"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0">
                <a:solidFill>
                  <a:srgbClr val="FFFFFF"/>
                </a:solidFill>
              </a:rPr>
              <a:t>OpenAPI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Compile once, import fast — and the price of static analysis</a:t>
            </a:r>
          </a:p>
        </p:txBody>
      </p:sp>
      <p:sp>
        <p:nvSpPr>
          <p:cNvPr id="3" name="Text Placeholder 2"/>
          <p:cNvSpPr>
            <a:spLocks noGrp="1"/>
          </p:cNvSpPr>
          <p:nvPr>
            <p:ph type="body" idx="11" sz="quarter"/>
          </p:nvPr>
        </p:nvSpPr>
        <p:spPr/>
        <p:txBody>
          <a:bodyPr/>
          <a:lstStyle/>
          <a:p>
            <a:r>
              <a:t>Python is dynamic; Micronaut’s processor must see your code statically</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54480"/>
            <a:ext cx="5486400" cy="256032"/>
          </a:xfrm>
          <a:prstGeom prst="rect">
            <a:avLst/>
          </a:prstGeom>
          <a:noFill/>
        </p:spPr>
        <p:txBody>
          <a:bodyPr wrap="square" lIns="0" rIns="0" tIns="0" bIns="0" anchor="ctr"/>
          <a:lstStyle/>
          <a:p>
            <a:pPr algn="l">
              <a:buNone/>
            </a:pPr>
            <a:r>
              <a:rPr sz="1100" b="1">
                <a:solidFill>
                  <a:srgbClr val="F19111"/>
                </a:solidFill>
              </a:rPr>
              <a:t>BUILD OUTPUT: BYTECODE, NOT SOURCE</a:t>
            </a:r>
          </a:p>
        </p:txBody>
      </p:sp>
      <p:sp>
        <p:nvSpPr>
          <p:cNvPr id="11" name="Rounded Rectangle 10"/>
          <p:cNvSpPr/>
          <p:nvPr/>
        </p:nvSpPr>
        <p:spPr>
          <a:xfrm>
            <a:off x="768096" y="1874519"/>
            <a:ext cx="1261872" cy="1051560"/>
          </a:xfrm>
          <a:prstGeom prst="roundRect">
            <a:avLst>
              <a:gd name="adj" fmla="val 6956"/>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1">
                <a:solidFill>
                  <a:srgbClr val="FFFFFF"/>
                </a:solidFill>
              </a:rPr>
              <a:t>Transformed AST</a:t>
            </a:r>
          </a:p>
          <a:p>
            <a:pPr algn="ctr">
              <a:buNone/>
            </a:pPr>
            <a:r>
              <a:rPr sz="950">
                <a:solidFill>
                  <a:srgbClr val="A9B7C4"/>
                </a:solidFill>
              </a:rPr>
              <a:t>decorators &amp; imports rewritten</a:t>
            </a:r>
          </a:p>
        </p:txBody>
      </p:sp>
      <p:cxnSp>
        <p:nvCxnSpPr>
          <p:cNvPr id="12" name="Connector 11"/>
          <p:cNvCxnSpPr/>
          <p:nvPr/>
        </p:nvCxnSpPr>
        <p:spPr>
          <a:xfrm>
            <a:off x="2048255" y="2395728"/>
            <a:ext cx="118873" cy="0"/>
          </a:xfrm>
          <a:prstGeom prst="line">
            <a:avLst/>
          </a:prstGeom>
          <a:ln w="1905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85416" y="1874519"/>
            <a:ext cx="1261872" cy="1051560"/>
          </a:xfrm>
          <a:prstGeom prst="roundRect">
            <a:avLst>
              <a:gd name="adj" fmla="val 6956"/>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1">
                <a:solidFill>
                  <a:srgbClr val="FFFFFF"/>
                </a:solidFill>
              </a:rPr>
              <a:t>compile()</a:t>
            </a:r>
          </a:p>
          <a:p>
            <a:pPr algn="ctr">
              <a:buNone/>
            </a:pPr>
            <a:r>
              <a:rPr sz="950">
                <a:solidFill>
                  <a:srgbClr val="A9B7C4"/>
                </a:solidFill>
              </a:rPr>
              <a:t>inside the compiler’s GraalPy</a:t>
            </a:r>
          </a:p>
        </p:txBody>
      </p:sp>
      <p:cxnSp>
        <p:nvCxnSpPr>
          <p:cNvPr id="14" name="Connector 13"/>
          <p:cNvCxnSpPr/>
          <p:nvPr/>
        </p:nvCxnSpPr>
        <p:spPr>
          <a:xfrm>
            <a:off x="3465576" y="2395728"/>
            <a:ext cx="118872" cy="0"/>
          </a:xfrm>
          <a:prstGeom prst="line">
            <a:avLst/>
          </a:prstGeom>
          <a:ln w="1905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02736" y="1874519"/>
            <a:ext cx="1261872" cy="1051560"/>
          </a:xfrm>
          <a:prstGeom prst="roundRect">
            <a:avLst>
              <a:gd name="adj" fmla="val 6956"/>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1">
                <a:solidFill>
                  <a:srgbClr val="FFFFFF"/>
                </a:solidFill>
              </a:rPr>
              <a:t>Hash-based .pyc</a:t>
            </a:r>
          </a:p>
          <a:p>
            <a:pPr algn="ctr">
              <a:buNone/>
            </a:pPr>
            <a:r>
              <a:rPr sz="950">
                <a:solidFill>
                  <a:srgbClr val="A9B7C4"/>
                </a:solidFill>
              </a:rPr>
              <a:t>magic number + source hash</a:t>
            </a:r>
          </a:p>
        </p:txBody>
      </p:sp>
      <p:cxnSp>
        <p:nvCxnSpPr>
          <p:cNvPr id="16" name="Connector 15"/>
          <p:cNvCxnSpPr/>
          <p:nvPr/>
        </p:nvCxnSpPr>
        <p:spPr>
          <a:xfrm>
            <a:off x="4882896" y="2395728"/>
            <a:ext cx="118872" cy="0"/>
          </a:xfrm>
          <a:prstGeom prst="line">
            <a:avLst/>
          </a:prstGeom>
          <a:ln w="1905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20056" y="1874519"/>
            <a:ext cx="1261872" cy="1051560"/>
          </a:xfrm>
          <a:prstGeom prst="roundRect">
            <a:avLst>
              <a:gd name="adj" fmla="val 6956"/>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50" b="1">
                <a:solidFill>
                  <a:srgbClr val="FFFFFF"/>
                </a:solidFill>
              </a:rPr>
              <a:t>GraalPy VFS</a:t>
            </a:r>
          </a:p>
          <a:p>
            <a:pPr algn="ctr">
              <a:buNone/>
            </a:pPr>
            <a:r>
              <a:rPr sz="950">
                <a:solidFill>
                  <a:srgbClr val="A9B7C4"/>
                </a:solidFill>
              </a:rPr>
              <a:t>packaged with the classes</a:t>
            </a:r>
          </a:p>
        </p:txBody>
      </p:sp>
      <p:sp>
        <p:nvSpPr>
          <p:cNvPr id="18" name="Rounded Rectangle 17"/>
          <p:cNvSpPr/>
          <p:nvPr/>
        </p:nvSpPr>
        <p:spPr>
          <a:xfrm>
            <a:off x="768096" y="3154680"/>
            <a:ext cx="5550408" cy="868680"/>
          </a:xfrm>
          <a:prstGeom prst="roundRect">
            <a:avLst>
              <a:gd name="adj" fmla="val 8421"/>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buNone/>
            </a:pPr>
            <a:r>
              <a:rPr sz="1250" b="1">
                <a:solidFill>
                  <a:srgbClr val="FFFFFF"/>
                </a:solidFill>
              </a:rPr>
              <a:t>PythonBytecodeCompiler</a:t>
            </a:r>
            <a:r>
              <a:rPr sz="1250">
                <a:solidFill>
                  <a:srgbClr val="FFFFFF"/>
                </a:solidFill>
              </a:rPr>
              <a:t> produces GraalPy-compatible bytecode without a Python launcher or a writable filesystem — the runtime imports precompiled modules.</a:t>
            </a:r>
          </a:p>
        </p:txBody>
      </p:sp>
      <p:sp>
        <p:nvSpPr>
          <p:cNvPr id="19" name="TextBox 18"/>
          <p:cNvSpPr txBox="1"/>
          <p:nvPr/>
        </p:nvSpPr>
        <p:spPr>
          <a:xfrm>
            <a:off x="768096" y="4251960"/>
            <a:ext cx="5486400" cy="256032"/>
          </a:xfrm>
          <a:prstGeom prst="rect">
            <a:avLst/>
          </a:prstGeom>
          <a:noFill/>
        </p:spPr>
        <p:txBody>
          <a:bodyPr wrap="square" lIns="0" rIns="0" tIns="0" bIns="0" anchor="ctr"/>
          <a:lstStyle/>
          <a:p>
            <a:pPr algn="l">
              <a:buNone/>
            </a:pPr>
            <a:r>
              <a:rPr sz="1100" b="1">
                <a:solidFill>
                  <a:srgbClr val="A9B7C4"/>
                </a:solidFill>
              </a:rPr>
              <a:t>CONSTRAINTS THAT COME WITH STATIC PROCESSING</a:t>
            </a:r>
          </a:p>
        </p:txBody>
      </p:sp>
      <p:sp>
        <p:nvSpPr>
          <p:cNvPr id="20" name="TextBox 19"/>
          <p:cNvSpPr txBox="1"/>
          <p:nvPr/>
        </p:nvSpPr>
        <p:spPr>
          <a:xfrm>
            <a:off x="768096" y="4572000"/>
            <a:ext cx="5550408" cy="1554480"/>
          </a:xfrm>
          <a:prstGeom prst="rect">
            <a:avLst/>
          </a:prstGeom>
          <a:noFill/>
        </p:spPr>
        <p:txBody>
          <a:bodyPr wrap="square" lIns="0" rIns="0" tIns="0" bIns="0" anchor="t"/>
          <a:lstStyle/>
          <a:p>
            <a:pPr marL="201168" indent="-201168">
              <a:spcAft>
                <a:spcPts val="700"/>
              </a:spcAft>
              <a:buClr>
                <a:srgbClr val="F19111"/>
              </a:buClr>
              <a:buSzPct val="100000"/>
              <a:buFont typeface="Arial"/>
              <a:buChar char="▪"/>
            </a:pPr>
            <a:r>
              <a:rPr sz="1350">
                <a:solidFill>
                  <a:srgbClr val="FFFFFF"/>
                </a:solidFill>
              </a:rPr>
              <a:t>Decorators must be statically visible to the processor</a:t>
            </a:r>
          </a:p>
          <a:p>
            <a:pPr marL="201168" indent="-201168">
              <a:spcAft>
                <a:spcPts val="700"/>
              </a:spcAft>
              <a:buClr>
                <a:srgbClr val="F19111"/>
              </a:buClr>
              <a:buSzPct val="100000"/>
              <a:buFont typeface="Arial"/>
              <a:buChar char="▪"/>
            </a:pPr>
            <a:r>
              <a:rPr sz="1350">
                <a:solidFill>
                  <a:srgbClr val="FFFFFF"/>
                </a:solidFill>
              </a:rPr>
              <a:t>Quote forward references so types resolve during processing</a:t>
            </a:r>
          </a:p>
          <a:p>
            <a:pPr marL="201168" indent="-201168">
              <a:spcAft>
                <a:spcPts val="700"/>
              </a:spcAft>
              <a:buClr>
                <a:srgbClr val="F19111"/>
              </a:buClr>
              <a:buSzPct val="100000"/>
              <a:buFont typeface="Arial"/>
              <a:buChar char="▪"/>
            </a:pPr>
            <a:r>
              <a:rPr sz="1350">
                <a:solidFill>
                  <a:srgbClr val="FFFFFF"/>
                </a:solidFill>
              </a:rPr>
              <a:t>Incremental builds follow statically visible imports and types</a:t>
            </a:r>
          </a:p>
        </p:txBody>
      </p:sp>
      <p:sp>
        <p:nvSpPr>
          <p:cNvPr id="21" name="TextBox 20"/>
          <p:cNvSpPr txBox="1"/>
          <p:nvPr/>
        </p:nvSpPr>
        <p:spPr>
          <a:xfrm>
            <a:off x="6629400" y="1554480"/>
            <a:ext cx="4754880" cy="256032"/>
          </a:xfrm>
          <a:prstGeom prst="rect">
            <a:avLst/>
          </a:prstGeom>
          <a:noFill/>
        </p:spPr>
        <p:txBody>
          <a:bodyPr wrap="square" lIns="0" rIns="0" tIns="0" bIns="0" anchor="ctr"/>
          <a:lstStyle/>
          <a:p>
            <a:pPr algn="l">
              <a:buNone/>
            </a:pPr>
            <a:r>
              <a:rPr sz="1100" b="1">
                <a:solidFill>
                  <a:srgbClr val="F19111"/>
                </a:solidFill>
              </a:rPr>
              <a:t>FORWARD REFERENCES</a:t>
            </a:r>
          </a:p>
        </p:txBody>
      </p:sp>
      <p:sp>
        <p:nvSpPr>
          <p:cNvPr id="22" name="Rounded Rectangle 21"/>
          <p:cNvSpPr/>
          <p:nvPr/>
        </p:nvSpPr>
        <p:spPr>
          <a:xfrm>
            <a:off x="6629400" y="1874519"/>
            <a:ext cx="4800600" cy="2331720"/>
          </a:xfrm>
          <a:prstGeom prst="roundRect">
            <a:avLst>
              <a:gd name="adj" fmla="val 2352"/>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3" name="Rectangle 22"/>
          <p:cNvSpPr/>
          <p:nvPr/>
        </p:nvSpPr>
        <p:spPr>
          <a:xfrm>
            <a:off x="6629400" y="1874519"/>
            <a:ext cx="480060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4" name="Oval 23"/>
          <p:cNvSpPr/>
          <p:nvPr/>
        </p:nvSpPr>
        <p:spPr>
          <a:xfrm>
            <a:off x="6757416" y="196138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931152" y="196138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104888" y="196138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0920" y="1874519"/>
            <a:ext cx="3931920" cy="274320"/>
          </a:xfrm>
          <a:prstGeom prst="rect">
            <a:avLst/>
          </a:prstGeom>
          <a:noFill/>
        </p:spPr>
        <p:txBody>
          <a:bodyPr wrap="square" lIns="0" rIns="0" tIns="0" bIns="0" anchor="ctr"/>
          <a:lstStyle/>
          <a:p>
            <a:pPr algn="r">
              <a:buNone/>
            </a:pPr>
            <a:r>
              <a:rPr sz="1050">
                <a:solidFill>
                  <a:srgbClr val="A9B7C4"/>
                </a:solidFill>
                <a:latin typeface="Consolas"/>
              </a:rPr>
              <a:t>entities.py</a:t>
            </a:r>
          </a:p>
        </p:txBody>
      </p:sp>
      <p:sp>
        <p:nvSpPr>
          <p:cNvPr id="28" name="TextBox 27"/>
          <p:cNvSpPr txBox="1"/>
          <p:nvPr/>
        </p:nvSpPr>
        <p:spPr>
          <a:xfrm>
            <a:off x="6793992" y="2258568"/>
            <a:ext cx="4526280" cy="1874519"/>
          </a:xfrm>
          <a:prstGeom prst="rect">
            <a:avLst/>
          </a:prstGeom>
          <a:noFill/>
        </p:spPr>
        <p:txBody>
          <a:bodyPr wrap="none" lIns="0" rIns="0" tIns="0" bIns="0"/>
          <a:lstStyle/>
          <a:p>
            <a:pPr>
              <a:lnSpc>
                <a:spcPct val="100000"/>
              </a:lnSpc>
              <a:buNone/>
            </a:pPr>
            <a:r>
              <a:rPr sz="1150">
                <a:solidFill>
                  <a:srgbClr val="F19111"/>
                </a:solidFill>
                <a:latin typeface="Consolas"/>
              </a:rPr>
              <a:t>from</a:t>
            </a:r>
            <a:r>
              <a:rPr sz="1150">
                <a:solidFill>
                  <a:srgbClr val="D8E1E8"/>
                </a:solidFill>
                <a:latin typeface="Consolas"/>
              </a:rPr>
              <a:t> </a:t>
            </a:r>
            <a:r>
              <a:rPr sz="1150">
                <a:solidFill>
                  <a:srgbClr val="D8E1E8"/>
                </a:solidFill>
                <a:latin typeface="Consolas"/>
              </a:rPr>
              <a:t>dataclasses</a:t>
            </a:r>
            <a:r>
              <a:rPr sz="1150">
                <a:solidFill>
                  <a:srgbClr val="D8E1E8"/>
                </a:solidFill>
                <a:latin typeface="Consolas"/>
              </a:rPr>
              <a:t> </a:t>
            </a:r>
            <a:r>
              <a:rPr sz="1150">
                <a:solidFill>
                  <a:srgbClr val="F19111"/>
                </a:solidFill>
                <a:latin typeface="Consolas"/>
              </a:rPr>
              <a:t>import</a:t>
            </a:r>
            <a:r>
              <a:rPr sz="1150">
                <a:solidFill>
                  <a:srgbClr val="D8E1E8"/>
                </a:solidFill>
                <a:latin typeface="Consolas"/>
              </a:rPr>
              <a:t> </a:t>
            </a:r>
            <a:r>
              <a:rPr sz="1150">
                <a:solidFill>
                  <a:srgbClr val="D8E1E8"/>
                </a:solidFill>
                <a:latin typeface="Consolas"/>
              </a:rPr>
              <a:t>dataclass</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field</a:t>
            </a:r>
          </a:p>
          <a:p>
            <a:pPr>
              <a:lnSpc>
                <a:spcPct val="100000"/>
              </a:lnSpc>
              <a:buNone/>
            </a:pPr>
            <a:r>
              <a:rPr sz="1150">
                <a:latin typeface="Consolas"/>
              </a:rPr>
              <a:t> </a:t>
            </a:r>
          </a:p>
          <a:p>
            <a:pPr>
              <a:lnSpc>
                <a:spcPct val="100000"/>
              </a:lnSpc>
              <a:buNone/>
            </a:pPr>
            <a:r>
              <a:rPr sz="1150">
                <a:solidFill>
                  <a:srgbClr val="F0CC72"/>
                </a:solidFill>
                <a:latin typeface="Consolas"/>
              </a:rPr>
              <a:t>@dataclass</a:t>
            </a:r>
          </a:p>
          <a:p>
            <a:pPr>
              <a:lnSpc>
                <a:spcPct val="100000"/>
              </a:lnSpc>
              <a:buNone/>
            </a:pPr>
            <a:r>
              <a:rPr sz="1150">
                <a:solidFill>
                  <a:srgbClr val="F19111"/>
                </a:solidFill>
                <a:latin typeface="Consolas"/>
              </a:rPr>
              <a:t>class</a:t>
            </a:r>
            <a:r>
              <a:rPr sz="1150">
                <a:solidFill>
                  <a:srgbClr val="D8E1E8"/>
                </a:solidFill>
                <a:latin typeface="Consolas"/>
              </a:rPr>
              <a:t> </a:t>
            </a:r>
            <a:r>
              <a:rPr sz="1150">
                <a:solidFill>
                  <a:srgbClr val="6DBEE7"/>
                </a:solidFill>
                <a:latin typeface="Consolas"/>
              </a:rPr>
              <a:t>Message</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room</a:t>
            </a:r>
            <a:r>
              <a:rPr sz="1150">
                <a:solidFill>
                  <a:srgbClr val="D8E1E8"/>
                </a:solidFill>
                <a:latin typeface="Consolas"/>
              </a:rPr>
              <a:t>:</a:t>
            </a:r>
            <a:r>
              <a:rPr sz="1150">
                <a:solidFill>
                  <a:srgbClr val="D8E1E8"/>
                </a:solidFill>
                <a:latin typeface="Consolas"/>
              </a:rPr>
              <a:t> </a:t>
            </a:r>
            <a:r>
              <a:rPr sz="1150">
                <a:solidFill>
                  <a:srgbClr val="A5D6A7"/>
                </a:solidFill>
                <a:latin typeface="Consolas"/>
              </a:rPr>
              <a:t>"Room | None"</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F19111"/>
                </a:solidFill>
                <a:latin typeface="Consolas"/>
              </a:rPr>
              <a:t>None</a:t>
            </a:r>
          </a:p>
          <a:p>
            <a:pPr>
              <a:lnSpc>
                <a:spcPct val="100000"/>
              </a:lnSpc>
              <a:buNone/>
            </a:pPr>
            <a:r>
              <a:rPr sz="1150">
                <a:latin typeface="Consolas"/>
              </a:rPr>
              <a:t> </a:t>
            </a:r>
          </a:p>
          <a:p>
            <a:pPr>
              <a:lnSpc>
                <a:spcPct val="100000"/>
              </a:lnSpc>
              <a:buNone/>
            </a:pPr>
            <a:r>
              <a:rPr sz="1150">
                <a:solidFill>
                  <a:srgbClr val="F0CC72"/>
                </a:solidFill>
                <a:latin typeface="Consolas"/>
              </a:rPr>
              <a:t>@dataclass</a:t>
            </a:r>
          </a:p>
          <a:p>
            <a:pPr>
              <a:lnSpc>
                <a:spcPct val="100000"/>
              </a:lnSpc>
              <a:buNone/>
            </a:pPr>
            <a:r>
              <a:rPr sz="1150">
                <a:solidFill>
                  <a:srgbClr val="F19111"/>
                </a:solidFill>
                <a:latin typeface="Consolas"/>
              </a:rPr>
              <a:t>class</a:t>
            </a:r>
            <a:r>
              <a:rPr sz="1150">
                <a:solidFill>
                  <a:srgbClr val="D8E1E8"/>
                </a:solidFill>
                <a:latin typeface="Consolas"/>
              </a:rPr>
              <a:t> </a:t>
            </a:r>
            <a:r>
              <a:rPr sz="1150">
                <a:solidFill>
                  <a:srgbClr val="6DBEE7"/>
                </a:solidFill>
                <a:latin typeface="Consolas"/>
              </a:rPr>
              <a:t>Room</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messages</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list</a:t>
            </a:r>
            <a:r>
              <a:rPr sz="1150">
                <a:solidFill>
                  <a:srgbClr val="D8E1E8"/>
                </a:solidFill>
                <a:latin typeface="Consolas"/>
              </a:rPr>
              <a:t>[</a:t>
            </a:r>
            <a:r>
              <a:rPr sz="1150">
                <a:solidFill>
                  <a:srgbClr val="6DBEE7"/>
                </a:solidFill>
                <a:latin typeface="Consolas"/>
              </a:rPr>
              <a:t>Message</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F19111"/>
                </a:solidFill>
                <a:latin typeface="Consolas"/>
              </a:rPr>
              <a:t>None</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field</a:t>
            </a:r>
            <a:r>
              <a:rPr sz="1150">
                <a:solidFill>
                  <a:srgbClr val="D8E1E8"/>
                </a:solidFill>
                <a:latin typeface="Consolas"/>
              </a:rPr>
              <a:t>(</a:t>
            </a:r>
            <a:r>
              <a:rPr sz="1150">
                <a:solidFill>
                  <a:srgbClr val="D8E1E8"/>
                </a:solidFill>
                <a:latin typeface="Consolas"/>
              </a:rPr>
              <a:t>default_factory</a:t>
            </a:r>
            <a:r>
              <a:rPr sz="1150">
                <a:solidFill>
                  <a:srgbClr val="D8E1E8"/>
                </a:solidFill>
                <a:latin typeface="Consolas"/>
              </a:rPr>
              <a:t>=</a:t>
            </a:r>
            <a:r>
              <a:rPr sz="1150">
                <a:solidFill>
                  <a:srgbClr val="D8E1E8"/>
                </a:solidFill>
                <a:latin typeface="Consolas"/>
              </a:rPr>
              <a:t>list</a:t>
            </a:r>
            <a:r>
              <a:rPr sz="1150">
                <a:solidFill>
                  <a:srgbClr val="D8E1E8"/>
                </a:solidFill>
                <a:latin typeface="Consolas"/>
              </a:rPr>
              <a:t>)</a:t>
            </a:r>
          </a:p>
        </p:txBody>
      </p:sp>
      <p:sp>
        <p:nvSpPr>
          <p:cNvPr id="29" name="Rounded Rectangle 28"/>
          <p:cNvSpPr/>
          <p:nvPr/>
        </p:nvSpPr>
        <p:spPr>
          <a:xfrm>
            <a:off x="6629400" y="4434840"/>
            <a:ext cx="4800600" cy="1691640"/>
          </a:xfrm>
          <a:prstGeom prst="roundRect">
            <a:avLst>
              <a:gd name="adj" fmla="val 4324"/>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400" b="1">
                <a:solidFill>
                  <a:srgbClr val="F19111"/>
                </a:solidFill>
              </a:rPr>
              <a:t>Why it matters</a:t>
            </a:r>
          </a:p>
          <a:p>
            <a:pPr algn="l">
              <a:buNone/>
            </a:pPr>
            <a:r>
              <a:rPr sz="1250">
                <a:solidFill>
                  <a:srgbClr val="FFFFFF"/>
                </a:solidFill>
              </a:rPr>
              <a:t>Python evaluates annotations at import time. Quoting keeps the code idiomatic while the processor still resolves type, nullability and generic element types.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Python code that “just works”</a:t>
            </a:r>
          </a:p>
        </p:txBody>
      </p:sp>
      <p:sp>
        <p:nvSpPr>
          <p:cNvPr id="3" name="Text Placeholder 2"/>
          <p:cNvSpPr>
            <a:spLocks noGrp="1"/>
          </p:cNvSpPr>
          <p:nvPr>
            <p:ph type="body" idx="33" sz="quarter"/>
          </p:nvPr>
        </p:nvSpPr>
        <p:spPr>
          <a:xfrm>
            <a:ext cx="7498079" cy="0"/>
          </a:xfrm>
        </p:spPr>
        <p:txBody>
          <a:bodyPr/>
          <a:lstStyle/>
          <a:p>
            <a:r>
              <a:t>Every Java annotation becomes a Python decorator</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02</a:t>
            </a:r>
          </a:p>
        </p:txBody>
      </p:sp>
      <p:pic>
        <p:nvPicPr>
          <p:cNvPr id="11" name="Picture 10" descr="mascot.png"/>
          <p:cNvPicPr>
            <a:picLocks noChangeAspect="1"/>
          </p:cNvPicPr>
          <p:nvPr/>
        </p:nvPicPr>
        <p:blipFill>
          <a:blip r:embed="rId3"/>
          <a:stretch>
            <a:fillRect/>
          </a:stretch>
        </p:blipFill>
        <p:spPr>
          <a:xfrm>
            <a:off x="8595360" y="1188720"/>
            <a:ext cx="3701491" cy="4206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Java annotation is a Python decorator</a:t>
            </a:r>
          </a:p>
        </p:txBody>
      </p:sp>
      <p:sp>
        <p:nvSpPr>
          <p:cNvPr id="3" name="Text Placeholder 2"/>
          <p:cNvSpPr>
            <a:spLocks noGrp="1"/>
          </p:cNvSpPr>
          <p:nvPr>
            <p:ph type="body" idx="11" sz="quarter"/>
          </p:nvPr>
        </p:nvSpPr>
        <p:spPr/>
        <p:txBody>
          <a:bodyPr/>
          <a:lstStyle/>
          <a:p>
            <a:r>
              <a:t>Metadata is read at build time; at runtime the decorator is identity</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36192"/>
            <a:ext cx="5120640" cy="256032"/>
          </a:xfrm>
          <a:prstGeom prst="rect">
            <a:avLst/>
          </a:prstGeom>
          <a:noFill/>
        </p:spPr>
        <p:txBody>
          <a:bodyPr wrap="square" lIns="0" rIns="0" tIns="0" bIns="0" anchor="ctr"/>
          <a:lstStyle/>
          <a:p>
            <a:pPr algn="l">
              <a:buNone/>
            </a:pPr>
            <a:r>
              <a:rPr sz="1100" b="1">
                <a:solidFill>
                  <a:srgbClr val="F19111"/>
                </a:solidFill>
              </a:rPr>
              <a:t>YOU WRITE</a:t>
            </a:r>
          </a:p>
        </p:txBody>
      </p:sp>
      <p:sp>
        <p:nvSpPr>
          <p:cNvPr id="11" name="Rounded Rectangle 10"/>
          <p:cNvSpPr/>
          <p:nvPr/>
        </p:nvSpPr>
        <p:spPr>
          <a:xfrm>
            <a:off x="768096" y="1828800"/>
            <a:ext cx="5212080" cy="3611880"/>
          </a:xfrm>
          <a:prstGeom prst="roundRect">
            <a:avLst>
              <a:gd name="adj" fmla="val 1518"/>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768096" y="1828800"/>
            <a:ext cx="521208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896112" y="19156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9848" y="19156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43584" y="19156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9616" y="1828800"/>
            <a:ext cx="4343400" cy="274320"/>
          </a:xfrm>
          <a:prstGeom prst="rect">
            <a:avLst/>
          </a:prstGeom>
          <a:noFill/>
        </p:spPr>
        <p:txBody>
          <a:bodyPr wrap="square" lIns="0" rIns="0" tIns="0" bIns="0" anchor="ctr"/>
          <a:lstStyle/>
          <a:p>
            <a:pPr algn="r">
              <a:buNone/>
            </a:pPr>
            <a:r>
              <a:rPr sz="1050">
                <a:solidFill>
                  <a:srgbClr val="A9B7C4"/>
                </a:solidFill>
                <a:latin typeface="Consolas"/>
              </a:rPr>
              <a:t>controllers.py</a:t>
            </a:r>
          </a:p>
        </p:txBody>
      </p:sp>
      <p:sp>
        <p:nvSpPr>
          <p:cNvPr id="17" name="TextBox 16"/>
          <p:cNvSpPr txBox="1"/>
          <p:nvPr/>
        </p:nvSpPr>
        <p:spPr>
          <a:xfrm>
            <a:off x="932688" y="2212848"/>
            <a:ext cx="4937760" cy="3154680"/>
          </a:xfrm>
          <a:prstGeom prst="rect">
            <a:avLst/>
          </a:prstGeom>
          <a:noFill/>
        </p:spPr>
        <p:txBody>
          <a:bodyPr wrap="none" lIns="0" rIns="0" tIns="0" bIns="0"/>
          <a:lstStyle/>
          <a:p>
            <a:pPr>
              <a:lnSpc>
                <a:spcPct val="100000"/>
              </a:lnSpc>
              <a:buNone/>
            </a:pPr>
            <a:r>
              <a:rPr sz="1000">
                <a:solidFill>
                  <a:srgbClr val="F19111"/>
                </a:solidFill>
                <a:latin typeface="Consolas"/>
              </a:rPr>
              <a:t>from</a:t>
            </a:r>
            <a:r>
              <a:rPr sz="1000">
                <a:solidFill>
                  <a:srgbClr val="D8E1E8"/>
                </a:solidFill>
                <a:latin typeface="Consolas"/>
              </a:rPr>
              <a:t> </a:t>
            </a:r>
            <a:r>
              <a:rPr sz="1000">
                <a:solidFill>
                  <a:srgbClr val="D8E1E8"/>
                </a:solidFill>
                <a:latin typeface="Consolas"/>
              </a:rPr>
              <a:t>typing</a:t>
            </a:r>
            <a:r>
              <a:rPr sz="1000">
                <a:solidFill>
                  <a:srgbClr val="D8E1E8"/>
                </a:solidFill>
                <a:latin typeface="Consolas"/>
              </a:rPr>
              <a:t> </a:t>
            </a:r>
            <a:r>
              <a:rPr sz="1000">
                <a:solidFill>
                  <a:srgbClr val="F19111"/>
                </a:solidFill>
                <a:latin typeface="Consolas"/>
              </a:rPr>
              <a:t>import</a:t>
            </a:r>
            <a:r>
              <a:rPr sz="1000">
                <a:solidFill>
                  <a:srgbClr val="D8E1E8"/>
                </a:solidFill>
                <a:latin typeface="Consolas"/>
              </a:rPr>
              <a:t> </a:t>
            </a:r>
            <a:r>
              <a:rPr sz="1000">
                <a:solidFill>
                  <a:srgbClr val="6DBEE7"/>
                </a:solidFill>
                <a:latin typeface="Consolas"/>
              </a:rPr>
              <a:t>Annotated</a:t>
            </a:r>
          </a:p>
          <a:p>
            <a:pPr>
              <a:lnSpc>
                <a:spcPct val="100000"/>
              </a:lnSpc>
              <a:buNone/>
            </a:pPr>
            <a:r>
              <a:rPr sz="1000">
                <a:solidFill>
                  <a:srgbClr val="F19111"/>
                </a:solidFill>
                <a:latin typeface="Consolas"/>
              </a:rPr>
              <a:t>from</a:t>
            </a:r>
            <a:r>
              <a:rPr sz="1000">
                <a:solidFill>
                  <a:srgbClr val="D8E1E8"/>
                </a:solidFill>
                <a:latin typeface="Consolas"/>
              </a:rPr>
              <a:t> </a:t>
            </a:r>
            <a:r>
              <a:rPr sz="1000">
                <a:solidFill>
                  <a:srgbClr val="D8E1E8"/>
                </a:solidFill>
                <a:latin typeface="Consolas"/>
              </a:rPr>
              <a:t>jakarta</a:t>
            </a:r>
            <a:r>
              <a:rPr sz="1000">
                <a:solidFill>
                  <a:srgbClr val="D8E1E8"/>
                </a:solidFill>
                <a:latin typeface="Consolas"/>
              </a:rPr>
              <a:t>.</a:t>
            </a:r>
            <a:r>
              <a:rPr sz="1000">
                <a:solidFill>
                  <a:srgbClr val="D8E1E8"/>
                </a:solidFill>
                <a:latin typeface="Consolas"/>
              </a:rPr>
              <a:t>validation</a:t>
            </a:r>
            <a:r>
              <a:rPr sz="1000">
                <a:solidFill>
                  <a:srgbClr val="D8E1E8"/>
                </a:solidFill>
                <a:latin typeface="Consolas"/>
              </a:rPr>
              <a:t>.</a:t>
            </a:r>
            <a:r>
              <a:rPr sz="1000">
                <a:solidFill>
                  <a:srgbClr val="D8E1E8"/>
                </a:solidFill>
                <a:latin typeface="Consolas"/>
              </a:rPr>
              <a:t>constraints</a:t>
            </a:r>
            <a:r>
              <a:rPr sz="1000">
                <a:solidFill>
                  <a:srgbClr val="D8E1E8"/>
                </a:solidFill>
                <a:latin typeface="Consolas"/>
              </a:rPr>
              <a:t> </a:t>
            </a:r>
            <a:r>
              <a:rPr sz="1000">
                <a:solidFill>
                  <a:srgbClr val="F19111"/>
                </a:solidFill>
                <a:latin typeface="Consolas"/>
              </a:rPr>
              <a:t>import</a:t>
            </a:r>
            <a:r>
              <a:rPr sz="1000">
                <a:solidFill>
                  <a:srgbClr val="D8E1E8"/>
                </a:solidFill>
                <a:latin typeface="Consolas"/>
              </a:rPr>
              <a:t> </a:t>
            </a:r>
            <a:r>
              <a:rPr sz="1000">
                <a:solidFill>
                  <a:srgbClr val="6DBEE7"/>
                </a:solidFill>
                <a:latin typeface="Consolas"/>
              </a:rPr>
              <a:t>NotBlank</a:t>
            </a:r>
          </a:p>
          <a:p>
            <a:pPr>
              <a:lnSpc>
                <a:spcPct val="100000"/>
              </a:lnSpc>
              <a:buNone/>
            </a:pPr>
            <a:r>
              <a:rPr sz="1000">
                <a:solidFill>
                  <a:srgbClr val="F19111"/>
                </a:solidFill>
                <a:latin typeface="Consolas"/>
              </a:rPr>
              <a:t>from</a:t>
            </a:r>
            <a:r>
              <a:rPr sz="1000">
                <a:solidFill>
                  <a:srgbClr val="D8E1E8"/>
                </a:solidFill>
                <a:latin typeface="Consolas"/>
              </a:rPr>
              <a:t> </a:t>
            </a:r>
            <a:r>
              <a:rPr sz="1000">
                <a:solidFill>
                  <a:srgbClr val="D8E1E8"/>
                </a:solidFill>
                <a:latin typeface="Consolas"/>
              </a:rPr>
              <a:t>micronaut</a:t>
            </a:r>
            <a:r>
              <a:rPr sz="1000">
                <a:solidFill>
                  <a:srgbClr val="D8E1E8"/>
                </a:solidFill>
                <a:latin typeface="Consolas"/>
              </a:rPr>
              <a:t>.</a:t>
            </a:r>
            <a:r>
              <a:rPr sz="1000">
                <a:solidFill>
                  <a:srgbClr val="D8E1E8"/>
                </a:solidFill>
                <a:latin typeface="Consolas"/>
              </a:rPr>
              <a:t>http</a:t>
            </a:r>
            <a:r>
              <a:rPr sz="1000">
                <a:solidFill>
                  <a:srgbClr val="D8E1E8"/>
                </a:solidFill>
                <a:latin typeface="Consolas"/>
              </a:rPr>
              <a:t>.</a:t>
            </a:r>
            <a:r>
              <a:rPr sz="1000">
                <a:solidFill>
                  <a:srgbClr val="D8E1E8"/>
                </a:solidFill>
                <a:latin typeface="Consolas"/>
              </a:rPr>
              <a:t>annotation</a:t>
            </a:r>
            <a:r>
              <a:rPr sz="1000">
                <a:solidFill>
                  <a:srgbClr val="D8E1E8"/>
                </a:solidFill>
                <a:latin typeface="Consolas"/>
              </a:rPr>
              <a:t> </a:t>
            </a:r>
            <a:r>
              <a:rPr sz="1000">
                <a:solidFill>
                  <a:srgbClr val="F19111"/>
                </a:solidFill>
                <a:latin typeface="Consolas"/>
              </a:rPr>
              <a:t>import</a:t>
            </a:r>
            <a:r>
              <a:rPr sz="1000">
                <a:solidFill>
                  <a:srgbClr val="D8E1E8"/>
                </a:solidFill>
                <a:latin typeface="Consolas"/>
              </a:rPr>
              <a:t> </a:t>
            </a:r>
            <a:r>
              <a:rPr sz="1000">
                <a:solidFill>
                  <a:srgbClr val="6DBEE7"/>
                </a:solidFill>
                <a:latin typeface="Consolas"/>
              </a:rPr>
              <a:t>Controller</a:t>
            </a:r>
            <a:r>
              <a:rPr sz="1000">
                <a:solidFill>
                  <a:srgbClr val="D8E1E8"/>
                </a:solidFill>
                <a:latin typeface="Consolas"/>
              </a:rPr>
              <a:t>,</a:t>
            </a:r>
            <a:r>
              <a:rPr sz="1000">
                <a:solidFill>
                  <a:srgbClr val="D8E1E8"/>
                </a:solidFill>
                <a:latin typeface="Consolas"/>
              </a:rPr>
              <a:t> </a:t>
            </a:r>
            <a:r>
              <a:rPr sz="1000">
                <a:solidFill>
                  <a:srgbClr val="6DBEE7"/>
                </a:solidFill>
                <a:latin typeface="Consolas"/>
              </a:rPr>
              <a:t>Error</a:t>
            </a:r>
            <a:r>
              <a:rPr sz="1000">
                <a:solidFill>
                  <a:srgbClr val="D8E1E8"/>
                </a:solidFill>
                <a:latin typeface="Consolas"/>
              </a:rPr>
              <a:t>,</a:t>
            </a:r>
            <a:r>
              <a:rPr sz="1000">
                <a:solidFill>
                  <a:srgbClr val="D8E1E8"/>
                </a:solidFill>
                <a:latin typeface="Consolas"/>
              </a:rPr>
              <a:t> </a:t>
            </a:r>
            <a:r>
              <a:rPr sz="1000">
                <a:solidFill>
                  <a:srgbClr val="6DBEE7"/>
                </a:solidFill>
                <a:latin typeface="Consolas"/>
              </a:rPr>
              <a:t>Get</a:t>
            </a:r>
          </a:p>
          <a:p>
            <a:pPr>
              <a:lnSpc>
                <a:spcPct val="100000"/>
              </a:lnSpc>
              <a:buNone/>
            </a:pPr>
            <a:r>
              <a:rPr sz="1000">
                <a:latin typeface="Consolas"/>
              </a:rPr>
              <a:t> </a:t>
            </a:r>
          </a:p>
          <a:p>
            <a:pPr>
              <a:lnSpc>
                <a:spcPct val="100000"/>
              </a:lnSpc>
              <a:buNone/>
            </a:pPr>
            <a:r>
              <a:rPr sz="1000">
                <a:solidFill>
                  <a:srgbClr val="F0CC72"/>
                </a:solidFill>
                <a:latin typeface="Consolas"/>
              </a:rPr>
              <a:t>@Controller</a:t>
            </a:r>
            <a:r>
              <a:rPr sz="1000">
                <a:solidFill>
                  <a:srgbClr val="D8E1E8"/>
                </a:solidFill>
                <a:latin typeface="Consolas"/>
              </a:rPr>
              <a:t>(</a:t>
            </a:r>
            <a:r>
              <a:rPr sz="1000">
                <a:solidFill>
                  <a:srgbClr val="A5D6A7"/>
                </a:solidFill>
                <a:latin typeface="Consolas"/>
              </a:rPr>
              <a:t>"/greet"</a:t>
            </a:r>
            <a:r>
              <a:rPr sz="1000">
                <a:solidFill>
                  <a:srgbClr val="D8E1E8"/>
                </a:solidFill>
                <a:latin typeface="Consolas"/>
              </a:rPr>
              <a:t>)</a:t>
            </a:r>
          </a:p>
          <a:p>
            <a:pPr>
              <a:lnSpc>
                <a:spcPct val="100000"/>
              </a:lnSpc>
              <a:buNone/>
            </a:pPr>
            <a:r>
              <a:rPr sz="1000">
                <a:solidFill>
                  <a:srgbClr val="F19111"/>
                </a:solidFill>
                <a:latin typeface="Consolas"/>
              </a:rPr>
              <a:t>class</a:t>
            </a:r>
            <a:r>
              <a:rPr sz="1000">
                <a:solidFill>
                  <a:srgbClr val="D8E1E8"/>
                </a:solidFill>
                <a:latin typeface="Consolas"/>
              </a:rPr>
              <a:t> </a:t>
            </a:r>
            <a:r>
              <a:rPr sz="1000">
                <a:solidFill>
                  <a:srgbClr val="6DBEE7"/>
                </a:solidFill>
                <a:latin typeface="Consolas"/>
              </a:rPr>
              <a:t>GreetController</a:t>
            </a:r>
            <a:r>
              <a:rPr sz="1000">
                <a:solidFill>
                  <a:srgbClr val="D8E1E8"/>
                </a:solidFill>
                <a:latin typeface="Consolas"/>
              </a:rPr>
              <a:t>:</a:t>
            </a:r>
          </a:p>
          <a:p>
            <a:pPr>
              <a:lnSpc>
                <a:spcPct val="100000"/>
              </a:lnSpc>
              <a:buNone/>
            </a:pPr>
            <a:r>
              <a:rPr sz="1000">
                <a:latin typeface="Consolas"/>
              </a:rPr>
              <a:t> </a:t>
            </a:r>
          </a:p>
          <a:p>
            <a:pPr>
              <a:lnSpc>
                <a:spcPct val="100000"/>
              </a:lnSpc>
              <a:buNone/>
            </a:pPr>
            <a:r>
              <a:rPr sz="1000">
                <a:solidFill>
                  <a:srgbClr val="D8E1E8"/>
                </a:solidFill>
                <a:latin typeface="Consolas"/>
              </a:rPr>
              <a:t>    </a:t>
            </a:r>
            <a:r>
              <a:rPr sz="1000">
                <a:solidFill>
                  <a:srgbClr val="F0CC72"/>
                </a:solidFill>
                <a:latin typeface="Consolas"/>
              </a:rPr>
              <a:t>@Get</a:t>
            </a:r>
            <a:r>
              <a:rPr sz="1000">
                <a:solidFill>
                  <a:srgbClr val="D8E1E8"/>
                </a:solidFill>
                <a:latin typeface="Consolas"/>
              </a:rPr>
              <a:t>(</a:t>
            </a:r>
            <a:r>
              <a:rPr sz="1000">
                <a:solidFill>
                  <a:srgbClr val="A5D6A7"/>
                </a:solidFill>
                <a:latin typeface="Consolas"/>
              </a:rPr>
              <a:t>"/{name}"</a:t>
            </a:r>
            <a:r>
              <a:rPr sz="1000">
                <a:solidFill>
                  <a:srgbClr val="D8E1E8"/>
                </a:solidFill>
                <a:latin typeface="Consolas"/>
              </a:rPr>
              <a:t>)</a:t>
            </a:r>
          </a:p>
          <a:p>
            <a:pPr>
              <a:lnSpc>
                <a:spcPct val="100000"/>
              </a:lnSpc>
              <a:buNone/>
            </a:pPr>
            <a:r>
              <a:rPr sz="1000">
                <a:solidFill>
                  <a:srgbClr val="D8E1E8"/>
                </a:solidFill>
                <a:latin typeface="Consolas"/>
              </a:rPr>
              <a:t>    </a:t>
            </a:r>
            <a:r>
              <a:rPr sz="1000">
                <a:solidFill>
                  <a:srgbClr val="F19111"/>
                </a:solidFill>
                <a:latin typeface="Consolas"/>
              </a:rPr>
              <a:t>def</a:t>
            </a:r>
            <a:r>
              <a:rPr sz="1000">
                <a:solidFill>
                  <a:srgbClr val="D8E1E8"/>
                </a:solidFill>
                <a:latin typeface="Consolas"/>
              </a:rPr>
              <a:t> </a:t>
            </a:r>
            <a:r>
              <a:rPr sz="1000">
                <a:solidFill>
                  <a:srgbClr val="D8E1E8"/>
                </a:solidFill>
                <a:latin typeface="Consolas"/>
              </a:rPr>
              <a:t>greet</a:t>
            </a:r>
            <a:r>
              <a:rPr sz="1000">
                <a:solidFill>
                  <a:srgbClr val="D8E1E8"/>
                </a:solidFill>
                <a:latin typeface="Consolas"/>
              </a:rPr>
              <a:t>(</a:t>
            </a:r>
            <a:r>
              <a:rPr sz="1000">
                <a:solidFill>
                  <a:srgbClr val="F19111"/>
                </a:solidFill>
                <a:latin typeface="Consolas"/>
              </a:rPr>
              <a:t>self</a:t>
            </a:r>
            <a:r>
              <a:rPr sz="1000">
                <a:solidFill>
                  <a:srgbClr val="D8E1E8"/>
                </a:solidFill>
                <a:latin typeface="Consolas"/>
              </a:rPr>
              <a:t>,</a:t>
            </a:r>
            <a:r>
              <a:rPr sz="1000">
                <a:solidFill>
                  <a:srgbClr val="D8E1E8"/>
                </a:solidFill>
                <a:latin typeface="Consolas"/>
              </a:rPr>
              <a:t> </a:t>
            </a:r>
            <a:r>
              <a:rPr sz="1000">
                <a:solidFill>
                  <a:srgbClr val="D8E1E8"/>
                </a:solidFill>
                <a:latin typeface="Consolas"/>
              </a:rPr>
              <a:t>name</a:t>
            </a:r>
            <a:r>
              <a:rPr sz="1000">
                <a:solidFill>
                  <a:srgbClr val="D8E1E8"/>
                </a:solidFill>
                <a:latin typeface="Consolas"/>
              </a:rPr>
              <a:t>:</a:t>
            </a:r>
            <a:r>
              <a:rPr sz="1000">
                <a:solidFill>
                  <a:srgbClr val="D8E1E8"/>
                </a:solidFill>
                <a:latin typeface="Consolas"/>
              </a:rPr>
              <a:t> </a:t>
            </a:r>
            <a:r>
              <a:rPr sz="1000">
                <a:solidFill>
                  <a:srgbClr val="6DBEE7"/>
                </a:solidFill>
                <a:latin typeface="Consolas"/>
              </a:rPr>
              <a:t>Annotated</a:t>
            </a:r>
            <a:r>
              <a:rPr sz="1000">
                <a:solidFill>
                  <a:srgbClr val="D8E1E8"/>
                </a:solidFill>
                <a:latin typeface="Consolas"/>
              </a:rPr>
              <a:t>[</a:t>
            </a:r>
            <a:r>
              <a:rPr sz="1000">
                <a:solidFill>
                  <a:srgbClr val="D8E1E8"/>
                </a:solidFill>
                <a:latin typeface="Consolas"/>
              </a:rPr>
              <a:t>str</a:t>
            </a:r>
            <a:r>
              <a:rPr sz="1000">
                <a:solidFill>
                  <a:srgbClr val="D8E1E8"/>
                </a:solidFill>
                <a:latin typeface="Consolas"/>
              </a:rPr>
              <a:t>,</a:t>
            </a:r>
            <a:r>
              <a:rPr sz="1000">
                <a:solidFill>
                  <a:srgbClr val="D8E1E8"/>
                </a:solidFill>
                <a:latin typeface="Consolas"/>
              </a:rPr>
              <a:t> </a:t>
            </a:r>
            <a:r>
              <a:rPr sz="1000">
                <a:solidFill>
                  <a:srgbClr val="6DBEE7"/>
                </a:solidFill>
                <a:latin typeface="Consolas"/>
              </a:rPr>
              <a:t>NotBlank</a:t>
            </a:r>
            <a:r>
              <a:rPr sz="1000">
                <a:solidFill>
                  <a:srgbClr val="D8E1E8"/>
                </a:solidFill>
                <a:latin typeface="Consolas"/>
              </a:rPr>
              <a:t>]</a:t>
            </a:r>
            <a:r>
              <a:rPr sz="1000">
                <a:solidFill>
                  <a:srgbClr val="D8E1E8"/>
                </a:solidFill>
                <a:latin typeface="Consolas"/>
              </a:rPr>
              <a:t>)</a:t>
            </a:r>
            <a:r>
              <a:rPr sz="1000">
                <a:solidFill>
                  <a:srgbClr val="D8E1E8"/>
                </a:solidFill>
                <a:latin typeface="Consolas"/>
              </a:rPr>
              <a:t> </a:t>
            </a:r>
            <a:r>
              <a:rPr sz="1000">
                <a:solidFill>
                  <a:srgbClr val="D8E1E8"/>
                </a:solidFill>
                <a:latin typeface="Consolas"/>
              </a:rPr>
              <a:t>-</a:t>
            </a:r>
            <a:r>
              <a:rPr sz="1000">
                <a:solidFill>
                  <a:srgbClr val="D8E1E8"/>
                </a:solidFill>
                <a:latin typeface="Consolas"/>
              </a:rPr>
              <a:t>&gt;</a:t>
            </a:r>
            <a:r>
              <a:rPr sz="1000">
                <a:solidFill>
                  <a:srgbClr val="D8E1E8"/>
                </a:solidFill>
                <a:latin typeface="Consolas"/>
              </a:rPr>
              <a:t> </a:t>
            </a:r>
            <a:r>
              <a:rPr sz="1000">
                <a:solidFill>
                  <a:srgbClr val="D8E1E8"/>
                </a:solidFill>
                <a:latin typeface="Consolas"/>
              </a:rPr>
              <a:t>str</a:t>
            </a:r>
            <a:r>
              <a:rPr sz="1000">
                <a:solidFill>
                  <a:srgbClr val="D8E1E8"/>
                </a:solidFill>
                <a:latin typeface="Consolas"/>
              </a:rPr>
              <a:t>:</a:t>
            </a:r>
          </a:p>
          <a:p>
            <a:pPr>
              <a:lnSpc>
                <a:spcPct val="100000"/>
              </a:lnSpc>
              <a:buNone/>
            </a:pPr>
            <a:r>
              <a:rPr sz="1000">
                <a:solidFill>
                  <a:srgbClr val="D8E1E8"/>
                </a:solidFill>
                <a:latin typeface="Consolas"/>
              </a:rPr>
              <a:t>        </a:t>
            </a:r>
            <a:r>
              <a:rPr sz="1000">
                <a:solidFill>
                  <a:srgbClr val="F19111"/>
                </a:solidFill>
                <a:latin typeface="Consolas"/>
              </a:rPr>
              <a:t>return</a:t>
            </a:r>
            <a:r>
              <a:rPr sz="1000">
                <a:solidFill>
                  <a:srgbClr val="D8E1E8"/>
                </a:solidFill>
                <a:latin typeface="Consolas"/>
              </a:rPr>
              <a:t> </a:t>
            </a:r>
            <a:r>
              <a:rPr sz="1000">
                <a:solidFill>
                  <a:srgbClr val="D8E1E8"/>
                </a:solidFill>
                <a:latin typeface="Consolas"/>
              </a:rPr>
              <a:t>f</a:t>
            </a:r>
            <a:r>
              <a:rPr sz="1000">
                <a:solidFill>
                  <a:srgbClr val="A5D6A7"/>
                </a:solidFill>
                <a:latin typeface="Consolas"/>
              </a:rPr>
              <a:t>"Hello {name}"</a:t>
            </a:r>
          </a:p>
          <a:p>
            <a:pPr>
              <a:lnSpc>
                <a:spcPct val="100000"/>
              </a:lnSpc>
              <a:buNone/>
            </a:pPr>
            <a:r>
              <a:rPr sz="1000">
                <a:latin typeface="Consolas"/>
              </a:rPr>
              <a:t> </a:t>
            </a:r>
          </a:p>
          <a:p>
            <a:pPr>
              <a:lnSpc>
                <a:spcPct val="100000"/>
              </a:lnSpc>
              <a:buNone/>
            </a:pPr>
            <a:r>
              <a:rPr sz="1000">
                <a:solidFill>
                  <a:srgbClr val="D8E1E8"/>
                </a:solidFill>
                <a:latin typeface="Consolas"/>
              </a:rPr>
              <a:t>    </a:t>
            </a:r>
            <a:r>
              <a:rPr sz="1000">
                <a:solidFill>
                  <a:srgbClr val="F0CC72"/>
                </a:solidFill>
                <a:latin typeface="Consolas"/>
              </a:rPr>
              <a:t>@Error</a:t>
            </a:r>
            <a:r>
              <a:rPr sz="1000">
                <a:solidFill>
                  <a:srgbClr val="D8E1E8"/>
                </a:solidFill>
                <a:latin typeface="Consolas"/>
              </a:rPr>
              <a:t>(</a:t>
            </a:r>
            <a:r>
              <a:rPr sz="1000">
                <a:solidFill>
                  <a:srgbClr val="D8E1E8"/>
                </a:solidFill>
                <a:latin typeface="Consolas"/>
              </a:rPr>
              <a:t>global_</a:t>
            </a:r>
            <a:r>
              <a:rPr sz="1000">
                <a:solidFill>
                  <a:srgbClr val="D8E1E8"/>
                </a:solidFill>
                <a:latin typeface="Consolas"/>
              </a:rPr>
              <a:t>=</a:t>
            </a:r>
            <a:r>
              <a:rPr sz="1000">
                <a:solidFill>
                  <a:srgbClr val="F19111"/>
                </a:solidFill>
                <a:latin typeface="Consolas"/>
              </a:rPr>
              <a:t>True</a:t>
            </a:r>
            <a:r>
              <a:rPr sz="1000">
                <a:solidFill>
                  <a:srgbClr val="D8E1E8"/>
                </a:solidFill>
                <a:latin typeface="Consolas"/>
              </a:rPr>
              <a:t>)</a:t>
            </a:r>
          </a:p>
          <a:p>
            <a:pPr>
              <a:lnSpc>
                <a:spcPct val="100000"/>
              </a:lnSpc>
              <a:buNone/>
            </a:pPr>
            <a:r>
              <a:rPr sz="1000">
                <a:solidFill>
                  <a:srgbClr val="D8E1E8"/>
                </a:solidFill>
                <a:latin typeface="Consolas"/>
              </a:rPr>
              <a:t>    </a:t>
            </a:r>
            <a:r>
              <a:rPr sz="1000">
                <a:solidFill>
                  <a:srgbClr val="F19111"/>
                </a:solidFill>
                <a:latin typeface="Consolas"/>
              </a:rPr>
              <a:t>def</a:t>
            </a:r>
            <a:r>
              <a:rPr sz="1000">
                <a:solidFill>
                  <a:srgbClr val="D8E1E8"/>
                </a:solidFill>
                <a:latin typeface="Consolas"/>
              </a:rPr>
              <a:t> </a:t>
            </a:r>
            <a:r>
              <a:rPr sz="1000">
                <a:solidFill>
                  <a:srgbClr val="D8E1E8"/>
                </a:solidFill>
                <a:latin typeface="Consolas"/>
              </a:rPr>
              <a:t>handle</a:t>
            </a:r>
            <a:r>
              <a:rPr sz="1000">
                <a:solidFill>
                  <a:srgbClr val="D8E1E8"/>
                </a:solidFill>
                <a:latin typeface="Consolas"/>
              </a:rPr>
              <a:t>(</a:t>
            </a:r>
            <a:r>
              <a:rPr sz="1000">
                <a:solidFill>
                  <a:srgbClr val="F19111"/>
                </a:solidFill>
                <a:latin typeface="Consolas"/>
              </a:rPr>
              <a:t>self</a:t>
            </a:r>
            <a:r>
              <a:rPr sz="1000">
                <a:solidFill>
                  <a:srgbClr val="D8E1E8"/>
                </a:solidFill>
                <a:latin typeface="Consolas"/>
              </a:rPr>
              <a:t>,</a:t>
            </a:r>
            <a:r>
              <a:rPr sz="1000">
                <a:solidFill>
                  <a:srgbClr val="D8E1E8"/>
                </a:solidFill>
                <a:latin typeface="Consolas"/>
              </a:rPr>
              <a:t> </a:t>
            </a:r>
            <a:r>
              <a:rPr sz="1000">
                <a:solidFill>
                  <a:srgbClr val="D8E1E8"/>
                </a:solidFill>
                <a:latin typeface="Consolas"/>
              </a:rPr>
              <a:t>request</a:t>
            </a:r>
            <a:r>
              <a:rPr sz="1000">
                <a:solidFill>
                  <a:srgbClr val="D8E1E8"/>
                </a:solidFill>
                <a:latin typeface="Consolas"/>
              </a:rPr>
              <a:t>,</a:t>
            </a:r>
            <a:r>
              <a:rPr sz="1000">
                <a:solidFill>
                  <a:srgbClr val="D8E1E8"/>
                </a:solidFill>
                <a:latin typeface="Consolas"/>
              </a:rPr>
              <a:t> </a:t>
            </a:r>
            <a:r>
              <a:rPr sz="1000">
                <a:solidFill>
                  <a:srgbClr val="D8E1E8"/>
                </a:solidFill>
                <a:latin typeface="Consolas"/>
              </a:rPr>
              <a:t>error</a:t>
            </a:r>
            <a:r>
              <a:rPr sz="1000">
                <a:solidFill>
                  <a:srgbClr val="D8E1E8"/>
                </a:solidFill>
                <a:latin typeface="Consolas"/>
              </a:rPr>
              <a:t>)</a:t>
            </a:r>
            <a:r>
              <a:rPr sz="1000">
                <a:solidFill>
                  <a:srgbClr val="D8E1E8"/>
                </a:solidFill>
                <a:latin typeface="Consolas"/>
              </a:rPr>
              <a:t>:</a:t>
            </a:r>
            <a:r>
              <a:rPr sz="1000">
                <a:solidFill>
                  <a:srgbClr val="D8E1E8"/>
                </a:solidFill>
                <a:latin typeface="Consolas"/>
              </a:rPr>
              <a:t> </a:t>
            </a:r>
            <a:r>
              <a:rPr sz="1000">
                <a:solidFill>
                  <a:srgbClr val="D8E1E8"/>
                </a:solidFill>
                <a:latin typeface="Consolas"/>
              </a:rPr>
              <a:t>.</a:t>
            </a:r>
            <a:r>
              <a:rPr sz="1000">
                <a:solidFill>
                  <a:srgbClr val="D8E1E8"/>
                </a:solidFill>
                <a:latin typeface="Consolas"/>
              </a:rPr>
              <a:t>.</a:t>
            </a:r>
            <a:r>
              <a:rPr sz="1000">
                <a:solidFill>
                  <a:srgbClr val="D8E1E8"/>
                </a:solidFill>
                <a:latin typeface="Consolas"/>
              </a:rPr>
              <a:t>.</a:t>
            </a:r>
          </a:p>
        </p:txBody>
      </p:sp>
      <p:sp>
        <p:nvSpPr>
          <p:cNvPr id="18" name="TextBox 17"/>
          <p:cNvSpPr txBox="1"/>
          <p:nvPr/>
        </p:nvSpPr>
        <p:spPr>
          <a:xfrm>
            <a:off x="6217920" y="1536192"/>
            <a:ext cx="5212080" cy="256032"/>
          </a:xfrm>
          <a:prstGeom prst="rect">
            <a:avLst/>
          </a:prstGeom>
          <a:noFill/>
        </p:spPr>
        <p:txBody>
          <a:bodyPr wrap="square" lIns="0" rIns="0" tIns="0" bIns="0" anchor="ctr"/>
          <a:lstStyle/>
          <a:p>
            <a:pPr algn="l">
              <a:buNone/>
            </a:pPr>
            <a:r>
              <a:rPr sz="1100" b="1">
                <a:solidFill>
                  <a:srgbClr val="6DBEE7"/>
                </a:solidFill>
              </a:rPr>
              <a:t>MICRONAUTTRANSFORMER GENERATES (SIMPLIFIED)</a:t>
            </a:r>
          </a:p>
        </p:txBody>
      </p:sp>
      <p:sp>
        <p:nvSpPr>
          <p:cNvPr id="19" name="Rounded Rectangle 18"/>
          <p:cNvSpPr/>
          <p:nvPr/>
        </p:nvSpPr>
        <p:spPr>
          <a:xfrm>
            <a:off x="6217920" y="1828800"/>
            <a:ext cx="5212080" cy="3611880"/>
          </a:xfrm>
          <a:prstGeom prst="roundRect">
            <a:avLst>
              <a:gd name="adj" fmla="val 1518"/>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0" name="Rectangle 19"/>
          <p:cNvSpPr/>
          <p:nvPr/>
        </p:nvSpPr>
        <p:spPr>
          <a:xfrm>
            <a:off x="6217920" y="1828800"/>
            <a:ext cx="521208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Oval 20"/>
          <p:cNvSpPr/>
          <p:nvPr/>
        </p:nvSpPr>
        <p:spPr>
          <a:xfrm>
            <a:off x="6345936" y="19156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19672" y="19156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93407" y="19156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1828800"/>
            <a:ext cx="4343400" cy="274320"/>
          </a:xfrm>
          <a:prstGeom prst="rect">
            <a:avLst/>
          </a:prstGeom>
          <a:noFill/>
        </p:spPr>
        <p:txBody>
          <a:bodyPr wrap="square" lIns="0" rIns="0" tIns="0" bIns="0" anchor="ctr"/>
          <a:lstStyle/>
          <a:p>
            <a:pPr algn="r">
              <a:buNone/>
            </a:pPr>
            <a:r>
              <a:rPr sz="1050">
                <a:solidFill>
                  <a:srgbClr val="A9B7C4"/>
                </a:solidFill>
                <a:latin typeface="Consolas"/>
              </a:rPr>
              <a:t>generated decorator</a:t>
            </a:r>
          </a:p>
        </p:txBody>
      </p:sp>
      <p:sp>
        <p:nvSpPr>
          <p:cNvPr id="25" name="TextBox 24"/>
          <p:cNvSpPr txBox="1"/>
          <p:nvPr/>
        </p:nvSpPr>
        <p:spPr>
          <a:xfrm>
            <a:off x="6382512" y="2212848"/>
            <a:ext cx="4937760" cy="3154680"/>
          </a:xfrm>
          <a:prstGeom prst="rect">
            <a:avLst/>
          </a:prstGeom>
          <a:noFill/>
        </p:spPr>
        <p:txBody>
          <a:bodyPr wrap="none" lIns="0" rIns="0" tIns="0" bIns="0"/>
          <a:lstStyle/>
          <a:p>
            <a:pPr>
              <a:lnSpc>
                <a:spcPct val="100000"/>
              </a:lnSpc>
              <a:buNone/>
            </a:pPr>
            <a:r>
              <a:rPr sz="1050">
                <a:solidFill>
                  <a:srgbClr val="F19111"/>
                </a:solidFill>
                <a:latin typeface="Consolas"/>
              </a:rPr>
              <a:t>def</a:t>
            </a:r>
            <a:r>
              <a:rPr sz="1050">
                <a:solidFill>
                  <a:srgbClr val="D8E1E8"/>
                </a:solidFill>
                <a:latin typeface="Consolas"/>
              </a:rPr>
              <a:t> </a:t>
            </a:r>
            <a:r>
              <a:rPr sz="1050">
                <a:solidFill>
                  <a:srgbClr val="D8E1E8"/>
                </a:solidFill>
                <a:latin typeface="Consolas"/>
              </a:rPr>
              <a:t>micronaut_annotation</a:t>
            </a:r>
            <a:r>
              <a:rPr sz="1050">
                <a:solidFill>
                  <a:srgbClr val="D8E1E8"/>
                </a:solidFill>
                <a:latin typeface="Consolas"/>
              </a:rPr>
              <a:t>(</a:t>
            </a:r>
            <a:r>
              <a:rPr sz="1050">
                <a:solidFill>
                  <a:srgbClr val="D8E1E8"/>
                </a:solidFill>
                <a:latin typeface="Consolas"/>
              </a:rPr>
              <a:t>name</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repeated</a:t>
            </a:r>
            <a:r>
              <a:rPr sz="1050">
                <a:solidFill>
                  <a:srgbClr val="D8E1E8"/>
                </a:solidFill>
                <a:latin typeface="Consolas"/>
              </a:rPr>
              <a:t>=</a:t>
            </a:r>
            <a:r>
              <a:rPr sz="1050">
                <a:solidFill>
                  <a:srgbClr val="F19111"/>
                </a:solidFill>
                <a:latin typeface="Consolas"/>
              </a:rPr>
              <a:t>None</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annotationTypeTarget</a:t>
            </a:r>
            <a:r>
              <a:rPr sz="1050">
                <a:solidFill>
                  <a:srgbClr val="D8E1E8"/>
                </a:solidFill>
                <a:latin typeface="Consolas"/>
              </a:rPr>
              <a:t>=</a:t>
            </a:r>
            <a:r>
              <a:rPr sz="1050">
                <a:solidFill>
                  <a:srgbClr val="F19111"/>
                </a:solidFill>
                <a:latin typeface="Consolas"/>
              </a:rPr>
              <a:t>False</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def</a:t>
            </a:r>
            <a:r>
              <a:rPr sz="1050">
                <a:solidFill>
                  <a:srgbClr val="D8E1E8"/>
                </a:solidFill>
                <a:latin typeface="Consolas"/>
              </a:rPr>
              <a:t> </a:t>
            </a:r>
            <a:r>
              <a:rPr sz="1050">
                <a:solidFill>
                  <a:srgbClr val="D8E1E8"/>
                </a:solidFill>
                <a:latin typeface="Consolas"/>
              </a:rPr>
              <a:t>decorator</a:t>
            </a:r>
            <a:r>
              <a:rPr sz="1050">
                <a:solidFill>
                  <a:srgbClr val="D8E1E8"/>
                </a:solidFill>
                <a:latin typeface="Consolas"/>
              </a:rPr>
              <a:t>(</a:t>
            </a:r>
            <a:r>
              <a:rPr sz="1050">
                <a:solidFill>
                  <a:srgbClr val="D8E1E8"/>
                </a:solidFill>
                <a:latin typeface="Consolas"/>
              </a:rPr>
              <a:t>func</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return</a:t>
            </a:r>
            <a:r>
              <a:rPr sz="1050">
                <a:solidFill>
                  <a:srgbClr val="D8E1E8"/>
                </a:solidFill>
                <a:latin typeface="Consolas"/>
              </a:rPr>
              <a:t> </a:t>
            </a:r>
            <a:r>
              <a:rPr sz="1050">
                <a:solidFill>
                  <a:srgbClr val="D8E1E8"/>
                </a:solidFill>
                <a:latin typeface="Consolas"/>
              </a:rPr>
              <a:t>func</a:t>
            </a:r>
          </a:p>
          <a:p>
            <a:pPr>
              <a:lnSpc>
                <a:spcPct val="100000"/>
              </a:lnSpc>
              <a:buNone/>
            </a:pPr>
            <a:r>
              <a:rPr sz="1050">
                <a:solidFill>
                  <a:srgbClr val="D8E1E8"/>
                </a:solidFill>
                <a:latin typeface="Consolas"/>
              </a:rPr>
              <a:t>    </a:t>
            </a:r>
            <a:r>
              <a:rPr sz="1050">
                <a:solidFill>
                  <a:srgbClr val="F19111"/>
                </a:solidFill>
                <a:latin typeface="Consolas"/>
              </a:rPr>
              <a:t>return</a:t>
            </a:r>
            <a:r>
              <a:rPr sz="1050">
                <a:solidFill>
                  <a:srgbClr val="D8E1E8"/>
                </a:solidFill>
                <a:latin typeface="Consolas"/>
              </a:rPr>
              <a:t> </a:t>
            </a:r>
            <a:r>
              <a:rPr sz="1050">
                <a:solidFill>
                  <a:srgbClr val="D8E1E8"/>
                </a:solidFill>
                <a:latin typeface="Consolas"/>
              </a:rPr>
              <a:t>decorator</a:t>
            </a:r>
          </a:p>
          <a:p>
            <a:pPr>
              <a:lnSpc>
                <a:spcPct val="100000"/>
              </a:lnSpc>
              <a:buNone/>
            </a:pPr>
            <a:r>
              <a:rPr sz="1050">
                <a:latin typeface="Consolas"/>
              </a:rPr>
              <a:t> </a:t>
            </a:r>
          </a:p>
          <a:p>
            <a:pPr>
              <a:lnSpc>
                <a:spcPct val="100000"/>
              </a:lnSpc>
              <a:buNone/>
            </a:pPr>
            <a:r>
              <a:rPr sz="1050">
                <a:solidFill>
                  <a:srgbClr val="F0CC72"/>
                </a:solidFill>
                <a:latin typeface="Consolas"/>
              </a:rPr>
              <a:t>@micronaut_annotation</a:t>
            </a:r>
            <a:r>
              <a:rPr sz="1050">
                <a:solidFill>
                  <a:srgbClr val="D8E1E8"/>
                </a:solidFill>
                <a:latin typeface="Consolas"/>
              </a:rPr>
              <a:t>(</a:t>
            </a:r>
            <a:r>
              <a:rPr sz="1050">
                <a:solidFill>
                  <a:srgbClr val="A5D6A7"/>
                </a:solidFill>
                <a:latin typeface="Consolas"/>
              </a:rPr>
              <a:t>"io.micronaut.http.annotation.Get"</a:t>
            </a:r>
            <a:r>
              <a:rPr sz="1050">
                <a:solidFill>
                  <a:srgbClr val="D8E1E8"/>
                </a:solidFill>
                <a:latin typeface="Consolas"/>
              </a:rPr>
              <a:t>)</a:t>
            </a:r>
          </a:p>
          <a:p>
            <a:pPr>
              <a:lnSpc>
                <a:spcPct val="100000"/>
              </a:lnSpc>
              <a:buNone/>
            </a:pPr>
            <a:r>
              <a:rPr sz="1050">
                <a:solidFill>
                  <a:srgbClr val="F0CC72"/>
                </a:solidFill>
                <a:latin typeface="Consolas"/>
              </a:rPr>
              <a:t>@HttpMethodMapping</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F19111"/>
                </a:solidFill>
                <a:latin typeface="Consolas"/>
              </a:rPr>
              <a:t>def</a:t>
            </a:r>
            <a:r>
              <a:rPr sz="1050">
                <a:solidFill>
                  <a:srgbClr val="D8E1E8"/>
                </a:solidFill>
                <a:latin typeface="Consolas"/>
              </a:rPr>
              <a:t> </a:t>
            </a:r>
            <a:r>
              <a:rPr sz="1050">
                <a:solidFill>
                  <a:srgbClr val="6DBEE7"/>
                </a:solidFill>
                <a:latin typeface="Consolas"/>
              </a:rPr>
              <a:t>Get</a:t>
            </a:r>
            <a:r>
              <a:rPr sz="1050">
                <a:solidFill>
                  <a:srgbClr val="D8E1E8"/>
                </a:solidFill>
                <a:latin typeface="Consolas"/>
              </a:rPr>
              <a:t>(</a:t>
            </a:r>
            <a:r>
              <a:rPr sz="1050">
                <a:solidFill>
                  <a:srgbClr val="D8E1E8"/>
                </a:solidFill>
                <a:latin typeface="Consolas"/>
              </a:rPr>
              <a:t>*</a:t>
            </a:r>
            <a:r>
              <a:rPr sz="1050">
                <a:solidFill>
                  <a:srgbClr val="D8E1E8"/>
                </a:solidFill>
                <a:latin typeface="Consolas"/>
              </a:rPr>
              <a:t>args</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a:t>
            </a:r>
            <a:r>
              <a:rPr sz="1050">
                <a:solidFill>
                  <a:srgbClr val="D8E1E8"/>
                </a:solidFill>
                <a:latin typeface="Consolas"/>
              </a:rPr>
              <a:t>kwargs</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if</a:t>
            </a:r>
            <a:r>
              <a:rPr sz="1050">
                <a:solidFill>
                  <a:srgbClr val="D8E1E8"/>
                </a:solidFill>
                <a:latin typeface="Consolas"/>
              </a:rPr>
              <a:t> </a:t>
            </a:r>
            <a:r>
              <a:rPr sz="1050">
                <a:solidFill>
                  <a:srgbClr val="D8E1E8"/>
                </a:solidFill>
                <a:latin typeface="Consolas"/>
              </a:rPr>
              <a:t>len</a:t>
            </a:r>
            <a:r>
              <a:rPr sz="1050">
                <a:solidFill>
                  <a:srgbClr val="D8E1E8"/>
                </a:solidFill>
                <a:latin typeface="Consolas"/>
              </a:rPr>
              <a:t>(</a:t>
            </a:r>
            <a:r>
              <a:rPr sz="1050">
                <a:solidFill>
                  <a:srgbClr val="D8E1E8"/>
                </a:solidFill>
                <a:latin typeface="Consolas"/>
              </a:rPr>
              <a:t>args</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t>
            </a:r>
            <a:r>
              <a:rPr sz="1050">
                <a:solidFill>
                  <a:srgbClr val="D8E1E8"/>
                </a:solidFill>
                <a:latin typeface="Consolas"/>
              </a:rPr>
              <a:t>=</a:t>
            </a:r>
            <a:r>
              <a:rPr sz="1050">
                <a:solidFill>
                  <a:srgbClr val="D8E1E8"/>
                </a:solidFill>
                <a:latin typeface="Consolas"/>
              </a:rPr>
              <a:t> </a:t>
            </a:r>
            <a:r>
              <a:rPr sz="1050">
                <a:solidFill>
                  <a:srgbClr val="C9A0DC"/>
                </a:solidFill>
                <a:latin typeface="Consolas"/>
              </a:rPr>
              <a:t>1</a:t>
            </a:r>
            <a:r>
              <a:rPr sz="1050">
                <a:solidFill>
                  <a:srgbClr val="D8E1E8"/>
                </a:solidFill>
                <a:latin typeface="Consolas"/>
              </a:rPr>
              <a:t> </a:t>
            </a:r>
            <a:r>
              <a:rPr sz="1050">
                <a:solidFill>
                  <a:srgbClr val="D8E1E8"/>
                </a:solidFill>
                <a:latin typeface="Consolas"/>
              </a:rPr>
              <a:t>and</a:t>
            </a:r>
            <a:r>
              <a:rPr sz="1050">
                <a:solidFill>
                  <a:srgbClr val="D8E1E8"/>
                </a:solidFill>
                <a:latin typeface="Consolas"/>
              </a:rPr>
              <a:t> </a:t>
            </a:r>
            <a:r>
              <a:rPr sz="1050">
                <a:solidFill>
                  <a:srgbClr val="D8E1E8"/>
                </a:solidFill>
                <a:latin typeface="Consolas"/>
              </a:rPr>
              <a:t>callable</a:t>
            </a:r>
            <a:r>
              <a:rPr sz="1050">
                <a:solidFill>
                  <a:srgbClr val="D8E1E8"/>
                </a:solidFill>
                <a:latin typeface="Consolas"/>
              </a:rPr>
              <a:t>(</a:t>
            </a:r>
            <a:r>
              <a:rPr sz="1050">
                <a:solidFill>
                  <a:srgbClr val="D8E1E8"/>
                </a:solidFill>
                <a:latin typeface="Consolas"/>
              </a:rPr>
              <a:t>args</a:t>
            </a:r>
            <a:r>
              <a:rPr sz="1050">
                <a:solidFill>
                  <a:srgbClr val="D8E1E8"/>
                </a:solidFill>
                <a:latin typeface="Consolas"/>
              </a:rPr>
              <a:t>[</a:t>
            </a:r>
            <a:r>
              <a:rPr sz="1050">
                <a:solidFill>
                  <a:srgbClr val="C9A0DC"/>
                </a:solidFill>
                <a:latin typeface="Consolas"/>
              </a:rPr>
              <a:t>0</a:t>
            </a:r>
            <a:r>
              <a:rPr sz="1050">
                <a:solidFill>
                  <a:srgbClr val="D8E1E8"/>
                </a:solidFill>
                <a:latin typeface="Consolas"/>
              </a:rPr>
              <a:t>]</a:t>
            </a:r>
            <a:r>
              <a:rPr sz="1050">
                <a:solidFill>
                  <a:srgbClr val="D8E1E8"/>
                </a:solidFill>
                <a:latin typeface="Consolas"/>
              </a:rPr>
              <a:t>)</a:t>
            </a:r>
            <a:r>
              <a:rPr sz="1050">
                <a:solidFill>
                  <a:srgbClr val="D8E1E8"/>
                </a:solidFill>
                <a:latin typeface="Consolas"/>
              </a:rPr>
              <a:t> </a:t>
            </a:r>
            <a:r>
              <a:rPr sz="1050">
                <a:solidFill>
                  <a:srgbClr val="D8E1E8"/>
                </a:solidFill>
                <a:latin typeface="Consolas"/>
              </a:rPr>
              <a:t>and</a:t>
            </a:r>
            <a:r>
              <a:rPr sz="1050">
                <a:solidFill>
                  <a:srgbClr val="D8E1E8"/>
                </a:solidFill>
                <a:latin typeface="Consolas"/>
              </a:rPr>
              <a:t> </a:t>
            </a:r>
            <a:r>
              <a:rPr sz="1050">
                <a:solidFill>
                  <a:srgbClr val="D8E1E8"/>
                </a:solidFill>
                <a:latin typeface="Consolas"/>
              </a:rPr>
              <a:t>not</a:t>
            </a:r>
            <a:r>
              <a:rPr sz="1050">
                <a:solidFill>
                  <a:srgbClr val="D8E1E8"/>
                </a:solidFill>
                <a:latin typeface="Consolas"/>
              </a:rPr>
              <a:t> </a:t>
            </a:r>
            <a:r>
              <a:rPr sz="1050">
                <a:solidFill>
                  <a:srgbClr val="D8E1E8"/>
                </a:solidFill>
                <a:latin typeface="Consolas"/>
              </a:rPr>
              <a:t>kwargs</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D8E1E8"/>
                </a:solidFill>
                <a:latin typeface="Consolas"/>
              </a:rPr>
              <a:t>.</a:t>
            </a:r>
            <a:r>
              <a:rPr sz="1050">
                <a:solidFill>
                  <a:srgbClr val="D8E1E8"/>
                </a:solidFill>
                <a:latin typeface="Consolas"/>
              </a:rPr>
              <a:t>.</a:t>
            </a:r>
            <a:r>
              <a:rPr sz="1050">
                <a:solidFill>
                  <a:srgbClr val="D8E1E8"/>
                </a:solidFill>
                <a:latin typeface="Consolas"/>
              </a:rPr>
              <a:t>.</a:t>
            </a:r>
            <a:r>
              <a:rPr sz="1050">
                <a:solidFill>
                  <a:srgbClr val="D8E1E8"/>
                </a:solidFill>
                <a:latin typeface="Consolas"/>
              </a:rPr>
              <a:t>  </a:t>
            </a:r>
            <a:r>
              <a:rPr sz="1050">
                <a:solidFill>
                  <a:srgbClr val="7D8B98"/>
                </a:solidFill>
                <a:latin typeface="Consolas"/>
              </a:rPr>
              <a:t># bare @Get: return the target itself</a:t>
            </a:r>
          </a:p>
          <a:p>
            <a:pPr>
              <a:lnSpc>
                <a:spcPct val="100000"/>
              </a:lnSpc>
              <a:buNone/>
            </a:pPr>
            <a:r>
              <a:rPr sz="1050">
                <a:solidFill>
                  <a:srgbClr val="D8E1E8"/>
                </a:solidFill>
                <a:latin typeface="Consolas"/>
              </a:rPr>
              <a:t>    </a:t>
            </a:r>
            <a:r>
              <a:rPr sz="1050">
                <a:solidFill>
                  <a:srgbClr val="F19111"/>
                </a:solidFill>
                <a:latin typeface="Consolas"/>
              </a:rPr>
              <a:t>def</a:t>
            </a:r>
            <a:r>
              <a:rPr sz="1050">
                <a:solidFill>
                  <a:srgbClr val="D8E1E8"/>
                </a:solidFill>
                <a:latin typeface="Consolas"/>
              </a:rPr>
              <a:t> </a:t>
            </a:r>
            <a:r>
              <a:rPr sz="1050">
                <a:solidFill>
                  <a:srgbClr val="D8E1E8"/>
                </a:solidFill>
                <a:latin typeface="Consolas"/>
              </a:rPr>
              <a:t>decorator</a:t>
            </a:r>
            <a:r>
              <a:rPr sz="1050">
                <a:solidFill>
                  <a:srgbClr val="D8E1E8"/>
                </a:solidFill>
                <a:latin typeface="Consolas"/>
              </a:rPr>
              <a:t>(</a:t>
            </a:r>
            <a:r>
              <a:rPr sz="1050">
                <a:solidFill>
                  <a:srgbClr val="D8E1E8"/>
                </a:solidFill>
                <a:latin typeface="Consolas"/>
              </a:rPr>
              <a:t>target</a:t>
            </a:r>
            <a:r>
              <a:rPr sz="1050">
                <a:solidFill>
                  <a:srgbClr val="D8E1E8"/>
                </a:solidFill>
                <a:latin typeface="Consolas"/>
              </a:rPr>
              <a:t>)</a:t>
            </a:r>
            <a:r>
              <a:rPr sz="1050">
                <a:solidFill>
                  <a:srgbClr val="D8E1E8"/>
                </a:solidFill>
                <a:latin typeface="Consolas"/>
              </a:rPr>
              <a:t>:</a:t>
            </a:r>
          </a:p>
          <a:p>
            <a:pPr>
              <a:lnSpc>
                <a:spcPct val="100000"/>
              </a:lnSpc>
              <a:buNone/>
            </a:pPr>
            <a:r>
              <a:rPr sz="1050">
                <a:solidFill>
                  <a:srgbClr val="D8E1E8"/>
                </a:solidFill>
                <a:latin typeface="Consolas"/>
              </a:rPr>
              <a:t>        </a:t>
            </a:r>
            <a:r>
              <a:rPr sz="1050">
                <a:solidFill>
                  <a:srgbClr val="F19111"/>
                </a:solidFill>
                <a:latin typeface="Consolas"/>
              </a:rPr>
              <a:t>return</a:t>
            </a:r>
            <a:r>
              <a:rPr sz="1050">
                <a:solidFill>
                  <a:srgbClr val="D8E1E8"/>
                </a:solidFill>
                <a:latin typeface="Consolas"/>
              </a:rPr>
              <a:t> </a:t>
            </a:r>
            <a:r>
              <a:rPr sz="1050">
                <a:solidFill>
                  <a:srgbClr val="D8E1E8"/>
                </a:solidFill>
                <a:latin typeface="Consolas"/>
              </a:rPr>
              <a:t>target</a:t>
            </a:r>
          </a:p>
          <a:p>
            <a:pPr>
              <a:lnSpc>
                <a:spcPct val="100000"/>
              </a:lnSpc>
              <a:buNone/>
            </a:pPr>
            <a:r>
              <a:rPr sz="1050">
                <a:solidFill>
                  <a:srgbClr val="D8E1E8"/>
                </a:solidFill>
                <a:latin typeface="Consolas"/>
              </a:rPr>
              <a:t>    </a:t>
            </a:r>
            <a:r>
              <a:rPr sz="1050">
                <a:solidFill>
                  <a:srgbClr val="F19111"/>
                </a:solidFill>
                <a:latin typeface="Consolas"/>
              </a:rPr>
              <a:t>return</a:t>
            </a:r>
            <a:r>
              <a:rPr sz="1050">
                <a:solidFill>
                  <a:srgbClr val="D8E1E8"/>
                </a:solidFill>
                <a:latin typeface="Consolas"/>
              </a:rPr>
              <a:t> </a:t>
            </a:r>
            <a:r>
              <a:rPr sz="1050">
                <a:solidFill>
                  <a:srgbClr val="D8E1E8"/>
                </a:solidFill>
                <a:latin typeface="Consolas"/>
              </a:rPr>
              <a:t>decorator</a:t>
            </a:r>
          </a:p>
        </p:txBody>
      </p:sp>
      <p:sp>
        <p:nvSpPr>
          <p:cNvPr id="26" name="Rounded Rectangle 25"/>
          <p:cNvSpPr/>
          <p:nvPr/>
        </p:nvSpPr>
        <p:spPr>
          <a:xfrm>
            <a:off x="768096" y="5596128"/>
            <a:ext cx="2560320" cy="603504"/>
          </a:xfrm>
          <a:prstGeom prst="roundRect">
            <a:avLst>
              <a:gd name="adj" fmla="val 1212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50" b="1">
                <a:solidFill>
                  <a:srgbClr val="F0CC72"/>
                </a:solidFill>
                <a:latin typeface="Consolas"/>
              </a:rPr>
              <a:t>io.</a:t>
            </a:r>
            <a:r>
              <a:rPr sz="1250" b="1">
                <a:solidFill>
                  <a:srgbClr val="FFFFFF"/>
                </a:solidFill>
              </a:rPr>
              <a:t> prefix dropped</a:t>
            </a:r>
          </a:p>
          <a:p>
            <a:pPr algn="ctr">
              <a:buNone/>
            </a:pPr>
            <a:r>
              <a:rPr sz="1050">
                <a:solidFill>
                  <a:srgbClr val="A9B7C4"/>
                </a:solidFill>
              </a:rPr>
              <a:t>io is a stdlib module</a:t>
            </a:r>
          </a:p>
        </p:txBody>
      </p:sp>
      <p:sp>
        <p:nvSpPr>
          <p:cNvPr id="27" name="Rounded Rectangle 26"/>
          <p:cNvSpPr/>
          <p:nvPr/>
        </p:nvSpPr>
        <p:spPr>
          <a:xfrm>
            <a:off x="3470148" y="5596128"/>
            <a:ext cx="2560320" cy="603504"/>
          </a:xfrm>
          <a:prstGeom prst="roundRect">
            <a:avLst>
              <a:gd name="adj" fmla="val 1212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50" b="1">
                <a:solidFill>
                  <a:srgbClr val="F0CC72"/>
                </a:solidFill>
                <a:latin typeface="Consolas"/>
              </a:rPr>
              <a:t>global_</a:t>
            </a:r>
            <a:r>
              <a:rPr sz="1250" b="1">
                <a:solidFill>
                  <a:srgbClr val="FFFFFF"/>
                </a:solidFill>
              </a:rPr>
              <a:t> → </a:t>
            </a:r>
            <a:r>
              <a:rPr sz="1250" b="1">
                <a:solidFill>
                  <a:srgbClr val="F0CC72"/>
                </a:solidFill>
                <a:latin typeface="Consolas"/>
              </a:rPr>
              <a:t>global</a:t>
            </a:r>
          </a:p>
          <a:p>
            <a:pPr algn="ctr">
              <a:buNone/>
            </a:pPr>
            <a:r>
              <a:rPr sz="1050">
                <a:solidFill>
                  <a:srgbClr val="A9B7C4"/>
                </a:solidFill>
              </a:rPr>
              <a:t>Python keyword aliases</a:t>
            </a:r>
          </a:p>
        </p:txBody>
      </p:sp>
      <p:sp>
        <p:nvSpPr>
          <p:cNvPr id="28" name="Rounded Rectangle 27"/>
          <p:cNvSpPr/>
          <p:nvPr/>
        </p:nvSpPr>
        <p:spPr>
          <a:xfrm>
            <a:off x="6172200" y="5596128"/>
            <a:ext cx="2560320" cy="603504"/>
          </a:xfrm>
          <a:prstGeom prst="roundRect">
            <a:avLst>
              <a:gd name="adj" fmla="val 1212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50" b="1">
                <a:solidFill>
                  <a:srgbClr val="F0CC72"/>
                </a:solidFill>
                <a:latin typeface="Consolas"/>
              </a:rPr>
              <a:t>Annotated[...]</a:t>
            </a:r>
          </a:p>
          <a:p>
            <a:pPr algn="ctr">
              <a:buNone/>
            </a:pPr>
            <a:r>
              <a:rPr sz="1050">
                <a:solidFill>
                  <a:srgbClr val="A9B7C4"/>
                </a:solidFill>
              </a:rPr>
              <a:t>field &amp; parameter annotations</a:t>
            </a:r>
          </a:p>
        </p:txBody>
      </p:sp>
      <p:sp>
        <p:nvSpPr>
          <p:cNvPr id="29" name="Rounded Rectangle 28"/>
          <p:cNvSpPr/>
          <p:nvPr/>
        </p:nvSpPr>
        <p:spPr>
          <a:xfrm>
            <a:off x="8874252" y="5596128"/>
            <a:ext cx="2560320" cy="603504"/>
          </a:xfrm>
          <a:prstGeom prst="roundRect">
            <a:avLst>
              <a:gd name="adj" fmla="val 1212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50" b="1">
                <a:solidFill>
                  <a:srgbClr val="FFFFFF"/>
                </a:solidFill>
              </a:rPr>
              <a:t>Meta-annotations</a:t>
            </a:r>
          </a:p>
          <a:p>
            <a:pPr algn="ctr">
              <a:buNone/>
            </a:pPr>
            <a:r>
              <a:rPr sz="1050">
                <a:solidFill>
                  <a:srgbClr val="A9B7C4"/>
                </a:solidFill>
              </a:rPr>
              <a:t>generated as decorators too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import statement, three different meanings</a:t>
            </a:r>
          </a:p>
        </p:txBody>
      </p:sp>
      <p:sp>
        <p:nvSpPr>
          <p:cNvPr id="3" name="Text Placeholder 2"/>
          <p:cNvSpPr>
            <a:spLocks noGrp="1"/>
          </p:cNvSpPr>
          <p:nvPr>
            <p:ph type="body" idx="11" sz="quarter"/>
          </p:nvPr>
        </p:nvSpPr>
        <p:spPr/>
        <p:txBody>
          <a:bodyPr/>
          <a:lstStyle/>
          <a:p>
            <a:r>
              <a:t>The transformer decides per imported name what it resolves to on the classpath</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91640"/>
            <a:ext cx="4754880" cy="822960"/>
          </a:xfrm>
          <a:prstGeom prst="roundRect">
            <a:avLst>
              <a:gd name="adj" fmla="val 6666"/>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TextBox 10"/>
          <p:cNvSpPr txBox="1"/>
          <p:nvPr/>
        </p:nvSpPr>
        <p:spPr>
          <a:xfrm>
            <a:off x="932688" y="1801368"/>
            <a:ext cx="4480560" cy="640080"/>
          </a:xfrm>
          <a:prstGeom prst="rect">
            <a:avLst/>
          </a:prstGeom>
          <a:noFill/>
        </p:spPr>
        <p:txBody>
          <a:bodyPr wrap="none" lIns="0" rIns="0" tIns="0" bIns="0"/>
          <a:lstStyle/>
          <a:p>
            <a:pPr>
              <a:lnSpc>
                <a:spcPct val="100000"/>
              </a:lnSpc>
              <a:buNone/>
            </a:pPr>
            <a:r>
              <a:rPr sz="1200">
                <a:solidFill>
                  <a:srgbClr val="F19111"/>
                </a:solidFill>
                <a:latin typeface="Consolas"/>
              </a:rPr>
              <a:t>from</a:t>
            </a:r>
            <a:r>
              <a:rPr sz="1200">
                <a:solidFill>
                  <a:srgbClr val="D8E1E8"/>
                </a:solidFill>
                <a:latin typeface="Consolas"/>
              </a:rPr>
              <a:t> </a:t>
            </a:r>
            <a:r>
              <a:rPr sz="1200">
                <a:solidFill>
                  <a:srgbClr val="D8E1E8"/>
                </a:solidFill>
                <a:latin typeface="Consolas"/>
              </a:rPr>
              <a:t>micronaut</a:t>
            </a:r>
            <a:r>
              <a:rPr sz="1200">
                <a:solidFill>
                  <a:srgbClr val="D8E1E8"/>
                </a:solidFill>
                <a:latin typeface="Consolas"/>
              </a:rPr>
              <a:t>.</a:t>
            </a:r>
            <a:r>
              <a:rPr sz="1200">
                <a:solidFill>
                  <a:srgbClr val="D8E1E8"/>
                </a:solidFill>
                <a:latin typeface="Consolas"/>
              </a:rPr>
              <a:t>http</a:t>
            </a:r>
            <a:r>
              <a:rPr sz="1200">
                <a:solidFill>
                  <a:srgbClr val="D8E1E8"/>
                </a:solidFill>
                <a:latin typeface="Consolas"/>
              </a:rPr>
              <a:t>.</a:t>
            </a:r>
            <a:r>
              <a:rPr sz="1200">
                <a:solidFill>
                  <a:srgbClr val="D8E1E8"/>
                </a:solidFill>
                <a:latin typeface="Consolas"/>
              </a:rPr>
              <a:t>annotation</a:t>
            </a:r>
            <a:r>
              <a:rPr sz="1200">
                <a:solidFill>
                  <a:srgbClr val="D8E1E8"/>
                </a:solidFill>
                <a:latin typeface="Consolas"/>
              </a:rPr>
              <a:t> </a:t>
            </a:r>
            <a:r>
              <a:rPr sz="1200">
                <a:solidFill>
                  <a:srgbClr val="F19111"/>
                </a:solidFill>
                <a:latin typeface="Consolas"/>
              </a:rPr>
              <a:t>import</a:t>
            </a:r>
            <a:r>
              <a:rPr sz="1200">
                <a:solidFill>
                  <a:srgbClr val="D8E1E8"/>
                </a:solidFill>
                <a:latin typeface="Consolas"/>
              </a:rPr>
              <a:t> </a:t>
            </a:r>
            <a:r>
              <a:rPr sz="1200">
                <a:solidFill>
                  <a:srgbClr val="6DBEE7"/>
                </a:solidFill>
                <a:latin typeface="Consolas"/>
              </a:rPr>
              <a:t>Get</a:t>
            </a:r>
          </a:p>
        </p:txBody>
      </p:sp>
      <p:cxnSp>
        <p:nvCxnSpPr>
          <p:cNvPr id="12" name="Connector 11"/>
          <p:cNvCxnSpPr/>
          <p:nvPr/>
        </p:nvCxnSpPr>
        <p:spPr>
          <a:xfrm>
            <a:off x="5577840" y="2103120"/>
            <a:ext cx="594360" cy="0"/>
          </a:xfrm>
          <a:prstGeom prst="line">
            <a:avLst/>
          </a:prstGeom>
          <a:ln w="25400">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63640" y="1892808"/>
            <a:ext cx="1737360" cy="420624"/>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200" b="1">
                <a:solidFill>
                  <a:srgbClr val="FFFFFF"/>
                </a:solidFill>
              </a:rPr>
              <a:t>Java annotation</a:t>
            </a:r>
          </a:p>
        </p:txBody>
      </p:sp>
      <p:sp>
        <p:nvSpPr>
          <p:cNvPr id="14" name="TextBox 13"/>
          <p:cNvSpPr txBox="1"/>
          <p:nvPr/>
        </p:nvSpPr>
        <p:spPr>
          <a:xfrm>
            <a:off x="8183879" y="1691640"/>
            <a:ext cx="3246120" cy="822960"/>
          </a:xfrm>
          <a:prstGeom prst="rect">
            <a:avLst/>
          </a:prstGeom>
          <a:noFill/>
        </p:spPr>
        <p:txBody>
          <a:bodyPr wrap="square" lIns="0" rIns="0" tIns="0" bIns="0" anchor="ctr"/>
          <a:lstStyle/>
          <a:p>
            <a:pPr>
              <a:buNone/>
            </a:pPr>
            <a:r>
              <a:rPr sz="1250">
                <a:solidFill>
                  <a:srgbClr val="FFFFFF"/>
                </a:solidFill>
              </a:rPr>
              <a:t>Generated decorator function with the annotation’s metadata</a:t>
            </a:r>
          </a:p>
        </p:txBody>
      </p:sp>
      <p:sp>
        <p:nvSpPr>
          <p:cNvPr id="15" name="Rounded Rectangle 14"/>
          <p:cNvSpPr/>
          <p:nvPr/>
        </p:nvSpPr>
        <p:spPr>
          <a:xfrm>
            <a:off x="768096" y="2880360"/>
            <a:ext cx="4754880" cy="822960"/>
          </a:xfrm>
          <a:prstGeom prst="roundRect">
            <a:avLst>
              <a:gd name="adj" fmla="val 6666"/>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TextBox 15"/>
          <p:cNvSpPr txBox="1"/>
          <p:nvPr/>
        </p:nvSpPr>
        <p:spPr>
          <a:xfrm>
            <a:off x="932688" y="2990088"/>
            <a:ext cx="4480560" cy="640080"/>
          </a:xfrm>
          <a:prstGeom prst="rect">
            <a:avLst/>
          </a:prstGeom>
          <a:noFill/>
        </p:spPr>
        <p:txBody>
          <a:bodyPr wrap="none" lIns="0" rIns="0" tIns="0" bIns="0"/>
          <a:lstStyle/>
          <a:p>
            <a:pPr>
              <a:lnSpc>
                <a:spcPct val="100000"/>
              </a:lnSpc>
              <a:buNone/>
            </a:pPr>
            <a:r>
              <a:rPr sz="1200">
                <a:solidFill>
                  <a:srgbClr val="F19111"/>
                </a:solidFill>
                <a:latin typeface="Consolas"/>
              </a:rPr>
              <a:t>from</a:t>
            </a:r>
            <a:r>
              <a:rPr sz="1200">
                <a:solidFill>
                  <a:srgbClr val="D8E1E8"/>
                </a:solidFill>
                <a:latin typeface="Consolas"/>
              </a:rPr>
              <a:t> </a:t>
            </a:r>
            <a:r>
              <a:rPr sz="1200">
                <a:solidFill>
                  <a:srgbClr val="D8E1E8"/>
                </a:solidFill>
                <a:latin typeface="Consolas"/>
              </a:rPr>
              <a:t>java</a:t>
            </a:r>
            <a:r>
              <a:rPr sz="1200">
                <a:solidFill>
                  <a:srgbClr val="D8E1E8"/>
                </a:solidFill>
                <a:latin typeface="Consolas"/>
              </a:rPr>
              <a:t>.</a:t>
            </a:r>
            <a:r>
              <a:rPr sz="1200">
                <a:solidFill>
                  <a:srgbClr val="D8E1E8"/>
                </a:solidFill>
                <a:latin typeface="Consolas"/>
              </a:rPr>
              <a:t>time</a:t>
            </a:r>
            <a:r>
              <a:rPr sz="1200">
                <a:solidFill>
                  <a:srgbClr val="D8E1E8"/>
                </a:solidFill>
                <a:latin typeface="Consolas"/>
              </a:rPr>
              <a:t> </a:t>
            </a:r>
            <a:r>
              <a:rPr sz="1200">
                <a:solidFill>
                  <a:srgbClr val="F19111"/>
                </a:solidFill>
                <a:latin typeface="Consolas"/>
              </a:rPr>
              <a:t>import</a:t>
            </a:r>
            <a:r>
              <a:rPr sz="1200">
                <a:solidFill>
                  <a:srgbClr val="D8E1E8"/>
                </a:solidFill>
                <a:latin typeface="Consolas"/>
              </a:rPr>
              <a:t> </a:t>
            </a:r>
            <a:r>
              <a:rPr sz="1200">
                <a:solidFill>
                  <a:srgbClr val="6DBEE7"/>
                </a:solidFill>
                <a:latin typeface="Consolas"/>
              </a:rPr>
              <a:t>Duration</a:t>
            </a:r>
          </a:p>
        </p:txBody>
      </p:sp>
      <p:cxnSp>
        <p:nvCxnSpPr>
          <p:cNvPr id="17" name="Connector 16"/>
          <p:cNvCxnSpPr/>
          <p:nvPr/>
        </p:nvCxnSpPr>
        <p:spPr>
          <a:xfrm>
            <a:off x="5577840" y="3291840"/>
            <a:ext cx="594360" cy="0"/>
          </a:xfrm>
          <a:prstGeom prst="line">
            <a:avLst/>
          </a:prstGeom>
          <a:ln w="25400">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63640" y="3081528"/>
            <a:ext cx="1737360" cy="420624"/>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200" b="1">
                <a:solidFill>
                  <a:srgbClr val="FFFFFF"/>
                </a:solidFill>
              </a:rPr>
              <a:t>Java class</a:t>
            </a:r>
          </a:p>
        </p:txBody>
      </p:sp>
      <p:sp>
        <p:nvSpPr>
          <p:cNvPr id="19" name="TextBox 18"/>
          <p:cNvSpPr txBox="1"/>
          <p:nvPr/>
        </p:nvSpPr>
        <p:spPr>
          <a:xfrm>
            <a:off x="8183879" y="2880360"/>
            <a:ext cx="3246120" cy="822960"/>
          </a:xfrm>
          <a:prstGeom prst="rect">
            <a:avLst/>
          </a:prstGeom>
          <a:noFill/>
        </p:spPr>
        <p:txBody>
          <a:bodyPr wrap="square" lIns="0" rIns="0" tIns="0" bIns="0" anchor="ctr"/>
          <a:lstStyle/>
          <a:p>
            <a:pPr>
              <a:buNone/>
            </a:pPr>
            <a:r>
              <a:rPr sz="1250">
                <a:solidFill>
                  <a:srgbClr val="FFFFFF"/>
                </a:solidFill>
                <a:latin typeface="Consolas"/>
              </a:rPr>
              <a:t>Duration = java.type("java.time.Duration")</a:t>
            </a:r>
          </a:p>
        </p:txBody>
      </p:sp>
      <p:sp>
        <p:nvSpPr>
          <p:cNvPr id="20" name="Rounded Rectangle 19"/>
          <p:cNvSpPr/>
          <p:nvPr/>
        </p:nvSpPr>
        <p:spPr>
          <a:xfrm>
            <a:off x="768096" y="4069080"/>
            <a:ext cx="4754880" cy="822960"/>
          </a:xfrm>
          <a:prstGeom prst="roundRect">
            <a:avLst>
              <a:gd name="adj" fmla="val 6666"/>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1" name="TextBox 20"/>
          <p:cNvSpPr txBox="1"/>
          <p:nvPr/>
        </p:nvSpPr>
        <p:spPr>
          <a:xfrm>
            <a:off x="932688" y="4178808"/>
            <a:ext cx="4480560" cy="640080"/>
          </a:xfrm>
          <a:prstGeom prst="rect">
            <a:avLst/>
          </a:prstGeom>
          <a:noFill/>
        </p:spPr>
        <p:txBody>
          <a:bodyPr wrap="none" lIns="0" rIns="0" tIns="0" bIns="0"/>
          <a:lstStyle/>
          <a:p>
            <a:pPr>
              <a:lnSpc>
                <a:spcPct val="100000"/>
              </a:lnSpc>
              <a:buNone/>
            </a:pPr>
            <a:r>
              <a:rPr sz="1200">
                <a:solidFill>
                  <a:srgbClr val="F19111"/>
                </a:solidFill>
                <a:latin typeface="Consolas"/>
              </a:rPr>
              <a:t>from</a:t>
            </a:r>
            <a:r>
              <a:rPr sz="1200">
                <a:solidFill>
                  <a:srgbClr val="D8E1E8"/>
                </a:solidFill>
                <a:latin typeface="Consolas"/>
              </a:rPr>
              <a:t> </a:t>
            </a:r>
            <a:r>
              <a:rPr sz="1200">
                <a:solidFill>
                  <a:srgbClr val="D8E1E8"/>
                </a:solidFill>
                <a:latin typeface="Consolas"/>
              </a:rPr>
              <a:t>bookstore</a:t>
            </a:r>
            <a:r>
              <a:rPr sz="1200">
                <a:solidFill>
                  <a:srgbClr val="D8E1E8"/>
                </a:solidFill>
                <a:latin typeface="Consolas"/>
              </a:rPr>
              <a:t>.</a:t>
            </a:r>
            <a:r>
              <a:rPr sz="1200">
                <a:solidFill>
                  <a:srgbClr val="D8E1E8"/>
                </a:solidFill>
                <a:latin typeface="Consolas"/>
              </a:rPr>
              <a:t>services</a:t>
            </a:r>
            <a:r>
              <a:rPr sz="1200">
                <a:solidFill>
                  <a:srgbClr val="D8E1E8"/>
                </a:solidFill>
                <a:latin typeface="Consolas"/>
              </a:rPr>
              <a:t> </a:t>
            </a:r>
            <a:r>
              <a:rPr sz="1200">
                <a:solidFill>
                  <a:srgbClr val="F19111"/>
                </a:solidFill>
                <a:latin typeface="Consolas"/>
              </a:rPr>
              <a:t>import</a:t>
            </a:r>
            <a:r>
              <a:rPr sz="1200">
                <a:solidFill>
                  <a:srgbClr val="D8E1E8"/>
                </a:solidFill>
                <a:latin typeface="Consolas"/>
              </a:rPr>
              <a:t> </a:t>
            </a:r>
            <a:r>
              <a:rPr sz="1200">
                <a:solidFill>
                  <a:srgbClr val="6DBEE7"/>
                </a:solidFill>
                <a:latin typeface="Consolas"/>
              </a:rPr>
              <a:t>Catalog</a:t>
            </a:r>
          </a:p>
        </p:txBody>
      </p:sp>
      <p:cxnSp>
        <p:nvCxnSpPr>
          <p:cNvPr id="22" name="Connector 21"/>
          <p:cNvCxnSpPr/>
          <p:nvPr/>
        </p:nvCxnSpPr>
        <p:spPr>
          <a:xfrm>
            <a:off x="5577840" y="4480560"/>
            <a:ext cx="59436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63640" y="4270248"/>
            <a:ext cx="1737360" cy="420624"/>
          </a:xfrm>
          <a:prstGeom prst="roundRect">
            <a:avLst>
              <a:gd name="adj" fmla="val 50000"/>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200" b="1">
                <a:solidFill>
                  <a:srgbClr val="FFFFFF"/>
                </a:solidFill>
              </a:rPr>
              <a:t>Python module</a:t>
            </a:r>
          </a:p>
        </p:txBody>
      </p:sp>
      <p:sp>
        <p:nvSpPr>
          <p:cNvPr id="24" name="TextBox 23"/>
          <p:cNvSpPr txBox="1"/>
          <p:nvPr/>
        </p:nvSpPr>
        <p:spPr>
          <a:xfrm>
            <a:off x="8183879" y="4069080"/>
            <a:ext cx="3246120" cy="822960"/>
          </a:xfrm>
          <a:prstGeom prst="rect">
            <a:avLst/>
          </a:prstGeom>
          <a:noFill/>
        </p:spPr>
        <p:txBody>
          <a:bodyPr wrap="square" lIns="0" rIns="0" tIns="0" bIns="0" anchor="ctr"/>
          <a:lstStyle/>
          <a:p>
            <a:pPr>
              <a:buNone/>
            </a:pPr>
            <a:r>
              <a:rPr sz="1250">
                <a:solidFill>
                  <a:srgbClr val="FFFFFF"/>
                </a:solidFill>
              </a:rPr>
              <a:t>Left alone — a normal Python import</a:t>
            </a:r>
          </a:p>
        </p:txBody>
      </p:sp>
      <p:sp>
        <p:nvSpPr>
          <p:cNvPr id="25" name="Rounded Rectangle 24"/>
          <p:cNvSpPr/>
          <p:nvPr/>
        </p:nvSpPr>
        <p:spPr>
          <a:xfrm>
            <a:off x="768096" y="5349240"/>
            <a:ext cx="10661904" cy="822960"/>
          </a:xfrm>
          <a:prstGeom prst="roundRect">
            <a:avLst>
              <a:gd name="adj" fmla="val 888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300" b="1">
                <a:solidFill>
                  <a:srgbClr val="FFFFFF"/>
                </a:solidFill>
              </a:rPr>
              <a:t>Java objects feel like Python objects:</a:t>
            </a:r>
            <a:r>
              <a:rPr sz="1300">
                <a:solidFill>
                  <a:srgbClr val="FFFFFF"/>
                </a:solidFill>
              </a:rPr>
              <a:t> call Java methods by name, index Java lists and maps, iterate collections. </a:t>
            </a:r>
            <a:r>
              <a:rPr sz="1300">
                <a:solidFill>
                  <a:srgbClr val="F0CC72"/>
                </a:solidFill>
                <a:latin typeface="Consolas"/>
              </a:rPr>
              <a:t>pyronaut install</a:t>
            </a:r>
            <a:r>
              <a:rPr sz="1300">
                <a:solidFill>
                  <a:srgbClr val="FFFFFF"/>
                </a:solidFill>
              </a:rPr>
              <a:t> generates editor stubs so Pylance and PyCharm complete Micronaut and Java APIs.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Crossing the language boundary</a:t>
            </a:r>
          </a:p>
        </p:txBody>
      </p:sp>
      <p:sp>
        <p:nvSpPr>
          <p:cNvPr id="3" name="Text Placeholder 2"/>
          <p:cNvSpPr>
            <a:spLocks noGrp="1"/>
          </p:cNvSpPr>
          <p:nvPr>
            <p:ph type="body" idx="33" sz="quarter"/>
          </p:nvPr>
        </p:nvSpPr>
        <p:spPr>
          <a:xfrm>
            <a:ext cx="5669280" cy="0"/>
          </a:xfrm>
        </p:spPr>
        <p:txBody>
          <a:bodyPr/>
          <a:lstStyle/>
          <a:p>
            <a:r>
              <a:t>Bridge classes, boxing and unboxing</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03</a:t>
            </a:r>
          </a:p>
        </p:txBody>
      </p:sp>
      <p:pic>
        <p:nvPicPr>
          <p:cNvPr id="11" name="Picture 10" descr="mascot_flame.png"/>
          <p:cNvPicPr>
            <a:picLocks noChangeAspect="1"/>
          </p:cNvPicPr>
          <p:nvPr/>
        </p:nvPicPr>
        <p:blipFill>
          <a:blip r:embed="rId3"/>
          <a:stretch>
            <a:fillRect/>
          </a:stretch>
        </p:blipFill>
        <p:spPr>
          <a:xfrm>
            <a:off x="6675120" y="1737360"/>
            <a:ext cx="5120640" cy="290852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Truffle interop is a reflection-like API</a:t>
            </a:r>
          </a:p>
        </p:txBody>
      </p:sp>
      <p:sp>
        <p:nvSpPr>
          <p:cNvPr id="3" name="Text Placeholder 2"/>
          <p:cNvSpPr>
            <a:spLocks noGrp="1"/>
          </p:cNvSpPr>
          <p:nvPr>
            <p:ph type="body" idx="11" sz="quarter"/>
          </p:nvPr>
        </p:nvSpPr>
        <p:spPr/>
        <p:txBody>
          <a:bodyPr/>
          <a:lstStyle/>
          <a:p>
            <a:r>
              <a:t>Powerful and dynamic — but Micronaut needs static types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36192"/>
            <a:ext cx="5120640" cy="256032"/>
          </a:xfrm>
          <a:prstGeom prst="rect">
            <a:avLst/>
          </a:prstGeom>
          <a:noFill/>
        </p:spPr>
        <p:txBody>
          <a:bodyPr wrap="square" lIns="0" rIns="0" tIns="0" bIns="0" anchor="ctr"/>
          <a:lstStyle/>
          <a:p>
            <a:pPr algn="l">
              <a:buNone/>
            </a:pPr>
            <a:r>
              <a:rPr sz="1100" b="1">
                <a:solidFill>
                  <a:srgbClr val="F19111"/>
                </a:solidFill>
              </a:rPr>
              <a:t>POLYGLOT API: MEMBERS BY NAME, AT RUNTIME</a:t>
            </a:r>
          </a:p>
        </p:txBody>
      </p:sp>
      <p:sp>
        <p:nvSpPr>
          <p:cNvPr id="11" name="Rounded Rectangle 10"/>
          <p:cNvSpPr/>
          <p:nvPr/>
        </p:nvSpPr>
        <p:spPr>
          <a:xfrm>
            <a:off x="768096" y="1828800"/>
            <a:ext cx="5120640" cy="2240280"/>
          </a:xfrm>
          <a:prstGeom prst="roundRect">
            <a:avLst>
              <a:gd name="adj" fmla="val 2448"/>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Rectangle 11"/>
          <p:cNvSpPr/>
          <p:nvPr/>
        </p:nvSpPr>
        <p:spPr>
          <a:xfrm>
            <a:off x="768096" y="1828800"/>
            <a:ext cx="512064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Oval 12"/>
          <p:cNvSpPr/>
          <p:nvPr/>
        </p:nvSpPr>
        <p:spPr>
          <a:xfrm>
            <a:off x="896112" y="19156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9848" y="19156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43584" y="19156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9616" y="1828800"/>
            <a:ext cx="4251959" cy="274320"/>
          </a:xfrm>
          <a:prstGeom prst="rect">
            <a:avLst/>
          </a:prstGeom>
          <a:noFill/>
        </p:spPr>
        <p:txBody>
          <a:bodyPr wrap="square" lIns="0" rIns="0" tIns="0" bIns="0" anchor="ctr"/>
          <a:lstStyle/>
          <a:p>
            <a:pPr algn="r">
              <a:buNone/>
            </a:pPr>
            <a:r>
              <a:rPr sz="1050">
                <a:solidFill>
                  <a:srgbClr val="A9B7C4"/>
                </a:solidFill>
                <a:latin typeface="Consolas"/>
              </a:rPr>
              <a:t>org.graalvm.polyglot</a:t>
            </a:r>
          </a:p>
        </p:txBody>
      </p:sp>
      <p:sp>
        <p:nvSpPr>
          <p:cNvPr id="17" name="TextBox 16"/>
          <p:cNvSpPr txBox="1"/>
          <p:nvPr/>
        </p:nvSpPr>
        <p:spPr>
          <a:xfrm>
            <a:off x="932688" y="2212848"/>
            <a:ext cx="4846320" cy="1783080"/>
          </a:xfrm>
          <a:prstGeom prst="rect">
            <a:avLst/>
          </a:prstGeom>
          <a:noFill/>
        </p:spPr>
        <p:txBody>
          <a:bodyPr wrap="none" lIns="0" rIns="0" tIns="0" bIns="0"/>
          <a:lstStyle/>
          <a:p>
            <a:pPr>
              <a:lnSpc>
                <a:spcPct val="100000"/>
              </a:lnSpc>
              <a:buNone/>
            </a:pPr>
            <a:r>
              <a:rPr sz="1150">
                <a:solidFill>
                  <a:srgbClr val="6DBEE7"/>
                </a:solidFill>
                <a:latin typeface="Consolas"/>
              </a:rPr>
              <a:t>Value</a:t>
            </a:r>
            <a:r>
              <a:rPr sz="1150">
                <a:solidFill>
                  <a:srgbClr val="D8E1E8"/>
                </a:solidFill>
                <a:latin typeface="Consolas"/>
              </a:rPr>
              <a:t> </a:t>
            </a:r>
            <a:r>
              <a:rPr sz="1150">
                <a:solidFill>
                  <a:srgbClr val="D8E1E8"/>
                </a:solidFill>
                <a:latin typeface="Consolas"/>
              </a:rPr>
              <a:t>roomClass</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bindings</a:t>
            </a:r>
            <a:r>
              <a:rPr sz="1150">
                <a:solidFill>
                  <a:srgbClr val="D8E1E8"/>
                </a:solidFill>
                <a:latin typeface="Consolas"/>
              </a:rPr>
              <a:t>.</a:t>
            </a:r>
            <a:r>
              <a:rPr sz="1150">
                <a:solidFill>
                  <a:srgbClr val="D8E1E8"/>
                </a:solidFill>
                <a:latin typeface="Consolas"/>
              </a:rPr>
              <a:t>getMember</a:t>
            </a:r>
            <a:r>
              <a:rPr sz="1150">
                <a:solidFill>
                  <a:srgbClr val="D8E1E8"/>
                </a:solidFill>
                <a:latin typeface="Consolas"/>
              </a:rPr>
              <a:t>(</a:t>
            </a:r>
            <a:r>
              <a:rPr sz="1150">
                <a:solidFill>
                  <a:srgbClr val="A5D6A7"/>
                </a:solidFill>
                <a:latin typeface="Consolas"/>
              </a:rPr>
              <a:t>"Room"</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6DBEE7"/>
                </a:solidFill>
                <a:latin typeface="Consolas"/>
              </a:rPr>
              <a:t>Value</a:t>
            </a:r>
            <a:r>
              <a:rPr sz="1150">
                <a:solidFill>
                  <a:srgbClr val="D8E1E8"/>
                </a:solidFill>
                <a:latin typeface="Consolas"/>
              </a:rPr>
              <a:t> </a:t>
            </a:r>
            <a:r>
              <a:rPr sz="1150">
                <a:solidFill>
                  <a:srgbClr val="D8E1E8"/>
                </a:solidFill>
                <a:latin typeface="Consolas"/>
              </a:rPr>
              <a:t>room</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roomClass</a:t>
            </a:r>
            <a:r>
              <a:rPr sz="1150">
                <a:solidFill>
                  <a:srgbClr val="D8E1E8"/>
                </a:solidFill>
                <a:latin typeface="Consolas"/>
              </a:rPr>
              <a:t>.</a:t>
            </a:r>
            <a:r>
              <a:rPr sz="1150">
                <a:solidFill>
                  <a:srgbClr val="D8E1E8"/>
                </a:solidFill>
                <a:latin typeface="Consolas"/>
              </a:rPr>
              <a:t>newInstance</a:t>
            </a:r>
            <a:r>
              <a:rPr sz="1150">
                <a:solidFill>
                  <a:srgbClr val="D8E1E8"/>
                </a:solidFill>
                <a:latin typeface="Consolas"/>
              </a:rPr>
              <a:t>(</a:t>
            </a:r>
            <a:r>
              <a:rPr sz="1150">
                <a:solidFill>
                  <a:srgbClr val="A5D6A7"/>
                </a:solidFill>
                <a:latin typeface="Consolas"/>
              </a:rPr>
              <a:t>"lobby"</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6DBEE7"/>
                </a:solidFill>
                <a:latin typeface="Consolas"/>
              </a:rPr>
              <a:t>Value</a:t>
            </a:r>
            <a:r>
              <a:rPr sz="1150">
                <a:solidFill>
                  <a:srgbClr val="D8E1E8"/>
                </a:solidFill>
                <a:latin typeface="Consolas"/>
              </a:rPr>
              <a:t> </a:t>
            </a:r>
            <a:r>
              <a:rPr sz="1150">
                <a:solidFill>
                  <a:srgbClr val="D8E1E8"/>
                </a:solidFill>
                <a:latin typeface="Consolas"/>
              </a:rPr>
              <a:t>messages</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room</a:t>
            </a:r>
            <a:r>
              <a:rPr sz="1150">
                <a:solidFill>
                  <a:srgbClr val="D8E1E8"/>
                </a:solidFill>
                <a:latin typeface="Consolas"/>
              </a:rPr>
              <a:t>.</a:t>
            </a:r>
            <a:r>
              <a:rPr sz="1150">
                <a:solidFill>
                  <a:srgbClr val="D8E1E8"/>
                </a:solidFill>
                <a:latin typeface="Consolas"/>
              </a:rPr>
              <a:t>getMember</a:t>
            </a:r>
            <a:r>
              <a:rPr sz="1150">
                <a:solidFill>
                  <a:srgbClr val="D8E1E8"/>
                </a:solidFill>
                <a:latin typeface="Consolas"/>
              </a:rPr>
              <a:t>(</a:t>
            </a:r>
            <a:r>
              <a:rPr sz="1150">
                <a:solidFill>
                  <a:srgbClr val="A5D6A7"/>
                </a:solidFill>
                <a:latin typeface="Consolas"/>
              </a:rPr>
              <a:t>"messages"</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F19111"/>
                </a:solidFill>
                <a:latin typeface="Consolas"/>
              </a:rPr>
              <a:t>long</a:t>
            </a:r>
            <a:r>
              <a:rPr sz="1150">
                <a:solidFill>
                  <a:srgbClr val="D8E1E8"/>
                </a:solidFill>
                <a:latin typeface="Consolas"/>
              </a:rPr>
              <a:t> </a:t>
            </a:r>
            <a:r>
              <a:rPr sz="1150">
                <a:solidFill>
                  <a:srgbClr val="D8E1E8"/>
                </a:solidFill>
                <a:latin typeface="Consolas"/>
              </a:rPr>
              <a:t>size</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messages</a:t>
            </a:r>
            <a:r>
              <a:rPr sz="1150">
                <a:solidFill>
                  <a:srgbClr val="D8E1E8"/>
                </a:solidFill>
                <a:latin typeface="Consolas"/>
              </a:rPr>
              <a:t>.</a:t>
            </a:r>
            <a:r>
              <a:rPr sz="1150">
                <a:solidFill>
                  <a:srgbClr val="D8E1E8"/>
                </a:solidFill>
                <a:latin typeface="Consolas"/>
              </a:rPr>
              <a:t>getArraySize</a:t>
            </a:r>
            <a:r>
              <a:rPr sz="1150">
                <a:solidFill>
                  <a:srgbClr val="D8E1E8"/>
                </a:solidFill>
                <a:latin typeface="Consolas"/>
              </a:rPr>
              <a:t>(</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D8E1E8"/>
                </a:solidFill>
                <a:latin typeface="Consolas"/>
              </a:rPr>
              <a:t>room</a:t>
            </a:r>
            <a:r>
              <a:rPr sz="1150">
                <a:solidFill>
                  <a:srgbClr val="D8E1E8"/>
                </a:solidFill>
                <a:latin typeface="Consolas"/>
              </a:rPr>
              <a:t>.</a:t>
            </a:r>
            <a:r>
              <a:rPr sz="1150">
                <a:solidFill>
                  <a:srgbClr val="D8E1E8"/>
                </a:solidFill>
                <a:latin typeface="Consolas"/>
              </a:rPr>
              <a:t>invokeMember</a:t>
            </a:r>
            <a:r>
              <a:rPr sz="1150">
                <a:solidFill>
                  <a:srgbClr val="D8E1E8"/>
                </a:solidFill>
                <a:latin typeface="Consolas"/>
              </a:rPr>
              <a:t>(</a:t>
            </a:r>
            <a:r>
              <a:rPr sz="1150">
                <a:solidFill>
                  <a:srgbClr val="A5D6A7"/>
                </a:solidFill>
                <a:latin typeface="Consolas"/>
              </a:rPr>
              <a:t>"post"</a:t>
            </a:r>
            <a:r>
              <a:rPr sz="1150">
                <a:solidFill>
                  <a:srgbClr val="D8E1E8"/>
                </a:solidFill>
                <a:latin typeface="Consolas"/>
              </a:rPr>
              <a:t>,</a:t>
            </a:r>
            <a:r>
              <a:rPr sz="1150">
                <a:solidFill>
                  <a:srgbClr val="D8E1E8"/>
                </a:solidFill>
                <a:latin typeface="Consolas"/>
              </a:rPr>
              <a:t> </a:t>
            </a:r>
            <a:r>
              <a:rPr sz="1150">
                <a:solidFill>
                  <a:srgbClr val="A5D6A7"/>
                </a:solidFill>
                <a:latin typeface="Consolas"/>
              </a:rPr>
              <a:t>"hello"</a:t>
            </a:r>
            <a:r>
              <a:rPr sz="1150">
                <a:solidFill>
                  <a:srgbClr val="D8E1E8"/>
                </a:solidFill>
                <a:latin typeface="Consolas"/>
              </a:rPr>
              <a:t>)</a:t>
            </a:r>
            <a:r>
              <a:rPr sz="1150">
                <a:solidFill>
                  <a:srgbClr val="D8E1E8"/>
                </a:solidFill>
                <a:latin typeface="Consolas"/>
              </a:rPr>
              <a:t>;</a:t>
            </a:r>
          </a:p>
        </p:txBody>
      </p:sp>
      <p:sp>
        <p:nvSpPr>
          <p:cNvPr id="18" name="Rounded Rectangle 17"/>
          <p:cNvSpPr/>
          <p:nvPr/>
        </p:nvSpPr>
        <p:spPr>
          <a:xfrm>
            <a:off x="768096" y="4251960"/>
            <a:ext cx="5120640" cy="1874519"/>
          </a:xfrm>
          <a:prstGeom prst="roundRect">
            <a:avLst>
              <a:gd name="adj" fmla="val 3902"/>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400" b="1">
                <a:solidFill>
                  <a:srgbClr val="F19111"/>
                </a:solidFill>
              </a:rPr>
              <a:t>What Micronaut needs instead</a:t>
            </a:r>
          </a:p>
          <a:p>
            <a:pPr algn="l" marL="201168" indent="-201168">
              <a:spcAft>
                <a:spcPts val="400"/>
              </a:spcAft>
              <a:buClr>
                <a:srgbClr val="F19111"/>
              </a:buClr>
              <a:buSzPct val="100000"/>
              <a:buFont typeface="Arial"/>
              <a:buChar char="▪"/>
            </a:pPr>
            <a:r>
              <a:rPr sz="1250">
                <a:solidFill>
                  <a:srgbClr val="FFFFFF"/>
                </a:solidFill>
              </a:rPr>
              <a:t>Real classes for bean definitions and injection points</a:t>
            </a:r>
          </a:p>
          <a:p>
            <a:pPr algn="l" marL="201168" indent="-201168">
              <a:spcAft>
                <a:spcPts val="400"/>
              </a:spcAft>
              <a:buClr>
                <a:srgbClr val="F19111"/>
              </a:buClr>
              <a:buSzPct val="100000"/>
              <a:buFont typeface="Arial"/>
              <a:buChar char="▪"/>
            </a:pPr>
            <a:r>
              <a:rPr sz="1250">
                <a:solidFill>
                  <a:srgbClr val="FFFFFF"/>
                </a:solidFill>
              </a:rPr>
              <a:t>Typed properties for introspection, validation and Serde</a:t>
            </a:r>
          </a:p>
          <a:p>
            <a:pPr algn="l" marL="201168" indent="-201168">
              <a:spcAft>
                <a:spcPts val="400"/>
              </a:spcAft>
              <a:buClr>
                <a:srgbClr val="F19111"/>
              </a:buClr>
              <a:buSzPct val="100000"/>
              <a:buFont typeface="Arial"/>
              <a:buChar char="▪"/>
            </a:pPr>
            <a:r>
              <a:rPr sz="1250">
                <a:solidFill>
                  <a:srgbClr val="FFFFFF"/>
                </a:solidFill>
              </a:rPr>
              <a:t>Generic signatures for routes and repositories</a:t>
            </a:r>
          </a:p>
          <a:p>
            <a:pPr algn="l" marL="201168" indent="-201168">
              <a:buClr>
                <a:srgbClr val="F19111"/>
              </a:buClr>
              <a:buSzPct val="100000"/>
              <a:buFont typeface="Arial"/>
              <a:buChar char="▪"/>
            </a:pPr>
            <a:r>
              <a:rPr sz="1250">
                <a:solidFill>
                  <a:srgbClr val="FFFFFF"/>
                </a:solidFill>
              </a:rPr>
              <a:t>Closed-world friendly code for Native Image</a:t>
            </a:r>
          </a:p>
        </p:txBody>
      </p:sp>
      <p:sp>
        <p:nvSpPr>
          <p:cNvPr id="19" name="TextBox 18"/>
          <p:cNvSpPr txBox="1"/>
          <p:nvPr/>
        </p:nvSpPr>
        <p:spPr>
          <a:xfrm>
            <a:off x="6217920" y="1536192"/>
            <a:ext cx="5212080" cy="256032"/>
          </a:xfrm>
          <a:prstGeom prst="rect">
            <a:avLst/>
          </a:prstGeom>
          <a:noFill/>
        </p:spPr>
        <p:txBody>
          <a:bodyPr wrap="square" lIns="0" rIns="0" tIns="0" bIns="0" anchor="ctr"/>
          <a:lstStyle/>
          <a:p>
            <a:pPr algn="l">
              <a:buNone/>
            </a:pPr>
            <a:r>
              <a:rPr sz="1100" b="1">
                <a:solidFill>
                  <a:srgbClr val="6DBEE7"/>
                </a:solidFill>
              </a:rPr>
              <a:t>SOLUTION: GENERATED BRIDGE CLASSES</a:t>
            </a:r>
          </a:p>
        </p:txBody>
      </p:sp>
      <p:sp>
        <p:nvSpPr>
          <p:cNvPr id="20" name="Rounded Rectangle 19"/>
          <p:cNvSpPr/>
          <p:nvPr/>
        </p:nvSpPr>
        <p:spPr>
          <a:xfrm>
            <a:off x="7132320" y="1874519"/>
            <a:ext cx="3383280" cy="786384"/>
          </a:xfrm>
          <a:prstGeom prst="roundRect">
            <a:avLst>
              <a:gd name="adj" fmla="val 9302"/>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Micronaut</a:t>
            </a:r>
          </a:p>
          <a:p>
            <a:pPr algn="ctr">
              <a:buNone/>
            </a:pPr>
            <a:r>
              <a:rPr sz="1100">
                <a:solidFill>
                  <a:srgbClr val="A9B7C4"/>
                </a:solidFill>
              </a:rPr>
              <a:t>container · visitors · runtime</a:t>
            </a:r>
          </a:p>
        </p:txBody>
      </p:sp>
      <p:cxnSp>
        <p:nvCxnSpPr>
          <p:cNvPr id="21" name="Connector 20"/>
          <p:cNvCxnSpPr/>
          <p:nvPr/>
        </p:nvCxnSpPr>
        <p:spPr>
          <a:xfrm>
            <a:off x="8823960" y="2679191"/>
            <a:ext cx="0" cy="256033"/>
          </a:xfrm>
          <a:prstGeom prst="line">
            <a:avLst/>
          </a:prstGeom>
          <a:ln w="19050">
            <a:solidFill>
              <a:srgbClr val="A9B7C4"/>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132320" y="2953511"/>
            <a:ext cx="3383280" cy="786384"/>
          </a:xfrm>
          <a:prstGeom prst="roundRect">
            <a:avLst>
              <a:gd name="adj" fmla="val 9302"/>
            </a:avLst>
          </a:prstGeom>
          <a:solidFill>
            <a:srgbClr val="2E3B47"/>
          </a:solidFill>
          <a:ln w="2222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Bridge class</a:t>
            </a:r>
          </a:p>
          <a:p>
            <a:pPr algn="ctr">
              <a:buNone/>
            </a:pPr>
            <a:r>
              <a:rPr sz="1100">
                <a:solidFill>
                  <a:srgbClr val="A9B7C4"/>
                </a:solidFill>
              </a:rPr>
              <a:t>static Java type, generated per Python type</a:t>
            </a:r>
          </a:p>
        </p:txBody>
      </p:sp>
      <p:cxnSp>
        <p:nvCxnSpPr>
          <p:cNvPr id="23" name="Connector 22"/>
          <p:cNvCxnSpPr/>
          <p:nvPr/>
        </p:nvCxnSpPr>
        <p:spPr>
          <a:xfrm>
            <a:off x="8823960" y="3758183"/>
            <a:ext cx="0" cy="256032"/>
          </a:xfrm>
          <a:prstGeom prst="line">
            <a:avLst/>
          </a:prstGeom>
          <a:ln w="19050">
            <a:solidFill>
              <a:srgbClr val="A9B7C4"/>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132320" y="4032504"/>
            <a:ext cx="3383280" cy="786384"/>
          </a:xfrm>
          <a:prstGeom prst="roundRect">
            <a:avLst>
              <a:gd name="adj" fmla="val 9302"/>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polyglot Value</a:t>
            </a:r>
          </a:p>
          <a:p>
            <a:pPr algn="ctr">
              <a:buNone/>
            </a:pPr>
            <a:r>
              <a:rPr sz="1100">
                <a:solidFill>
                  <a:srgbClr val="A9B7C4"/>
                </a:solidFill>
              </a:rPr>
              <a:t>Truffle interop</a:t>
            </a:r>
          </a:p>
        </p:txBody>
      </p:sp>
      <p:cxnSp>
        <p:nvCxnSpPr>
          <p:cNvPr id="25" name="Connector 24"/>
          <p:cNvCxnSpPr/>
          <p:nvPr/>
        </p:nvCxnSpPr>
        <p:spPr>
          <a:xfrm>
            <a:off x="8823960" y="4837176"/>
            <a:ext cx="0" cy="256032"/>
          </a:xfrm>
          <a:prstGeom prst="line">
            <a:avLst/>
          </a:prstGeom>
          <a:ln w="19050">
            <a:solidFill>
              <a:srgbClr val="A9B7C4"/>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132320" y="5111496"/>
            <a:ext cx="3383280" cy="786384"/>
          </a:xfrm>
          <a:prstGeom prst="roundRect">
            <a:avLst>
              <a:gd name="adj" fmla="val 9302"/>
            </a:avLst>
          </a:prstGeom>
          <a:solidFill>
            <a:srgbClr val="25303A"/>
          </a:solidFill>
          <a:ln w="1397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Python object</a:t>
            </a:r>
          </a:p>
          <a:p>
            <a:pPr algn="ctr">
              <a:buNone/>
            </a:pPr>
            <a:r>
              <a:rPr sz="1100">
                <a:solidFill>
                  <a:srgbClr val="A9B7C4"/>
                </a:solidFill>
              </a:rPr>
              <a:t>running on GraalPy</a:t>
            </a:r>
          </a:p>
        </p:txBody>
      </p:sp>
      <p:sp>
        <p:nvSpPr>
          <p:cNvPr id="27" name="TextBox 26"/>
          <p:cNvSpPr txBox="1"/>
          <p:nvPr/>
        </p:nvSpPr>
        <p:spPr>
          <a:xfrm>
            <a:off x="6217920" y="5897880"/>
            <a:ext cx="5212080" cy="274320"/>
          </a:xfrm>
          <a:prstGeom prst="rect">
            <a:avLst/>
          </a:prstGeom>
          <a:noFill/>
        </p:spPr>
        <p:txBody>
          <a:bodyPr wrap="square" lIns="0" rIns="0" tIns="0" bIns="0" anchor="t"/>
          <a:lstStyle/>
          <a:p>
            <a:pPr algn="ctr">
              <a:buNone/>
            </a:pPr>
            <a:r>
              <a:rPr sz="1150">
                <a:solidFill>
                  <a:srgbClr val="A9B7C4"/>
                </a:solidFill>
              </a:rPr>
              <a:t>≈0.4 µs per bridge call with the Graal JIT · ≈1 µs interpreted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generated bridge looks like</a:t>
            </a:r>
          </a:p>
        </p:txBody>
      </p:sp>
      <p:sp>
        <p:nvSpPr>
          <p:cNvPr id="3" name="Text Placeholder 2"/>
          <p:cNvSpPr>
            <a:spLocks noGrp="1"/>
          </p:cNvSpPr>
          <p:nvPr>
            <p:ph type="body" idx="11" sz="quarter"/>
          </p:nvPr>
        </p:nvSpPr>
        <p:spPr/>
        <p:txBody>
          <a:bodyPr/>
          <a:lstStyle/>
          <a:p>
            <a:r>
              <a:t>Emitted by PythonStubGenerator with SourceGen — simplified</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00200"/>
            <a:ext cx="6400800" cy="4526280"/>
          </a:xfrm>
          <a:prstGeom prst="roundRect">
            <a:avLst>
              <a:gd name="adj" fmla="val 1212"/>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768096" y="1600200"/>
            <a:ext cx="640080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896112"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9848"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9616" y="1600200"/>
            <a:ext cx="5532120" cy="274320"/>
          </a:xfrm>
          <a:prstGeom prst="rect">
            <a:avLst/>
          </a:prstGeom>
          <a:noFill/>
        </p:spPr>
        <p:txBody>
          <a:bodyPr wrap="square" lIns="0" rIns="0" tIns="0" bIns="0" anchor="ctr"/>
          <a:lstStyle/>
          <a:p>
            <a:pPr algn="r">
              <a:buNone/>
            </a:pPr>
            <a:r>
              <a:rPr sz="1050">
                <a:solidFill>
                  <a:srgbClr val="A9B7C4"/>
                </a:solidFill>
                <a:latin typeface="Consolas"/>
              </a:rPr>
              <a:t>Room.java (generated)</a:t>
            </a:r>
          </a:p>
        </p:txBody>
      </p:sp>
      <p:sp>
        <p:nvSpPr>
          <p:cNvPr id="16" name="TextBox 15"/>
          <p:cNvSpPr txBox="1"/>
          <p:nvPr/>
        </p:nvSpPr>
        <p:spPr>
          <a:xfrm>
            <a:off x="932688" y="1984248"/>
            <a:ext cx="6126480" cy="4069080"/>
          </a:xfrm>
          <a:prstGeom prst="rect">
            <a:avLst/>
          </a:prstGeom>
          <a:noFill/>
        </p:spPr>
        <p:txBody>
          <a:bodyPr wrap="none" lIns="0" rIns="0" tIns="0" bIns="0"/>
          <a:lstStyle/>
          <a:p>
            <a:pPr>
              <a:lnSpc>
                <a:spcPct val="100000"/>
              </a:lnSpc>
              <a:buNone/>
            </a:pPr>
            <a:r>
              <a:rPr sz="1100">
                <a:solidFill>
                  <a:srgbClr val="F0CC72"/>
                </a:solidFill>
                <a:latin typeface="Consolas"/>
              </a:rPr>
              <a:t>@PythonClass</a:t>
            </a:r>
            <a:r>
              <a:rPr sz="1100">
                <a:solidFill>
                  <a:srgbClr val="D8E1E8"/>
                </a:solidFill>
                <a:latin typeface="Consolas"/>
              </a:rPr>
              <a:t>(</a:t>
            </a:r>
            <a:r>
              <a:rPr sz="1100">
                <a:solidFill>
                  <a:srgbClr val="A5D6A7"/>
                </a:solidFill>
                <a:latin typeface="Consolas"/>
              </a:rPr>
              <a:t>"entities.room.Room"</a:t>
            </a:r>
            <a:r>
              <a:rPr sz="1100">
                <a:solidFill>
                  <a:srgbClr val="D8E1E8"/>
                </a:solidFill>
                <a:latin typeface="Consolas"/>
              </a:rPr>
              <a:t>)</a:t>
            </a:r>
          </a:p>
          <a:p>
            <a:pPr>
              <a:lnSpc>
                <a:spcPct val="100000"/>
              </a:lnSpc>
              <a:buNone/>
            </a:pPr>
            <a:r>
              <a:rPr sz="1100">
                <a:solidFill>
                  <a:srgbClr val="F19111"/>
                </a:solidFill>
                <a:latin typeface="Consolas"/>
              </a:rPr>
              <a:t>public</a:t>
            </a:r>
            <a:r>
              <a:rPr sz="1100">
                <a:solidFill>
                  <a:srgbClr val="D8E1E8"/>
                </a:solidFill>
                <a:latin typeface="Consolas"/>
              </a:rPr>
              <a:t> </a:t>
            </a:r>
            <a:r>
              <a:rPr sz="1100">
                <a:solidFill>
                  <a:srgbClr val="F19111"/>
                </a:solidFill>
                <a:latin typeface="Consolas"/>
              </a:rPr>
              <a:t>class</a:t>
            </a:r>
            <a:r>
              <a:rPr sz="1100">
                <a:solidFill>
                  <a:srgbClr val="D8E1E8"/>
                </a:solidFill>
                <a:latin typeface="Consolas"/>
              </a:rPr>
              <a:t> </a:t>
            </a:r>
            <a:r>
              <a:rPr sz="1100">
                <a:solidFill>
                  <a:srgbClr val="6DBEE7"/>
                </a:solidFill>
                <a:latin typeface="Consolas"/>
              </a:rPr>
              <a:t>Room</a:t>
            </a:r>
            <a:r>
              <a:rPr sz="1100">
                <a:solidFill>
                  <a:srgbClr val="D8E1E8"/>
                </a:solidFill>
                <a:latin typeface="Consolas"/>
              </a:rPr>
              <a:t> </a:t>
            </a:r>
            <a:r>
              <a:rPr sz="1100">
                <a:solidFill>
                  <a:srgbClr val="F19111"/>
                </a:solidFill>
                <a:latin typeface="Consolas"/>
              </a:rPr>
              <a:t>implements</a:t>
            </a:r>
            <a:r>
              <a:rPr sz="1100">
                <a:solidFill>
                  <a:srgbClr val="D8E1E8"/>
                </a:solidFill>
                <a:latin typeface="Consolas"/>
              </a:rPr>
              <a:t> </a:t>
            </a:r>
            <a:r>
              <a:rPr sz="1100">
                <a:solidFill>
                  <a:srgbClr val="6DBEE7"/>
                </a:solidFill>
                <a:latin typeface="Consolas"/>
              </a:rPr>
              <a:t>ValueCoercible</a:t>
            </a:r>
            <a:r>
              <a:rPr sz="1100">
                <a:solidFill>
                  <a:srgbClr val="D8E1E8"/>
                </a:solidFill>
                <a:latin typeface="Consolas"/>
              </a:rPr>
              <a:t> </a:t>
            </a:r>
            <a:r>
              <a:rPr sz="1100">
                <a:solidFill>
                  <a:srgbClr val="D8E1E8"/>
                </a:solidFill>
                <a:latin typeface="Consolas"/>
              </a:rPr>
              <a:t>{</a:t>
            </a:r>
          </a:p>
          <a:p>
            <a:pPr>
              <a:lnSpc>
                <a:spcPct val="100000"/>
              </a:lnSpc>
              <a:buNone/>
            </a:pPr>
            <a:r>
              <a:rPr sz="1100">
                <a:latin typeface="Consolas"/>
              </a:rPr>
              <a:t> </a:t>
            </a:r>
          </a:p>
          <a:p>
            <a:pPr>
              <a:lnSpc>
                <a:spcPct val="100000"/>
              </a:lnSpc>
              <a:buNone/>
            </a:pPr>
            <a:r>
              <a:rPr sz="1100">
                <a:solidFill>
                  <a:srgbClr val="D8E1E8"/>
                </a:solidFill>
                <a:latin typeface="Consolas"/>
              </a:rPr>
              <a:t>    </a:t>
            </a:r>
            <a:r>
              <a:rPr sz="1100">
                <a:solidFill>
                  <a:srgbClr val="F19111"/>
                </a:solidFill>
                <a:latin typeface="Consolas"/>
              </a:rPr>
              <a:t>static</a:t>
            </a:r>
            <a:r>
              <a:rPr sz="1100">
                <a:solidFill>
                  <a:srgbClr val="D8E1E8"/>
                </a:solidFill>
                <a:latin typeface="Consolas"/>
              </a:rPr>
              <a:t> </a:t>
            </a:r>
            <a:r>
              <a:rPr sz="1100">
                <a:solidFill>
                  <a:srgbClr val="F19111"/>
                </a:solidFill>
                <a:latin typeface="Consolas"/>
              </a:rPr>
              <a:t>final</a:t>
            </a:r>
            <a:r>
              <a:rPr sz="1100">
                <a:solidFill>
                  <a:srgbClr val="D8E1E8"/>
                </a:solidFill>
                <a:latin typeface="Consolas"/>
              </a:rPr>
              <a:t> </a:t>
            </a:r>
            <a:r>
              <a:rPr sz="1100">
                <a:solidFill>
                  <a:srgbClr val="6DBEE7"/>
                </a:solidFill>
                <a:latin typeface="Consolas"/>
              </a:rPr>
              <a:t>PythonContextRuntime</a:t>
            </a:r>
            <a:r>
              <a:rPr sz="1100">
                <a:solidFill>
                  <a:srgbClr val="D8E1E8"/>
                </a:solidFill>
                <a:latin typeface="Consolas"/>
              </a:rPr>
              <a:t>.</a:t>
            </a:r>
            <a:r>
              <a:rPr sz="1100">
                <a:solidFill>
                  <a:srgbClr val="6DBEE7"/>
                </a:solidFill>
                <a:latin typeface="Consolas"/>
              </a:rPr>
              <a:t>PythonClassReference</a:t>
            </a:r>
          </a:p>
          <a:p>
            <a:pPr>
              <a:lnSpc>
                <a:spcPct val="100000"/>
              </a:lnSpc>
              <a:buNone/>
            </a:pPr>
            <a:r>
              <a:rPr sz="1100">
                <a:solidFill>
                  <a:srgbClr val="D8E1E8"/>
                </a:solidFill>
                <a:latin typeface="Consolas"/>
              </a:rPr>
              <a:t>        </a:t>
            </a:r>
            <a:r>
              <a:rPr sz="1100">
                <a:solidFill>
                  <a:srgbClr val="D8E1E8"/>
                </a:solidFill>
                <a:latin typeface="Consolas"/>
              </a:rPr>
              <a:t>__PYTHON_CLASS_REFERENCE</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a:t>
            </a:r>
            <a:r>
              <a:rPr sz="1100">
                <a:solidFill>
                  <a:srgbClr val="D8E1E8"/>
                </a:solidFill>
                <a:latin typeface="Consolas"/>
              </a:rPr>
              <a:t>.</a:t>
            </a:r>
            <a:r>
              <a:rPr sz="1100">
                <a:solidFill>
                  <a:srgbClr val="D8E1E8"/>
                </a:solidFill>
                <a:latin typeface="Consolas"/>
              </a:rPr>
              <a:t>;</a:t>
            </a:r>
          </a:p>
          <a:p>
            <a:pPr>
              <a:lnSpc>
                <a:spcPct val="100000"/>
              </a:lnSpc>
              <a:buNone/>
            </a:pPr>
            <a:r>
              <a:rPr sz="1100">
                <a:latin typeface="Consolas"/>
              </a:rPr>
              <a:t> </a:t>
            </a:r>
          </a:p>
          <a:p>
            <a:pPr>
              <a:lnSpc>
                <a:spcPct val="100000"/>
              </a:lnSpc>
              <a:buNone/>
            </a:pPr>
            <a:r>
              <a:rPr sz="1100">
                <a:solidFill>
                  <a:srgbClr val="D8E1E8"/>
                </a:solidFill>
                <a:latin typeface="Consolas"/>
              </a:rPr>
              <a:t>    </a:t>
            </a:r>
            <a:r>
              <a:rPr sz="1100">
                <a:solidFill>
                  <a:srgbClr val="F19111"/>
                </a:solidFill>
                <a:latin typeface="Consolas"/>
              </a:rPr>
              <a:t>public</a:t>
            </a:r>
            <a:r>
              <a:rPr sz="1100">
                <a:solidFill>
                  <a:srgbClr val="D8E1E8"/>
                </a:solidFill>
                <a:latin typeface="Consolas"/>
              </a:rPr>
              <a:t> </a:t>
            </a:r>
            <a:r>
              <a:rPr sz="1100">
                <a:solidFill>
                  <a:srgbClr val="6DBEE7"/>
                </a:solidFill>
                <a:latin typeface="Consolas"/>
              </a:rPr>
              <a:t>List</a:t>
            </a:r>
            <a:r>
              <a:rPr sz="1100">
                <a:solidFill>
                  <a:srgbClr val="D8E1E8"/>
                </a:solidFill>
                <a:latin typeface="Consolas"/>
              </a:rPr>
              <a:t>&lt;</a:t>
            </a:r>
            <a:r>
              <a:rPr sz="1100">
                <a:solidFill>
                  <a:srgbClr val="6DBEE7"/>
                </a:solidFill>
                <a:latin typeface="Consolas"/>
              </a:rPr>
              <a:t>Message</a:t>
            </a:r>
            <a:r>
              <a:rPr sz="1100">
                <a:solidFill>
                  <a:srgbClr val="D8E1E8"/>
                </a:solidFill>
                <a:latin typeface="Consolas"/>
              </a:rPr>
              <a:t>&gt;</a:t>
            </a:r>
            <a:r>
              <a:rPr sz="1100">
                <a:solidFill>
                  <a:srgbClr val="D8E1E8"/>
                </a:solidFill>
                <a:latin typeface="Consolas"/>
              </a:rPr>
              <a:t> </a:t>
            </a:r>
            <a:r>
              <a:rPr sz="1100">
                <a:solidFill>
                  <a:srgbClr val="D8E1E8"/>
                </a:solidFill>
                <a:latin typeface="Consolas"/>
              </a:rPr>
              <a:t>messages</a:t>
            </a:r>
            <a:r>
              <a:rPr sz="1100">
                <a:solidFill>
                  <a:srgbClr val="D8E1E8"/>
                </a:solidFill>
                <a:latin typeface="Consolas"/>
              </a:rPr>
              <a:t>;</a:t>
            </a:r>
          </a:p>
          <a:p>
            <a:pPr>
              <a:lnSpc>
                <a:spcPct val="100000"/>
              </a:lnSpc>
              <a:buNone/>
            </a:pPr>
            <a:r>
              <a:rPr sz="1100">
                <a:latin typeface="Consolas"/>
              </a:rPr>
              <a:t> </a:t>
            </a:r>
          </a:p>
          <a:p>
            <a:pPr>
              <a:lnSpc>
                <a:spcPct val="100000"/>
              </a:lnSpc>
              <a:buNone/>
            </a:pPr>
            <a:r>
              <a:rPr sz="1100">
                <a:solidFill>
                  <a:srgbClr val="D8E1E8"/>
                </a:solidFill>
                <a:latin typeface="Consolas"/>
              </a:rPr>
              <a:t>    </a:t>
            </a:r>
            <a:r>
              <a:rPr sz="1100">
                <a:solidFill>
                  <a:srgbClr val="F19111"/>
                </a:solidFill>
                <a:latin typeface="Consolas"/>
              </a:rPr>
              <a:t>public</a:t>
            </a:r>
            <a:r>
              <a:rPr sz="1100">
                <a:solidFill>
                  <a:srgbClr val="D8E1E8"/>
                </a:solidFill>
                <a:latin typeface="Consolas"/>
              </a:rPr>
              <a:t> </a:t>
            </a:r>
            <a:r>
              <a:rPr sz="1100">
                <a:solidFill>
                  <a:srgbClr val="6DBEE7"/>
                </a:solidFill>
                <a:latin typeface="Consolas"/>
              </a:rPr>
              <a:t>Room</a:t>
            </a:r>
            <a:r>
              <a:rPr sz="1100">
                <a:solidFill>
                  <a:srgbClr val="D8E1E8"/>
                </a:solidFill>
                <a:latin typeface="Consolas"/>
              </a:rPr>
              <a:t>(</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F19111"/>
                </a:solidFill>
                <a:latin typeface="Consolas"/>
              </a:rPr>
              <a:t>this</a:t>
            </a:r>
            <a:r>
              <a:rPr sz="1100">
                <a:solidFill>
                  <a:srgbClr val="D8E1E8"/>
                </a:solidFill>
                <a:latin typeface="Consolas"/>
              </a:rPr>
              <a:t>.</a:t>
            </a:r>
            <a:r>
              <a:rPr sz="1100">
                <a:solidFill>
                  <a:srgbClr val="D8E1E8"/>
                </a:solidFill>
                <a:latin typeface="Consolas"/>
              </a:rPr>
              <a:t>graalpyInternalValue</a:t>
            </a:r>
            <a:r>
              <a:rPr sz="1100">
                <a:solidFill>
                  <a:srgbClr val="D8E1E8"/>
                </a:solidFill>
                <a:latin typeface="Consolas"/>
              </a:rPr>
              <a:t> </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6DBEE7"/>
                </a:solidFill>
                <a:latin typeface="Consolas"/>
              </a:rPr>
              <a:t>PythonContextRuntime</a:t>
            </a:r>
            <a:r>
              <a:rPr sz="1100">
                <a:solidFill>
                  <a:srgbClr val="D8E1E8"/>
                </a:solidFill>
                <a:latin typeface="Consolas"/>
              </a:rPr>
              <a:t>.</a:t>
            </a:r>
            <a:r>
              <a:rPr sz="1100">
                <a:solidFill>
                  <a:srgbClr val="D8E1E8"/>
                </a:solidFill>
                <a:latin typeface="Consolas"/>
              </a:rPr>
              <a:t>newInstance</a:t>
            </a:r>
            <a:r>
              <a:rPr sz="1100">
                <a:solidFill>
                  <a:srgbClr val="D8E1E8"/>
                </a:solidFill>
                <a:latin typeface="Consolas"/>
              </a:rPr>
              <a:t>(</a:t>
            </a:r>
            <a:r>
              <a:rPr sz="1100">
                <a:solidFill>
                  <a:srgbClr val="D8E1E8"/>
                </a:solidFill>
                <a:latin typeface="Consolas"/>
              </a:rPr>
              <a:t>__PYTHON_CLASS_REFERENCE</a:t>
            </a:r>
            <a:r>
              <a:rPr sz="1100">
                <a:solidFill>
                  <a:srgbClr val="D8E1E8"/>
                </a:solidFill>
                <a:latin typeface="Consolas"/>
              </a:rPr>
              <a:t>)</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D8E1E8"/>
                </a:solidFill>
                <a:latin typeface="Consolas"/>
              </a:rPr>
              <a:t>}</a:t>
            </a:r>
          </a:p>
          <a:p>
            <a:pPr>
              <a:lnSpc>
                <a:spcPct val="100000"/>
              </a:lnSpc>
              <a:buNone/>
            </a:pPr>
            <a:r>
              <a:rPr sz="1100">
                <a:latin typeface="Consolas"/>
              </a:rPr>
              <a:t> </a:t>
            </a:r>
          </a:p>
          <a:p>
            <a:pPr>
              <a:lnSpc>
                <a:spcPct val="100000"/>
              </a:lnSpc>
              <a:buNone/>
            </a:pPr>
            <a:r>
              <a:rPr sz="1100">
                <a:solidFill>
                  <a:srgbClr val="D8E1E8"/>
                </a:solidFill>
                <a:latin typeface="Consolas"/>
              </a:rPr>
              <a:t>    </a:t>
            </a:r>
            <a:r>
              <a:rPr sz="1100">
                <a:solidFill>
                  <a:srgbClr val="F19111"/>
                </a:solidFill>
                <a:latin typeface="Consolas"/>
              </a:rPr>
              <a:t>public</a:t>
            </a:r>
            <a:r>
              <a:rPr sz="1100">
                <a:solidFill>
                  <a:srgbClr val="D8E1E8"/>
                </a:solidFill>
                <a:latin typeface="Consolas"/>
              </a:rPr>
              <a:t> </a:t>
            </a:r>
            <a:r>
              <a:rPr sz="1100">
                <a:solidFill>
                  <a:srgbClr val="F19111"/>
                </a:solidFill>
                <a:latin typeface="Consolas"/>
              </a:rPr>
              <a:t>void</a:t>
            </a:r>
            <a:r>
              <a:rPr sz="1100">
                <a:solidFill>
                  <a:srgbClr val="D8E1E8"/>
                </a:solidFill>
                <a:latin typeface="Consolas"/>
              </a:rPr>
              <a:t> </a:t>
            </a:r>
            <a:r>
              <a:rPr sz="1100">
                <a:solidFill>
                  <a:srgbClr val="D8E1E8"/>
                </a:solidFill>
                <a:latin typeface="Consolas"/>
              </a:rPr>
              <a:t>setMessages</a:t>
            </a:r>
            <a:r>
              <a:rPr sz="1100">
                <a:solidFill>
                  <a:srgbClr val="D8E1E8"/>
                </a:solidFill>
                <a:latin typeface="Consolas"/>
              </a:rPr>
              <a:t>(</a:t>
            </a:r>
            <a:r>
              <a:rPr sz="1100">
                <a:solidFill>
                  <a:srgbClr val="6DBEE7"/>
                </a:solidFill>
                <a:latin typeface="Consolas"/>
              </a:rPr>
              <a:t>List</a:t>
            </a:r>
            <a:r>
              <a:rPr sz="1100">
                <a:solidFill>
                  <a:srgbClr val="D8E1E8"/>
                </a:solidFill>
                <a:latin typeface="Consolas"/>
              </a:rPr>
              <a:t>&lt;</a:t>
            </a:r>
            <a:r>
              <a:rPr sz="1100">
                <a:solidFill>
                  <a:srgbClr val="6DBEE7"/>
                </a:solidFill>
                <a:latin typeface="Consolas"/>
              </a:rPr>
              <a:t>Message</a:t>
            </a:r>
            <a:r>
              <a:rPr sz="1100">
                <a:solidFill>
                  <a:srgbClr val="D8E1E8"/>
                </a:solidFill>
                <a:latin typeface="Consolas"/>
              </a:rPr>
              <a:t>&gt;</a:t>
            </a:r>
            <a:r>
              <a:rPr sz="1100">
                <a:solidFill>
                  <a:srgbClr val="D8E1E8"/>
                </a:solidFill>
                <a:latin typeface="Consolas"/>
              </a:rPr>
              <a:t> </a:t>
            </a:r>
            <a:r>
              <a:rPr sz="1100">
                <a:solidFill>
                  <a:srgbClr val="D8E1E8"/>
                </a:solidFill>
                <a:latin typeface="Consolas"/>
              </a:rPr>
              <a:t>arg1</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D8E1E8"/>
                </a:solidFill>
                <a:latin typeface="Consolas"/>
              </a:rPr>
              <a:t>.</a:t>
            </a:r>
            <a:r>
              <a:rPr sz="1100">
                <a:solidFill>
                  <a:srgbClr val="D8E1E8"/>
                </a:solidFill>
                <a:latin typeface="Consolas"/>
              </a:rPr>
              <a:t>.</a:t>
            </a:r>
            <a:r>
              <a:rPr sz="1100">
                <a:solidFill>
                  <a:srgbClr val="D8E1E8"/>
                </a:solidFill>
                <a:latin typeface="Consolas"/>
              </a:rPr>
              <a:t>.</a:t>
            </a:r>
            <a:r>
              <a:rPr sz="1100">
                <a:solidFill>
                  <a:srgbClr val="D8E1E8"/>
                </a:solidFill>
                <a:latin typeface="Consolas"/>
              </a:rPr>
              <a:t> </a:t>
            </a:r>
            <a:r>
              <a:rPr sz="1100">
                <a:solidFill>
                  <a:srgbClr val="6DBEE7"/>
                </a:solidFill>
                <a:latin typeface="Consolas"/>
              </a:rPr>
              <a:t>PythonConversion</a:t>
            </a:r>
            <a:r>
              <a:rPr sz="1100">
                <a:solidFill>
                  <a:srgbClr val="D8E1E8"/>
                </a:solidFill>
                <a:latin typeface="Consolas"/>
              </a:rPr>
              <a:t>.</a:t>
            </a:r>
            <a:r>
              <a:rPr sz="1100">
                <a:solidFill>
                  <a:srgbClr val="D8E1E8"/>
                </a:solidFill>
                <a:latin typeface="Consolas"/>
              </a:rPr>
              <a:t>convertList</a:t>
            </a:r>
            <a:r>
              <a:rPr sz="1100">
                <a:solidFill>
                  <a:srgbClr val="D8E1E8"/>
                </a:solidFill>
                <a:latin typeface="Consolas"/>
              </a:rPr>
              <a:t>(</a:t>
            </a:r>
            <a:r>
              <a:rPr sz="1100">
                <a:solidFill>
                  <a:srgbClr val="D8E1E8"/>
                </a:solidFill>
                <a:latin typeface="Consolas"/>
              </a:rPr>
              <a:t>arg1</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D8E1E8"/>
                </a:solidFill>
                <a:latin typeface="Consolas"/>
              </a:rPr>
              <a:t>(</a:t>
            </a:r>
            <a:r>
              <a:rPr sz="1100">
                <a:solidFill>
                  <a:srgbClr val="D8E1E8"/>
                </a:solidFill>
                <a:latin typeface="Consolas"/>
              </a:rPr>
              <a:t>element</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&gt;</a:t>
            </a:r>
            <a:r>
              <a:rPr sz="1100">
                <a:solidFill>
                  <a:srgbClr val="D8E1E8"/>
                </a:solidFill>
                <a:latin typeface="Consolas"/>
              </a:rPr>
              <a:t> </a:t>
            </a:r>
            <a:r>
              <a:rPr sz="1100">
                <a:solidFill>
                  <a:srgbClr val="6DBEE7"/>
                </a:solidFill>
                <a:latin typeface="Consolas"/>
              </a:rPr>
              <a:t>Message</a:t>
            </a:r>
            <a:r>
              <a:rPr sz="1100">
                <a:solidFill>
                  <a:srgbClr val="D8E1E8"/>
                </a:solidFill>
                <a:latin typeface="Consolas"/>
              </a:rPr>
              <a:t>.</a:t>
            </a:r>
            <a:r>
              <a:rPr sz="1100">
                <a:solidFill>
                  <a:srgbClr val="D8E1E8"/>
                </a:solidFill>
                <a:latin typeface="Consolas"/>
              </a:rPr>
              <a:t>fromPolyglotValue</a:t>
            </a:r>
            <a:r>
              <a:rPr sz="1100">
                <a:solidFill>
                  <a:srgbClr val="D8E1E8"/>
                </a:solidFill>
                <a:latin typeface="Consolas"/>
              </a:rPr>
              <a:t>(</a:t>
            </a:r>
            <a:r>
              <a:rPr sz="1100">
                <a:solidFill>
                  <a:srgbClr val="D8E1E8"/>
                </a:solidFill>
                <a:latin typeface="Consolas"/>
              </a:rPr>
              <a:t>element</a:t>
            </a:r>
            <a:r>
              <a:rPr sz="1100">
                <a:solidFill>
                  <a:srgbClr val="D8E1E8"/>
                </a:solidFill>
                <a:latin typeface="Consolas"/>
              </a:rPr>
              <a:t>)</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D8E1E8"/>
                </a:solidFill>
                <a:latin typeface="Consolas"/>
              </a:rPr>
              <a:t>}</a:t>
            </a:r>
          </a:p>
          <a:p>
            <a:pPr>
              <a:lnSpc>
                <a:spcPct val="100000"/>
              </a:lnSpc>
              <a:buNone/>
            </a:pPr>
            <a:r>
              <a:rPr sz="1100">
                <a:latin typeface="Consolas"/>
              </a:rPr>
              <a:t> </a:t>
            </a:r>
          </a:p>
          <a:p>
            <a:pPr>
              <a:lnSpc>
                <a:spcPct val="100000"/>
              </a:lnSpc>
              <a:buNone/>
            </a:pPr>
            <a:r>
              <a:rPr sz="1100">
                <a:solidFill>
                  <a:srgbClr val="D8E1E8"/>
                </a:solidFill>
                <a:latin typeface="Consolas"/>
              </a:rPr>
              <a:t>    </a:t>
            </a:r>
            <a:r>
              <a:rPr sz="1100">
                <a:solidFill>
                  <a:srgbClr val="F19111"/>
                </a:solidFill>
                <a:latin typeface="Consolas"/>
              </a:rPr>
              <a:t>public</a:t>
            </a:r>
            <a:r>
              <a:rPr sz="1100">
                <a:solidFill>
                  <a:srgbClr val="D8E1E8"/>
                </a:solidFill>
                <a:latin typeface="Consolas"/>
              </a:rPr>
              <a:t> </a:t>
            </a:r>
            <a:r>
              <a:rPr sz="1100">
                <a:solidFill>
                  <a:srgbClr val="6DBEE7"/>
                </a:solidFill>
                <a:latin typeface="Consolas"/>
              </a:rPr>
              <a:t>Value</a:t>
            </a:r>
            <a:r>
              <a:rPr sz="1100">
                <a:solidFill>
                  <a:srgbClr val="D8E1E8"/>
                </a:solidFill>
                <a:latin typeface="Consolas"/>
              </a:rPr>
              <a:t> </a:t>
            </a:r>
            <a:r>
              <a:rPr sz="1100">
                <a:solidFill>
                  <a:srgbClr val="D8E1E8"/>
                </a:solidFill>
                <a:latin typeface="Consolas"/>
              </a:rPr>
              <a:t>asPolyglotValue</a:t>
            </a:r>
            <a:r>
              <a:rPr sz="1100">
                <a:solidFill>
                  <a:srgbClr val="D8E1E8"/>
                </a:solidFill>
                <a:latin typeface="Consolas"/>
              </a:rPr>
              <a:t>(</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 </a:t>
            </a:r>
            <a:r>
              <a:rPr sz="1100">
                <a:solidFill>
                  <a:srgbClr val="F19111"/>
                </a:solidFill>
                <a:latin typeface="Consolas"/>
              </a:rPr>
              <a:t>return</a:t>
            </a:r>
            <a:r>
              <a:rPr sz="1100">
                <a:solidFill>
                  <a:srgbClr val="D8E1E8"/>
                </a:solidFill>
                <a:latin typeface="Consolas"/>
              </a:rPr>
              <a:t> </a:t>
            </a:r>
            <a:r>
              <a:rPr sz="1100">
                <a:solidFill>
                  <a:srgbClr val="F19111"/>
                </a:solidFill>
                <a:latin typeface="Consolas"/>
              </a:rPr>
              <a:t>this</a:t>
            </a:r>
            <a:r>
              <a:rPr sz="1100">
                <a:solidFill>
                  <a:srgbClr val="D8E1E8"/>
                </a:solidFill>
                <a:latin typeface="Consolas"/>
              </a:rPr>
              <a:t>.</a:t>
            </a:r>
            <a:r>
              <a:rPr sz="1100">
                <a:solidFill>
                  <a:srgbClr val="D8E1E8"/>
                </a:solidFill>
                <a:latin typeface="Consolas"/>
              </a:rPr>
              <a:t>graalpyInternalValue</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p>
          <a:p>
            <a:pPr>
              <a:lnSpc>
                <a:spcPct val="100000"/>
              </a:lnSpc>
              <a:buNone/>
            </a:pPr>
            <a:r>
              <a:rPr sz="1100">
                <a:latin typeface="Consolas"/>
              </a:rPr>
              <a:t> </a:t>
            </a:r>
          </a:p>
          <a:p>
            <a:pPr>
              <a:lnSpc>
                <a:spcPct val="100000"/>
              </a:lnSpc>
              <a:buNone/>
            </a:pPr>
            <a:r>
              <a:rPr sz="1100">
                <a:solidFill>
                  <a:srgbClr val="D8E1E8"/>
                </a:solidFill>
                <a:latin typeface="Consolas"/>
              </a:rPr>
              <a:t>    </a:t>
            </a:r>
            <a:r>
              <a:rPr sz="1100">
                <a:solidFill>
                  <a:srgbClr val="F19111"/>
                </a:solidFill>
                <a:latin typeface="Consolas"/>
              </a:rPr>
              <a:t>public</a:t>
            </a:r>
            <a:r>
              <a:rPr sz="1100">
                <a:solidFill>
                  <a:srgbClr val="D8E1E8"/>
                </a:solidFill>
                <a:latin typeface="Consolas"/>
              </a:rPr>
              <a:t> </a:t>
            </a:r>
            <a:r>
              <a:rPr sz="1100">
                <a:solidFill>
                  <a:srgbClr val="F19111"/>
                </a:solidFill>
                <a:latin typeface="Consolas"/>
              </a:rPr>
              <a:t>static</a:t>
            </a:r>
            <a:r>
              <a:rPr sz="1100">
                <a:solidFill>
                  <a:srgbClr val="D8E1E8"/>
                </a:solidFill>
                <a:latin typeface="Consolas"/>
              </a:rPr>
              <a:t> </a:t>
            </a:r>
            <a:r>
              <a:rPr sz="1100">
                <a:solidFill>
                  <a:srgbClr val="6DBEE7"/>
                </a:solidFill>
                <a:latin typeface="Consolas"/>
              </a:rPr>
              <a:t>Room</a:t>
            </a:r>
            <a:r>
              <a:rPr sz="1100">
                <a:solidFill>
                  <a:srgbClr val="D8E1E8"/>
                </a:solidFill>
                <a:latin typeface="Consolas"/>
              </a:rPr>
              <a:t> </a:t>
            </a:r>
            <a:r>
              <a:rPr sz="1100">
                <a:solidFill>
                  <a:srgbClr val="D8E1E8"/>
                </a:solidFill>
                <a:latin typeface="Consolas"/>
              </a:rPr>
              <a:t>fromPolyglotValue</a:t>
            </a:r>
            <a:r>
              <a:rPr sz="1100">
                <a:solidFill>
                  <a:srgbClr val="D8E1E8"/>
                </a:solidFill>
                <a:latin typeface="Consolas"/>
              </a:rPr>
              <a:t>(</a:t>
            </a:r>
            <a:r>
              <a:rPr sz="1100">
                <a:solidFill>
                  <a:srgbClr val="6DBEE7"/>
                </a:solidFill>
                <a:latin typeface="Consolas"/>
              </a:rPr>
              <a:t>Value</a:t>
            </a:r>
            <a:r>
              <a:rPr sz="1100">
                <a:solidFill>
                  <a:srgbClr val="D8E1E8"/>
                </a:solidFill>
                <a:latin typeface="Consolas"/>
              </a:rPr>
              <a:t> </a:t>
            </a:r>
            <a:r>
              <a:rPr sz="1100">
                <a:solidFill>
                  <a:srgbClr val="D8E1E8"/>
                </a:solidFill>
                <a:latin typeface="Consolas"/>
              </a:rPr>
              <a:t>value</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a:t>
            </a:r>
          </a:p>
          <a:p>
            <a:pPr>
              <a:lnSpc>
                <a:spcPct val="100000"/>
              </a:lnSpc>
              <a:buNone/>
            </a:pPr>
            <a:r>
              <a:rPr sz="1100">
                <a:solidFill>
                  <a:srgbClr val="D8E1E8"/>
                </a:solidFill>
                <a:latin typeface="Consolas"/>
              </a:rPr>
              <a:t>}</a:t>
            </a:r>
          </a:p>
        </p:txBody>
      </p:sp>
      <p:sp>
        <p:nvSpPr>
          <p:cNvPr id="17" name="Rounded Rectangle 16"/>
          <p:cNvSpPr/>
          <p:nvPr/>
        </p:nvSpPr>
        <p:spPr>
          <a:xfrm>
            <a:off x="7406640" y="1600200"/>
            <a:ext cx="4023360" cy="1024128"/>
          </a:xfrm>
          <a:prstGeom prst="roundRect">
            <a:avLst>
              <a:gd name="adj" fmla="val 7142"/>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400"/>
              </a:spcBef>
              <a:spcAft>
                <a:spcPts val="300"/>
              </a:spcAft>
              <a:buNone/>
            </a:pPr>
            <a:r>
              <a:rPr sz="1350" b="1">
                <a:solidFill>
                  <a:srgbClr val="F19111"/>
                </a:solidFill>
              </a:rPr>
              <a:t>Static type for Micronaut</a:t>
            </a:r>
          </a:p>
          <a:p>
            <a:pPr algn="l">
              <a:buNone/>
            </a:pPr>
            <a:r>
              <a:rPr sz="1150">
                <a:solidFill>
                  <a:srgbClr val="FFFFFF"/>
                </a:solidFill>
              </a:rPr>
              <a:t>fields, accessors and constructors mirror the Python dataclass</a:t>
            </a:r>
          </a:p>
        </p:txBody>
      </p:sp>
      <p:sp>
        <p:nvSpPr>
          <p:cNvPr id="18" name="Rounded Rectangle 17"/>
          <p:cNvSpPr/>
          <p:nvPr/>
        </p:nvSpPr>
        <p:spPr>
          <a:xfrm>
            <a:off x="7406640" y="2743200"/>
            <a:ext cx="4023360" cy="1024128"/>
          </a:xfrm>
          <a:prstGeom prst="roundRect">
            <a:avLst>
              <a:gd name="adj" fmla="val 7142"/>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400"/>
              </a:spcBef>
              <a:spcAft>
                <a:spcPts val="300"/>
              </a:spcAft>
              <a:buNone/>
            </a:pPr>
            <a:r>
              <a:rPr sz="1350" b="1">
                <a:solidFill>
                  <a:srgbClr val="F19111"/>
                </a:solidFill>
              </a:rPr>
              <a:t>ValueCoercible</a:t>
            </a:r>
          </a:p>
          <a:p>
            <a:pPr algn="l">
              <a:buNone/>
            </a:pPr>
            <a:r>
              <a:rPr sz="1150">
                <a:solidFill>
                  <a:srgbClr val="FFFFFF"/>
                </a:solidFill>
              </a:rPr>
              <a:t>Java keeps a typed wrapper; GraalPy still sees the original Python object</a:t>
            </a:r>
          </a:p>
        </p:txBody>
      </p:sp>
      <p:sp>
        <p:nvSpPr>
          <p:cNvPr id="19" name="Rounded Rectangle 18"/>
          <p:cNvSpPr/>
          <p:nvPr/>
        </p:nvSpPr>
        <p:spPr>
          <a:xfrm>
            <a:off x="7406640" y="3886200"/>
            <a:ext cx="4023360" cy="1024128"/>
          </a:xfrm>
          <a:prstGeom prst="roundRect">
            <a:avLst>
              <a:gd name="adj" fmla="val 7142"/>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400"/>
              </a:spcBef>
              <a:spcAft>
                <a:spcPts val="300"/>
              </a:spcAft>
              <a:buNone/>
            </a:pPr>
            <a:r>
              <a:rPr sz="1350" b="1">
                <a:solidFill>
                  <a:srgbClr val="F19111"/>
                </a:solidFill>
              </a:rPr>
              <a:t>fromPolyglotValue</a:t>
            </a:r>
          </a:p>
          <a:p>
            <a:pPr algn="l">
              <a:buNone/>
            </a:pPr>
            <a:r>
              <a:rPr sz="1150">
                <a:solidFill>
                  <a:srgbClr val="FFFFFF"/>
                </a:solidFill>
              </a:rPr>
              <a:t>a generated TargetTypeMapping bean registers it with HostAccess</a:t>
            </a:r>
          </a:p>
        </p:txBody>
      </p:sp>
      <p:sp>
        <p:nvSpPr>
          <p:cNvPr id="20" name="Rounded Rectangle 19"/>
          <p:cNvSpPr/>
          <p:nvPr/>
        </p:nvSpPr>
        <p:spPr>
          <a:xfrm>
            <a:off x="7406640" y="5029200"/>
            <a:ext cx="4023360" cy="1024128"/>
          </a:xfrm>
          <a:prstGeom prst="roundRect">
            <a:avLst>
              <a:gd name="adj" fmla="val 7142"/>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400"/>
              </a:spcBef>
              <a:spcAft>
                <a:spcPts val="300"/>
              </a:spcAft>
              <a:buNone/>
            </a:pPr>
            <a:r>
              <a:rPr sz="1350" b="1">
                <a:solidFill>
                  <a:srgbClr val="F19111"/>
                </a:solidFill>
              </a:rPr>
              <a:t>PythonInvocation</a:t>
            </a:r>
          </a:p>
          <a:p>
            <a:pPr algn="l">
              <a:buNone/>
            </a:pPr>
            <a:r>
              <a:rPr sz="1150">
                <a:solidFill>
                  <a:srgbClr val="FFFFFF"/>
                </a:solidFill>
              </a:rPr>
              <a:t>method calls enter an execution frame for pooled-context tracking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Boxing and unboxing, extended to Python types</a:t>
            </a:r>
          </a:p>
        </p:txBody>
      </p:sp>
      <p:sp>
        <p:nvSpPr>
          <p:cNvPr id="3" name="Text Placeholder 2"/>
          <p:cNvSpPr>
            <a:spLocks noGrp="1"/>
          </p:cNvSpPr>
          <p:nvPr>
            <p:ph type="body" idx="11" sz="quarter"/>
          </p:nvPr>
        </p:nvSpPr>
        <p:spPr/>
        <p:txBody>
          <a:bodyPr/>
          <a:lstStyle/>
          <a:p>
            <a:r>
              <a:t>Conversions run on every boundary crossing — they’re on the hot path</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36192"/>
            <a:ext cx="5212080" cy="256032"/>
          </a:xfrm>
          <a:prstGeom prst="rect">
            <a:avLst/>
          </a:prstGeom>
          <a:noFill/>
        </p:spPr>
        <p:txBody>
          <a:bodyPr wrap="square" lIns="0" rIns="0" tIns="0" bIns="0" anchor="ctr"/>
          <a:lstStyle/>
          <a:p>
            <a:pPr algn="l">
              <a:buNone/>
            </a:pPr>
            <a:r>
              <a:rPr sz="1100" b="1">
                <a:solidFill>
                  <a:srgbClr val="F19111"/>
                </a:solidFill>
              </a:rPr>
              <a:t>PYTHON → JAVA  ·  HOSTACCESS TARGET TYPE MAPPINGS</a:t>
            </a:r>
          </a:p>
        </p:txBody>
      </p:sp>
      <p:sp>
        <p:nvSpPr>
          <p:cNvPr id="11" name="TextBox 10"/>
          <p:cNvSpPr txBox="1"/>
          <p:nvPr/>
        </p:nvSpPr>
        <p:spPr>
          <a:xfrm>
            <a:off x="6217920" y="1536192"/>
            <a:ext cx="5212080" cy="256032"/>
          </a:xfrm>
          <a:prstGeom prst="rect">
            <a:avLst/>
          </a:prstGeom>
          <a:noFill/>
        </p:spPr>
        <p:txBody>
          <a:bodyPr wrap="square" lIns="0" rIns="0" tIns="0" bIns="0" anchor="ctr"/>
          <a:lstStyle/>
          <a:p>
            <a:pPr algn="l">
              <a:buNone/>
            </a:pPr>
            <a:r>
              <a:rPr sz="1100" b="1">
                <a:solidFill>
                  <a:srgbClr val="6DBEE7"/>
                </a:solidFill>
              </a:rPr>
              <a:t>JAVA → PYTHON  ·  PYTHONCOERCION</a:t>
            </a:r>
          </a:p>
        </p:txBody>
      </p:sp>
      <p:sp>
        <p:nvSpPr>
          <p:cNvPr id="12" name="Rounded Rectangle 11"/>
          <p:cNvSpPr/>
          <p:nvPr/>
        </p:nvSpPr>
        <p:spPr>
          <a:xfrm>
            <a:off x="768096" y="1847088"/>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datetime.date</a:t>
            </a:r>
          </a:p>
        </p:txBody>
      </p:sp>
      <p:cxnSp>
        <p:nvCxnSpPr>
          <p:cNvPr id="13" name="Connector 12"/>
          <p:cNvCxnSpPr/>
          <p:nvPr/>
        </p:nvCxnSpPr>
        <p:spPr>
          <a:xfrm>
            <a:off x="3310128" y="2020824"/>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11880" y="1847088"/>
            <a:ext cx="2377440" cy="347472"/>
          </a:xfrm>
          <a:prstGeom prst="rect">
            <a:avLst/>
          </a:prstGeom>
          <a:noFill/>
        </p:spPr>
        <p:txBody>
          <a:bodyPr wrap="square" lIns="0" rIns="0" tIns="0" bIns="0" anchor="ctr"/>
          <a:lstStyle/>
          <a:p>
            <a:pPr>
              <a:buNone/>
            </a:pPr>
            <a:r>
              <a:rPr sz="1150">
                <a:solidFill>
                  <a:srgbClr val="6DBEE7"/>
                </a:solidFill>
                <a:latin typeface="Consolas"/>
              </a:rPr>
              <a:t>LocalDate</a:t>
            </a:r>
          </a:p>
        </p:txBody>
      </p:sp>
      <p:sp>
        <p:nvSpPr>
          <p:cNvPr id="15" name="Rounded Rectangle 14"/>
          <p:cNvSpPr/>
          <p:nvPr/>
        </p:nvSpPr>
        <p:spPr>
          <a:xfrm>
            <a:off x="768096" y="2249424"/>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datetime.time</a:t>
            </a:r>
          </a:p>
        </p:txBody>
      </p:sp>
      <p:cxnSp>
        <p:nvCxnSpPr>
          <p:cNvPr id="16" name="Connector 15"/>
          <p:cNvCxnSpPr/>
          <p:nvPr/>
        </p:nvCxnSpPr>
        <p:spPr>
          <a:xfrm>
            <a:off x="3310128" y="2423160"/>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611880" y="2249424"/>
            <a:ext cx="2377440" cy="347472"/>
          </a:xfrm>
          <a:prstGeom prst="rect">
            <a:avLst/>
          </a:prstGeom>
          <a:noFill/>
        </p:spPr>
        <p:txBody>
          <a:bodyPr wrap="square" lIns="0" rIns="0" tIns="0" bIns="0" anchor="ctr"/>
          <a:lstStyle/>
          <a:p>
            <a:pPr>
              <a:buNone/>
            </a:pPr>
            <a:r>
              <a:rPr sz="1150">
                <a:solidFill>
                  <a:srgbClr val="6DBEE7"/>
                </a:solidFill>
                <a:latin typeface="Consolas"/>
              </a:rPr>
              <a:t>LocalTime</a:t>
            </a:r>
          </a:p>
        </p:txBody>
      </p:sp>
      <p:sp>
        <p:nvSpPr>
          <p:cNvPr id="18" name="Rounded Rectangle 17"/>
          <p:cNvSpPr/>
          <p:nvPr/>
        </p:nvSpPr>
        <p:spPr>
          <a:xfrm>
            <a:off x="768096" y="2651760"/>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datetime.datetime</a:t>
            </a:r>
          </a:p>
        </p:txBody>
      </p:sp>
      <p:cxnSp>
        <p:nvCxnSpPr>
          <p:cNvPr id="19" name="Connector 18"/>
          <p:cNvCxnSpPr/>
          <p:nvPr/>
        </p:nvCxnSpPr>
        <p:spPr>
          <a:xfrm>
            <a:off x="3310128" y="2825496"/>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11880" y="2651760"/>
            <a:ext cx="2377440" cy="347472"/>
          </a:xfrm>
          <a:prstGeom prst="rect">
            <a:avLst/>
          </a:prstGeom>
          <a:noFill/>
        </p:spPr>
        <p:txBody>
          <a:bodyPr wrap="square" lIns="0" rIns="0" tIns="0" bIns="0" anchor="ctr"/>
          <a:lstStyle/>
          <a:p>
            <a:pPr>
              <a:buNone/>
            </a:pPr>
            <a:r>
              <a:rPr sz="1150">
                <a:solidFill>
                  <a:srgbClr val="6DBEE7"/>
                </a:solidFill>
                <a:latin typeface="Consolas"/>
              </a:rPr>
              <a:t>LocalDateTime</a:t>
            </a:r>
          </a:p>
        </p:txBody>
      </p:sp>
      <p:sp>
        <p:nvSpPr>
          <p:cNvPr id="21" name="Rounded Rectangle 20"/>
          <p:cNvSpPr/>
          <p:nvPr/>
        </p:nvSpPr>
        <p:spPr>
          <a:xfrm>
            <a:off x="768096" y="3054096"/>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datetime.timedelta</a:t>
            </a:r>
          </a:p>
        </p:txBody>
      </p:sp>
      <p:cxnSp>
        <p:nvCxnSpPr>
          <p:cNvPr id="22" name="Connector 21"/>
          <p:cNvCxnSpPr/>
          <p:nvPr/>
        </p:nvCxnSpPr>
        <p:spPr>
          <a:xfrm>
            <a:off x="3310128" y="3227832"/>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11880" y="3054096"/>
            <a:ext cx="2377440" cy="347472"/>
          </a:xfrm>
          <a:prstGeom prst="rect">
            <a:avLst/>
          </a:prstGeom>
          <a:noFill/>
        </p:spPr>
        <p:txBody>
          <a:bodyPr wrap="square" lIns="0" rIns="0" tIns="0" bIns="0" anchor="ctr"/>
          <a:lstStyle/>
          <a:p>
            <a:pPr>
              <a:buNone/>
            </a:pPr>
            <a:r>
              <a:rPr sz="1150">
                <a:solidFill>
                  <a:srgbClr val="6DBEE7"/>
                </a:solidFill>
                <a:latin typeface="Consolas"/>
              </a:rPr>
              <a:t>Duration</a:t>
            </a:r>
          </a:p>
        </p:txBody>
      </p:sp>
      <p:sp>
        <p:nvSpPr>
          <p:cNvPr id="24" name="Rounded Rectangle 23"/>
          <p:cNvSpPr/>
          <p:nvPr/>
        </p:nvSpPr>
        <p:spPr>
          <a:xfrm>
            <a:off x="768096" y="3456432"/>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datetime.timezone</a:t>
            </a:r>
          </a:p>
        </p:txBody>
      </p:sp>
      <p:cxnSp>
        <p:nvCxnSpPr>
          <p:cNvPr id="25" name="Connector 24"/>
          <p:cNvCxnSpPr/>
          <p:nvPr/>
        </p:nvCxnSpPr>
        <p:spPr>
          <a:xfrm>
            <a:off x="3310128" y="3630168"/>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11880" y="3456432"/>
            <a:ext cx="2377440" cy="347472"/>
          </a:xfrm>
          <a:prstGeom prst="rect">
            <a:avLst/>
          </a:prstGeom>
          <a:noFill/>
        </p:spPr>
        <p:txBody>
          <a:bodyPr wrap="square" lIns="0" rIns="0" tIns="0" bIns="0" anchor="ctr"/>
          <a:lstStyle/>
          <a:p>
            <a:pPr>
              <a:buNone/>
            </a:pPr>
            <a:r>
              <a:rPr sz="1150">
                <a:solidFill>
                  <a:srgbClr val="6DBEE7"/>
                </a:solidFill>
                <a:latin typeface="Consolas"/>
              </a:rPr>
              <a:t>ZoneOffset</a:t>
            </a:r>
          </a:p>
        </p:txBody>
      </p:sp>
      <p:sp>
        <p:nvSpPr>
          <p:cNvPr id="27" name="Rounded Rectangle 26"/>
          <p:cNvSpPr/>
          <p:nvPr/>
        </p:nvSpPr>
        <p:spPr>
          <a:xfrm>
            <a:off x="768096" y="3858768"/>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uuid.UUID</a:t>
            </a:r>
          </a:p>
        </p:txBody>
      </p:sp>
      <p:cxnSp>
        <p:nvCxnSpPr>
          <p:cNvPr id="28" name="Connector 27"/>
          <p:cNvCxnSpPr/>
          <p:nvPr/>
        </p:nvCxnSpPr>
        <p:spPr>
          <a:xfrm>
            <a:off x="3310128" y="4032504"/>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3858768"/>
            <a:ext cx="2377440" cy="347472"/>
          </a:xfrm>
          <a:prstGeom prst="rect">
            <a:avLst/>
          </a:prstGeom>
          <a:noFill/>
        </p:spPr>
        <p:txBody>
          <a:bodyPr wrap="square" lIns="0" rIns="0" tIns="0" bIns="0" anchor="ctr"/>
          <a:lstStyle/>
          <a:p>
            <a:pPr>
              <a:buNone/>
            </a:pPr>
            <a:r>
              <a:rPr sz="1150">
                <a:solidFill>
                  <a:srgbClr val="6DBEE7"/>
                </a:solidFill>
                <a:latin typeface="Consolas"/>
              </a:rPr>
              <a:t>UUID</a:t>
            </a:r>
          </a:p>
        </p:txBody>
      </p:sp>
      <p:sp>
        <p:nvSpPr>
          <p:cNvPr id="30" name="Rounded Rectangle 29"/>
          <p:cNvSpPr/>
          <p:nvPr/>
        </p:nvSpPr>
        <p:spPr>
          <a:xfrm>
            <a:off x="768096" y="4261104"/>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list · dict · set</a:t>
            </a:r>
          </a:p>
        </p:txBody>
      </p:sp>
      <p:cxnSp>
        <p:nvCxnSpPr>
          <p:cNvPr id="31" name="Connector 30"/>
          <p:cNvCxnSpPr/>
          <p:nvPr/>
        </p:nvCxnSpPr>
        <p:spPr>
          <a:xfrm>
            <a:off x="3310128" y="4434840"/>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611880" y="4261104"/>
            <a:ext cx="2377440" cy="347472"/>
          </a:xfrm>
          <a:prstGeom prst="rect">
            <a:avLst/>
          </a:prstGeom>
          <a:noFill/>
        </p:spPr>
        <p:txBody>
          <a:bodyPr wrap="square" lIns="0" rIns="0" tIns="0" bIns="0" anchor="ctr"/>
          <a:lstStyle/>
          <a:p>
            <a:pPr>
              <a:buNone/>
            </a:pPr>
            <a:r>
              <a:rPr sz="1150">
                <a:solidFill>
                  <a:srgbClr val="6DBEE7"/>
                </a:solidFill>
                <a:latin typeface="Consolas"/>
              </a:rPr>
              <a:t>List · Map · Set (per element)</a:t>
            </a:r>
          </a:p>
        </p:txBody>
      </p:sp>
      <p:sp>
        <p:nvSpPr>
          <p:cNvPr id="33" name="Rounded Rectangle 32"/>
          <p:cNvSpPr/>
          <p:nvPr/>
        </p:nvSpPr>
        <p:spPr>
          <a:xfrm>
            <a:off x="768096" y="4663440"/>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None</a:t>
            </a:r>
          </a:p>
        </p:txBody>
      </p:sp>
      <p:cxnSp>
        <p:nvCxnSpPr>
          <p:cNvPr id="34" name="Connector 33"/>
          <p:cNvCxnSpPr/>
          <p:nvPr/>
        </p:nvCxnSpPr>
        <p:spPr>
          <a:xfrm>
            <a:off x="3310128" y="4837176"/>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611880" y="4663440"/>
            <a:ext cx="2377440" cy="347472"/>
          </a:xfrm>
          <a:prstGeom prst="rect">
            <a:avLst/>
          </a:prstGeom>
          <a:noFill/>
        </p:spPr>
        <p:txBody>
          <a:bodyPr wrap="square" lIns="0" rIns="0" tIns="0" bIns="0" anchor="ctr"/>
          <a:lstStyle/>
          <a:p>
            <a:pPr>
              <a:buNone/>
            </a:pPr>
            <a:r>
              <a:rPr sz="1150">
                <a:solidFill>
                  <a:srgbClr val="6DBEE7"/>
                </a:solidFill>
                <a:latin typeface="Consolas"/>
              </a:rPr>
              <a:t>null / Optional.empty()</a:t>
            </a:r>
          </a:p>
        </p:txBody>
      </p:sp>
      <p:sp>
        <p:nvSpPr>
          <p:cNvPr id="36" name="Rounded Rectangle 35"/>
          <p:cNvSpPr/>
          <p:nvPr/>
        </p:nvSpPr>
        <p:spPr>
          <a:xfrm>
            <a:off x="768096" y="5065776"/>
            <a:ext cx="2514600" cy="347472"/>
          </a:xfrm>
          <a:prstGeom prst="roundRect">
            <a:avLst>
              <a:gd name="adj" fmla="val 13157"/>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F0CC72"/>
                </a:solidFill>
                <a:latin typeface="Consolas"/>
              </a:rPr>
              <a:t>Python class instance</a:t>
            </a:r>
          </a:p>
        </p:txBody>
      </p:sp>
      <p:cxnSp>
        <p:nvCxnSpPr>
          <p:cNvPr id="37" name="Connector 36"/>
          <p:cNvCxnSpPr/>
          <p:nvPr/>
        </p:nvCxnSpPr>
        <p:spPr>
          <a:xfrm>
            <a:off x="3310128" y="5239512"/>
            <a:ext cx="256032" cy="0"/>
          </a:xfrm>
          <a:prstGeom prst="line">
            <a:avLst/>
          </a:prstGeom>
          <a:ln w="15875">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611880" y="5065776"/>
            <a:ext cx="2377440" cy="347472"/>
          </a:xfrm>
          <a:prstGeom prst="rect">
            <a:avLst/>
          </a:prstGeom>
          <a:noFill/>
        </p:spPr>
        <p:txBody>
          <a:bodyPr wrap="square" lIns="0" rIns="0" tIns="0" bIns="0" anchor="ctr"/>
          <a:lstStyle/>
          <a:p>
            <a:pPr>
              <a:buNone/>
            </a:pPr>
            <a:r>
              <a:rPr sz="1150">
                <a:solidFill>
                  <a:srgbClr val="6DBEE7"/>
                </a:solidFill>
                <a:latin typeface="Consolas"/>
              </a:rPr>
              <a:t>generated bridge type</a:t>
            </a:r>
          </a:p>
        </p:txBody>
      </p:sp>
      <p:sp>
        <p:nvSpPr>
          <p:cNvPr id="39" name="Rounded Rectangle 38"/>
          <p:cNvSpPr/>
          <p:nvPr/>
        </p:nvSpPr>
        <p:spPr>
          <a:xfrm>
            <a:off x="6217920" y="1847088"/>
            <a:ext cx="2971800" cy="603504"/>
          </a:xfrm>
          <a:prstGeom prst="roundRect">
            <a:avLst>
              <a:gd name="adj" fmla="val 7575"/>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6DBEE7"/>
                </a:solidFill>
                <a:latin typeface="Consolas"/>
              </a:rPr>
              <a:t>LocalDate · LocalTime · LocalDateTime</a:t>
            </a:r>
          </a:p>
        </p:txBody>
      </p:sp>
      <p:cxnSp>
        <p:nvCxnSpPr>
          <p:cNvPr id="40" name="Connector 39"/>
          <p:cNvCxnSpPr/>
          <p:nvPr/>
        </p:nvCxnSpPr>
        <p:spPr>
          <a:xfrm>
            <a:off x="9217152" y="2148840"/>
            <a:ext cx="256032" cy="0"/>
          </a:xfrm>
          <a:prstGeom prst="line">
            <a:avLst/>
          </a:prstGeom>
          <a:ln w="1587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528048" y="1847088"/>
            <a:ext cx="1920240" cy="603504"/>
          </a:xfrm>
          <a:prstGeom prst="rect">
            <a:avLst/>
          </a:prstGeom>
          <a:noFill/>
        </p:spPr>
        <p:txBody>
          <a:bodyPr wrap="square" lIns="0" rIns="0" tIns="0" bIns="0" anchor="ctr"/>
          <a:lstStyle/>
          <a:p>
            <a:pPr>
              <a:buNone/>
            </a:pPr>
            <a:r>
              <a:rPr sz="1150">
                <a:solidFill>
                  <a:srgbClr val="F0CC72"/>
                </a:solidFill>
                <a:latin typeface="Consolas"/>
              </a:rPr>
              <a:t>date · time · datetime</a:t>
            </a:r>
          </a:p>
        </p:txBody>
      </p:sp>
      <p:sp>
        <p:nvSpPr>
          <p:cNvPr id="42" name="Rounded Rectangle 41"/>
          <p:cNvSpPr/>
          <p:nvPr/>
        </p:nvSpPr>
        <p:spPr>
          <a:xfrm>
            <a:off x="6217920" y="2569464"/>
            <a:ext cx="2971800" cy="603504"/>
          </a:xfrm>
          <a:prstGeom prst="roundRect">
            <a:avLst>
              <a:gd name="adj" fmla="val 7575"/>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6DBEE7"/>
                </a:solidFill>
                <a:latin typeface="Consolas"/>
              </a:rPr>
              <a:t>Duration · ZoneOffset · UUID</a:t>
            </a:r>
          </a:p>
        </p:txBody>
      </p:sp>
      <p:cxnSp>
        <p:nvCxnSpPr>
          <p:cNvPr id="43" name="Connector 42"/>
          <p:cNvCxnSpPr/>
          <p:nvPr/>
        </p:nvCxnSpPr>
        <p:spPr>
          <a:xfrm>
            <a:off x="9217152" y="2871216"/>
            <a:ext cx="256032" cy="0"/>
          </a:xfrm>
          <a:prstGeom prst="line">
            <a:avLst/>
          </a:prstGeom>
          <a:ln w="1587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528048" y="2569464"/>
            <a:ext cx="1920240" cy="603504"/>
          </a:xfrm>
          <a:prstGeom prst="rect">
            <a:avLst/>
          </a:prstGeom>
          <a:noFill/>
        </p:spPr>
        <p:txBody>
          <a:bodyPr wrap="square" lIns="0" rIns="0" tIns="0" bIns="0" anchor="ctr"/>
          <a:lstStyle/>
          <a:p>
            <a:pPr>
              <a:buNone/>
            </a:pPr>
            <a:r>
              <a:rPr sz="1150">
                <a:solidFill>
                  <a:srgbClr val="F0CC72"/>
                </a:solidFill>
                <a:latin typeface="Consolas"/>
              </a:rPr>
              <a:t>timedelta · timezone · UUID</a:t>
            </a:r>
          </a:p>
        </p:txBody>
      </p:sp>
      <p:sp>
        <p:nvSpPr>
          <p:cNvPr id="45" name="Rounded Rectangle 44"/>
          <p:cNvSpPr/>
          <p:nvPr/>
        </p:nvSpPr>
        <p:spPr>
          <a:xfrm>
            <a:off x="6217920" y="3291840"/>
            <a:ext cx="2971800" cy="603504"/>
          </a:xfrm>
          <a:prstGeom prst="roundRect">
            <a:avLst>
              <a:gd name="adj" fmla="val 7575"/>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6DBEE7"/>
                </a:solidFill>
                <a:latin typeface="Consolas"/>
              </a:rPr>
              <a:t>bridge wrapper</a:t>
            </a:r>
          </a:p>
        </p:txBody>
      </p:sp>
      <p:cxnSp>
        <p:nvCxnSpPr>
          <p:cNvPr id="46" name="Connector 45"/>
          <p:cNvCxnSpPr/>
          <p:nvPr/>
        </p:nvCxnSpPr>
        <p:spPr>
          <a:xfrm>
            <a:off x="9217152" y="3593592"/>
            <a:ext cx="256032" cy="0"/>
          </a:xfrm>
          <a:prstGeom prst="line">
            <a:avLst/>
          </a:prstGeom>
          <a:ln w="1587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528048" y="3291840"/>
            <a:ext cx="1920240" cy="603504"/>
          </a:xfrm>
          <a:prstGeom prst="rect">
            <a:avLst/>
          </a:prstGeom>
          <a:noFill/>
        </p:spPr>
        <p:txBody>
          <a:bodyPr wrap="square" lIns="0" rIns="0" tIns="0" bIns="0" anchor="ctr"/>
          <a:lstStyle/>
          <a:p>
            <a:pPr>
              <a:buNone/>
            </a:pPr>
            <a:r>
              <a:rPr sz="1150">
                <a:solidFill>
                  <a:srgbClr val="F0CC72"/>
                </a:solidFill>
                <a:latin typeface="Consolas"/>
              </a:rPr>
              <a:t>original Python object (unwrapped)</a:t>
            </a:r>
          </a:p>
        </p:txBody>
      </p:sp>
      <p:sp>
        <p:nvSpPr>
          <p:cNvPr id="48" name="Rounded Rectangle 47"/>
          <p:cNvSpPr/>
          <p:nvPr/>
        </p:nvSpPr>
        <p:spPr>
          <a:xfrm>
            <a:off x="6217920" y="4014216"/>
            <a:ext cx="2971800" cy="603504"/>
          </a:xfrm>
          <a:prstGeom prst="roundRect">
            <a:avLst>
              <a:gd name="adj" fmla="val 7575"/>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6DBEE7"/>
                </a:solidFill>
                <a:latin typeface="Consolas"/>
              </a:rPr>
              <a:t>List · Map · Set</a:t>
            </a:r>
          </a:p>
        </p:txBody>
      </p:sp>
      <p:cxnSp>
        <p:nvCxnSpPr>
          <p:cNvPr id="49" name="Connector 48"/>
          <p:cNvCxnSpPr/>
          <p:nvPr/>
        </p:nvCxnSpPr>
        <p:spPr>
          <a:xfrm>
            <a:off x="9217152" y="4315968"/>
            <a:ext cx="256032" cy="0"/>
          </a:xfrm>
          <a:prstGeom prst="line">
            <a:avLst/>
          </a:prstGeom>
          <a:ln w="1587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528048" y="4014216"/>
            <a:ext cx="1920240" cy="603504"/>
          </a:xfrm>
          <a:prstGeom prst="rect">
            <a:avLst/>
          </a:prstGeom>
          <a:noFill/>
        </p:spPr>
        <p:txBody>
          <a:bodyPr wrap="square" lIns="0" rIns="0" tIns="0" bIns="0" anchor="ctr"/>
          <a:lstStyle/>
          <a:p>
            <a:pPr>
              <a:buNone/>
            </a:pPr>
            <a:r>
              <a:rPr sz="1150">
                <a:solidFill>
                  <a:srgbClr val="F0CC72"/>
                </a:solidFill>
                <a:latin typeface="Consolas"/>
              </a:rPr>
              <a:t>coerced per element</a:t>
            </a:r>
          </a:p>
        </p:txBody>
      </p:sp>
      <p:sp>
        <p:nvSpPr>
          <p:cNvPr id="51" name="Rounded Rectangle 50"/>
          <p:cNvSpPr/>
          <p:nvPr/>
        </p:nvSpPr>
        <p:spPr>
          <a:xfrm>
            <a:off x="6217920" y="4736592"/>
            <a:ext cx="2971800" cy="603504"/>
          </a:xfrm>
          <a:prstGeom prst="roundRect">
            <a:avLst>
              <a:gd name="adj" fmla="val 7575"/>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buNone/>
            </a:pPr>
            <a:r>
              <a:rPr sz="1150">
                <a:solidFill>
                  <a:srgbClr val="6DBEE7"/>
                </a:solidFill>
                <a:latin typeface="Consolas"/>
              </a:rPr>
              <a:t>CompletionStage</a:t>
            </a:r>
          </a:p>
        </p:txBody>
      </p:sp>
      <p:cxnSp>
        <p:nvCxnSpPr>
          <p:cNvPr id="52" name="Connector 51"/>
          <p:cNvCxnSpPr/>
          <p:nvPr/>
        </p:nvCxnSpPr>
        <p:spPr>
          <a:xfrm>
            <a:off x="9217152" y="5038344"/>
            <a:ext cx="256032" cy="0"/>
          </a:xfrm>
          <a:prstGeom prst="line">
            <a:avLst/>
          </a:prstGeom>
          <a:ln w="15875">
            <a:solidFill>
              <a:srgbClr val="6DBE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528048" y="4736592"/>
            <a:ext cx="1920240" cy="603504"/>
          </a:xfrm>
          <a:prstGeom prst="rect">
            <a:avLst/>
          </a:prstGeom>
          <a:noFill/>
        </p:spPr>
        <p:txBody>
          <a:bodyPr wrap="square" lIns="0" rIns="0" tIns="0" bIns="0" anchor="ctr"/>
          <a:lstStyle/>
          <a:p>
            <a:pPr>
              <a:buNone/>
            </a:pPr>
            <a:r>
              <a:rPr sz="1150">
                <a:solidFill>
                  <a:srgbClr val="F0CC72"/>
                </a:solidFill>
                <a:latin typeface="Consolas"/>
              </a:rPr>
              <a:t>awaitable from async def</a:t>
            </a:r>
          </a:p>
        </p:txBody>
      </p:sp>
      <p:sp>
        <p:nvSpPr>
          <p:cNvPr id="54" name="Rounded Rectangle 53"/>
          <p:cNvSpPr/>
          <p:nvPr/>
        </p:nvSpPr>
        <p:spPr>
          <a:xfrm>
            <a:off x="768096" y="5577840"/>
            <a:ext cx="10661904" cy="603504"/>
          </a:xfrm>
          <a:prstGeom prst="roundRect">
            <a:avLst>
              <a:gd name="adj" fmla="val 12121"/>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250" b="1">
                <a:solidFill>
                  <a:srgbClr val="FFFFFF"/>
                </a:solidFill>
              </a:rPr>
              <a:t>Rules:</a:t>
            </a:r>
            <a:r>
              <a:rPr sz="1250">
                <a:solidFill>
                  <a:srgbClr val="FFFFFF"/>
                </a:solidFill>
              </a:rPr>
              <a:t> host objects pass through  ·  wrappers unwrap, never copy  ·  a failed conversion is an exception, never a silently shorter collection  ·  naive datetimes 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Living with the GIL</a:t>
            </a:r>
          </a:p>
        </p:txBody>
      </p:sp>
      <p:sp>
        <p:nvSpPr>
          <p:cNvPr id="3" name="Text Placeholder 2"/>
          <p:cNvSpPr>
            <a:spLocks noGrp="1"/>
          </p:cNvSpPr>
          <p:nvPr>
            <p:ph type="body" idx="33" sz="quarter"/>
          </p:nvPr>
        </p:nvSpPr>
        <p:spPr>
          <a:xfrm>
            <a:ext cx="7498079" cy="0"/>
          </a:xfrm>
        </p:spPr>
        <p:txBody>
          <a:bodyPr/>
          <a:lstStyle/>
          <a:p>
            <a:r>
              <a:t>Parallel Python on the JVM, today</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04</a:t>
            </a:r>
          </a:p>
        </p:txBody>
      </p:sp>
      <p:pic>
        <p:nvPicPr>
          <p:cNvPr id="11" name="Picture 10" descr="python.png"/>
          <p:cNvPicPr>
            <a:picLocks noChangeAspect="1"/>
          </p:cNvPicPr>
          <p:nvPr/>
        </p:nvPicPr>
        <p:blipFill>
          <a:blip r:embed="rId3"/>
          <a:stretch>
            <a:fillRect/>
          </a:stretch>
        </p:blipFill>
        <p:spPr>
          <a:xfrm>
            <a:off x="8503920" y="1828800"/>
            <a:ext cx="2926080" cy="298579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one interpreter lock per GraalPy context</a:t>
            </a:r>
          </a:p>
        </p:txBody>
      </p:sp>
      <p:sp>
        <p:nvSpPr>
          <p:cNvPr id="3" name="Text Placeholder 2"/>
          <p:cNvSpPr>
            <a:spLocks noGrp="1"/>
          </p:cNvSpPr>
          <p:nvPr>
            <p:ph type="body" idx="11" sz="quarter"/>
          </p:nvPr>
        </p:nvSpPr>
        <p:spPr/>
        <p:txBody>
          <a:bodyPr/>
          <a:lstStyle/>
          <a:p>
            <a:r>
              <a:t>Micronaut is built for many threads; one context runs Python one at a time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600200"/>
            <a:ext cx="2377440" cy="320040"/>
          </a:xfrm>
          <a:prstGeom prst="rect">
            <a:avLst/>
          </a:prstGeom>
          <a:noFill/>
        </p:spPr>
        <p:txBody>
          <a:bodyPr wrap="square" lIns="0" rIns="0" tIns="0" bIns="0" anchor="t"/>
          <a:lstStyle/>
          <a:p>
            <a:pPr>
              <a:buNone/>
            </a:pPr>
            <a:r>
              <a:rPr sz="1200" b="1">
                <a:solidFill>
                  <a:srgbClr val="A9B7C4"/>
                </a:solidFill>
              </a:rPr>
              <a:t>io executor threads</a:t>
            </a:r>
          </a:p>
        </p:txBody>
      </p:sp>
      <p:sp>
        <p:nvSpPr>
          <p:cNvPr id="11" name="Rounded Rectangle 10"/>
          <p:cNvSpPr/>
          <p:nvPr/>
        </p:nvSpPr>
        <p:spPr>
          <a:xfrm>
            <a:off x="768096" y="1965960"/>
            <a:ext cx="210312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request 1</a:t>
            </a:r>
          </a:p>
        </p:txBody>
      </p:sp>
      <p:cxnSp>
        <p:nvCxnSpPr>
          <p:cNvPr id="12" name="Connector 11"/>
          <p:cNvCxnSpPr/>
          <p:nvPr/>
        </p:nvCxnSpPr>
        <p:spPr>
          <a:xfrm>
            <a:off x="2926080" y="2194560"/>
            <a:ext cx="1645920" cy="1554479"/>
          </a:xfrm>
          <a:prstGeom prst="line">
            <a:avLst/>
          </a:prstGeom>
          <a:ln w="19050">
            <a:solidFill>
              <a:srgbClr val="8BC3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8096" y="2569464"/>
            <a:ext cx="210312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request 2</a:t>
            </a:r>
          </a:p>
        </p:txBody>
      </p:sp>
      <p:cxnSp>
        <p:nvCxnSpPr>
          <p:cNvPr id="14" name="Connector 13"/>
          <p:cNvCxnSpPr/>
          <p:nvPr/>
        </p:nvCxnSpPr>
        <p:spPr>
          <a:xfrm>
            <a:off x="2926080" y="2798064"/>
            <a:ext cx="1645920" cy="950975"/>
          </a:xfrm>
          <a:prstGeom prst="line">
            <a:avLst/>
          </a:prstGeom>
          <a:ln w="12700">
            <a:solidFill>
              <a:srgbClr val="E063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8096" y="3172968"/>
            <a:ext cx="210312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request 3</a:t>
            </a:r>
          </a:p>
        </p:txBody>
      </p:sp>
      <p:cxnSp>
        <p:nvCxnSpPr>
          <p:cNvPr id="16" name="Connector 15"/>
          <p:cNvCxnSpPr/>
          <p:nvPr/>
        </p:nvCxnSpPr>
        <p:spPr>
          <a:xfrm>
            <a:off x="2926080" y="3401568"/>
            <a:ext cx="1645920" cy="347471"/>
          </a:xfrm>
          <a:prstGeom prst="line">
            <a:avLst/>
          </a:prstGeom>
          <a:ln w="12700">
            <a:solidFill>
              <a:srgbClr val="E063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8096" y="3776472"/>
            <a:ext cx="210312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request 4</a:t>
            </a:r>
          </a:p>
        </p:txBody>
      </p:sp>
      <p:cxnSp>
        <p:nvCxnSpPr>
          <p:cNvPr id="18" name="Connector 17"/>
          <p:cNvCxnSpPr/>
          <p:nvPr/>
        </p:nvCxnSpPr>
        <p:spPr>
          <a:xfrm flipV="1">
            <a:off x="2926080" y="3749039"/>
            <a:ext cx="1645920" cy="256033"/>
          </a:xfrm>
          <a:prstGeom prst="line">
            <a:avLst/>
          </a:prstGeom>
          <a:ln w="12700">
            <a:solidFill>
              <a:srgbClr val="E063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68096" y="4379976"/>
            <a:ext cx="210312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request 5</a:t>
            </a:r>
          </a:p>
        </p:txBody>
      </p:sp>
      <p:cxnSp>
        <p:nvCxnSpPr>
          <p:cNvPr id="20" name="Connector 19"/>
          <p:cNvCxnSpPr/>
          <p:nvPr/>
        </p:nvCxnSpPr>
        <p:spPr>
          <a:xfrm flipV="1">
            <a:off x="2926080" y="3749039"/>
            <a:ext cx="1645920" cy="859537"/>
          </a:xfrm>
          <a:prstGeom prst="line">
            <a:avLst/>
          </a:prstGeom>
          <a:ln w="12700">
            <a:solidFill>
              <a:srgbClr val="E063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68096" y="4983480"/>
            <a:ext cx="2103120" cy="457200"/>
          </a:xfrm>
          <a:prstGeom prst="roundRect">
            <a:avLst>
              <a:gd name="adj" fmla="val 12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request 6</a:t>
            </a:r>
          </a:p>
        </p:txBody>
      </p:sp>
      <p:cxnSp>
        <p:nvCxnSpPr>
          <p:cNvPr id="22" name="Connector 21"/>
          <p:cNvCxnSpPr/>
          <p:nvPr/>
        </p:nvCxnSpPr>
        <p:spPr>
          <a:xfrm flipV="1">
            <a:off x="2926080" y="3749039"/>
            <a:ext cx="1645920" cy="1463041"/>
          </a:xfrm>
          <a:prstGeom prst="line">
            <a:avLst/>
          </a:prstGeom>
          <a:ln w="12700">
            <a:solidFill>
              <a:srgbClr val="E0634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663440" y="2651760"/>
            <a:ext cx="2651760" cy="2194560"/>
          </a:xfrm>
          <a:prstGeom prst="roundRect">
            <a:avLst>
              <a:gd name="adj" fmla="val 3333"/>
            </a:avLst>
          </a:prstGeom>
          <a:solidFill>
            <a:srgbClr val="2E3B47"/>
          </a:solidFill>
          <a:ln w="254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600"/>
              </a:spcAft>
              <a:buNone/>
            </a:pPr>
            <a:r>
              <a:rPr sz="1500" b="1">
                <a:solidFill>
                  <a:srgbClr val="FFFFFF"/>
                </a:solidFill>
              </a:rPr>
              <a:t>GraalPy context</a:t>
            </a:r>
          </a:p>
          <a:p>
            <a:pPr algn="ctr">
              <a:spcAft>
                <a:spcPts val="600"/>
              </a:spcAft>
              <a:buNone/>
            </a:pPr>
            <a:r>
              <a:rPr sz="2200" b="1">
                <a:solidFill>
                  <a:srgbClr val="F19111"/>
                </a:solidFill>
              </a:rPr>
              <a:t>🔒 GIL</a:t>
            </a:r>
          </a:p>
          <a:p>
            <a:pPr algn="ctr">
              <a:buNone/>
            </a:pPr>
            <a:r>
              <a:rPr sz="1200">
                <a:solidFill>
                  <a:srgbClr val="A9B7C4"/>
                </a:solidFill>
              </a:rPr>
              <a:t>1 thread runs Python</a:t>
            </a:r>
          </a:p>
        </p:txBody>
      </p:sp>
      <p:sp>
        <p:nvSpPr>
          <p:cNvPr id="24" name="TextBox 23"/>
          <p:cNvSpPr txBox="1"/>
          <p:nvPr/>
        </p:nvSpPr>
        <p:spPr>
          <a:xfrm>
            <a:off x="7772400" y="1691640"/>
            <a:ext cx="3657600" cy="365760"/>
          </a:xfrm>
          <a:prstGeom prst="rect">
            <a:avLst/>
          </a:prstGeom>
          <a:noFill/>
        </p:spPr>
        <p:txBody>
          <a:bodyPr wrap="square" lIns="0" rIns="0" tIns="0" bIns="0" anchor="t"/>
          <a:lstStyle/>
          <a:p>
            <a:pPr>
              <a:buNone/>
            </a:pPr>
            <a:r>
              <a:rPr sz="1500" b="1">
                <a:solidFill>
                  <a:srgbClr val="F19111"/>
                </a:solidFill>
              </a:rPr>
              <a:t>Released for Java calls and I/O</a:t>
            </a:r>
          </a:p>
        </p:txBody>
      </p:sp>
      <p:sp>
        <p:nvSpPr>
          <p:cNvPr id="25" name="TextBox 24"/>
          <p:cNvSpPr txBox="1"/>
          <p:nvPr/>
        </p:nvSpPr>
        <p:spPr>
          <a:xfrm>
            <a:off x="7772400" y="2075688"/>
            <a:ext cx="3657600" cy="731520"/>
          </a:xfrm>
          <a:prstGeom prst="rect">
            <a:avLst/>
          </a:prstGeom>
          <a:noFill/>
        </p:spPr>
        <p:txBody>
          <a:bodyPr wrap="square" lIns="0" rIns="0" tIns="0" bIns="0" anchor="t"/>
          <a:lstStyle/>
          <a:p>
            <a:pPr>
              <a:buNone/>
            </a:pPr>
            <a:r>
              <a:rPr sz="1300">
                <a:solidFill>
                  <a:srgbClr val="A9B7C4"/>
                </a:solidFill>
              </a:rPr>
              <a:t>a route waiting on JDBC or HTTP scales well</a:t>
            </a:r>
          </a:p>
        </p:txBody>
      </p:sp>
      <p:sp>
        <p:nvSpPr>
          <p:cNvPr id="26" name="TextBox 25"/>
          <p:cNvSpPr txBox="1"/>
          <p:nvPr/>
        </p:nvSpPr>
        <p:spPr>
          <a:xfrm>
            <a:off x="7772400" y="3063240"/>
            <a:ext cx="3657600" cy="365760"/>
          </a:xfrm>
          <a:prstGeom prst="rect">
            <a:avLst/>
          </a:prstGeom>
          <a:noFill/>
        </p:spPr>
        <p:txBody>
          <a:bodyPr wrap="square" lIns="0" rIns="0" tIns="0" bIns="0" anchor="t"/>
          <a:lstStyle/>
          <a:p>
            <a:pPr>
              <a:buNone/>
            </a:pPr>
            <a:r>
              <a:rPr sz="1500" b="1">
                <a:solidFill>
                  <a:srgbClr val="F19111"/>
                </a:solidFill>
              </a:rPr>
              <a:t>CPU-bound Python takes turns</a:t>
            </a:r>
          </a:p>
        </p:txBody>
      </p:sp>
      <p:sp>
        <p:nvSpPr>
          <p:cNvPr id="27" name="TextBox 26"/>
          <p:cNvSpPr txBox="1"/>
          <p:nvPr/>
        </p:nvSpPr>
        <p:spPr>
          <a:xfrm>
            <a:off x="7772400" y="3447288"/>
            <a:ext cx="3657600" cy="731520"/>
          </a:xfrm>
          <a:prstGeom prst="rect">
            <a:avLst/>
          </a:prstGeom>
          <a:noFill/>
        </p:spPr>
        <p:txBody>
          <a:bodyPr wrap="square" lIns="0" rIns="0" tIns="0" bIns="0" anchor="t"/>
          <a:lstStyle/>
          <a:p>
            <a:pPr>
              <a:buNone/>
            </a:pPr>
            <a:r>
              <a:rPr sz="1300">
                <a:solidFill>
                  <a:srgbClr val="A9B7C4"/>
                </a:solidFill>
              </a:rPr>
              <a:t>two requests executing bytecode in one context serialize</a:t>
            </a:r>
          </a:p>
        </p:txBody>
      </p:sp>
      <p:sp>
        <p:nvSpPr>
          <p:cNvPr id="28" name="TextBox 27"/>
          <p:cNvSpPr txBox="1"/>
          <p:nvPr/>
        </p:nvSpPr>
        <p:spPr>
          <a:xfrm>
            <a:off x="7772400" y="4434840"/>
            <a:ext cx="3657600" cy="365760"/>
          </a:xfrm>
          <a:prstGeom prst="rect">
            <a:avLst/>
          </a:prstGeom>
          <a:noFill/>
        </p:spPr>
        <p:txBody>
          <a:bodyPr wrap="square" lIns="0" rIns="0" tIns="0" bIns="0" anchor="t"/>
          <a:lstStyle/>
          <a:p>
            <a:pPr>
              <a:buNone/>
            </a:pPr>
            <a:r>
              <a:rPr sz="1500" b="1">
                <a:solidFill>
                  <a:srgbClr val="F19111"/>
                </a:solidFill>
              </a:rPr>
              <a:t>No virtual threads</a:t>
            </a:r>
          </a:p>
        </p:txBody>
      </p:sp>
      <p:sp>
        <p:nvSpPr>
          <p:cNvPr id="29" name="TextBox 28"/>
          <p:cNvSpPr txBox="1"/>
          <p:nvPr/>
        </p:nvSpPr>
        <p:spPr>
          <a:xfrm>
            <a:off x="7772400" y="4818888"/>
            <a:ext cx="3657600" cy="731520"/>
          </a:xfrm>
          <a:prstGeom prst="rect">
            <a:avLst/>
          </a:prstGeom>
          <a:noFill/>
        </p:spPr>
        <p:txBody>
          <a:bodyPr wrap="square" lIns="0" rIns="0" tIns="0" bIns="0" anchor="t"/>
          <a:lstStyle/>
          <a:p>
            <a:pPr>
              <a:buNone/>
            </a:pPr>
            <a:r>
              <a:rPr sz="1300">
                <a:solidFill>
                  <a:srgbClr val="A9B7C4"/>
                </a:solidFill>
              </a:rPr>
              <a:t>GraalPy can’t run Python on Java virtual threads today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solution: a pool of GraalPy contexts</a:t>
            </a:r>
          </a:p>
        </p:txBody>
      </p:sp>
      <p:sp>
        <p:nvSpPr>
          <p:cNvPr id="3" name="Text Placeholder 2"/>
          <p:cNvSpPr>
            <a:spLocks noGrp="1"/>
          </p:cNvSpPr>
          <p:nvPr>
            <p:ph type="body" idx="11" sz="quarter"/>
          </p:nvPr>
        </p:nvSpPr>
        <p:spPr/>
        <p:txBody>
          <a:bodyPr/>
          <a:lstStyle/>
          <a:p>
            <a:r>
              <a:t>Unlike CPython, one JVM can host many contexts — each with its own lock</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00200"/>
            <a:ext cx="6492240" cy="685800"/>
          </a:xfrm>
          <a:prstGeom prst="roundRect">
            <a:avLst>
              <a:gd name="adj" fmla="val 10666"/>
            </a:avLst>
          </a:prstGeom>
          <a:solidFill>
            <a:srgbClr val="2E3B47"/>
          </a:solidFill>
          <a:ln w="1905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FFFFF"/>
                </a:solidFill>
              </a:rPr>
              <a:t>Shared Engine</a:t>
            </a:r>
          </a:p>
          <a:p>
            <a:pPr algn="ctr">
              <a:buNone/>
            </a:pPr>
            <a:r>
              <a:rPr sz="1100">
                <a:solidFill>
                  <a:srgbClr val="A9B7C4"/>
                </a:solidFill>
              </a:rPr>
              <a:t>compiled Python code shared across contexts where possible</a:t>
            </a:r>
          </a:p>
        </p:txBody>
      </p:sp>
      <p:sp>
        <p:nvSpPr>
          <p:cNvPr id="11" name="Rounded Rectangle 10"/>
          <p:cNvSpPr/>
          <p:nvPr/>
        </p:nvSpPr>
        <p:spPr>
          <a:xfrm>
            <a:off x="768096" y="2514600"/>
            <a:ext cx="1993392" cy="2971800"/>
          </a:xfrm>
          <a:prstGeom prst="roundRect">
            <a:avLst>
              <a:gd name="adj" fmla="val 3669"/>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lstStyle/>
          <a:p>
            <a:pPr algn="ctr">
              <a:spcBef>
                <a:spcPts val="600"/>
              </a:spcBef>
              <a:buNone/>
            </a:pPr>
            <a:r>
              <a:rPr sz="1300" b="1">
                <a:solidFill>
                  <a:srgbClr val="FFFFFF"/>
                </a:solidFill>
              </a:rPr>
              <a:t>Primary context</a:t>
            </a:r>
          </a:p>
          <a:p>
            <a:pPr algn="ctr">
              <a:buNone/>
            </a:pPr>
            <a:r>
              <a:rPr sz="1050">
                <a:solidFill>
                  <a:srgbClr val="A9B7C4"/>
                </a:solidFill>
              </a:rPr>
              <a:t>created at startup; non-pooled operations</a:t>
            </a:r>
          </a:p>
        </p:txBody>
      </p:sp>
      <p:sp>
        <p:nvSpPr>
          <p:cNvPr id="12" name="Rounded Rectangle 11"/>
          <p:cNvSpPr/>
          <p:nvPr/>
        </p:nvSpPr>
        <p:spPr>
          <a:xfrm>
            <a:off x="1088136" y="3429000"/>
            <a:ext cx="1353312" cy="384048"/>
          </a:xfrm>
          <a:prstGeom prst="roundRect">
            <a:avLst>
              <a:gd name="adj" fmla="val 14285"/>
            </a:avLst>
          </a:prstGeom>
          <a:solidFill>
            <a:srgbClr val="2E3B47"/>
          </a:solidFill>
          <a:ln w="1270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cxnSp>
        <p:nvCxnSpPr>
          <p:cNvPr id="13" name="Connector 12"/>
          <p:cNvCxnSpPr/>
          <p:nvPr/>
        </p:nvCxnSpPr>
        <p:spPr>
          <a:xfrm>
            <a:off x="1764792" y="2304288"/>
            <a:ext cx="0" cy="192024"/>
          </a:xfrm>
          <a:prstGeom prst="line">
            <a:avLst/>
          </a:prstGeom>
          <a:ln w="12700">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17520" y="2514600"/>
            <a:ext cx="1993392" cy="2971800"/>
          </a:xfrm>
          <a:prstGeom prst="roundRect">
            <a:avLst>
              <a:gd name="adj" fmla="val 3669"/>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lstStyle/>
          <a:p>
            <a:pPr algn="ctr">
              <a:spcBef>
                <a:spcPts val="600"/>
              </a:spcBef>
              <a:buNone/>
            </a:pPr>
            <a:r>
              <a:rPr sz="1300" b="1">
                <a:solidFill>
                  <a:srgbClr val="FFFFFF"/>
                </a:solidFill>
              </a:rPr>
              <a:t>Pooled contexts</a:t>
            </a:r>
          </a:p>
          <a:p>
            <a:pPr algn="ctr">
              <a:buNone/>
            </a:pPr>
            <a:r>
              <a:rPr sz="1050">
                <a:solidFill>
                  <a:srgbClr val="A9B7C4"/>
                </a:solidFill>
              </a:rPr>
              <a:t>lazy; default size = 2 × CPUs; borrowed per call</a:t>
            </a:r>
          </a:p>
        </p:txBody>
      </p:sp>
      <p:sp>
        <p:nvSpPr>
          <p:cNvPr id="15" name="Rounded Rectangle 14"/>
          <p:cNvSpPr/>
          <p:nvPr/>
        </p:nvSpPr>
        <p:spPr>
          <a:xfrm>
            <a:off x="3337560" y="3429000"/>
            <a:ext cx="1353312" cy="384048"/>
          </a:xfrm>
          <a:prstGeom prst="roundRect">
            <a:avLst>
              <a:gd name="adj" fmla="val 14285"/>
            </a:avLst>
          </a:prstGeom>
          <a:solidFill>
            <a:srgbClr val="2E3B47"/>
          </a:solidFill>
          <a:ln w="127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sp>
        <p:nvSpPr>
          <p:cNvPr id="16" name="Rounded Rectangle 15"/>
          <p:cNvSpPr/>
          <p:nvPr/>
        </p:nvSpPr>
        <p:spPr>
          <a:xfrm>
            <a:off x="3337560" y="3904487"/>
            <a:ext cx="1353312" cy="384048"/>
          </a:xfrm>
          <a:prstGeom prst="roundRect">
            <a:avLst>
              <a:gd name="adj" fmla="val 14285"/>
            </a:avLst>
          </a:prstGeom>
          <a:solidFill>
            <a:srgbClr val="2E3B47"/>
          </a:solidFill>
          <a:ln w="127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sp>
        <p:nvSpPr>
          <p:cNvPr id="17" name="Rounded Rectangle 16"/>
          <p:cNvSpPr/>
          <p:nvPr/>
        </p:nvSpPr>
        <p:spPr>
          <a:xfrm>
            <a:off x="3337560" y="4379976"/>
            <a:ext cx="1353312" cy="384048"/>
          </a:xfrm>
          <a:prstGeom prst="roundRect">
            <a:avLst>
              <a:gd name="adj" fmla="val 14285"/>
            </a:avLst>
          </a:prstGeom>
          <a:solidFill>
            <a:srgbClr val="2E3B47"/>
          </a:solidFill>
          <a:ln w="127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sp>
        <p:nvSpPr>
          <p:cNvPr id="18" name="Rounded Rectangle 17"/>
          <p:cNvSpPr/>
          <p:nvPr/>
        </p:nvSpPr>
        <p:spPr>
          <a:xfrm>
            <a:off x="3337560" y="4855464"/>
            <a:ext cx="1353312" cy="384048"/>
          </a:xfrm>
          <a:prstGeom prst="roundRect">
            <a:avLst>
              <a:gd name="adj" fmla="val 14285"/>
            </a:avLst>
          </a:prstGeom>
          <a:solidFill>
            <a:srgbClr val="2E3B47"/>
          </a:solidFill>
          <a:ln w="127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cxnSp>
        <p:nvCxnSpPr>
          <p:cNvPr id="19" name="Connector 18"/>
          <p:cNvCxnSpPr/>
          <p:nvPr/>
        </p:nvCxnSpPr>
        <p:spPr>
          <a:xfrm>
            <a:off x="4014215" y="2304288"/>
            <a:ext cx="0" cy="192024"/>
          </a:xfrm>
          <a:prstGeom prst="line">
            <a:avLst/>
          </a:prstGeom>
          <a:ln w="12700">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266944" y="2514600"/>
            <a:ext cx="1993392" cy="2971800"/>
          </a:xfrm>
          <a:prstGeom prst="roundRect">
            <a:avLst>
              <a:gd name="adj" fmla="val 3669"/>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36576" bIns="36576"/>
          <a:lstStyle/>
          <a:p>
            <a:pPr algn="ctr">
              <a:spcBef>
                <a:spcPts val="600"/>
              </a:spcBef>
              <a:buNone/>
            </a:pPr>
            <a:r>
              <a:rPr sz="1300" b="1">
                <a:solidFill>
                  <a:srgbClr val="FFFFFF"/>
                </a:solidFill>
              </a:rPr>
              <a:t>Event-loop contexts</a:t>
            </a:r>
          </a:p>
          <a:p>
            <a:pPr algn="ctr">
              <a:buNone/>
            </a:pPr>
            <a:r>
              <a:rPr sz="1050">
                <a:solidFill>
                  <a:srgbClr val="A9B7C4"/>
                </a:solidFill>
              </a:rPr>
              <a:t>one per Netty loop running async def</a:t>
            </a:r>
          </a:p>
        </p:txBody>
      </p:sp>
      <p:sp>
        <p:nvSpPr>
          <p:cNvPr id="21" name="Rounded Rectangle 20"/>
          <p:cNvSpPr/>
          <p:nvPr/>
        </p:nvSpPr>
        <p:spPr>
          <a:xfrm>
            <a:off x="5586983" y="3429000"/>
            <a:ext cx="1353312" cy="384048"/>
          </a:xfrm>
          <a:prstGeom prst="roundRect">
            <a:avLst>
              <a:gd name="adj" fmla="val 14285"/>
            </a:avLst>
          </a:prstGeom>
          <a:solidFill>
            <a:srgbClr val="2E3B47"/>
          </a:solidFill>
          <a:ln w="12700">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sp>
        <p:nvSpPr>
          <p:cNvPr id="22" name="Rounded Rectangle 21"/>
          <p:cNvSpPr/>
          <p:nvPr/>
        </p:nvSpPr>
        <p:spPr>
          <a:xfrm>
            <a:off x="5586983" y="3904487"/>
            <a:ext cx="1353312" cy="384048"/>
          </a:xfrm>
          <a:prstGeom prst="roundRect">
            <a:avLst>
              <a:gd name="adj" fmla="val 14285"/>
            </a:avLst>
          </a:prstGeom>
          <a:solidFill>
            <a:srgbClr val="2E3B47"/>
          </a:solidFill>
          <a:ln w="12700">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000">
                <a:solidFill>
                  <a:srgbClr val="FFFFFF"/>
                </a:solidFill>
              </a:rPr>
              <a:t>context · GIL</a:t>
            </a:r>
          </a:p>
        </p:txBody>
      </p:sp>
      <p:cxnSp>
        <p:nvCxnSpPr>
          <p:cNvPr id="23" name="Connector 22"/>
          <p:cNvCxnSpPr/>
          <p:nvPr/>
        </p:nvCxnSpPr>
        <p:spPr>
          <a:xfrm>
            <a:off x="6263640" y="2304288"/>
            <a:ext cx="0" cy="192024"/>
          </a:xfrm>
          <a:prstGeom prst="line">
            <a:avLst/>
          </a:prstGeom>
          <a:ln w="12700">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8096" y="5623560"/>
            <a:ext cx="6492240" cy="502920"/>
          </a:xfrm>
          <a:prstGeom prst="rect">
            <a:avLst/>
          </a:prstGeom>
          <a:noFill/>
        </p:spPr>
        <p:txBody>
          <a:bodyPr wrap="square" lIns="0" rIns="0" tIns="0" bIns="0" anchor="t"/>
          <a:lstStyle/>
          <a:p>
            <a:pPr>
              <a:buNone/>
            </a:pPr>
            <a:r>
              <a:rPr sz="1200" b="1">
                <a:solidFill>
                  <a:srgbClr val="FFFFFF"/>
                </a:solidFill>
              </a:rPr>
              <a:t>@ContextPooled</a:t>
            </a:r>
            <a:r>
              <a:rPr sz="1200">
                <a:solidFill>
                  <a:srgbClr val="FFFFFF"/>
                </a:solidFill>
              </a:rPr>
              <a:t> route modules get one instance per context  ·  </a:t>
            </a:r>
            <a:r>
              <a:rPr sz="1200" b="1">
                <a:solidFill>
                  <a:srgbClr val="FFFFFF"/>
                </a:solidFill>
              </a:rPr>
              <a:t>@Singleton</a:t>
            </a:r>
            <a:r>
              <a:rPr sz="1200">
                <a:solidFill>
                  <a:srgbClr val="FFFFFF"/>
                </a:solidFill>
              </a:rPr>
              <a:t> beans stay shared  ·  module globals are per context</a:t>
            </a:r>
          </a:p>
        </p:txBody>
      </p:sp>
      <p:sp>
        <p:nvSpPr>
          <p:cNvPr id="25" name="Rounded Rectangle 24"/>
          <p:cNvSpPr/>
          <p:nvPr/>
        </p:nvSpPr>
        <p:spPr>
          <a:xfrm>
            <a:off x="7543800" y="1600200"/>
            <a:ext cx="3886200" cy="1600200"/>
          </a:xfrm>
          <a:prstGeom prst="roundRect">
            <a:avLst>
              <a:gd name="adj" fmla="val 3428"/>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6" name="Rectangle 25"/>
          <p:cNvSpPr/>
          <p:nvPr/>
        </p:nvSpPr>
        <p:spPr>
          <a:xfrm>
            <a:off x="7543800" y="1600200"/>
            <a:ext cx="388620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7" name="Oval 26"/>
          <p:cNvSpPr/>
          <p:nvPr/>
        </p:nvSpPr>
        <p:spPr>
          <a:xfrm>
            <a:off x="7671816"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845552"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19288"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1600200"/>
            <a:ext cx="3017520" cy="274320"/>
          </a:xfrm>
          <a:prstGeom prst="rect">
            <a:avLst/>
          </a:prstGeom>
          <a:noFill/>
        </p:spPr>
        <p:txBody>
          <a:bodyPr wrap="square" lIns="0" rIns="0" tIns="0" bIns="0" anchor="ctr"/>
          <a:lstStyle/>
          <a:p>
            <a:pPr algn="r">
              <a:buNone/>
            </a:pPr>
            <a:r>
              <a:rPr sz="1050">
                <a:solidFill>
                  <a:srgbClr val="A9B7C4"/>
                </a:solidFill>
                <a:latin typeface="Consolas"/>
              </a:rPr>
              <a:t>application.toml</a:t>
            </a:r>
          </a:p>
        </p:txBody>
      </p:sp>
      <p:sp>
        <p:nvSpPr>
          <p:cNvPr id="31" name="TextBox 30"/>
          <p:cNvSpPr txBox="1"/>
          <p:nvPr/>
        </p:nvSpPr>
        <p:spPr>
          <a:xfrm>
            <a:off x="7708392" y="1984248"/>
            <a:ext cx="3611880" cy="1143000"/>
          </a:xfrm>
          <a:prstGeom prst="rect">
            <a:avLst/>
          </a:prstGeom>
          <a:noFill/>
        </p:spPr>
        <p:txBody>
          <a:bodyPr wrap="none" lIns="0" rIns="0" tIns="0" bIns="0"/>
          <a:lstStyle/>
          <a:p>
            <a:pPr>
              <a:lnSpc>
                <a:spcPct val="100000"/>
              </a:lnSpc>
              <a:buNone/>
            </a:pPr>
            <a:r>
              <a:rPr sz="1200">
                <a:solidFill>
                  <a:srgbClr val="F19111"/>
                </a:solidFill>
                <a:latin typeface="Consolas"/>
              </a:rPr>
              <a:t>[</a:t>
            </a:r>
            <a:r>
              <a:rPr sz="1200">
                <a:solidFill>
                  <a:srgbClr val="F19111"/>
                </a:solidFill>
                <a:latin typeface="Consolas"/>
              </a:rPr>
              <a:t>micronaut</a:t>
            </a:r>
            <a:r>
              <a:rPr sz="1200">
                <a:solidFill>
                  <a:srgbClr val="F19111"/>
                </a:solidFill>
                <a:latin typeface="Consolas"/>
              </a:rPr>
              <a:t>.</a:t>
            </a:r>
            <a:r>
              <a:rPr sz="1200">
                <a:solidFill>
                  <a:srgbClr val="F19111"/>
                </a:solidFill>
                <a:latin typeface="Consolas"/>
              </a:rPr>
              <a:t>python</a:t>
            </a:r>
            <a:r>
              <a:rPr sz="1200">
                <a:solidFill>
                  <a:srgbClr val="F19111"/>
                </a:solidFill>
                <a:latin typeface="Consolas"/>
              </a:rPr>
              <a:t>.</a:t>
            </a:r>
            <a:r>
              <a:rPr sz="1200">
                <a:solidFill>
                  <a:srgbClr val="F19111"/>
                </a:solidFill>
                <a:latin typeface="Consolas"/>
              </a:rPr>
              <a:t>pool</a:t>
            </a:r>
            <a:r>
              <a:rPr sz="1200">
                <a:solidFill>
                  <a:srgbClr val="F19111"/>
                </a:solidFill>
                <a:latin typeface="Consolas"/>
              </a:rPr>
              <a:t>]</a:t>
            </a:r>
          </a:p>
          <a:p>
            <a:pPr>
              <a:lnSpc>
                <a:spcPct val="100000"/>
              </a:lnSpc>
              <a:buNone/>
            </a:pPr>
            <a:r>
              <a:rPr sz="1200">
                <a:solidFill>
                  <a:srgbClr val="6DBEE7"/>
                </a:solidFill>
                <a:latin typeface="Consolas"/>
              </a:rPr>
              <a:t>enabled</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true</a:t>
            </a:r>
          </a:p>
          <a:p>
            <a:pPr>
              <a:lnSpc>
                <a:spcPct val="100000"/>
              </a:lnSpc>
              <a:buNone/>
            </a:pPr>
            <a:r>
              <a:rPr sz="1200">
                <a:solidFill>
                  <a:srgbClr val="6DBEE7"/>
                </a:solidFill>
                <a:latin typeface="Consolas"/>
              </a:rPr>
              <a:t>size</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8</a:t>
            </a:r>
          </a:p>
          <a:p>
            <a:pPr>
              <a:lnSpc>
                <a:spcPct val="100000"/>
              </a:lnSpc>
              <a:buNone/>
            </a:pPr>
            <a:r>
              <a:rPr sz="1200">
                <a:solidFill>
                  <a:srgbClr val="6DBEE7"/>
                </a:solidFill>
                <a:latin typeface="Consolas"/>
              </a:rPr>
              <a:t>warn</a:t>
            </a:r>
            <a:r>
              <a:rPr sz="1200">
                <a:solidFill>
                  <a:srgbClr val="6DBEE7"/>
                </a:solidFill>
                <a:latin typeface="Consolas"/>
              </a:rPr>
              <a:t>-</a:t>
            </a:r>
            <a:r>
              <a:rPr sz="1200">
                <a:solidFill>
                  <a:srgbClr val="6DBEE7"/>
                </a:solidFill>
                <a:latin typeface="Consolas"/>
              </a:rPr>
              <a:t>wait</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A5D6A7"/>
                </a:solidFill>
                <a:latin typeface="Consolas"/>
              </a:rPr>
              <a:t>"2s"</a:t>
            </a:r>
          </a:p>
        </p:txBody>
      </p:sp>
      <p:sp>
        <p:nvSpPr>
          <p:cNvPr id="32" name="TextBox 31"/>
          <p:cNvSpPr txBox="1"/>
          <p:nvPr/>
        </p:nvSpPr>
        <p:spPr>
          <a:xfrm>
            <a:off x="7543800" y="3383280"/>
            <a:ext cx="3886200" cy="256032"/>
          </a:xfrm>
          <a:prstGeom prst="rect">
            <a:avLst/>
          </a:prstGeom>
          <a:noFill/>
        </p:spPr>
        <p:txBody>
          <a:bodyPr wrap="square" lIns="0" rIns="0" tIns="0" bIns="0" anchor="ctr"/>
          <a:lstStyle/>
          <a:p>
            <a:pPr algn="l">
              <a:buNone/>
            </a:pPr>
            <a:r>
              <a:rPr sz="1100" b="1">
                <a:solidFill>
                  <a:srgbClr val="A9B7C4"/>
                </a:solidFill>
              </a:rPr>
              <a:t>PYTHONPOOL MANAGEMENT ENDPOINT</a:t>
            </a:r>
          </a:p>
        </p:txBody>
      </p:sp>
      <p:sp>
        <p:nvSpPr>
          <p:cNvPr id="33" name="Rounded Rectangle 32"/>
          <p:cNvSpPr/>
          <p:nvPr/>
        </p:nvSpPr>
        <p:spPr>
          <a:xfrm>
            <a:off x="7543800" y="3703320"/>
            <a:ext cx="3886200" cy="2423160"/>
          </a:xfrm>
          <a:prstGeom prst="roundRect">
            <a:avLst>
              <a:gd name="adj" fmla="val 2264"/>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4" name="TextBox 33"/>
          <p:cNvSpPr txBox="1"/>
          <p:nvPr/>
        </p:nvSpPr>
        <p:spPr>
          <a:xfrm>
            <a:off x="7708392" y="3813048"/>
            <a:ext cx="3611880" cy="2240279"/>
          </a:xfrm>
          <a:prstGeom prst="rect">
            <a:avLst/>
          </a:prstGeom>
          <a:noFill/>
        </p:spPr>
        <p:txBody>
          <a:bodyPr wrap="none" lIns="0" rIns="0" tIns="0" bIns="0"/>
          <a:lstStyle/>
          <a:p>
            <a:pPr>
              <a:lnSpc>
                <a:spcPct val="100000"/>
              </a:lnSpc>
              <a:buNone/>
            </a:pPr>
            <a:r>
              <a:rPr sz="1100">
                <a:solidFill>
                  <a:srgbClr val="D8E1E8"/>
                </a:solidFill>
                <a:latin typeface="Consolas"/>
              </a:rPr>
              <a:t>{</a:t>
            </a:r>
            <a:r>
              <a:rPr sz="1100">
                <a:solidFill>
                  <a:srgbClr val="A5D6A7"/>
                </a:solidFill>
                <a:latin typeface="Consolas"/>
              </a:rPr>
              <a:t>"enabled"</a:t>
            </a:r>
            <a:r>
              <a:rPr sz="1100">
                <a:solidFill>
                  <a:srgbClr val="D8E1E8"/>
                </a:solidFill>
                <a:latin typeface="Consolas"/>
              </a:rPr>
              <a:t>:</a:t>
            </a:r>
            <a:r>
              <a:rPr sz="1100">
                <a:solidFill>
                  <a:srgbClr val="D8E1E8"/>
                </a:solidFill>
                <a:latin typeface="Consolas"/>
              </a:rPr>
              <a:t> </a:t>
            </a:r>
            <a:r>
              <a:rPr sz="1100">
                <a:solidFill>
                  <a:srgbClr val="D8E1E8"/>
                </a:solidFill>
                <a:latin typeface="Consolas"/>
              </a:rPr>
              <a:t>true</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"targetSize"</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8</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"pooledContexts"</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3</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"idleContexts"</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2</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"eventLoopContexts"</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1</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"borrows"</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1204</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"waits"</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3</a:t>
            </a:r>
            <a:r>
              <a:rPr sz="1100">
                <a:solidFill>
                  <a:srgbClr val="D8E1E8"/>
                </a:solidFill>
                <a:latin typeface="Consolas"/>
              </a:rPr>
              <a:t>,</a:t>
            </a:r>
          </a:p>
          <a:p>
            <a:pPr>
              <a:lnSpc>
                <a:spcPct val="100000"/>
              </a:lnSpc>
              <a:buNone/>
            </a:pPr>
            <a:r>
              <a:rPr sz="1100">
                <a:solidFill>
                  <a:srgbClr val="D8E1E8"/>
                </a:solidFill>
                <a:latin typeface="Consolas"/>
              </a:rPr>
              <a:t> </a:t>
            </a:r>
            <a:r>
              <a:rPr sz="1100">
                <a:solidFill>
                  <a:srgbClr val="A5D6A7"/>
                </a:solidFill>
                <a:latin typeface="Consolas"/>
              </a:rPr>
              <a:t>"maxWaitMillis"</a:t>
            </a:r>
            <a:r>
              <a:rPr sz="1100">
                <a:solidFill>
                  <a:srgbClr val="D8E1E8"/>
                </a:solidFill>
                <a:latin typeface="Consolas"/>
              </a:rPr>
              <a:t>:</a:t>
            </a:r>
            <a:r>
              <a:rPr sz="1100">
                <a:solidFill>
                  <a:srgbClr val="D8E1E8"/>
                </a:solidFill>
                <a:latin typeface="Consolas"/>
              </a:rPr>
              <a:t> </a:t>
            </a:r>
            <a:r>
              <a:rPr sz="1100">
                <a:solidFill>
                  <a:srgbClr val="C9A0DC"/>
                </a:solidFill>
                <a:latin typeface="Consolas"/>
              </a:rPr>
              <a:t>22</a:t>
            </a:r>
            <a:r>
              <a:rPr sz="1100">
                <a:solidFill>
                  <a:srgbClr val="D8E1E8"/>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Python code runs</a:t>
            </a:r>
          </a:p>
        </p:txBody>
      </p:sp>
      <p:sp>
        <p:nvSpPr>
          <p:cNvPr id="3" name="Text Placeholder 2"/>
          <p:cNvSpPr>
            <a:spLocks noGrp="1"/>
          </p:cNvSpPr>
          <p:nvPr>
            <p:ph type="body" idx="11" sz="quarter"/>
          </p:nvPr>
        </p:nvSpPr>
        <p:spPr/>
        <p:txBody>
          <a:bodyPr/>
          <a:lstStyle/>
          <a:p>
            <a:r>
              <a:t>A Python-specific executor selector — different from Micronaut’s Java defaults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graphicFrame>
        <p:nvGraphicFramePr>
          <p:cNvPr id="10" name="Table 9"/>
          <p:cNvGraphicFramePr>
            <a:graphicFrameLocks noGrp="1"/>
          </p:cNvGraphicFramePr>
          <p:nvPr/>
        </p:nvGraphicFramePr>
        <p:xfrm>
          <a:off x="768096" y="1600200"/>
          <a:ext cx="10661904" cy="3090672"/>
        </p:xfrm>
        <a:graphic>
          <a:graphicData uri="http://schemas.openxmlformats.org/drawingml/2006/table">
            <a:tbl>
              <a:tblPr firstRow="0" bandRow="0">
                <a:tableStyleId>{2D5ABB26-0587-4C30-8999-92F81FD0307C}</a:tableStyleId>
              </a:tblPr>
              <a:tblGrid>
                <a:gridCol w="3840480"/>
                <a:gridCol w="3200400"/>
                <a:gridCol w="3621024"/>
              </a:tblGrid>
              <a:tr h="457200">
                <a:tc>
                  <a:txBody>
                    <a:bodyPr/>
                    <a:lstStyle/>
                    <a:p>
                      <a:pPr>
                        <a:buNone/>
                      </a:pPr>
                      <a:r>
                        <a:rPr sz="1200" b="1">
                          <a:solidFill>
                            <a:srgbClr val="F19111"/>
                          </a:solidFill>
                        </a:rPr>
                        <a:t>Python function</a:t>
                      </a:r>
                    </a:p>
                  </a:txBody>
                  <a:tcPr marL="137160" anchor="ctr">
                    <a:solidFill>
                      <a:srgbClr val="2E3B47"/>
                    </a:solidFill>
                  </a:tcPr>
                </a:tc>
                <a:tc>
                  <a:txBody>
                    <a:bodyPr/>
                    <a:lstStyle/>
                    <a:p>
                      <a:pPr>
                        <a:buNone/>
                      </a:pPr>
                      <a:r>
                        <a:rPr sz="1200" b="1">
                          <a:solidFill>
                            <a:srgbClr val="6DBEE7"/>
                          </a:solidFill>
                        </a:rPr>
                        <a:t>Runs on</a:t>
                      </a:r>
                    </a:p>
                  </a:txBody>
                  <a:tcPr marL="137160" anchor="ctr">
                    <a:solidFill>
                      <a:srgbClr val="2E3B47"/>
                    </a:solidFill>
                  </a:tcPr>
                </a:tc>
                <a:tc>
                  <a:txBody>
                    <a:bodyPr/>
                    <a:lstStyle/>
                    <a:p>
                      <a:pPr>
                        <a:buNone/>
                      </a:pPr>
                      <a:r>
                        <a:rPr sz="1200" b="1">
                          <a:solidFill>
                            <a:srgbClr val="A9B7C4"/>
                          </a:solidFill>
                        </a:rPr>
                        <a:t>Why</a:t>
                      </a:r>
                    </a:p>
                  </a:txBody>
                  <a:tcPr marL="137160" anchor="ctr">
                    <a:solidFill>
                      <a:srgbClr val="2E3B47"/>
                    </a:solidFill>
                  </a:tcPr>
                </a:tc>
              </a:tr>
              <a:tr h="658368">
                <a:tc>
                  <a:txBody>
                    <a:bodyPr/>
                    <a:lstStyle/>
                    <a:p>
                      <a:pPr>
                        <a:buNone/>
                      </a:pPr>
                      <a:r>
                        <a:rPr sz="1250" b="0">
                          <a:solidFill>
                            <a:srgbClr val="F0CC72"/>
                          </a:solidFill>
                          <a:latin typeface="Consolas"/>
                        </a:rPr>
                        <a:t>def route or bean method</a:t>
                      </a:r>
                    </a:p>
                  </a:txBody>
                  <a:tcPr marL="137160" anchor="ctr">
                    <a:solidFill>
                      <a:srgbClr val="25303A"/>
                    </a:solidFill>
                  </a:tcPr>
                </a:tc>
                <a:tc>
                  <a:txBody>
                    <a:bodyPr/>
                    <a:lstStyle/>
                    <a:p>
                      <a:pPr>
                        <a:buNone/>
                      </a:pPr>
                      <a:r>
                        <a:rPr sz="1250" b="0">
                          <a:solidFill>
                            <a:srgbClr val="FFFFFF"/>
                          </a:solidFill>
                        </a:rPr>
                        <a:t>io executor (platform threads)</a:t>
                      </a:r>
                    </a:p>
                  </a:txBody>
                  <a:tcPr marL="137160" anchor="ctr">
                    <a:solidFill>
                      <a:srgbClr val="25303A"/>
                    </a:solidFill>
                  </a:tcPr>
                </a:tc>
                <a:tc>
                  <a:txBody>
                    <a:bodyPr/>
                    <a:lstStyle/>
                    <a:p>
                      <a:pPr>
                        <a:buNone/>
                      </a:pPr>
                      <a:r>
                        <a:rPr sz="1250" b="0">
                          <a:solidFill>
                            <a:srgbClr val="A9B7C4"/>
                          </a:solidFill>
                        </a:rPr>
                        <a:t>Python can’t signal it is non-blocking, so never block the event loop</a:t>
                      </a:r>
                    </a:p>
                  </a:txBody>
                  <a:tcPr marL="137160" anchor="ctr">
                    <a:solidFill>
                      <a:srgbClr val="25303A"/>
                    </a:solidFill>
                  </a:tcPr>
                </a:tc>
              </a:tr>
              <a:tr h="658368">
                <a:tc>
                  <a:txBody>
                    <a:bodyPr/>
                    <a:lstStyle/>
                    <a:p>
                      <a:pPr>
                        <a:buNone/>
                      </a:pPr>
                      <a:r>
                        <a:rPr sz="1250" b="0">
                          <a:solidFill>
                            <a:srgbClr val="F0CC72"/>
                          </a:solidFill>
                          <a:latin typeface="Consolas"/>
                        </a:rPr>
                        <a:t>async def route or method</a:t>
                      </a:r>
                    </a:p>
                  </a:txBody>
                  <a:tcPr marL="137160" anchor="ctr">
                    <a:solidFill>
                      <a:srgbClr val="212A33"/>
                    </a:solidFill>
                  </a:tcPr>
                </a:tc>
                <a:tc>
                  <a:txBody>
                    <a:bodyPr/>
                    <a:lstStyle/>
                    <a:p>
                      <a:pPr>
                        <a:buNone/>
                      </a:pPr>
                      <a:r>
                        <a:rPr sz="1250" b="0">
                          <a:solidFill>
                            <a:srgbClr val="FFFFFF"/>
                          </a:solidFill>
                        </a:rPr>
                        <a:t>the Netty event loop that received the request</a:t>
                      </a:r>
                    </a:p>
                  </a:txBody>
                  <a:tcPr marL="137160" anchor="ctr">
                    <a:solidFill>
                      <a:srgbClr val="212A33"/>
                    </a:solidFill>
                  </a:tcPr>
                </a:tc>
                <a:tc>
                  <a:txBody>
                    <a:bodyPr/>
                    <a:lstStyle/>
                    <a:p>
                      <a:pPr>
                        <a:buNone/>
                      </a:pPr>
                      <a:r>
                        <a:rPr sz="1250" b="0">
                          <a:solidFill>
                            <a:srgbClr val="A9B7C4"/>
                          </a:solidFill>
                        </a:rPr>
                        <a:t>coroutine bound to a Micronaut-managed asyncio loop</a:t>
                      </a:r>
                    </a:p>
                  </a:txBody>
                  <a:tcPr marL="137160" anchor="ctr">
                    <a:solidFill>
                      <a:srgbClr val="212A33"/>
                    </a:solidFill>
                  </a:tcPr>
                </a:tc>
              </a:tr>
              <a:tr h="658368">
                <a:tc>
                  <a:txBody>
                    <a:bodyPr/>
                    <a:lstStyle/>
                    <a:p>
                      <a:pPr>
                        <a:buNone/>
                      </a:pPr>
                      <a:r>
                        <a:rPr sz="1250" b="0">
                          <a:solidFill>
                            <a:srgbClr val="F0CC72"/>
                          </a:solidFill>
                          <a:latin typeface="Consolas"/>
                        </a:rPr>
                        <a:t>@ExecuteOn(TaskExecutors.BLOCKING)</a:t>
                      </a:r>
                    </a:p>
                  </a:txBody>
                  <a:tcPr marL="137160" anchor="ctr">
                    <a:solidFill>
                      <a:srgbClr val="25303A"/>
                    </a:solidFill>
                  </a:tcPr>
                </a:tc>
                <a:tc>
                  <a:txBody>
                    <a:bodyPr/>
                    <a:lstStyle/>
                    <a:p>
                      <a:pPr>
                        <a:buNone/>
                      </a:pPr>
                      <a:r>
                        <a:rPr sz="1250" b="0">
                          <a:solidFill>
                            <a:srgbClr val="FFFFFF"/>
                          </a:solidFill>
                        </a:rPr>
                        <a:t>blocking executor (platform threads)</a:t>
                      </a:r>
                    </a:p>
                  </a:txBody>
                  <a:tcPr marL="137160" anchor="ctr">
                    <a:solidFill>
                      <a:srgbClr val="25303A"/>
                    </a:solidFill>
                  </a:tcPr>
                </a:tc>
                <a:tc>
                  <a:txBody>
                    <a:bodyPr/>
                    <a:lstStyle/>
                    <a:p>
                      <a:pPr>
                        <a:buNone/>
                      </a:pPr>
                      <a:r>
                        <a:rPr sz="1250" b="0">
                          <a:solidFill>
                            <a:srgbClr val="A9B7C4"/>
                          </a:solidFill>
                        </a:rPr>
                        <a:t>GraalPy cannot run on virtual threads</a:t>
                      </a:r>
                    </a:p>
                  </a:txBody>
                  <a:tcPr marL="137160" anchor="ctr">
                    <a:solidFill>
                      <a:srgbClr val="25303A"/>
                    </a:solidFill>
                  </a:tcPr>
                </a:tc>
              </a:tr>
              <a:tr h="658368">
                <a:tc>
                  <a:txBody>
                    <a:bodyPr/>
                    <a:lstStyle/>
                    <a:p>
                      <a:pPr>
                        <a:buNone/>
                      </a:pPr>
                      <a:r>
                        <a:rPr sz="1250" b="0">
                          <a:solidFill>
                            <a:srgbClr val="F0CC72"/>
                          </a:solidFill>
                          <a:latin typeface="Consolas"/>
                        </a:rPr>
                        <a:t>returns Publisher / Mono / CompletionStage</a:t>
                      </a:r>
                    </a:p>
                  </a:txBody>
                  <a:tcPr marL="137160" anchor="ctr">
                    <a:solidFill>
                      <a:srgbClr val="212A33"/>
                    </a:solidFill>
                  </a:tcPr>
                </a:tc>
                <a:tc>
                  <a:txBody>
                    <a:bodyPr/>
                    <a:lstStyle/>
                    <a:p>
                      <a:pPr>
                        <a:buNone/>
                      </a:pPr>
                      <a:r>
                        <a:rPr sz="1250" b="0">
                          <a:solidFill>
                            <a:srgbClr val="FFFFFF"/>
                          </a:solidFill>
                        </a:rPr>
                        <a:t>subscribed on the event loop</a:t>
                      </a:r>
                    </a:p>
                  </a:txBody>
                  <a:tcPr marL="137160" anchor="ctr">
                    <a:solidFill>
                      <a:srgbClr val="212A33"/>
                    </a:solidFill>
                  </a:tcPr>
                </a:tc>
                <a:tc>
                  <a:txBody>
                    <a:bodyPr/>
                    <a:lstStyle/>
                    <a:p>
                      <a:pPr>
                        <a:buNone/>
                      </a:pPr>
                      <a:r>
                        <a:rPr sz="1250" b="0">
                          <a:solidFill>
                            <a:srgbClr val="A9B7C4"/>
                          </a:solidFill>
                        </a:rPr>
                        <a:t>the producing code decides the thread</a:t>
                      </a:r>
                    </a:p>
                  </a:txBody>
                  <a:tcPr marL="137160" anchor="ctr">
                    <a:solidFill>
                      <a:srgbClr val="212A33"/>
                    </a:solidFill>
                  </a:tcPr>
                </a:tc>
              </a:tr>
            </a:tbl>
          </a:graphicData>
        </a:graphic>
      </p:graphicFrame>
      <p:sp>
        <p:nvSpPr>
          <p:cNvPr id="11" name="Rounded Rectangle 10"/>
          <p:cNvSpPr/>
          <p:nvPr/>
        </p:nvSpPr>
        <p:spPr>
          <a:xfrm>
            <a:off x="768096" y="5074920"/>
            <a:ext cx="4754880" cy="1097280"/>
          </a:xfrm>
          <a:prstGeom prst="roundRect">
            <a:avLst>
              <a:gd name="adj" fmla="val 50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TextBox 11"/>
          <p:cNvSpPr txBox="1"/>
          <p:nvPr/>
        </p:nvSpPr>
        <p:spPr>
          <a:xfrm>
            <a:off x="932688" y="5184648"/>
            <a:ext cx="4480560" cy="914400"/>
          </a:xfrm>
          <a:prstGeom prst="rect">
            <a:avLst/>
          </a:prstGeom>
          <a:noFill/>
        </p:spPr>
        <p:txBody>
          <a:bodyPr wrap="none" lIns="0" rIns="0" tIns="0" bIns="0"/>
          <a:lstStyle/>
          <a:p>
            <a:pPr>
              <a:lnSpc>
                <a:spcPct val="100000"/>
              </a:lnSpc>
              <a:buNone/>
            </a:pPr>
            <a:r>
              <a:rPr sz="1150">
                <a:solidFill>
                  <a:srgbClr val="F19111"/>
                </a:solidFill>
                <a:latin typeface="Consolas"/>
              </a:rPr>
              <a:t>[</a:t>
            </a:r>
            <a:r>
              <a:rPr sz="1150">
                <a:solidFill>
                  <a:srgbClr val="F19111"/>
                </a:solidFill>
                <a:latin typeface="Consolas"/>
              </a:rPr>
              <a:t>micronaut</a:t>
            </a:r>
            <a:r>
              <a:rPr sz="1150">
                <a:solidFill>
                  <a:srgbClr val="F19111"/>
                </a:solidFill>
                <a:latin typeface="Consolas"/>
              </a:rPr>
              <a:t>.</a:t>
            </a:r>
            <a:r>
              <a:rPr sz="1150">
                <a:solidFill>
                  <a:srgbClr val="F19111"/>
                </a:solidFill>
                <a:latin typeface="Consolas"/>
              </a:rPr>
              <a:t>executors</a:t>
            </a:r>
            <a:r>
              <a:rPr sz="1150">
                <a:solidFill>
                  <a:srgbClr val="F19111"/>
                </a:solidFill>
                <a:latin typeface="Consolas"/>
              </a:rPr>
              <a:t>.</a:t>
            </a:r>
            <a:r>
              <a:rPr sz="1150">
                <a:solidFill>
                  <a:srgbClr val="F19111"/>
                </a:solidFill>
                <a:latin typeface="Consolas"/>
              </a:rPr>
              <a:t>io</a:t>
            </a:r>
            <a:r>
              <a:rPr sz="1150">
                <a:solidFill>
                  <a:srgbClr val="F19111"/>
                </a:solidFill>
                <a:latin typeface="Consolas"/>
              </a:rPr>
              <a:t>]</a:t>
            </a:r>
          </a:p>
          <a:p>
            <a:pPr>
              <a:lnSpc>
                <a:spcPct val="100000"/>
              </a:lnSpc>
              <a:buNone/>
            </a:pPr>
            <a:r>
              <a:rPr sz="1150">
                <a:solidFill>
                  <a:srgbClr val="6DBEE7"/>
                </a:solidFill>
                <a:latin typeface="Consolas"/>
              </a:rPr>
              <a:t>type</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A5D6A7"/>
                </a:solidFill>
                <a:latin typeface="Consolas"/>
              </a:rPr>
              <a:t>"cached"</a:t>
            </a:r>
          </a:p>
          <a:p>
            <a:pPr>
              <a:lnSpc>
                <a:spcPct val="100000"/>
              </a:lnSpc>
              <a:buNone/>
            </a:pPr>
            <a:r>
              <a:rPr sz="1150">
                <a:solidFill>
                  <a:srgbClr val="6DBEE7"/>
                </a:solidFill>
                <a:latin typeface="Consolas"/>
              </a:rPr>
              <a:t>virtual</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false</a:t>
            </a:r>
          </a:p>
        </p:txBody>
      </p:sp>
      <p:sp>
        <p:nvSpPr>
          <p:cNvPr id="13" name="Rounded Rectangle 12"/>
          <p:cNvSpPr/>
          <p:nvPr/>
        </p:nvSpPr>
        <p:spPr>
          <a:xfrm>
            <a:off x="5760720" y="5074920"/>
            <a:ext cx="5669280" cy="1097280"/>
          </a:xfrm>
          <a:prstGeom prst="roundRect">
            <a:avLst>
              <a:gd name="adj" fmla="val 6666"/>
            </a:avLst>
          </a:prstGeom>
          <a:solidFill>
            <a:srgbClr val="2E3B47"/>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36576" bIns="36576"/>
          <a:lstStyle/>
          <a:p>
            <a:pPr algn="l">
              <a:buNone/>
            </a:pPr>
            <a:r>
              <a:rPr sz="1350" b="1">
                <a:solidFill>
                  <a:srgbClr val="F19111"/>
                </a:solidFill>
              </a:rPr>
              <a:t>Pyronaut ships these executor defaults</a:t>
            </a:r>
          </a:p>
          <a:p>
            <a:pPr algn="l">
              <a:buNone/>
            </a:pPr>
            <a:r>
              <a:rPr sz="1250">
                <a:solidFill>
                  <a:srgbClr val="FFFFFF"/>
                </a:solidFill>
              </a:rPr>
              <a:t>Setting </a:t>
            </a:r>
            <a:r>
              <a:rPr sz="1250">
                <a:solidFill>
                  <a:srgbClr val="F0CC72"/>
                </a:solidFill>
                <a:latin typeface="Consolas"/>
              </a:rPr>
              <a:t>virtual = true</a:t>
            </a:r>
            <a:r>
              <a:rPr sz="1250">
                <a:solidFill>
                  <a:srgbClr val="FFFFFF"/>
                </a:solidFill>
              </a:rPr>
              <a:t> for an executor running Python fails at runtime.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Thinking like a Python developer</a:t>
            </a:r>
          </a:p>
        </p:txBody>
      </p:sp>
      <p:sp>
        <p:nvSpPr>
          <p:cNvPr id="3" name="Text Placeholder 2"/>
          <p:cNvSpPr>
            <a:spLocks noGrp="1"/>
          </p:cNvSpPr>
          <p:nvPr>
            <p:ph type="body" idx="33" sz="quarter"/>
          </p:nvPr>
        </p:nvSpPr>
        <p:spPr>
          <a:xfrm>
            <a:ext cx="7498079" cy="0"/>
          </a:xfrm>
        </p:spPr>
        <p:txBody>
          <a:bodyPr/>
          <a:lstStyle/>
          <a:p>
            <a:r>
              <a:t>Bringing the language was half the job — the other half was tooling</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05</a:t>
            </a:r>
          </a:p>
        </p:txBody>
      </p:sp>
      <p:pic>
        <p:nvPicPr>
          <p:cNvPr id="11" name="Picture 10" descr="mascot.png"/>
          <p:cNvPicPr>
            <a:picLocks noChangeAspect="1"/>
          </p:cNvPicPr>
          <p:nvPr/>
        </p:nvPicPr>
        <p:blipFill>
          <a:blip r:embed="rId3"/>
          <a:stretch>
            <a:fillRect/>
          </a:stretch>
        </p:blipFill>
        <p:spPr>
          <a:xfrm>
            <a:off x="8595360" y="1188720"/>
            <a:ext cx="3701491" cy="42062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new language needs a new developer experience</a:t>
            </a:r>
          </a:p>
        </p:txBody>
      </p:sp>
      <p:sp>
        <p:nvSpPr>
          <p:cNvPr id="3" name="Text Placeholder 2"/>
          <p:cNvSpPr>
            <a:spLocks noGrp="1"/>
          </p:cNvSpPr>
          <p:nvPr>
            <p:ph type="body" idx="11" sz="quarter"/>
          </p:nvPr>
        </p:nvSpPr>
        <p:spPr/>
        <p:txBody>
          <a:bodyPr/>
          <a:lstStyle/>
          <a:p>
            <a:r>
              <a:t>Python developers judge a framework by pip, pytest and their editor first</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72768"/>
            <a:ext cx="4206240" cy="256032"/>
          </a:xfrm>
          <a:prstGeom prst="rect">
            <a:avLst/>
          </a:prstGeom>
          <a:noFill/>
        </p:spPr>
        <p:txBody>
          <a:bodyPr wrap="square" lIns="0" rIns="0" tIns="0" bIns="0" anchor="ctr"/>
          <a:lstStyle/>
          <a:p>
            <a:pPr algn="l">
              <a:buNone/>
            </a:pPr>
            <a:r>
              <a:rPr sz="1100" b="1">
                <a:solidFill>
                  <a:srgbClr val="A9B7C4"/>
                </a:solidFill>
              </a:rPr>
              <a:t>A PYTHON DEVELOPER EXPECTS</a:t>
            </a:r>
          </a:p>
        </p:txBody>
      </p:sp>
      <p:sp>
        <p:nvSpPr>
          <p:cNvPr id="11" name="TextBox 10"/>
          <p:cNvSpPr txBox="1"/>
          <p:nvPr/>
        </p:nvSpPr>
        <p:spPr>
          <a:xfrm>
            <a:off x="5577840" y="1572768"/>
            <a:ext cx="5852160" cy="256032"/>
          </a:xfrm>
          <a:prstGeom prst="rect">
            <a:avLst/>
          </a:prstGeom>
          <a:noFill/>
        </p:spPr>
        <p:txBody>
          <a:bodyPr wrap="square" lIns="0" rIns="0" tIns="0" bIns="0" anchor="ctr"/>
          <a:lstStyle/>
          <a:p>
            <a:pPr algn="l">
              <a:buNone/>
            </a:pPr>
            <a:r>
              <a:rPr sz="1100" b="1">
                <a:solidFill>
                  <a:srgbClr val="F19111"/>
                </a:solidFill>
              </a:rPr>
              <a:t>PYRONAUT ANSWERS</a:t>
            </a:r>
          </a:p>
        </p:txBody>
      </p:sp>
      <p:sp>
        <p:nvSpPr>
          <p:cNvPr id="12" name="Rounded Rectangle 11"/>
          <p:cNvSpPr/>
          <p:nvPr/>
        </p:nvSpPr>
        <p:spPr>
          <a:xfrm>
            <a:off x="768096" y="1920240"/>
            <a:ext cx="4206240" cy="548640"/>
          </a:xfrm>
          <a:prstGeom prst="roundRect">
            <a:avLst>
              <a:gd name="adj" fmla="val 10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00">
                <a:solidFill>
                  <a:srgbClr val="FFFFFF"/>
                </a:solidFill>
              </a:rPr>
              <a:t>pip install, a virtual environment</a:t>
            </a:r>
          </a:p>
        </p:txBody>
      </p:sp>
      <p:cxnSp>
        <p:nvCxnSpPr>
          <p:cNvPr id="13" name="Connector 12"/>
          <p:cNvCxnSpPr/>
          <p:nvPr/>
        </p:nvCxnSpPr>
        <p:spPr>
          <a:xfrm>
            <a:off x="5029200" y="2194560"/>
            <a:ext cx="45720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77840" y="1920240"/>
            <a:ext cx="5852160" cy="548640"/>
          </a:xfrm>
          <a:prstGeom prst="roundRect">
            <a:avLst>
              <a:gd name="adj" fmla="val 1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a:solidFill>
                  <a:srgbClr val="FFFFFF"/>
                </a:solidFill>
              </a:rPr>
              <a:t>An SDK wheel; </a:t>
            </a:r>
            <a:r>
              <a:rPr sz="1250">
                <a:solidFill>
                  <a:srgbClr val="F0CC72"/>
                </a:solidFill>
                <a:latin typeface="Consolas"/>
              </a:rPr>
              <a:t>pyronaut setup</a:t>
            </a:r>
            <a:r>
              <a:rPr sz="1250">
                <a:solidFill>
                  <a:srgbClr val="FFFFFF"/>
                </a:solidFill>
              </a:rPr>
              <a:t> provisions GraalVM and native launchers in ~/.pyronaut</a:t>
            </a:r>
          </a:p>
        </p:txBody>
      </p:sp>
      <p:sp>
        <p:nvSpPr>
          <p:cNvPr id="15" name="Rounded Rectangle 14"/>
          <p:cNvSpPr/>
          <p:nvPr/>
        </p:nvSpPr>
        <p:spPr>
          <a:xfrm>
            <a:off x="768096" y="2606040"/>
            <a:ext cx="4206240" cy="548640"/>
          </a:xfrm>
          <a:prstGeom prst="roundRect">
            <a:avLst>
              <a:gd name="adj" fmla="val 10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00">
                <a:solidFill>
                  <a:srgbClr val="FFFFFF"/>
                </a:solidFill>
              </a:rPr>
              <a:t>pyproject.toml — not build.gradle</a:t>
            </a:r>
          </a:p>
        </p:txBody>
      </p:sp>
      <p:cxnSp>
        <p:nvCxnSpPr>
          <p:cNvPr id="16" name="Connector 15"/>
          <p:cNvCxnSpPr/>
          <p:nvPr/>
        </p:nvCxnSpPr>
        <p:spPr>
          <a:xfrm>
            <a:off x="5029200" y="2880360"/>
            <a:ext cx="45720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77840" y="2606040"/>
            <a:ext cx="5852160" cy="548640"/>
          </a:xfrm>
          <a:prstGeom prst="roundRect">
            <a:avLst>
              <a:gd name="adj" fmla="val 1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a:solidFill>
                  <a:srgbClr val="F0CC72"/>
                </a:solidFill>
                <a:latin typeface="Consolas"/>
              </a:rPr>
              <a:t>[tool.pyronaut]</a:t>
            </a:r>
            <a:r>
              <a:rPr sz="1250">
                <a:solidFill>
                  <a:srgbClr val="FFFFFF"/>
                </a:solidFill>
              </a:rPr>
              <a:t> holds Java dependencies, source layout, packaging and tests</a:t>
            </a:r>
          </a:p>
        </p:txBody>
      </p:sp>
      <p:sp>
        <p:nvSpPr>
          <p:cNvPr id="18" name="Rounded Rectangle 17"/>
          <p:cNvSpPr/>
          <p:nvPr/>
        </p:nvSpPr>
        <p:spPr>
          <a:xfrm>
            <a:off x="768096" y="3291840"/>
            <a:ext cx="4206240" cy="548640"/>
          </a:xfrm>
          <a:prstGeom prst="roundRect">
            <a:avLst>
              <a:gd name="adj" fmla="val 10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00">
                <a:solidFill>
                  <a:srgbClr val="FFFFFF"/>
                </a:solidFill>
              </a:rPr>
              <a:t>python app.py</a:t>
            </a:r>
          </a:p>
        </p:txBody>
      </p:sp>
      <p:cxnSp>
        <p:nvCxnSpPr>
          <p:cNvPr id="19" name="Connector 18"/>
          <p:cNvCxnSpPr/>
          <p:nvPr/>
        </p:nvCxnSpPr>
        <p:spPr>
          <a:xfrm>
            <a:off x="5029200" y="3566160"/>
            <a:ext cx="45720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577840" y="3291840"/>
            <a:ext cx="5852160" cy="548640"/>
          </a:xfrm>
          <a:prstGeom prst="roundRect">
            <a:avLst>
              <a:gd name="adj" fmla="val 1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a:solidFill>
                  <a:srgbClr val="F0CC72"/>
                </a:solidFill>
                <a:latin typeface="Consolas"/>
              </a:rPr>
              <a:t>pyronaut run app.py</a:t>
            </a:r>
            <a:r>
              <a:rPr sz="1250">
                <a:solidFill>
                  <a:srgbClr val="FFFFFF"/>
                </a:solidFill>
              </a:rPr>
              <a:t> or </a:t>
            </a:r>
            <a:r>
              <a:rPr sz="1250">
                <a:solidFill>
                  <a:srgbClr val="F0CC72"/>
                </a:solidFill>
                <a:latin typeface="Consolas"/>
              </a:rPr>
              <a:t>pyronaut dev app.py</a:t>
            </a:r>
            <a:r>
              <a:rPr sz="1250">
                <a:solidFill>
                  <a:srgbClr val="FFFFFF"/>
                </a:solidFill>
              </a:rPr>
              <a:t> — no project required</a:t>
            </a:r>
          </a:p>
        </p:txBody>
      </p:sp>
      <p:sp>
        <p:nvSpPr>
          <p:cNvPr id="21" name="Rounded Rectangle 20"/>
          <p:cNvSpPr/>
          <p:nvPr/>
        </p:nvSpPr>
        <p:spPr>
          <a:xfrm>
            <a:off x="768096" y="3977639"/>
            <a:ext cx="4206240" cy="548640"/>
          </a:xfrm>
          <a:prstGeom prst="roundRect">
            <a:avLst>
              <a:gd name="adj" fmla="val 10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00">
                <a:solidFill>
                  <a:srgbClr val="FFFFFF"/>
                </a:solidFill>
              </a:rPr>
              <a:t>pytest</a:t>
            </a:r>
          </a:p>
        </p:txBody>
      </p:sp>
      <p:cxnSp>
        <p:nvCxnSpPr>
          <p:cNvPr id="22" name="Connector 21"/>
          <p:cNvCxnSpPr/>
          <p:nvPr/>
        </p:nvCxnSpPr>
        <p:spPr>
          <a:xfrm>
            <a:off x="5029200" y="4251959"/>
            <a:ext cx="45720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577840" y="3977639"/>
            <a:ext cx="5852160" cy="548640"/>
          </a:xfrm>
          <a:prstGeom prst="roundRect">
            <a:avLst>
              <a:gd name="adj" fmla="val 1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a:solidFill>
                  <a:srgbClr val="FFFFFF"/>
                </a:solidFill>
              </a:rPr>
              <a:t>pytest tests discovered and run on the JUnit Platform, next to JUnit</a:t>
            </a:r>
          </a:p>
        </p:txBody>
      </p:sp>
      <p:sp>
        <p:nvSpPr>
          <p:cNvPr id="24" name="Rounded Rectangle 23"/>
          <p:cNvSpPr/>
          <p:nvPr/>
        </p:nvSpPr>
        <p:spPr>
          <a:xfrm>
            <a:off x="768096" y="4663440"/>
            <a:ext cx="4206240" cy="548640"/>
          </a:xfrm>
          <a:prstGeom prst="roundRect">
            <a:avLst>
              <a:gd name="adj" fmla="val 10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00">
                <a:solidFill>
                  <a:srgbClr val="FFFFFF"/>
                </a:solidFill>
              </a:rPr>
              <a:t>Completion in VS Code or PyCharm</a:t>
            </a:r>
          </a:p>
        </p:txBody>
      </p:sp>
      <p:cxnSp>
        <p:nvCxnSpPr>
          <p:cNvPr id="25" name="Connector 24"/>
          <p:cNvCxnSpPr/>
          <p:nvPr/>
        </p:nvCxnSpPr>
        <p:spPr>
          <a:xfrm>
            <a:off x="5029200" y="4937759"/>
            <a:ext cx="45720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577840" y="4663440"/>
            <a:ext cx="5852160" cy="548640"/>
          </a:xfrm>
          <a:prstGeom prst="roundRect">
            <a:avLst>
              <a:gd name="adj" fmla="val 1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a:solidFill>
                  <a:srgbClr val="FFFFFF"/>
                </a:solidFill>
              </a:rPr>
              <a:t>Generated editor stubs for Java-backed APIs, plus config schemas</a:t>
            </a:r>
          </a:p>
        </p:txBody>
      </p:sp>
      <p:sp>
        <p:nvSpPr>
          <p:cNvPr id="27" name="Rounded Rectangle 26"/>
          <p:cNvSpPr/>
          <p:nvPr/>
        </p:nvSpPr>
        <p:spPr>
          <a:xfrm>
            <a:off x="768096" y="5349240"/>
            <a:ext cx="4206240" cy="548640"/>
          </a:xfrm>
          <a:prstGeom prst="roundRect">
            <a:avLst>
              <a:gd name="adj" fmla="val 10000"/>
            </a:avLst>
          </a:prstGeom>
          <a:solidFill>
            <a:srgbClr val="25303A"/>
          </a:solidFill>
          <a:ln w="12700">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300">
                <a:solidFill>
                  <a:srgbClr val="FFFFFF"/>
                </a:solidFill>
              </a:rPr>
              <a:t>No Java build tooling in sight</a:t>
            </a:r>
          </a:p>
        </p:txBody>
      </p:sp>
      <p:cxnSp>
        <p:nvCxnSpPr>
          <p:cNvPr id="28" name="Connector 27"/>
          <p:cNvCxnSpPr/>
          <p:nvPr/>
        </p:nvCxnSpPr>
        <p:spPr>
          <a:xfrm>
            <a:off x="5029200" y="5623559"/>
            <a:ext cx="457200" cy="0"/>
          </a:xfrm>
          <a:prstGeom prst="line">
            <a:avLst/>
          </a:prstGeom>
          <a:ln w="25400">
            <a:solidFill>
              <a:srgbClr val="F19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577840" y="5349240"/>
            <a:ext cx="5852160" cy="548640"/>
          </a:xfrm>
          <a:prstGeom prst="roundRect">
            <a:avLst>
              <a:gd name="adj" fmla="val 1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a:solidFill>
                  <a:srgbClr val="FFFFFF"/>
                </a:solidFill>
              </a:rPr>
              <a:t>A Python CLI orchestrates the Java tools — on the JVM or as native binaries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CLI: a Python orchestrator, focused Java tools</a:t>
            </a:r>
          </a:p>
        </p:txBody>
      </p:sp>
      <p:sp>
        <p:nvSpPr>
          <p:cNvPr id="3" name="Text Placeholder 2"/>
          <p:cNvSpPr>
            <a:spLocks noGrp="1"/>
          </p:cNvSpPr>
          <p:nvPr>
            <p:ph type="body" idx="11" sz="quarter"/>
          </p:nvPr>
        </p:nvSpPr>
        <p:spPr/>
        <p:txBody>
          <a:bodyPr/>
          <a:lstStyle/>
          <a:p>
            <a:r>
              <a:rPr>
                <a:latin typeface="Consolas"/>
              </a:rPr>
              <a:t>pyronaut</a:t>
            </a:r>
            <a:r>
              <a:t> is Python; the heavy lifting runs in separate executables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4343400" y="2880360"/>
            <a:ext cx="3520440" cy="1600200"/>
          </a:xfrm>
          <a:prstGeom prst="roundRect">
            <a:avLst>
              <a:gd name="adj" fmla="val 6857"/>
            </a:avLst>
          </a:prstGeom>
          <a:solidFill>
            <a:srgbClr val="2E3B47"/>
          </a:solidFill>
          <a:ln w="285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2200" b="1">
                <a:solidFill>
                  <a:srgbClr val="F19111"/>
                </a:solidFill>
                <a:latin typeface="Consolas"/>
              </a:rPr>
              <a:t>pyronaut</a:t>
            </a:r>
          </a:p>
          <a:p>
            <a:pPr algn="ctr">
              <a:spcAft>
                <a:spcPts val="200"/>
              </a:spcAft>
              <a:buNone/>
            </a:pPr>
            <a:r>
              <a:rPr sz="1300">
                <a:solidFill>
                  <a:srgbClr val="FFFFFF"/>
                </a:solidFill>
              </a:rPr>
              <a:t>Python orchestrator</a:t>
            </a:r>
          </a:p>
          <a:p>
            <a:pPr algn="ctr">
              <a:buNone/>
            </a:pPr>
            <a:r>
              <a:rPr sz="1050">
                <a:solidFill>
                  <a:srgbClr val="A9B7C4"/>
                </a:solidFill>
              </a:rPr>
              <a:t>setup · install · process · dev · run · test · build · create · validate-config</a:t>
            </a:r>
          </a:p>
        </p:txBody>
      </p:sp>
      <p:sp>
        <p:nvSpPr>
          <p:cNvPr id="11" name="Rounded Rectangle 10"/>
          <p:cNvSpPr/>
          <p:nvPr/>
        </p:nvSpPr>
        <p:spPr>
          <a:xfrm>
            <a:off x="768096" y="1645920"/>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pyronaut-install</a:t>
            </a:r>
          </a:p>
          <a:p>
            <a:pPr algn="l">
              <a:buNone/>
            </a:pPr>
            <a:r>
              <a:rPr sz="1100">
                <a:solidFill>
                  <a:srgbClr val="A9B7C4"/>
                </a:solidFill>
              </a:rPr>
              <a:t>Maven resolution, stubs, schemas</a:t>
            </a:r>
          </a:p>
        </p:txBody>
      </p:sp>
      <p:cxnSp>
        <p:nvCxnSpPr>
          <p:cNvPr id="12" name="Connector 11"/>
          <p:cNvCxnSpPr/>
          <p:nvPr/>
        </p:nvCxnSpPr>
        <p:spPr>
          <a:xfrm flipH="1" flipV="1">
            <a:off x="3858768" y="2057400"/>
            <a:ext cx="457200" cy="1623060"/>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8096" y="2670048"/>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pyronaut-processor</a:t>
            </a:r>
          </a:p>
          <a:p>
            <a:pPr algn="l">
              <a:buNone/>
            </a:pPr>
            <a:r>
              <a:rPr sz="1100">
                <a:solidFill>
                  <a:srgbClr val="A9B7C4"/>
                </a:solidFill>
              </a:rPr>
              <a:t>javac + GraalPy source processing</a:t>
            </a:r>
          </a:p>
        </p:txBody>
      </p:sp>
      <p:cxnSp>
        <p:nvCxnSpPr>
          <p:cNvPr id="14" name="Connector 13"/>
          <p:cNvCxnSpPr/>
          <p:nvPr/>
        </p:nvCxnSpPr>
        <p:spPr>
          <a:xfrm flipH="1" flipV="1">
            <a:off x="3858768" y="3081528"/>
            <a:ext cx="457200" cy="598932"/>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8096" y="3694176"/>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pyronaut-dev</a:t>
            </a:r>
          </a:p>
          <a:p>
            <a:pPr algn="l">
              <a:buNone/>
            </a:pPr>
            <a:r>
              <a:rPr sz="1100">
                <a:solidFill>
                  <a:srgbClr val="A9B7C4"/>
                </a:solidFill>
              </a:rPr>
              <a:t>dev loop; native “uber” CLI</a:t>
            </a:r>
          </a:p>
        </p:txBody>
      </p:sp>
      <p:cxnSp>
        <p:nvCxnSpPr>
          <p:cNvPr id="16" name="Connector 15"/>
          <p:cNvCxnSpPr/>
          <p:nvPr/>
        </p:nvCxnSpPr>
        <p:spPr>
          <a:xfrm flipH="1">
            <a:off x="3858768" y="3680460"/>
            <a:ext cx="457200" cy="425196"/>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8096" y="4718304"/>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pyronaut-run · run-python</a:t>
            </a:r>
          </a:p>
          <a:p>
            <a:pPr algn="l">
              <a:buNone/>
            </a:pPr>
            <a:r>
              <a:rPr sz="1100">
                <a:solidFill>
                  <a:srgbClr val="A9B7C4"/>
                </a:solidFill>
              </a:rPr>
              <a:t>Java and Python runtimes</a:t>
            </a:r>
          </a:p>
        </p:txBody>
      </p:sp>
      <p:cxnSp>
        <p:nvCxnSpPr>
          <p:cNvPr id="18" name="Connector 17"/>
          <p:cNvCxnSpPr/>
          <p:nvPr/>
        </p:nvCxnSpPr>
        <p:spPr>
          <a:xfrm flipH="1">
            <a:off x="3858768" y="3680460"/>
            <a:ext cx="457200" cy="1449324"/>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66760" y="1645920"/>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pyronaut-test</a:t>
            </a:r>
          </a:p>
          <a:p>
            <a:pPr algn="l">
              <a:buNone/>
            </a:pPr>
            <a:r>
              <a:rPr sz="1100">
                <a:solidFill>
                  <a:srgbClr val="A9B7C4"/>
                </a:solidFill>
              </a:rPr>
              <a:t>JUnit Platform + pytest</a:t>
            </a:r>
          </a:p>
        </p:txBody>
      </p:sp>
      <p:cxnSp>
        <p:nvCxnSpPr>
          <p:cNvPr id="20" name="Connector 19"/>
          <p:cNvCxnSpPr/>
          <p:nvPr/>
        </p:nvCxnSpPr>
        <p:spPr>
          <a:xfrm flipV="1">
            <a:off x="7891271" y="2057400"/>
            <a:ext cx="448057" cy="1623060"/>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366760" y="2670048"/>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pyronaut-native-build</a:t>
            </a:r>
          </a:p>
          <a:p>
            <a:pPr algn="l">
              <a:buNone/>
            </a:pPr>
            <a:r>
              <a:rPr sz="1100">
                <a:solidFill>
                  <a:srgbClr val="A9B7C4"/>
                </a:solidFill>
              </a:rPr>
              <a:t>native and Crema; jar-build for fat JARs</a:t>
            </a:r>
          </a:p>
        </p:txBody>
      </p:sp>
      <p:cxnSp>
        <p:nvCxnSpPr>
          <p:cNvPr id="22" name="Connector 21"/>
          <p:cNvCxnSpPr/>
          <p:nvPr/>
        </p:nvCxnSpPr>
        <p:spPr>
          <a:xfrm flipV="1">
            <a:off x="7891271" y="3081528"/>
            <a:ext cx="448057" cy="598932"/>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366760" y="3694176"/>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pyronaut-validate-config</a:t>
            </a:r>
          </a:p>
          <a:p>
            <a:pPr algn="l">
              <a:buNone/>
            </a:pPr>
            <a:r>
              <a:rPr sz="1100">
                <a:solidFill>
                  <a:srgbClr val="A9B7C4"/>
                </a:solidFill>
              </a:rPr>
              <a:t>configuration against schemas</a:t>
            </a:r>
          </a:p>
        </p:txBody>
      </p:sp>
      <p:cxnSp>
        <p:nvCxnSpPr>
          <p:cNvPr id="24" name="Connector 23"/>
          <p:cNvCxnSpPr/>
          <p:nvPr/>
        </p:nvCxnSpPr>
        <p:spPr>
          <a:xfrm>
            <a:off x="7891271" y="3680460"/>
            <a:ext cx="448057" cy="425196"/>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366760" y="4718304"/>
            <a:ext cx="3063240" cy="822960"/>
          </a:xfrm>
          <a:prstGeom prst="roundRect">
            <a:avLst>
              <a:gd name="adj" fmla="val 8888"/>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buNone/>
            </a:pPr>
            <a:r>
              <a:rPr sz="1100" b="1">
                <a:solidFill>
                  <a:srgbClr val="6DBEE7"/>
                </a:solidFill>
                <a:latin typeface="Consolas"/>
              </a:rPr>
              <a:t>pyronaut-test-resources-server</a:t>
            </a:r>
          </a:p>
          <a:p>
            <a:pPr algn="l">
              <a:buNone/>
            </a:pPr>
            <a:r>
              <a:rPr sz="1100">
                <a:solidFill>
                  <a:srgbClr val="A9B7C4"/>
                </a:solidFill>
              </a:rPr>
              <a:t>containers on demand</a:t>
            </a:r>
          </a:p>
        </p:txBody>
      </p:sp>
      <p:cxnSp>
        <p:nvCxnSpPr>
          <p:cNvPr id="26" name="Connector 25"/>
          <p:cNvCxnSpPr/>
          <p:nvPr/>
        </p:nvCxnSpPr>
        <p:spPr>
          <a:xfrm>
            <a:off x="7891271" y="3680460"/>
            <a:ext cx="448057" cy="1449324"/>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343400" y="4754880"/>
            <a:ext cx="1691640" cy="384048"/>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00" b="0">
                <a:solidFill>
                  <a:srgbClr val="6DBEE7"/>
                </a:solidFill>
              </a:rPr>
              <a:t>toolchain = jvm</a:t>
            </a:r>
          </a:p>
        </p:txBody>
      </p:sp>
      <p:sp>
        <p:nvSpPr>
          <p:cNvPr id="28" name="Rounded Rectangle 27"/>
          <p:cNvSpPr/>
          <p:nvPr/>
        </p:nvSpPr>
        <p:spPr>
          <a:xfrm>
            <a:off x="6172200" y="4754880"/>
            <a:ext cx="1691640" cy="384048"/>
          </a:xfrm>
          <a:prstGeom prst="roundRect">
            <a:avLst>
              <a:gd name="adj" fmla="val 50000"/>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100" b="0">
                <a:solidFill>
                  <a:srgbClr val="F0CC72"/>
                </a:solidFill>
              </a:rPr>
              <a:t>toolchain = native</a:t>
            </a:r>
          </a:p>
        </p:txBody>
      </p:sp>
      <p:sp>
        <p:nvSpPr>
          <p:cNvPr id="29" name="TextBox 28"/>
          <p:cNvSpPr txBox="1"/>
          <p:nvPr/>
        </p:nvSpPr>
        <p:spPr>
          <a:xfrm>
            <a:off x="4206240" y="5230368"/>
            <a:ext cx="3794760" cy="822960"/>
          </a:xfrm>
          <a:prstGeom prst="rect">
            <a:avLst/>
          </a:prstGeom>
          <a:noFill/>
        </p:spPr>
        <p:txBody>
          <a:bodyPr wrap="square" lIns="0" rIns="0" tIns="0" bIns="0" anchor="t"/>
          <a:lstStyle/>
          <a:p>
            <a:pPr algn="ctr">
              <a:buNone/>
            </a:pPr>
            <a:r>
              <a:rPr sz="1100">
                <a:solidFill>
                  <a:srgbClr val="A9B7C4"/>
                </a:solidFill>
              </a:rPr>
              <a:t>Java delegates on a GraalVM JDK — or </a:t>
            </a:r>
            <a:r>
              <a:rPr sz="1100">
                <a:solidFill>
                  <a:srgbClr val="F0CC72"/>
                </a:solidFill>
                <a:latin typeface="Consolas"/>
              </a:rPr>
              <a:t>pyronaut-dev</a:t>
            </a:r>
            <a:r>
              <a:rPr sz="1100">
                <a:solidFill>
                  <a:srgbClr val="A9B7C4"/>
                </a:solidFill>
              </a:rPr>
              <a:t>, one native binary, for supported lifecycle commands</a:t>
            </a:r>
          </a:p>
        </p:txBody>
      </p:sp>
      <p:sp>
        <p:nvSpPr>
          <p:cNvPr id="30" name="Rounded Rectangle 29"/>
          <p:cNvSpPr/>
          <p:nvPr/>
        </p:nvSpPr>
        <p:spPr>
          <a:xfrm>
            <a:off x="768096" y="5806440"/>
            <a:ext cx="3063240" cy="411480"/>
          </a:xfrm>
          <a:prstGeom prst="roundRect">
            <a:avLst>
              <a:gd name="adj" fmla="val 17777"/>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l">
              <a:buNone/>
            </a:pPr>
            <a:r>
              <a:rPr sz="1050">
                <a:solidFill>
                  <a:srgbClr val="F0CC72"/>
                </a:solidFill>
                <a:latin typeface="Consolas"/>
              </a:rPr>
              <a:t>pyronaut create</a:t>
            </a:r>
            <a:r>
              <a:rPr sz="1050">
                <a:solidFill>
                  <a:srgbClr val="A9B7C4"/>
                </a:solidFill>
              </a:rPr>
              <a:t> → Micronaut Launch, Python-compatible features</a:t>
            </a:r>
          </a:p>
        </p:txBody>
      </p:sp>
      <p:sp>
        <p:nvSpPr>
          <p:cNvPr id="31" name="Rounded Rectangle 30"/>
          <p:cNvSpPr/>
          <p:nvPr/>
        </p:nvSpPr>
        <p:spPr>
          <a:xfrm>
            <a:off x="8366760" y="5806440"/>
            <a:ext cx="3063240" cy="411480"/>
          </a:xfrm>
          <a:prstGeom prst="roundRect">
            <a:avLst>
              <a:gd name="adj" fmla="val 17777"/>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l">
              <a:buNone/>
            </a:pPr>
            <a:r>
              <a:rPr sz="1050">
                <a:solidFill>
                  <a:srgbClr val="F0CC72"/>
                </a:solidFill>
                <a:latin typeface="Consolas"/>
              </a:rPr>
              <a:t>--tui</a:t>
            </a:r>
            <a:r>
              <a:rPr sz="1050">
                <a:solidFill>
                  <a:srgbClr val="A9B7C4"/>
                </a:solidFill>
              </a:rPr>
              <a:t> for an interactive terminal UI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pyproject.toml is the build file</a:t>
            </a:r>
          </a:p>
        </p:txBody>
      </p:sp>
      <p:sp>
        <p:nvSpPr>
          <p:cNvPr id="3" name="Text Placeholder 2"/>
          <p:cNvSpPr>
            <a:spLocks noGrp="1"/>
          </p:cNvSpPr>
          <p:nvPr>
            <p:ph type="body" idx="11" sz="quarter"/>
          </p:nvPr>
        </p:nvSpPr>
        <p:spPr/>
        <p:txBody>
          <a:bodyPr/>
          <a:lstStyle/>
          <a:p>
            <a:r>
              <a:t>Standard Python metadata, plus a </a:t>
            </a:r>
            <a:r>
              <a:rPr>
                <a:latin typeface="Consolas"/>
              </a:rPr>
              <a:t>[tool.pyronaut]</a:t>
            </a:r>
            <a:r>
              <a:t> table for the Java side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00200"/>
            <a:ext cx="5989320" cy="4572000"/>
          </a:xfrm>
          <a:prstGeom prst="roundRect">
            <a:avLst>
              <a:gd name="adj" fmla="val 12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768096" y="1600200"/>
            <a:ext cx="598932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896112"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9848"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9616" y="1600200"/>
            <a:ext cx="5120640" cy="274320"/>
          </a:xfrm>
          <a:prstGeom prst="rect">
            <a:avLst/>
          </a:prstGeom>
          <a:noFill/>
        </p:spPr>
        <p:txBody>
          <a:bodyPr wrap="square" lIns="0" rIns="0" tIns="0" bIns="0" anchor="ctr"/>
          <a:lstStyle/>
          <a:p>
            <a:pPr algn="r">
              <a:buNone/>
            </a:pPr>
            <a:r>
              <a:rPr sz="1050">
                <a:solidFill>
                  <a:srgbClr val="A9B7C4"/>
                </a:solidFill>
                <a:latin typeface="Consolas"/>
              </a:rPr>
              <a:t>pyproject.toml</a:t>
            </a:r>
          </a:p>
        </p:txBody>
      </p:sp>
      <p:sp>
        <p:nvSpPr>
          <p:cNvPr id="16" name="TextBox 15"/>
          <p:cNvSpPr txBox="1"/>
          <p:nvPr/>
        </p:nvSpPr>
        <p:spPr>
          <a:xfrm>
            <a:off x="932688" y="1984248"/>
            <a:ext cx="5715000" cy="4114800"/>
          </a:xfrm>
          <a:prstGeom prst="rect">
            <a:avLst/>
          </a:prstGeom>
          <a:noFill/>
        </p:spPr>
        <p:txBody>
          <a:bodyPr wrap="none" lIns="0" rIns="0" tIns="0" bIns="0"/>
          <a:lstStyle/>
          <a:p>
            <a:pPr>
              <a:lnSpc>
                <a:spcPct val="100000"/>
              </a:lnSpc>
              <a:buNone/>
            </a:pPr>
            <a:r>
              <a:rPr sz="1200">
                <a:solidFill>
                  <a:srgbClr val="F19111"/>
                </a:solidFill>
                <a:latin typeface="Consolas"/>
              </a:rPr>
              <a:t>[</a:t>
            </a:r>
            <a:r>
              <a:rPr sz="1200">
                <a:solidFill>
                  <a:srgbClr val="F19111"/>
                </a:solidFill>
                <a:latin typeface="Consolas"/>
              </a:rPr>
              <a:t>project</a:t>
            </a:r>
            <a:r>
              <a:rPr sz="1200">
                <a:solidFill>
                  <a:srgbClr val="F19111"/>
                </a:solidFill>
                <a:latin typeface="Consolas"/>
              </a:rPr>
              <a:t>]</a:t>
            </a:r>
          </a:p>
          <a:p>
            <a:pPr>
              <a:lnSpc>
                <a:spcPct val="100000"/>
              </a:lnSpc>
              <a:buNone/>
            </a:pPr>
            <a:r>
              <a:rPr sz="1200">
                <a:solidFill>
                  <a:srgbClr val="6DBEE7"/>
                </a:solidFill>
                <a:latin typeface="Consolas"/>
              </a:rPr>
              <a:t>name</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A5D6A7"/>
                </a:solidFill>
                <a:latin typeface="Consolas"/>
              </a:rPr>
              <a:t>"hello-pyronaut"</a:t>
            </a:r>
          </a:p>
          <a:p>
            <a:pPr>
              <a:lnSpc>
                <a:spcPct val="100000"/>
              </a:lnSpc>
              <a:buNone/>
            </a:pPr>
            <a:r>
              <a:rPr sz="1200">
                <a:solidFill>
                  <a:srgbClr val="6DBEE7"/>
                </a:solidFill>
                <a:latin typeface="Consolas"/>
              </a:rPr>
              <a:t>version</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A5D6A7"/>
                </a:solidFill>
                <a:latin typeface="Consolas"/>
              </a:rPr>
              <a:t>"0.1.0"</a:t>
            </a:r>
          </a:p>
          <a:p>
            <a:pPr>
              <a:lnSpc>
                <a:spcPct val="100000"/>
              </a:lnSpc>
              <a:buNone/>
            </a:pPr>
            <a:r>
              <a:rPr sz="1200">
                <a:solidFill>
                  <a:srgbClr val="6DBEE7"/>
                </a:solidFill>
                <a:latin typeface="Consolas"/>
              </a:rPr>
              <a:t>dependencies</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a:t>
            </a:r>
            <a:r>
              <a:rPr sz="1200">
                <a:solidFill>
                  <a:srgbClr val="A5D6A7"/>
                </a:solidFill>
                <a:latin typeface="Consolas"/>
              </a:rPr>
              <a:t>"pytest&gt;=8"</a:t>
            </a:r>
            <a:r>
              <a:rPr sz="1200">
                <a:solidFill>
                  <a:srgbClr val="D8E1E8"/>
                </a:solidFill>
                <a:latin typeface="Consolas"/>
              </a:rPr>
              <a:t>]</a:t>
            </a:r>
          </a:p>
          <a:p>
            <a:pPr>
              <a:lnSpc>
                <a:spcPct val="100000"/>
              </a:lnSpc>
              <a:buNone/>
            </a:pPr>
            <a:r>
              <a:rPr sz="1200">
                <a:latin typeface="Consolas"/>
              </a:rPr>
              <a:t> </a:t>
            </a:r>
          </a:p>
          <a:p>
            <a:pPr>
              <a:lnSpc>
                <a:spcPct val="100000"/>
              </a:lnSpc>
              <a:buNone/>
            </a:pPr>
            <a:r>
              <a:rPr sz="1200">
                <a:solidFill>
                  <a:srgbClr val="F19111"/>
                </a:solidFill>
                <a:latin typeface="Consolas"/>
              </a:rPr>
              <a:t>[</a:t>
            </a:r>
            <a:r>
              <a:rPr sz="1200">
                <a:solidFill>
                  <a:srgbClr val="F19111"/>
                </a:solidFill>
                <a:latin typeface="Consolas"/>
              </a:rPr>
              <a:t>tool</a:t>
            </a:r>
            <a:r>
              <a:rPr sz="1200">
                <a:solidFill>
                  <a:srgbClr val="F19111"/>
                </a:solidFill>
                <a:latin typeface="Consolas"/>
              </a:rPr>
              <a:t>.</a:t>
            </a:r>
            <a:r>
              <a:rPr sz="1200">
                <a:solidFill>
                  <a:srgbClr val="F19111"/>
                </a:solidFill>
                <a:latin typeface="Consolas"/>
              </a:rPr>
              <a:t>pyronaut</a:t>
            </a:r>
            <a:r>
              <a:rPr sz="1200">
                <a:solidFill>
                  <a:srgbClr val="F19111"/>
                </a:solidFill>
                <a:latin typeface="Consolas"/>
              </a:rPr>
              <a:t>]</a:t>
            </a:r>
          </a:p>
          <a:p>
            <a:pPr>
              <a:lnSpc>
                <a:spcPct val="100000"/>
              </a:lnSpc>
              <a:buNone/>
            </a:pPr>
            <a:r>
              <a:rPr sz="1200">
                <a:solidFill>
                  <a:srgbClr val="6DBEE7"/>
                </a:solidFill>
                <a:latin typeface="Consolas"/>
              </a:rPr>
              <a:t>repositories</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a:t>
            </a:r>
            <a:r>
              <a:rPr sz="1200">
                <a:solidFill>
                  <a:srgbClr val="A5D6A7"/>
                </a:solidFill>
                <a:latin typeface="Consolas"/>
              </a:rPr>
              <a:t>"mavenCentral"</a:t>
            </a:r>
            <a:r>
              <a:rPr sz="1200">
                <a:solidFill>
                  <a:srgbClr val="D8E1E8"/>
                </a:solidFill>
                <a:latin typeface="Consolas"/>
              </a:rPr>
              <a:t>]</a:t>
            </a:r>
          </a:p>
          <a:p>
            <a:pPr>
              <a:lnSpc>
                <a:spcPct val="100000"/>
              </a:lnSpc>
              <a:buNone/>
            </a:pPr>
            <a:r>
              <a:rPr sz="1200">
                <a:latin typeface="Consolas"/>
              </a:rPr>
              <a:t> </a:t>
            </a:r>
          </a:p>
          <a:p>
            <a:pPr>
              <a:lnSpc>
                <a:spcPct val="100000"/>
              </a:lnSpc>
              <a:buNone/>
            </a:pPr>
            <a:r>
              <a:rPr sz="1200">
                <a:solidFill>
                  <a:srgbClr val="F19111"/>
                </a:solidFill>
                <a:latin typeface="Consolas"/>
              </a:rPr>
              <a:t>[</a:t>
            </a:r>
            <a:r>
              <a:rPr sz="1200">
                <a:solidFill>
                  <a:srgbClr val="F19111"/>
                </a:solidFill>
                <a:latin typeface="Consolas"/>
              </a:rPr>
              <a:t>tool</a:t>
            </a:r>
            <a:r>
              <a:rPr sz="1200">
                <a:solidFill>
                  <a:srgbClr val="F19111"/>
                </a:solidFill>
                <a:latin typeface="Consolas"/>
              </a:rPr>
              <a:t>.</a:t>
            </a:r>
            <a:r>
              <a:rPr sz="1200">
                <a:solidFill>
                  <a:srgbClr val="F19111"/>
                </a:solidFill>
                <a:latin typeface="Consolas"/>
              </a:rPr>
              <a:t>pyronaut</a:t>
            </a:r>
            <a:r>
              <a:rPr sz="1200">
                <a:solidFill>
                  <a:srgbClr val="F19111"/>
                </a:solidFill>
                <a:latin typeface="Consolas"/>
              </a:rPr>
              <a:t>.</a:t>
            </a:r>
            <a:r>
              <a:rPr sz="1200">
                <a:solidFill>
                  <a:srgbClr val="F19111"/>
                </a:solidFill>
                <a:latin typeface="Consolas"/>
              </a:rPr>
              <a:t>dependencies</a:t>
            </a:r>
            <a:r>
              <a:rPr sz="1200">
                <a:solidFill>
                  <a:srgbClr val="F19111"/>
                </a:solidFill>
                <a:latin typeface="Consolas"/>
              </a:rPr>
              <a:t>]</a:t>
            </a:r>
          </a:p>
          <a:p>
            <a:pPr>
              <a:lnSpc>
                <a:spcPct val="100000"/>
              </a:lnSpc>
              <a:buNone/>
            </a:pPr>
            <a:r>
              <a:rPr sz="1200">
                <a:solidFill>
                  <a:srgbClr val="6DBEE7"/>
                </a:solidFill>
                <a:latin typeface="Consolas"/>
              </a:rPr>
              <a:t>runtime</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a:t>
            </a:r>
          </a:p>
          <a:p>
            <a:pPr>
              <a:lnSpc>
                <a:spcPct val="100000"/>
              </a:lnSpc>
              <a:buNone/>
            </a:pPr>
            <a:r>
              <a:rPr sz="1200">
                <a:solidFill>
                  <a:srgbClr val="D8E1E8"/>
                </a:solidFill>
                <a:latin typeface="Consolas"/>
              </a:rPr>
              <a:t>  </a:t>
            </a:r>
            <a:r>
              <a:rPr sz="1200">
                <a:solidFill>
                  <a:srgbClr val="A5D6A7"/>
                </a:solidFill>
                <a:latin typeface="Consolas"/>
              </a:rPr>
              <a:t>"io.micronaut:micronaut-http-server-netty"</a:t>
            </a:r>
            <a:r>
              <a:rPr sz="1200">
                <a:solidFill>
                  <a:srgbClr val="D8E1E8"/>
                </a:solidFill>
                <a:latin typeface="Consolas"/>
              </a:rPr>
              <a:t>,</a:t>
            </a:r>
          </a:p>
          <a:p>
            <a:pPr>
              <a:lnSpc>
                <a:spcPct val="100000"/>
              </a:lnSpc>
              <a:buNone/>
            </a:pPr>
            <a:r>
              <a:rPr sz="1200">
                <a:solidFill>
                  <a:srgbClr val="D8E1E8"/>
                </a:solidFill>
                <a:latin typeface="Consolas"/>
              </a:rPr>
              <a:t>  </a:t>
            </a:r>
            <a:r>
              <a:rPr sz="1200">
                <a:solidFill>
                  <a:srgbClr val="A5D6A7"/>
                </a:solidFill>
                <a:latin typeface="Consolas"/>
              </a:rPr>
              <a:t>"io.micronaut.serde:micronaut-serde-jackson"</a:t>
            </a:r>
            <a:r>
              <a:rPr sz="1200">
                <a:solidFill>
                  <a:srgbClr val="D8E1E8"/>
                </a:solidFill>
                <a:latin typeface="Consolas"/>
              </a:rPr>
              <a:t>,</a:t>
            </a:r>
          </a:p>
          <a:p>
            <a:pPr>
              <a:lnSpc>
                <a:spcPct val="100000"/>
              </a:lnSpc>
              <a:buNone/>
            </a:pPr>
            <a:r>
              <a:rPr sz="1200">
                <a:solidFill>
                  <a:srgbClr val="D8E1E8"/>
                </a:solidFill>
                <a:latin typeface="Consolas"/>
              </a:rPr>
              <a:t>]</a:t>
            </a:r>
          </a:p>
          <a:p>
            <a:pPr>
              <a:lnSpc>
                <a:spcPct val="100000"/>
              </a:lnSpc>
              <a:buNone/>
            </a:pPr>
            <a:r>
              <a:rPr sz="1200">
                <a:solidFill>
                  <a:srgbClr val="6DBEE7"/>
                </a:solidFill>
                <a:latin typeface="Consolas"/>
              </a:rPr>
              <a:t>build</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a:t>
            </a:r>
            <a:r>
              <a:rPr sz="1200">
                <a:solidFill>
                  <a:srgbClr val="A5D6A7"/>
                </a:solidFill>
                <a:latin typeface="Consolas"/>
              </a:rPr>
              <a:t>"io.micronaut.serde:micronaut-serde-processor"</a:t>
            </a:r>
            <a:r>
              <a:rPr sz="1200">
                <a:solidFill>
                  <a:srgbClr val="D8E1E8"/>
                </a:solidFill>
                <a:latin typeface="Consolas"/>
              </a:rPr>
              <a:t>]</a:t>
            </a:r>
          </a:p>
          <a:p>
            <a:pPr>
              <a:lnSpc>
                <a:spcPct val="100000"/>
              </a:lnSpc>
              <a:buNone/>
            </a:pPr>
            <a:r>
              <a:rPr sz="1200">
                <a:solidFill>
                  <a:srgbClr val="6DBEE7"/>
                </a:solidFill>
                <a:latin typeface="Consolas"/>
              </a:rPr>
              <a:t>test</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a:t>
            </a:r>
            <a:r>
              <a:rPr sz="1200">
                <a:solidFill>
                  <a:srgbClr val="A5D6A7"/>
                </a:solidFill>
                <a:latin typeface="Consolas"/>
              </a:rPr>
              <a:t>"io.micronaut.pyronaut:micronaut-pyronaut-pytest"</a:t>
            </a:r>
            <a:r>
              <a:rPr sz="1200">
                <a:solidFill>
                  <a:srgbClr val="D8E1E8"/>
                </a:solidFill>
                <a:latin typeface="Consolas"/>
              </a:rPr>
              <a:t>]</a:t>
            </a:r>
          </a:p>
          <a:p>
            <a:pPr>
              <a:lnSpc>
                <a:spcPct val="100000"/>
              </a:lnSpc>
              <a:buNone/>
            </a:pPr>
            <a:r>
              <a:rPr sz="1200">
                <a:latin typeface="Consolas"/>
              </a:rPr>
              <a:t> </a:t>
            </a:r>
          </a:p>
          <a:p>
            <a:pPr>
              <a:lnSpc>
                <a:spcPct val="100000"/>
              </a:lnSpc>
              <a:buNone/>
            </a:pPr>
            <a:r>
              <a:rPr sz="1200">
                <a:solidFill>
                  <a:srgbClr val="F19111"/>
                </a:solidFill>
                <a:latin typeface="Consolas"/>
              </a:rPr>
              <a:t>[</a:t>
            </a:r>
            <a:r>
              <a:rPr sz="1200">
                <a:solidFill>
                  <a:srgbClr val="F19111"/>
                </a:solidFill>
                <a:latin typeface="Consolas"/>
              </a:rPr>
              <a:t>tool</a:t>
            </a:r>
            <a:r>
              <a:rPr sz="1200">
                <a:solidFill>
                  <a:srgbClr val="F19111"/>
                </a:solidFill>
                <a:latin typeface="Consolas"/>
              </a:rPr>
              <a:t>.</a:t>
            </a:r>
            <a:r>
              <a:rPr sz="1200">
                <a:solidFill>
                  <a:srgbClr val="F19111"/>
                </a:solidFill>
                <a:latin typeface="Consolas"/>
              </a:rPr>
              <a:t>pyronaut</a:t>
            </a:r>
            <a:r>
              <a:rPr sz="1200">
                <a:solidFill>
                  <a:srgbClr val="F19111"/>
                </a:solidFill>
                <a:latin typeface="Consolas"/>
              </a:rPr>
              <a:t>.</a:t>
            </a:r>
            <a:r>
              <a:rPr sz="1200">
                <a:solidFill>
                  <a:srgbClr val="F19111"/>
                </a:solidFill>
                <a:latin typeface="Consolas"/>
              </a:rPr>
              <a:t>test</a:t>
            </a:r>
            <a:r>
              <a:rPr sz="1200">
                <a:solidFill>
                  <a:srgbClr val="F19111"/>
                </a:solidFill>
                <a:latin typeface="Consolas"/>
              </a:rPr>
              <a:t>]</a:t>
            </a:r>
          </a:p>
          <a:p>
            <a:pPr>
              <a:lnSpc>
                <a:spcPct val="100000"/>
              </a:lnSpc>
              <a:buNone/>
            </a:pPr>
            <a:r>
              <a:rPr sz="1200">
                <a:solidFill>
                  <a:srgbClr val="6DBEE7"/>
                </a:solidFill>
                <a:latin typeface="Consolas"/>
              </a:rPr>
              <a:t>engine</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A5D6A7"/>
                </a:solidFill>
                <a:latin typeface="Consolas"/>
              </a:rPr>
              <a:t>"both"</a:t>
            </a:r>
          </a:p>
        </p:txBody>
      </p:sp>
      <p:sp>
        <p:nvSpPr>
          <p:cNvPr id="17" name="Rounded Rectangle 16"/>
          <p:cNvSpPr/>
          <p:nvPr/>
        </p:nvSpPr>
        <p:spPr>
          <a:xfrm>
            <a:off x="7040880" y="1600200"/>
            <a:ext cx="4389120" cy="2926080"/>
          </a:xfrm>
          <a:prstGeom prst="roundRect">
            <a:avLst>
              <a:gd name="adj" fmla="val 1875"/>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Rectangle 17"/>
          <p:cNvSpPr/>
          <p:nvPr/>
        </p:nvSpPr>
        <p:spPr>
          <a:xfrm>
            <a:off x="7040880" y="1600200"/>
            <a:ext cx="438912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Oval 18"/>
          <p:cNvSpPr/>
          <p:nvPr/>
        </p:nvSpPr>
        <p:spPr>
          <a:xfrm>
            <a:off x="7168896"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42631"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6368"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1600200"/>
            <a:ext cx="3520439" cy="274320"/>
          </a:xfrm>
          <a:prstGeom prst="rect">
            <a:avLst/>
          </a:prstGeom>
          <a:noFill/>
        </p:spPr>
        <p:txBody>
          <a:bodyPr wrap="square" lIns="0" rIns="0" tIns="0" bIns="0" anchor="ctr"/>
          <a:lstStyle/>
          <a:p>
            <a:pPr algn="r">
              <a:buNone/>
            </a:pPr>
            <a:r>
              <a:rPr sz="1050">
                <a:solidFill>
                  <a:srgbClr val="A9B7C4"/>
                </a:solidFill>
                <a:latin typeface="Consolas"/>
              </a:rPr>
              <a:t>default layout</a:t>
            </a:r>
          </a:p>
        </p:txBody>
      </p:sp>
      <p:sp>
        <p:nvSpPr>
          <p:cNvPr id="23" name="TextBox 22"/>
          <p:cNvSpPr txBox="1"/>
          <p:nvPr/>
        </p:nvSpPr>
        <p:spPr>
          <a:xfrm>
            <a:off x="7205472" y="1984248"/>
            <a:ext cx="4114800" cy="2468880"/>
          </a:xfrm>
          <a:prstGeom prst="rect">
            <a:avLst/>
          </a:prstGeom>
          <a:noFill/>
        </p:spPr>
        <p:txBody>
          <a:bodyPr wrap="none" lIns="0" rIns="0" tIns="0" bIns="0"/>
          <a:lstStyle/>
          <a:p>
            <a:pPr>
              <a:lnSpc>
                <a:spcPct val="100000"/>
              </a:lnSpc>
              <a:buNone/>
            </a:pPr>
            <a:r>
              <a:rPr sz="1200">
                <a:solidFill>
                  <a:srgbClr val="D8E1E8"/>
                </a:solidFill>
                <a:latin typeface="Consolas"/>
              </a:rPr>
              <a:t>hello</a:t>
            </a:r>
            <a:r>
              <a:rPr sz="1200">
                <a:solidFill>
                  <a:srgbClr val="D8E1E8"/>
                </a:solidFill>
                <a:latin typeface="Consolas"/>
              </a:rPr>
              <a:t>-</a:t>
            </a:r>
            <a:r>
              <a:rPr sz="1200">
                <a:solidFill>
                  <a:srgbClr val="D8E1E8"/>
                </a:solidFill>
                <a:latin typeface="Consolas"/>
              </a:rPr>
              <a:t>pyronaut</a:t>
            </a:r>
            <a:r>
              <a:rPr sz="1200">
                <a:solidFill>
                  <a:srgbClr val="D8E1E8"/>
                </a:solidFill>
                <a:latin typeface="Consolas"/>
              </a:rPr>
              <a:t>/</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pyproject</a:t>
            </a:r>
            <a:r>
              <a:rPr sz="1200">
                <a:solidFill>
                  <a:srgbClr val="D8E1E8"/>
                </a:solidFill>
                <a:latin typeface="Consolas"/>
              </a:rPr>
              <a:t>.</a:t>
            </a:r>
            <a:r>
              <a:rPr sz="1200">
                <a:solidFill>
                  <a:srgbClr val="D8E1E8"/>
                </a:solidFill>
                <a:latin typeface="Consolas"/>
              </a:rPr>
              <a:t>toml</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src</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Python</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tests</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pytest</a:t>
            </a:r>
            <a:r>
              <a:rPr sz="1200">
                <a:solidFill>
                  <a:srgbClr val="D8E1E8"/>
                </a:solidFill>
                <a:latin typeface="Consolas"/>
              </a:rPr>
              <a:t> </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JUnit</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src</a:t>
            </a:r>
            <a:r>
              <a:rPr sz="1200">
                <a:solidFill>
                  <a:srgbClr val="D8E1E8"/>
                </a:solidFill>
                <a:latin typeface="Consolas"/>
              </a:rPr>
              <a:t>-</a:t>
            </a:r>
            <a:r>
              <a:rPr sz="1200">
                <a:solidFill>
                  <a:srgbClr val="D8E1E8"/>
                </a:solidFill>
                <a:latin typeface="Consolas"/>
              </a:rPr>
              <a:t>java</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optional</a:t>
            </a:r>
            <a:r>
              <a:rPr sz="1200">
                <a:solidFill>
                  <a:srgbClr val="D8E1E8"/>
                </a:solidFill>
                <a:latin typeface="Consolas"/>
              </a:rPr>
              <a:t> </a:t>
            </a:r>
            <a:r>
              <a:rPr sz="1200">
                <a:solidFill>
                  <a:srgbClr val="D8E1E8"/>
                </a:solidFill>
                <a:latin typeface="Consolas"/>
              </a:rPr>
              <a:t>Java</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test</a:t>
            </a:r>
            <a:r>
              <a:rPr sz="1200">
                <a:solidFill>
                  <a:srgbClr val="D8E1E8"/>
                </a:solidFill>
                <a:latin typeface="Consolas"/>
              </a:rPr>
              <a:t>-</a:t>
            </a:r>
            <a:r>
              <a:rPr sz="1200">
                <a:solidFill>
                  <a:srgbClr val="D8E1E8"/>
                </a:solidFill>
                <a:latin typeface="Consolas"/>
              </a:rPr>
              <a:t>java</a:t>
            </a:r>
            <a:r>
              <a:rPr sz="1200">
                <a:solidFill>
                  <a:srgbClr val="D8E1E8"/>
                </a:solidFill>
                <a:latin typeface="Consolas"/>
              </a:rPr>
              <a:t>/</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config</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application</a:t>
            </a:r>
            <a:r>
              <a:rPr sz="1200">
                <a:solidFill>
                  <a:srgbClr val="D8E1E8"/>
                </a:solidFill>
                <a:latin typeface="Consolas"/>
              </a:rPr>
              <a:t>.</a:t>
            </a:r>
            <a:r>
              <a:rPr sz="1200">
                <a:solidFill>
                  <a:srgbClr val="D8E1E8"/>
                </a:solidFill>
                <a:latin typeface="Consolas"/>
              </a:rPr>
              <a:t>toml</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tests</a:t>
            </a:r>
            <a:r>
              <a:rPr sz="1200">
                <a:solidFill>
                  <a:srgbClr val="D8E1E8"/>
                </a:solidFill>
                <a:latin typeface="Consolas"/>
              </a:rPr>
              <a:t>-</a:t>
            </a:r>
            <a:r>
              <a:rPr sz="1200">
                <a:solidFill>
                  <a:srgbClr val="D8E1E8"/>
                </a:solidFill>
                <a:latin typeface="Consolas"/>
              </a:rPr>
              <a:t>config</a:t>
            </a:r>
            <a:r>
              <a:rPr sz="1200">
                <a:solidFill>
                  <a:srgbClr val="D8E1E8"/>
                </a:solidFill>
                <a:latin typeface="Consolas"/>
              </a:rPr>
              <a:t>/</a:t>
            </a:r>
          </a:p>
          <a:p>
            <a:pPr>
              <a:lnSpc>
                <a:spcPct val="100000"/>
              </a:lnSpc>
              <a:buNone/>
            </a:pPr>
            <a:r>
              <a:rPr sz="1200">
                <a:solidFill>
                  <a:srgbClr val="7D8B98"/>
                </a:solidFill>
                <a:latin typeface="Consolas"/>
              </a:rPr>
              <a:t>└</a:t>
            </a:r>
            <a:r>
              <a:rPr sz="1200">
                <a:solidFill>
                  <a:srgbClr val="7D8B98"/>
                </a:solidFill>
                <a:latin typeface="Consolas"/>
              </a:rPr>
              <a:t>─</a:t>
            </a:r>
            <a:r>
              <a:rPr sz="1200">
                <a:solidFill>
                  <a:srgbClr val="7D8B98"/>
                </a:solidFill>
                <a:latin typeface="Consolas"/>
              </a:rPr>
              <a:t>─</a:t>
            </a:r>
            <a:r>
              <a:rPr sz="1200">
                <a:solidFill>
                  <a:srgbClr val="D8E1E8"/>
                </a:solidFill>
                <a:latin typeface="Consolas"/>
              </a:rPr>
              <a:t> </a:t>
            </a:r>
            <a:r>
              <a:rPr sz="1200">
                <a:solidFill>
                  <a:srgbClr val="D8E1E8"/>
                </a:solidFill>
                <a:latin typeface="Consolas"/>
              </a:rPr>
              <a:t>__pyronaut__</a:t>
            </a:r>
            <a:r>
              <a:rPr sz="1200">
                <a:solidFill>
                  <a:srgbClr val="D8E1E8"/>
                </a:solidFill>
                <a:latin typeface="Consolas"/>
              </a:rPr>
              <a:t>/</a:t>
            </a:r>
            <a:r>
              <a:rPr sz="1200">
                <a:solidFill>
                  <a:srgbClr val="D8E1E8"/>
                </a:solidFill>
                <a:latin typeface="Consolas"/>
              </a:rPr>
              <a:t>   </a:t>
            </a:r>
            <a:r>
              <a:rPr sz="1200">
                <a:solidFill>
                  <a:srgbClr val="D8E1E8"/>
                </a:solidFill>
                <a:latin typeface="Consolas"/>
              </a:rPr>
              <a:t>generated</a:t>
            </a:r>
          </a:p>
        </p:txBody>
      </p:sp>
      <p:sp>
        <p:nvSpPr>
          <p:cNvPr id="24" name="Rounded Rectangle 23"/>
          <p:cNvSpPr/>
          <p:nvPr/>
        </p:nvSpPr>
        <p:spPr>
          <a:xfrm>
            <a:off x="7040880" y="4709160"/>
            <a:ext cx="4389120" cy="658368"/>
          </a:xfrm>
          <a:prstGeom prst="roundRect">
            <a:avLst>
              <a:gd name="adj" fmla="val 1111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b="1">
                <a:solidFill>
                  <a:srgbClr val="F19111"/>
                </a:solidFill>
              </a:rPr>
              <a:t>Python packages</a:t>
            </a:r>
          </a:p>
          <a:p>
            <a:pPr algn="l">
              <a:buNone/>
            </a:pPr>
            <a:r>
              <a:rPr sz="1150">
                <a:solidFill>
                  <a:srgbClr val="A9B7C4"/>
                </a:solidFill>
              </a:rPr>
              <a:t>normal </a:t>
            </a:r>
            <a:r>
              <a:rPr sz="1150">
                <a:solidFill>
                  <a:srgbClr val="F0CC72"/>
                </a:solidFill>
                <a:latin typeface="Consolas"/>
              </a:rPr>
              <a:t>[project]</a:t>
            </a:r>
            <a:r>
              <a:rPr sz="1150">
                <a:solidFill>
                  <a:srgbClr val="A9B7C4"/>
                </a:solidFill>
              </a:rPr>
              <a:t> metadata, installed with pip</a:t>
            </a:r>
          </a:p>
        </p:txBody>
      </p:sp>
      <p:sp>
        <p:nvSpPr>
          <p:cNvPr id="25" name="Rounded Rectangle 24"/>
          <p:cNvSpPr/>
          <p:nvPr/>
        </p:nvSpPr>
        <p:spPr>
          <a:xfrm>
            <a:off x="7040880" y="5486400"/>
            <a:ext cx="4389120" cy="685800"/>
          </a:xfrm>
          <a:prstGeom prst="roundRect">
            <a:avLst>
              <a:gd name="adj" fmla="val 10666"/>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buNone/>
            </a:pPr>
            <a:r>
              <a:rPr sz="1250" b="1">
                <a:solidFill>
                  <a:srgbClr val="6DBEE7"/>
                </a:solidFill>
              </a:rPr>
              <a:t>Java libraries</a:t>
            </a:r>
          </a:p>
          <a:p>
            <a:pPr algn="l">
              <a:buNone/>
            </a:pPr>
            <a:r>
              <a:rPr sz="1150">
                <a:solidFill>
                  <a:srgbClr val="A9B7C4"/>
                </a:solidFill>
              </a:rPr>
              <a:t>Maven coordinates by scope; versions from Micronaut BOMs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Java dependencies without leaving Python</a:t>
            </a:r>
          </a:p>
        </p:txBody>
      </p:sp>
      <p:sp>
        <p:nvSpPr>
          <p:cNvPr id="3" name="Text Placeholder 2"/>
          <p:cNvSpPr>
            <a:spLocks noGrp="1"/>
          </p:cNvSpPr>
          <p:nvPr>
            <p:ph type="body" idx="11" sz="quarter"/>
          </p:nvPr>
        </p:nvSpPr>
        <p:spPr/>
        <p:txBody>
          <a:bodyPr/>
          <a:lstStyle/>
          <a:p>
            <a:r>
              <a:t>Direct-source apps declare Maven coordinates in the source file itself</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00200"/>
            <a:ext cx="6400800" cy="3520440"/>
          </a:xfrm>
          <a:prstGeom prst="roundRect">
            <a:avLst>
              <a:gd name="adj" fmla="val 1558"/>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768096" y="1600200"/>
            <a:ext cx="640080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896112"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9848"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9616" y="1600200"/>
            <a:ext cx="5532120" cy="274320"/>
          </a:xfrm>
          <a:prstGeom prst="rect">
            <a:avLst/>
          </a:prstGeom>
          <a:noFill/>
        </p:spPr>
        <p:txBody>
          <a:bodyPr wrap="square" lIns="0" rIns="0" tIns="0" bIns="0" anchor="ctr"/>
          <a:lstStyle/>
          <a:p>
            <a:pPr algn="r">
              <a:buNone/>
            </a:pPr>
            <a:r>
              <a:rPr sz="1050">
                <a:solidFill>
                  <a:srgbClr val="A9B7C4"/>
                </a:solidFill>
                <a:latin typeface="Consolas"/>
              </a:rPr>
              <a:t>app.py</a:t>
            </a:r>
          </a:p>
        </p:txBody>
      </p:sp>
      <p:sp>
        <p:nvSpPr>
          <p:cNvPr id="16" name="TextBox 15"/>
          <p:cNvSpPr txBox="1"/>
          <p:nvPr/>
        </p:nvSpPr>
        <p:spPr>
          <a:xfrm>
            <a:off x="932688" y="1984248"/>
            <a:ext cx="6126480" cy="3063240"/>
          </a:xfrm>
          <a:prstGeom prst="rect">
            <a:avLst/>
          </a:prstGeom>
          <a:noFill/>
        </p:spPr>
        <p:txBody>
          <a:bodyPr wrap="none" lIns="0" rIns="0" tIns="0" bIns="0"/>
          <a:lstStyle/>
          <a:p>
            <a:pPr>
              <a:lnSpc>
                <a:spcPct val="100000"/>
              </a:lnSpc>
              <a:buNone/>
            </a:pPr>
            <a:r>
              <a:rPr sz="1300">
                <a:solidFill>
                  <a:srgbClr val="F19111"/>
                </a:solidFill>
                <a:latin typeface="Consolas"/>
              </a:rPr>
              <a:t>from</a:t>
            </a:r>
            <a:r>
              <a:rPr sz="1300">
                <a:solidFill>
                  <a:srgbClr val="D8E1E8"/>
                </a:solidFill>
                <a:latin typeface="Consolas"/>
              </a:rPr>
              <a:t> </a:t>
            </a:r>
            <a:r>
              <a:rPr sz="1300">
                <a:solidFill>
                  <a:srgbClr val="D8E1E8"/>
                </a:solidFill>
                <a:latin typeface="Consolas"/>
              </a:rPr>
              <a:t>pyronaut</a:t>
            </a:r>
            <a:r>
              <a:rPr sz="1300">
                <a:solidFill>
                  <a:srgbClr val="D8E1E8"/>
                </a:solidFill>
                <a:latin typeface="Consolas"/>
              </a:rPr>
              <a:t>.</a:t>
            </a:r>
            <a:r>
              <a:rPr sz="1300">
                <a:solidFill>
                  <a:srgbClr val="D8E1E8"/>
                </a:solidFill>
                <a:latin typeface="Consolas"/>
              </a:rPr>
              <a:t>build</a:t>
            </a:r>
            <a:r>
              <a:rPr sz="1300">
                <a:solidFill>
                  <a:srgbClr val="D8E1E8"/>
                </a:solidFill>
                <a:latin typeface="Consolas"/>
              </a:rPr>
              <a:t> </a:t>
            </a:r>
            <a:r>
              <a:rPr sz="1300">
                <a:solidFill>
                  <a:srgbClr val="F19111"/>
                </a:solidFill>
                <a:latin typeface="Consolas"/>
              </a:rPr>
              <a:t>import</a:t>
            </a:r>
            <a:r>
              <a:rPr sz="1300">
                <a:solidFill>
                  <a:srgbClr val="D8E1E8"/>
                </a:solidFill>
                <a:latin typeface="Consolas"/>
              </a:rPr>
              <a:t> </a:t>
            </a:r>
            <a:r>
              <a:rPr sz="1300">
                <a:solidFill>
                  <a:srgbClr val="6DBEE7"/>
                </a:solidFill>
                <a:latin typeface="Consolas"/>
              </a:rPr>
              <a:t>Dependency</a:t>
            </a:r>
          </a:p>
          <a:p>
            <a:pPr>
              <a:lnSpc>
                <a:spcPct val="100000"/>
              </a:lnSpc>
              <a:buNone/>
            </a:pPr>
            <a:r>
              <a:rPr sz="1300">
                <a:solidFill>
                  <a:srgbClr val="F19111"/>
                </a:solidFill>
                <a:latin typeface="Consolas"/>
              </a:rPr>
              <a:t>from</a:t>
            </a:r>
            <a:r>
              <a:rPr sz="1300">
                <a:solidFill>
                  <a:srgbClr val="D8E1E8"/>
                </a:solidFill>
                <a:latin typeface="Consolas"/>
              </a:rPr>
              <a:t> </a:t>
            </a:r>
            <a:r>
              <a:rPr sz="1300">
                <a:solidFill>
                  <a:srgbClr val="D8E1E8"/>
                </a:solidFill>
                <a:latin typeface="Consolas"/>
              </a:rPr>
              <a:t>micronaut</a:t>
            </a:r>
            <a:r>
              <a:rPr sz="1300">
                <a:solidFill>
                  <a:srgbClr val="D8E1E8"/>
                </a:solidFill>
                <a:latin typeface="Consolas"/>
              </a:rPr>
              <a:t>.</a:t>
            </a:r>
            <a:r>
              <a:rPr sz="1300">
                <a:solidFill>
                  <a:srgbClr val="D8E1E8"/>
                </a:solidFill>
                <a:latin typeface="Consolas"/>
              </a:rPr>
              <a:t>http</a:t>
            </a:r>
            <a:r>
              <a:rPr sz="1300">
                <a:solidFill>
                  <a:srgbClr val="D8E1E8"/>
                </a:solidFill>
                <a:latin typeface="Consolas"/>
              </a:rPr>
              <a:t>.</a:t>
            </a:r>
            <a:r>
              <a:rPr sz="1300">
                <a:solidFill>
                  <a:srgbClr val="D8E1E8"/>
                </a:solidFill>
                <a:latin typeface="Consolas"/>
              </a:rPr>
              <a:t>annotation</a:t>
            </a:r>
            <a:r>
              <a:rPr sz="1300">
                <a:solidFill>
                  <a:srgbClr val="D8E1E8"/>
                </a:solidFill>
                <a:latin typeface="Consolas"/>
              </a:rPr>
              <a:t> </a:t>
            </a:r>
            <a:r>
              <a:rPr sz="1300">
                <a:solidFill>
                  <a:srgbClr val="F19111"/>
                </a:solidFill>
                <a:latin typeface="Consolas"/>
              </a:rPr>
              <a:t>import</a:t>
            </a:r>
            <a:r>
              <a:rPr sz="1300">
                <a:solidFill>
                  <a:srgbClr val="D8E1E8"/>
                </a:solidFill>
                <a:latin typeface="Consolas"/>
              </a:rPr>
              <a:t> </a:t>
            </a:r>
            <a:r>
              <a:rPr sz="1300">
                <a:solidFill>
                  <a:srgbClr val="6DBEE7"/>
                </a:solidFill>
                <a:latin typeface="Consolas"/>
              </a:rPr>
              <a:t>Get</a:t>
            </a:r>
          </a:p>
          <a:p>
            <a:pPr>
              <a:lnSpc>
                <a:spcPct val="100000"/>
              </a:lnSpc>
              <a:buNone/>
            </a:pPr>
            <a:r>
              <a:rPr sz="1300">
                <a:solidFill>
                  <a:srgbClr val="F19111"/>
                </a:solidFill>
                <a:latin typeface="Consolas"/>
              </a:rPr>
              <a:t>from</a:t>
            </a:r>
            <a:r>
              <a:rPr sz="1300">
                <a:solidFill>
                  <a:srgbClr val="D8E1E8"/>
                </a:solidFill>
                <a:latin typeface="Consolas"/>
              </a:rPr>
              <a:t> </a:t>
            </a:r>
            <a:r>
              <a:rPr sz="1300">
                <a:solidFill>
                  <a:srgbClr val="D8E1E8"/>
                </a:solidFill>
                <a:latin typeface="Consolas"/>
              </a:rPr>
              <a:t>org</a:t>
            </a:r>
            <a:r>
              <a:rPr sz="1300">
                <a:solidFill>
                  <a:srgbClr val="D8E1E8"/>
                </a:solidFill>
                <a:latin typeface="Consolas"/>
              </a:rPr>
              <a:t>.</a:t>
            </a:r>
            <a:r>
              <a:rPr sz="1300">
                <a:solidFill>
                  <a:srgbClr val="D8E1E8"/>
                </a:solidFill>
                <a:latin typeface="Consolas"/>
              </a:rPr>
              <a:t>apache</a:t>
            </a:r>
            <a:r>
              <a:rPr sz="1300">
                <a:solidFill>
                  <a:srgbClr val="D8E1E8"/>
                </a:solidFill>
                <a:latin typeface="Consolas"/>
              </a:rPr>
              <a:t>.</a:t>
            </a:r>
            <a:r>
              <a:rPr sz="1300">
                <a:solidFill>
                  <a:srgbClr val="D8E1E8"/>
                </a:solidFill>
                <a:latin typeface="Consolas"/>
              </a:rPr>
              <a:t>commons</a:t>
            </a:r>
            <a:r>
              <a:rPr sz="1300">
                <a:solidFill>
                  <a:srgbClr val="D8E1E8"/>
                </a:solidFill>
                <a:latin typeface="Consolas"/>
              </a:rPr>
              <a:t>.</a:t>
            </a:r>
            <a:r>
              <a:rPr sz="1300">
                <a:solidFill>
                  <a:srgbClr val="D8E1E8"/>
                </a:solidFill>
                <a:latin typeface="Consolas"/>
              </a:rPr>
              <a:t>lang3</a:t>
            </a:r>
            <a:r>
              <a:rPr sz="1300">
                <a:solidFill>
                  <a:srgbClr val="D8E1E8"/>
                </a:solidFill>
                <a:latin typeface="Consolas"/>
              </a:rPr>
              <a:t> </a:t>
            </a:r>
            <a:r>
              <a:rPr sz="1300">
                <a:solidFill>
                  <a:srgbClr val="F19111"/>
                </a:solidFill>
                <a:latin typeface="Consolas"/>
              </a:rPr>
              <a:t>import</a:t>
            </a:r>
            <a:r>
              <a:rPr sz="1300">
                <a:solidFill>
                  <a:srgbClr val="D8E1E8"/>
                </a:solidFill>
                <a:latin typeface="Consolas"/>
              </a:rPr>
              <a:t> </a:t>
            </a:r>
            <a:r>
              <a:rPr sz="1300">
                <a:solidFill>
                  <a:srgbClr val="6DBEE7"/>
                </a:solidFill>
                <a:latin typeface="Consolas"/>
              </a:rPr>
              <a:t>StringUtils</a:t>
            </a:r>
          </a:p>
          <a:p>
            <a:pPr>
              <a:lnSpc>
                <a:spcPct val="100000"/>
              </a:lnSpc>
              <a:buNone/>
            </a:pPr>
            <a:r>
              <a:rPr sz="1300">
                <a:latin typeface="Consolas"/>
              </a:rPr>
              <a:t> </a:t>
            </a:r>
          </a:p>
          <a:p>
            <a:pPr>
              <a:lnSpc>
                <a:spcPct val="100000"/>
              </a:lnSpc>
              <a:buNone/>
            </a:pPr>
            <a:r>
              <a:rPr sz="1300">
                <a:solidFill>
                  <a:srgbClr val="6DBEE7"/>
                </a:solidFill>
                <a:latin typeface="Consolas"/>
              </a:rPr>
              <a:t>Dependency</a:t>
            </a:r>
            <a:r>
              <a:rPr sz="1300">
                <a:solidFill>
                  <a:srgbClr val="D8E1E8"/>
                </a:solidFill>
                <a:latin typeface="Consolas"/>
              </a:rPr>
              <a:t>(</a:t>
            </a:r>
            <a:r>
              <a:rPr sz="1300">
                <a:solidFill>
                  <a:srgbClr val="D8E1E8"/>
                </a:solidFill>
                <a:latin typeface="Consolas"/>
              </a:rPr>
              <a:t>group</a:t>
            </a:r>
            <a:r>
              <a:rPr sz="1300">
                <a:solidFill>
                  <a:srgbClr val="D8E1E8"/>
                </a:solidFill>
                <a:latin typeface="Consolas"/>
              </a:rPr>
              <a:t>=</a:t>
            </a:r>
            <a:r>
              <a:rPr sz="1300">
                <a:solidFill>
                  <a:srgbClr val="A5D6A7"/>
                </a:solidFill>
                <a:latin typeface="Consolas"/>
              </a:rPr>
              <a:t>"org.apache.commons"</a:t>
            </a:r>
            <a:r>
              <a:rPr sz="1300">
                <a:solidFill>
                  <a:srgbClr val="D8E1E8"/>
                </a:solidFill>
                <a:latin typeface="Consolas"/>
              </a:rPr>
              <a:t>,</a:t>
            </a:r>
          </a:p>
          <a:p>
            <a:pPr>
              <a:lnSpc>
                <a:spcPct val="100000"/>
              </a:lnSpc>
              <a:buNone/>
            </a:pPr>
            <a:r>
              <a:rPr sz="1300">
                <a:solidFill>
                  <a:srgbClr val="D8E1E8"/>
                </a:solidFill>
                <a:latin typeface="Consolas"/>
              </a:rPr>
              <a:t>           </a:t>
            </a:r>
            <a:r>
              <a:rPr sz="1300">
                <a:solidFill>
                  <a:srgbClr val="D8E1E8"/>
                </a:solidFill>
                <a:latin typeface="Consolas"/>
              </a:rPr>
              <a:t>module</a:t>
            </a:r>
            <a:r>
              <a:rPr sz="1300">
                <a:solidFill>
                  <a:srgbClr val="D8E1E8"/>
                </a:solidFill>
                <a:latin typeface="Consolas"/>
              </a:rPr>
              <a:t>=</a:t>
            </a:r>
            <a:r>
              <a:rPr sz="1300">
                <a:solidFill>
                  <a:srgbClr val="A5D6A7"/>
                </a:solidFill>
                <a:latin typeface="Consolas"/>
              </a:rPr>
              <a:t>"commons-lang3"</a:t>
            </a:r>
            <a:r>
              <a:rPr sz="1300">
                <a:solidFill>
                  <a:srgbClr val="D8E1E8"/>
                </a:solidFill>
                <a:latin typeface="Consolas"/>
              </a:rPr>
              <a:t>,</a:t>
            </a:r>
            <a:r>
              <a:rPr sz="1300">
                <a:solidFill>
                  <a:srgbClr val="D8E1E8"/>
                </a:solidFill>
                <a:latin typeface="Consolas"/>
              </a:rPr>
              <a:t> </a:t>
            </a:r>
            <a:r>
              <a:rPr sz="1300">
                <a:solidFill>
                  <a:srgbClr val="D8E1E8"/>
                </a:solidFill>
                <a:latin typeface="Consolas"/>
              </a:rPr>
              <a:t>version</a:t>
            </a:r>
            <a:r>
              <a:rPr sz="1300">
                <a:solidFill>
                  <a:srgbClr val="D8E1E8"/>
                </a:solidFill>
                <a:latin typeface="Consolas"/>
              </a:rPr>
              <a:t>=</a:t>
            </a:r>
            <a:r>
              <a:rPr sz="1300">
                <a:solidFill>
                  <a:srgbClr val="A5D6A7"/>
                </a:solidFill>
                <a:latin typeface="Consolas"/>
              </a:rPr>
              <a:t>"3.20.0"</a:t>
            </a:r>
            <a:r>
              <a:rPr sz="1300">
                <a:solidFill>
                  <a:srgbClr val="D8E1E8"/>
                </a:solidFill>
                <a:latin typeface="Consolas"/>
              </a:rPr>
              <a:t>)</a:t>
            </a:r>
          </a:p>
          <a:p>
            <a:pPr>
              <a:lnSpc>
                <a:spcPct val="100000"/>
              </a:lnSpc>
              <a:buNone/>
            </a:pPr>
            <a:r>
              <a:rPr sz="1300">
                <a:latin typeface="Consolas"/>
              </a:rPr>
              <a:t> </a:t>
            </a:r>
          </a:p>
          <a:p>
            <a:pPr>
              <a:lnSpc>
                <a:spcPct val="100000"/>
              </a:lnSpc>
              <a:buNone/>
            </a:pPr>
            <a:r>
              <a:rPr sz="1300">
                <a:latin typeface="Consolas"/>
              </a:rPr>
              <a:t> </a:t>
            </a:r>
          </a:p>
          <a:p>
            <a:pPr>
              <a:lnSpc>
                <a:spcPct val="100000"/>
              </a:lnSpc>
              <a:buNone/>
            </a:pPr>
            <a:r>
              <a:rPr sz="1300">
                <a:solidFill>
                  <a:srgbClr val="F0CC72"/>
                </a:solidFill>
                <a:latin typeface="Consolas"/>
              </a:rPr>
              <a:t>@Get</a:t>
            </a:r>
            <a:r>
              <a:rPr sz="1300">
                <a:solidFill>
                  <a:srgbClr val="D8E1E8"/>
                </a:solidFill>
                <a:latin typeface="Consolas"/>
              </a:rPr>
              <a:t>(</a:t>
            </a:r>
            <a:r>
              <a:rPr sz="1300">
                <a:solidFill>
                  <a:srgbClr val="A5D6A7"/>
                </a:solidFill>
                <a:latin typeface="Consolas"/>
              </a:rPr>
              <a:t>"/hello/{name}"</a:t>
            </a:r>
            <a:r>
              <a:rPr sz="1300">
                <a:solidFill>
                  <a:srgbClr val="D8E1E8"/>
                </a:solidFill>
                <a:latin typeface="Consolas"/>
              </a:rPr>
              <a:t>)</a:t>
            </a:r>
          </a:p>
          <a:p>
            <a:pPr>
              <a:lnSpc>
                <a:spcPct val="100000"/>
              </a:lnSpc>
              <a:buNone/>
            </a:pPr>
            <a:r>
              <a:rPr sz="1300">
                <a:solidFill>
                  <a:srgbClr val="F19111"/>
                </a:solidFill>
                <a:latin typeface="Consolas"/>
              </a:rPr>
              <a:t>def</a:t>
            </a:r>
            <a:r>
              <a:rPr sz="1300">
                <a:solidFill>
                  <a:srgbClr val="D8E1E8"/>
                </a:solidFill>
                <a:latin typeface="Consolas"/>
              </a:rPr>
              <a:t> </a:t>
            </a:r>
            <a:r>
              <a:rPr sz="1300">
                <a:solidFill>
                  <a:srgbClr val="D8E1E8"/>
                </a:solidFill>
                <a:latin typeface="Consolas"/>
              </a:rPr>
              <a:t>hello</a:t>
            </a:r>
            <a:r>
              <a:rPr sz="1300">
                <a:solidFill>
                  <a:srgbClr val="D8E1E8"/>
                </a:solidFill>
                <a:latin typeface="Consolas"/>
              </a:rPr>
              <a:t>(</a:t>
            </a:r>
            <a:r>
              <a:rPr sz="1300">
                <a:solidFill>
                  <a:srgbClr val="D8E1E8"/>
                </a:solidFill>
                <a:latin typeface="Consolas"/>
              </a:rPr>
              <a:t>name</a:t>
            </a:r>
            <a:r>
              <a:rPr sz="1300">
                <a:solidFill>
                  <a:srgbClr val="D8E1E8"/>
                </a:solidFill>
                <a:latin typeface="Consolas"/>
              </a:rPr>
              <a:t>:</a:t>
            </a:r>
            <a:r>
              <a:rPr sz="1300">
                <a:solidFill>
                  <a:srgbClr val="D8E1E8"/>
                </a:solidFill>
                <a:latin typeface="Consolas"/>
              </a:rPr>
              <a:t> </a:t>
            </a:r>
            <a:r>
              <a:rPr sz="1300">
                <a:solidFill>
                  <a:srgbClr val="D8E1E8"/>
                </a:solidFill>
                <a:latin typeface="Consolas"/>
              </a:rPr>
              <a:t>str</a:t>
            </a:r>
            <a:r>
              <a:rPr sz="1300">
                <a:solidFill>
                  <a:srgbClr val="D8E1E8"/>
                </a:solidFill>
                <a:latin typeface="Consolas"/>
              </a:rPr>
              <a:t>)</a:t>
            </a:r>
            <a:r>
              <a:rPr sz="1300">
                <a:solidFill>
                  <a:srgbClr val="D8E1E8"/>
                </a:solidFill>
                <a:latin typeface="Consolas"/>
              </a:rPr>
              <a:t> </a:t>
            </a:r>
            <a:r>
              <a:rPr sz="1300">
                <a:solidFill>
                  <a:srgbClr val="D8E1E8"/>
                </a:solidFill>
                <a:latin typeface="Consolas"/>
              </a:rPr>
              <a:t>-</a:t>
            </a:r>
            <a:r>
              <a:rPr sz="1300">
                <a:solidFill>
                  <a:srgbClr val="D8E1E8"/>
                </a:solidFill>
                <a:latin typeface="Consolas"/>
              </a:rPr>
              <a:t>&gt;</a:t>
            </a:r>
            <a:r>
              <a:rPr sz="1300">
                <a:solidFill>
                  <a:srgbClr val="D8E1E8"/>
                </a:solidFill>
                <a:latin typeface="Consolas"/>
              </a:rPr>
              <a:t> </a:t>
            </a:r>
            <a:r>
              <a:rPr sz="1300">
                <a:solidFill>
                  <a:srgbClr val="D8E1E8"/>
                </a:solidFill>
                <a:latin typeface="Consolas"/>
              </a:rPr>
              <a:t>dict</a:t>
            </a:r>
            <a:r>
              <a:rPr sz="1300">
                <a:solidFill>
                  <a:srgbClr val="D8E1E8"/>
                </a:solidFill>
                <a:latin typeface="Consolas"/>
              </a:rPr>
              <a:t>[</a:t>
            </a:r>
            <a:r>
              <a:rPr sz="1300">
                <a:solidFill>
                  <a:srgbClr val="D8E1E8"/>
                </a:solidFill>
                <a:latin typeface="Consolas"/>
              </a:rPr>
              <a:t>str</a:t>
            </a:r>
            <a:r>
              <a:rPr sz="1300">
                <a:solidFill>
                  <a:srgbClr val="D8E1E8"/>
                </a:solidFill>
                <a:latin typeface="Consolas"/>
              </a:rPr>
              <a:t>,</a:t>
            </a:r>
            <a:r>
              <a:rPr sz="1300">
                <a:solidFill>
                  <a:srgbClr val="D8E1E8"/>
                </a:solidFill>
                <a:latin typeface="Consolas"/>
              </a:rPr>
              <a:t> </a:t>
            </a:r>
            <a:r>
              <a:rPr sz="1300">
                <a:solidFill>
                  <a:srgbClr val="D8E1E8"/>
                </a:solidFill>
                <a:latin typeface="Consolas"/>
              </a:rPr>
              <a:t>str</a:t>
            </a:r>
            <a:r>
              <a:rPr sz="1300">
                <a:solidFill>
                  <a:srgbClr val="D8E1E8"/>
                </a:solidFill>
                <a:latin typeface="Consolas"/>
              </a:rPr>
              <a:t>]</a:t>
            </a:r>
            <a:r>
              <a:rPr sz="1300">
                <a:solidFill>
                  <a:srgbClr val="D8E1E8"/>
                </a:solidFill>
                <a:latin typeface="Consolas"/>
              </a:rPr>
              <a:t>:</a:t>
            </a:r>
          </a:p>
          <a:p>
            <a:pPr>
              <a:lnSpc>
                <a:spcPct val="100000"/>
              </a:lnSpc>
              <a:buNone/>
            </a:pPr>
            <a:r>
              <a:rPr sz="1300">
                <a:solidFill>
                  <a:srgbClr val="D8E1E8"/>
                </a:solidFill>
                <a:latin typeface="Consolas"/>
              </a:rPr>
              <a:t>    </a:t>
            </a:r>
            <a:r>
              <a:rPr sz="1300">
                <a:solidFill>
                  <a:srgbClr val="F19111"/>
                </a:solidFill>
                <a:latin typeface="Consolas"/>
              </a:rPr>
              <a:t>return</a:t>
            </a:r>
            <a:r>
              <a:rPr sz="1300">
                <a:solidFill>
                  <a:srgbClr val="D8E1E8"/>
                </a:solidFill>
                <a:latin typeface="Consolas"/>
              </a:rPr>
              <a:t> </a:t>
            </a:r>
            <a:r>
              <a:rPr sz="1300">
                <a:solidFill>
                  <a:srgbClr val="D8E1E8"/>
                </a:solidFill>
                <a:latin typeface="Consolas"/>
              </a:rPr>
              <a:t>{</a:t>
            </a:r>
            <a:r>
              <a:rPr sz="1300">
                <a:solidFill>
                  <a:srgbClr val="A5D6A7"/>
                </a:solidFill>
                <a:latin typeface="Consolas"/>
              </a:rPr>
              <a:t>"greeting"</a:t>
            </a:r>
            <a:r>
              <a:rPr sz="1300">
                <a:solidFill>
                  <a:srgbClr val="D8E1E8"/>
                </a:solidFill>
                <a:latin typeface="Consolas"/>
              </a:rPr>
              <a:t>:</a:t>
            </a:r>
            <a:r>
              <a:rPr sz="1300">
                <a:solidFill>
                  <a:srgbClr val="D8E1E8"/>
                </a:solidFill>
                <a:latin typeface="Consolas"/>
              </a:rPr>
              <a:t> </a:t>
            </a:r>
            <a:r>
              <a:rPr sz="1300">
                <a:solidFill>
                  <a:srgbClr val="6DBEE7"/>
                </a:solidFill>
                <a:latin typeface="Consolas"/>
              </a:rPr>
              <a:t>StringUtils</a:t>
            </a:r>
            <a:r>
              <a:rPr sz="1300">
                <a:solidFill>
                  <a:srgbClr val="D8E1E8"/>
                </a:solidFill>
                <a:latin typeface="Consolas"/>
              </a:rPr>
              <a:t>.</a:t>
            </a:r>
            <a:r>
              <a:rPr sz="1300">
                <a:solidFill>
                  <a:srgbClr val="D8E1E8"/>
                </a:solidFill>
                <a:latin typeface="Consolas"/>
              </a:rPr>
              <a:t>capitalize</a:t>
            </a:r>
            <a:r>
              <a:rPr sz="1300">
                <a:solidFill>
                  <a:srgbClr val="D8E1E8"/>
                </a:solidFill>
                <a:latin typeface="Consolas"/>
              </a:rPr>
              <a:t>(</a:t>
            </a:r>
            <a:r>
              <a:rPr sz="1300">
                <a:solidFill>
                  <a:srgbClr val="D8E1E8"/>
                </a:solidFill>
                <a:latin typeface="Consolas"/>
              </a:rPr>
              <a:t>name</a:t>
            </a:r>
            <a:r>
              <a:rPr sz="1300">
                <a:solidFill>
                  <a:srgbClr val="D8E1E8"/>
                </a:solidFill>
                <a:latin typeface="Consolas"/>
              </a:rPr>
              <a:t>)</a:t>
            </a:r>
            <a:r>
              <a:rPr sz="1300">
                <a:solidFill>
                  <a:srgbClr val="D8E1E8"/>
                </a:solidFill>
                <a:latin typeface="Consolas"/>
              </a:rPr>
              <a:t>}</a:t>
            </a:r>
          </a:p>
        </p:txBody>
      </p:sp>
      <p:sp>
        <p:nvSpPr>
          <p:cNvPr id="17" name="Rounded Rectangle 16"/>
          <p:cNvSpPr/>
          <p:nvPr/>
        </p:nvSpPr>
        <p:spPr>
          <a:xfrm>
            <a:off x="768096" y="5303520"/>
            <a:ext cx="6400800" cy="868680"/>
          </a:xfrm>
          <a:prstGeom prst="roundRect">
            <a:avLst>
              <a:gd name="adj" fmla="val 6315"/>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TextBox 17"/>
          <p:cNvSpPr txBox="1"/>
          <p:nvPr/>
        </p:nvSpPr>
        <p:spPr>
          <a:xfrm>
            <a:off x="932688" y="5413248"/>
            <a:ext cx="6126480" cy="685800"/>
          </a:xfrm>
          <a:prstGeom prst="rect">
            <a:avLst/>
          </a:prstGeom>
          <a:noFill/>
        </p:spPr>
        <p:txBody>
          <a:bodyPr wrap="none" lIns="0" rIns="0" tIns="0" bIns="0"/>
          <a:lstStyle/>
          <a:p>
            <a:pPr>
              <a:lnSpc>
                <a:spcPct val="100000"/>
              </a:lnSpc>
              <a:buNone/>
            </a:pPr>
            <a:r>
              <a:rPr sz="1400">
                <a:solidFill>
                  <a:srgbClr val="7D8B98"/>
                </a:solidFill>
                <a:latin typeface="Consolas"/>
              </a:rPr>
              <a:t>$</a:t>
            </a:r>
            <a:r>
              <a:rPr sz="1400">
                <a:solidFill>
                  <a:srgbClr val="D8E1E8"/>
                </a:solidFill>
                <a:latin typeface="Consolas"/>
              </a:rPr>
              <a:t> </a:t>
            </a:r>
            <a:r>
              <a:rPr sz="1400">
                <a:solidFill>
                  <a:srgbClr val="F19111"/>
                </a:solidFill>
                <a:latin typeface="Consolas"/>
              </a:rPr>
              <a:t>pyronaut</a:t>
            </a:r>
            <a:r>
              <a:rPr sz="1400">
                <a:solidFill>
                  <a:srgbClr val="D8E1E8"/>
                </a:solidFill>
                <a:latin typeface="Consolas"/>
              </a:rPr>
              <a:t> </a:t>
            </a:r>
            <a:r>
              <a:rPr sz="1400">
                <a:solidFill>
                  <a:srgbClr val="D8E1E8"/>
                </a:solidFill>
                <a:latin typeface="Consolas"/>
              </a:rPr>
              <a:t>dev</a:t>
            </a:r>
            <a:r>
              <a:rPr sz="1400">
                <a:solidFill>
                  <a:srgbClr val="D8E1E8"/>
                </a:solidFill>
                <a:latin typeface="Consolas"/>
              </a:rPr>
              <a:t> </a:t>
            </a:r>
            <a:r>
              <a:rPr sz="1400">
                <a:solidFill>
                  <a:srgbClr val="D8E1E8"/>
                </a:solidFill>
                <a:latin typeface="Consolas"/>
              </a:rPr>
              <a:t>app</a:t>
            </a:r>
            <a:r>
              <a:rPr sz="1400">
                <a:solidFill>
                  <a:srgbClr val="D8E1E8"/>
                </a:solidFill>
                <a:latin typeface="Consolas"/>
              </a:rPr>
              <a:t>.</a:t>
            </a:r>
            <a:r>
              <a:rPr sz="1400">
                <a:solidFill>
                  <a:srgbClr val="D8E1E8"/>
                </a:solidFill>
                <a:latin typeface="Consolas"/>
              </a:rPr>
              <a:t>py</a:t>
            </a:r>
          </a:p>
        </p:txBody>
      </p:sp>
      <p:sp>
        <p:nvSpPr>
          <p:cNvPr id="19" name="Oval 18"/>
          <p:cNvSpPr/>
          <p:nvPr/>
        </p:nvSpPr>
        <p:spPr>
          <a:xfrm>
            <a:off x="7498079" y="1719072"/>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400" b="1">
                <a:solidFill>
                  <a:srgbClr val="1B222A"/>
                </a:solidFill>
              </a:rPr>
              <a:t>1</a:t>
            </a:r>
          </a:p>
        </p:txBody>
      </p:sp>
      <p:sp>
        <p:nvSpPr>
          <p:cNvPr id="20" name="TextBox 19"/>
          <p:cNvSpPr txBox="1"/>
          <p:nvPr/>
        </p:nvSpPr>
        <p:spPr>
          <a:xfrm>
            <a:off x="8092440" y="1645920"/>
            <a:ext cx="3383280" cy="347472"/>
          </a:xfrm>
          <a:prstGeom prst="rect">
            <a:avLst/>
          </a:prstGeom>
          <a:noFill/>
        </p:spPr>
        <p:txBody>
          <a:bodyPr wrap="square" lIns="0" rIns="0" tIns="0" bIns="0" anchor="t"/>
          <a:lstStyle/>
          <a:p>
            <a:pPr>
              <a:buNone/>
            </a:pPr>
            <a:r>
              <a:rPr sz="1500" b="1">
                <a:solidFill>
                  <a:srgbClr val="FFFFFF"/>
                </a:solidFill>
              </a:rPr>
              <a:t>Declared in source</a:t>
            </a:r>
          </a:p>
        </p:txBody>
      </p:sp>
      <p:sp>
        <p:nvSpPr>
          <p:cNvPr id="21" name="TextBox 20"/>
          <p:cNvSpPr txBox="1"/>
          <p:nvPr/>
        </p:nvSpPr>
        <p:spPr>
          <a:xfrm>
            <a:off x="8092440" y="2011680"/>
            <a:ext cx="3383280" cy="640080"/>
          </a:xfrm>
          <a:prstGeom prst="rect">
            <a:avLst/>
          </a:prstGeom>
          <a:noFill/>
        </p:spPr>
        <p:txBody>
          <a:bodyPr wrap="square" lIns="0" rIns="0" tIns="0" bIns="0" anchor="t"/>
          <a:lstStyle/>
          <a:p>
            <a:pPr>
              <a:buNone/>
            </a:pPr>
            <a:r>
              <a:rPr sz="1200">
                <a:solidFill>
                  <a:srgbClr val="F0CC72"/>
                </a:solidFill>
                <a:latin typeface="Consolas"/>
              </a:rPr>
              <a:t>Dependency</a:t>
            </a:r>
            <a:r>
              <a:rPr sz="1200">
                <a:solidFill>
                  <a:srgbClr val="A9B7C4"/>
                </a:solidFill>
              </a:rPr>
              <a:t>, </a:t>
            </a:r>
            <a:r>
              <a:rPr sz="1200">
                <a:solidFill>
                  <a:srgbClr val="F0CC72"/>
                </a:solidFill>
                <a:latin typeface="Consolas"/>
              </a:rPr>
              <a:t>AppConfig</a:t>
            </a:r>
            <a:r>
              <a:rPr sz="1200">
                <a:solidFill>
                  <a:srgbClr val="A9B7C4"/>
                </a:solidFill>
              </a:rPr>
              <a:t> and </a:t>
            </a:r>
            <a:r>
              <a:rPr sz="1200">
                <a:solidFill>
                  <a:srgbClr val="F0CC72"/>
                </a:solidFill>
                <a:latin typeface="Consolas"/>
              </a:rPr>
              <a:t>MavenRepository</a:t>
            </a:r>
            <a:r>
              <a:rPr sz="1200">
                <a:solidFill>
                  <a:srgbClr val="A9B7C4"/>
                </a:solidFill>
              </a:rPr>
              <a:t> calls, read statically</a:t>
            </a:r>
          </a:p>
        </p:txBody>
      </p:sp>
      <p:cxnSp>
        <p:nvCxnSpPr>
          <p:cNvPr id="22" name="Connector 21"/>
          <p:cNvCxnSpPr/>
          <p:nvPr/>
        </p:nvCxnSpPr>
        <p:spPr>
          <a:xfrm>
            <a:off x="7708392" y="2194560"/>
            <a:ext cx="0" cy="621792"/>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498079" y="2862072"/>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400" b="1">
                <a:solidFill>
                  <a:srgbClr val="1B222A"/>
                </a:solidFill>
              </a:rPr>
              <a:t>2</a:t>
            </a:r>
          </a:p>
        </p:txBody>
      </p:sp>
      <p:sp>
        <p:nvSpPr>
          <p:cNvPr id="24" name="TextBox 23"/>
          <p:cNvSpPr txBox="1"/>
          <p:nvPr/>
        </p:nvSpPr>
        <p:spPr>
          <a:xfrm>
            <a:off x="8092440" y="2788920"/>
            <a:ext cx="3383280" cy="347472"/>
          </a:xfrm>
          <a:prstGeom prst="rect">
            <a:avLst/>
          </a:prstGeom>
          <a:noFill/>
        </p:spPr>
        <p:txBody>
          <a:bodyPr wrap="square" lIns="0" rIns="0" tIns="0" bIns="0" anchor="t"/>
          <a:lstStyle/>
          <a:p>
            <a:pPr>
              <a:buNone/>
            </a:pPr>
            <a:r>
              <a:rPr sz="1500" b="1">
                <a:solidFill>
                  <a:srgbClr val="FFFFFF"/>
                </a:solidFill>
              </a:rPr>
              <a:t>Resolved like Maven</a:t>
            </a:r>
          </a:p>
        </p:txBody>
      </p:sp>
      <p:sp>
        <p:nvSpPr>
          <p:cNvPr id="25" name="TextBox 24"/>
          <p:cNvSpPr txBox="1"/>
          <p:nvPr/>
        </p:nvSpPr>
        <p:spPr>
          <a:xfrm>
            <a:off x="8092440" y="3154679"/>
            <a:ext cx="3383280" cy="640080"/>
          </a:xfrm>
          <a:prstGeom prst="rect">
            <a:avLst/>
          </a:prstGeom>
          <a:noFill/>
        </p:spPr>
        <p:txBody>
          <a:bodyPr wrap="square" lIns="0" rIns="0" tIns="0" bIns="0" anchor="t"/>
          <a:lstStyle/>
          <a:p>
            <a:pPr>
              <a:buNone/>
            </a:pPr>
            <a:r>
              <a:rPr sz="1200">
                <a:solidFill>
                  <a:srgbClr val="A9B7C4"/>
                </a:solidFill>
              </a:rPr>
              <a:t>scopes, BOMs, exclusions and repositories</a:t>
            </a:r>
          </a:p>
        </p:txBody>
      </p:sp>
      <p:cxnSp>
        <p:nvCxnSpPr>
          <p:cNvPr id="26" name="Connector 25"/>
          <p:cNvCxnSpPr/>
          <p:nvPr/>
        </p:nvCxnSpPr>
        <p:spPr>
          <a:xfrm>
            <a:off x="7708392" y="3337560"/>
            <a:ext cx="0" cy="621792"/>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498079" y="4005072"/>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400" b="1">
                <a:solidFill>
                  <a:srgbClr val="1B222A"/>
                </a:solidFill>
              </a:rPr>
              <a:t>3</a:t>
            </a:r>
          </a:p>
        </p:txBody>
      </p:sp>
      <p:sp>
        <p:nvSpPr>
          <p:cNvPr id="28" name="TextBox 27"/>
          <p:cNvSpPr txBox="1"/>
          <p:nvPr/>
        </p:nvSpPr>
        <p:spPr>
          <a:xfrm>
            <a:off x="8092440" y="3931920"/>
            <a:ext cx="3383280" cy="347472"/>
          </a:xfrm>
          <a:prstGeom prst="rect">
            <a:avLst/>
          </a:prstGeom>
          <a:noFill/>
        </p:spPr>
        <p:txBody>
          <a:bodyPr wrap="square" lIns="0" rIns="0" tIns="0" bIns="0" anchor="t"/>
          <a:lstStyle/>
          <a:p>
            <a:pPr>
              <a:buNone/>
            </a:pPr>
            <a:r>
              <a:rPr sz="1500" b="1">
                <a:solidFill>
                  <a:srgbClr val="FFFFFF"/>
                </a:solidFill>
              </a:rPr>
              <a:t>Fingerprinted and cached</a:t>
            </a:r>
          </a:p>
        </p:txBody>
      </p:sp>
      <p:sp>
        <p:nvSpPr>
          <p:cNvPr id="29" name="TextBox 28"/>
          <p:cNvSpPr txBox="1"/>
          <p:nvPr/>
        </p:nvSpPr>
        <p:spPr>
          <a:xfrm>
            <a:off x="8092440" y="4297680"/>
            <a:ext cx="3383280" cy="640080"/>
          </a:xfrm>
          <a:prstGeom prst="rect">
            <a:avLst/>
          </a:prstGeom>
          <a:noFill/>
        </p:spPr>
        <p:txBody>
          <a:bodyPr wrap="square" lIns="0" rIns="0" tIns="0" bIns="0" anchor="t"/>
          <a:lstStyle/>
          <a:p>
            <a:pPr>
              <a:buNone/>
            </a:pPr>
            <a:r>
              <a:rPr sz="1200">
                <a:solidFill>
                  <a:srgbClr val="A9B7C4"/>
                </a:solidFill>
              </a:rPr>
              <a:t>in </a:t>
            </a:r>
            <a:r>
              <a:rPr sz="1200">
                <a:solidFill>
                  <a:srgbClr val="F0CC72"/>
                </a:solidFill>
                <a:latin typeface="Consolas"/>
              </a:rPr>
              <a:t>__pyronaut__</a:t>
            </a:r>
            <a:r>
              <a:rPr sz="1200">
                <a:solidFill>
                  <a:srgbClr val="A9B7C4"/>
                </a:solidFill>
              </a:rPr>
              <a:t>; unchanged inputs skip resolution</a:t>
            </a:r>
          </a:p>
        </p:txBody>
      </p:sp>
      <p:cxnSp>
        <p:nvCxnSpPr>
          <p:cNvPr id="30" name="Connector 29"/>
          <p:cNvCxnSpPr/>
          <p:nvPr/>
        </p:nvCxnSpPr>
        <p:spPr>
          <a:xfrm>
            <a:off x="7708392" y="4480559"/>
            <a:ext cx="0" cy="621793"/>
          </a:xfrm>
          <a:prstGeom prst="line">
            <a:avLst/>
          </a:prstGeom>
          <a:ln w="15875">
            <a:solidFill>
              <a:srgbClr val="5B6874"/>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498079" y="5148072"/>
            <a:ext cx="420624" cy="420624"/>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400" b="1">
                <a:solidFill>
                  <a:srgbClr val="1B222A"/>
                </a:solidFill>
              </a:rPr>
              <a:t>4</a:t>
            </a:r>
          </a:p>
        </p:txBody>
      </p:sp>
      <p:sp>
        <p:nvSpPr>
          <p:cNvPr id="32" name="TextBox 31"/>
          <p:cNvSpPr txBox="1"/>
          <p:nvPr/>
        </p:nvSpPr>
        <p:spPr>
          <a:xfrm>
            <a:off x="8092440" y="5074920"/>
            <a:ext cx="3383280" cy="347472"/>
          </a:xfrm>
          <a:prstGeom prst="rect">
            <a:avLst/>
          </a:prstGeom>
          <a:noFill/>
        </p:spPr>
        <p:txBody>
          <a:bodyPr wrap="square" lIns="0" rIns="0" tIns="0" bIns="0" anchor="t"/>
          <a:lstStyle/>
          <a:p>
            <a:pPr>
              <a:buNone/>
            </a:pPr>
            <a:r>
              <a:rPr sz="1500" b="1">
                <a:solidFill>
                  <a:srgbClr val="FFFFFF"/>
                </a:solidFill>
              </a:rPr>
              <a:t>Test Resources when needed</a:t>
            </a:r>
          </a:p>
        </p:txBody>
      </p:sp>
      <p:sp>
        <p:nvSpPr>
          <p:cNvPr id="33" name="TextBox 32"/>
          <p:cNvSpPr txBox="1"/>
          <p:nvPr/>
        </p:nvSpPr>
        <p:spPr>
          <a:xfrm>
            <a:off x="8092440" y="5440680"/>
            <a:ext cx="3383280" cy="640080"/>
          </a:xfrm>
          <a:prstGeom prst="rect">
            <a:avLst/>
          </a:prstGeom>
          <a:noFill/>
        </p:spPr>
        <p:txBody>
          <a:bodyPr wrap="square" lIns="0" rIns="0" tIns="0" bIns="0" anchor="t"/>
          <a:lstStyle/>
          <a:p>
            <a:pPr>
              <a:buNone/>
            </a:pPr>
            <a:r>
              <a:rPr sz="1200">
                <a:solidFill>
                  <a:srgbClr val="A9B7C4"/>
                </a:solidFill>
              </a:rPr>
              <a:t>a provider supplies missing config — e.g. a MySQL URL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pytest, running on the JUnit Platform</a:t>
            </a:r>
          </a:p>
        </p:txBody>
      </p:sp>
      <p:sp>
        <p:nvSpPr>
          <p:cNvPr id="3" name="Text Placeholder 2"/>
          <p:cNvSpPr>
            <a:spLocks noGrp="1"/>
          </p:cNvSpPr>
          <p:nvPr>
            <p:ph type="body" idx="11" sz="quarter"/>
          </p:nvPr>
        </p:nvSpPr>
        <p:spPr/>
        <p:txBody>
          <a:bodyPr/>
          <a:lstStyle/>
          <a:p>
            <a:r>
              <a:t>One </a:t>
            </a:r>
            <a:r>
              <a:rPr>
                <a:latin typeface="Consolas"/>
              </a:rPr>
              <a:t>pyronaut test</a:t>
            </a:r>
            <a:r>
              <a:t> run for Python and Java tests, with a real Micronaut context</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00200"/>
            <a:ext cx="5943600" cy="4572000"/>
          </a:xfrm>
          <a:prstGeom prst="roundRect">
            <a:avLst>
              <a:gd name="adj" fmla="val 12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1" name="Rectangle 10"/>
          <p:cNvSpPr/>
          <p:nvPr/>
        </p:nvSpPr>
        <p:spPr>
          <a:xfrm>
            <a:off x="768096" y="1600200"/>
            <a:ext cx="5943600" cy="274320"/>
          </a:xfrm>
          <a:prstGeom prst="rect">
            <a:avLst/>
          </a:prstGeom>
          <a:solidFill>
            <a:srgbClr val="2F3A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2" name="Oval 11"/>
          <p:cNvSpPr/>
          <p:nvPr/>
        </p:nvSpPr>
        <p:spPr>
          <a:xfrm>
            <a:off x="896112" y="1687068"/>
            <a:ext cx="100584" cy="100584"/>
          </a:xfrm>
          <a:prstGeom prst="ellipse">
            <a:avLst/>
          </a:prstGeom>
          <a:solidFill>
            <a:srgbClr val="E06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9848" y="1687068"/>
            <a:ext cx="100584" cy="100584"/>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 y="1687068"/>
            <a:ext cx="100584" cy="100584"/>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9616" y="1600200"/>
            <a:ext cx="5074920" cy="274320"/>
          </a:xfrm>
          <a:prstGeom prst="rect">
            <a:avLst/>
          </a:prstGeom>
          <a:noFill/>
        </p:spPr>
        <p:txBody>
          <a:bodyPr wrap="square" lIns="0" rIns="0" tIns="0" bIns="0" anchor="ctr"/>
          <a:lstStyle/>
          <a:p>
            <a:pPr algn="r">
              <a:buNone/>
            </a:pPr>
            <a:r>
              <a:rPr sz="1050">
                <a:solidFill>
                  <a:srgbClr val="A9B7C4"/>
                </a:solidFill>
                <a:latin typeface="Consolas"/>
              </a:rPr>
              <a:t>tests/test_app.py</a:t>
            </a:r>
          </a:p>
        </p:txBody>
      </p:sp>
      <p:sp>
        <p:nvSpPr>
          <p:cNvPr id="16" name="TextBox 15"/>
          <p:cNvSpPr txBox="1"/>
          <p:nvPr/>
        </p:nvSpPr>
        <p:spPr>
          <a:xfrm>
            <a:off x="932688" y="1984248"/>
            <a:ext cx="5669280" cy="4114800"/>
          </a:xfrm>
          <a:prstGeom prst="rect">
            <a:avLst/>
          </a:prstGeom>
          <a:noFill/>
        </p:spPr>
        <p:txBody>
          <a:bodyPr wrap="none" lIns="0" rIns="0" tIns="0" bIns="0"/>
          <a:lstStyle/>
          <a:p>
            <a:pPr>
              <a:lnSpc>
                <a:spcPct val="100000"/>
              </a:lnSpc>
              <a:buNone/>
            </a:pPr>
            <a:r>
              <a:rPr sz="1150">
                <a:solidFill>
                  <a:srgbClr val="F19111"/>
                </a:solidFill>
                <a:latin typeface="Consolas"/>
              </a:rPr>
              <a:t>import</a:t>
            </a:r>
            <a:r>
              <a:rPr sz="1150">
                <a:solidFill>
                  <a:srgbClr val="D8E1E8"/>
                </a:solidFill>
                <a:latin typeface="Consolas"/>
              </a:rPr>
              <a:t> </a:t>
            </a:r>
            <a:r>
              <a:rPr sz="1150">
                <a:solidFill>
                  <a:srgbClr val="D8E1E8"/>
                </a:solidFill>
                <a:latin typeface="Consolas"/>
              </a:rPr>
              <a:t>pytest</a:t>
            </a:r>
          </a:p>
          <a:p>
            <a:pPr>
              <a:lnSpc>
                <a:spcPct val="100000"/>
              </a:lnSpc>
              <a:buNone/>
            </a:pPr>
            <a:r>
              <a:rPr sz="1150">
                <a:solidFill>
                  <a:srgbClr val="F19111"/>
                </a:solidFill>
                <a:latin typeface="Consolas"/>
              </a:rPr>
              <a:t>from</a:t>
            </a:r>
            <a:r>
              <a:rPr sz="1150">
                <a:solidFill>
                  <a:srgbClr val="D8E1E8"/>
                </a:solidFill>
                <a:latin typeface="Consolas"/>
              </a:rPr>
              <a:t> </a:t>
            </a:r>
            <a:r>
              <a:rPr sz="1150">
                <a:solidFill>
                  <a:srgbClr val="D8E1E8"/>
                </a:solidFill>
                <a:latin typeface="Consolas"/>
              </a:rPr>
              <a:t>pyronaut</a:t>
            </a:r>
            <a:r>
              <a:rPr sz="1150">
                <a:solidFill>
                  <a:srgbClr val="D8E1E8"/>
                </a:solidFill>
                <a:latin typeface="Consolas"/>
              </a:rPr>
              <a:t>.</a:t>
            </a:r>
            <a:r>
              <a:rPr sz="1150">
                <a:solidFill>
                  <a:srgbClr val="D8E1E8"/>
                </a:solidFill>
                <a:latin typeface="Consolas"/>
              </a:rPr>
              <a:t>test</a:t>
            </a:r>
            <a:r>
              <a:rPr sz="1150">
                <a:solidFill>
                  <a:srgbClr val="D8E1E8"/>
                </a:solidFill>
                <a:latin typeface="Consolas"/>
              </a:rPr>
              <a:t> </a:t>
            </a:r>
            <a:r>
              <a:rPr sz="1150">
                <a:solidFill>
                  <a:srgbClr val="F19111"/>
                </a:solidFill>
                <a:latin typeface="Consolas"/>
              </a:rPr>
              <a:t>import</a:t>
            </a:r>
            <a:r>
              <a:rPr sz="1150">
                <a:solidFill>
                  <a:srgbClr val="D8E1E8"/>
                </a:solidFill>
                <a:latin typeface="Consolas"/>
              </a:rPr>
              <a:t> </a:t>
            </a:r>
            <a:r>
              <a:rPr sz="1150">
                <a:solidFill>
                  <a:srgbClr val="6DBEE7"/>
                </a:solidFill>
                <a:latin typeface="Consolas"/>
              </a:rPr>
              <a:t>MicronautTest</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micronaut_test_fixture</a:t>
            </a:r>
          </a:p>
          <a:p>
            <a:pPr>
              <a:lnSpc>
                <a:spcPct val="100000"/>
              </a:lnSpc>
              <a:buNone/>
            </a:pPr>
            <a:r>
              <a:rPr sz="1150">
                <a:latin typeface="Consolas"/>
              </a:rPr>
              <a:t> </a:t>
            </a:r>
          </a:p>
          <a:p>
            <a:pPr>
              <a:lnSpc>
                <a:spcPct val="100000"/>
              </a:lnSpc>
              <a:buNone/>
            </a:pPr>
            <a:r>
              <a:rPr sz="1150">
                <a:latin typeface="Consolas"/>
              </a:rPr>
              <a:t> </a:t>
            </a:r>
          </a:p>
          <a:p>
            <a:pPr>
              <a:lnSpc>
                <a:spcPct val="100000"/>
              </a:lnSpc>
              <a:buNone/>
            </a:pPr>
            <a:r>
              <a:rPr sz="1150">
                <a:solidFill>
                  <a:srgbClr val="F0CC72"/>
                </a:solidFill>
                <a:latin typeface="Consolas"/>
              </a:rPr>
              <a:t>@pytest.fixture</a:t>
            </a:r>
          </a:p>
          <a:p>
            <a:pPr>
              <a:lnSpc>
                <a:spcPct val="100000"/>
              </a:lnSpc>
              <a:buNone/>
            </a:pPr>
            <a:r>
              <a:rPr sz="1150">
                <a:solidFill>
                  <a:srgbClr val="F19111"/>
                </a:solidFill>
                <a:latin typeface="Consolas"/>
              </a:rPr>
              <a:t>def</a:t>
            </a:r>
            <a:r>
              <a:rPr sz="1150">
                <a:solidFill>
                  <a:srgbClr val="D8E1E8"/>
                </a:solidFill>
                <a:latin typeface="Consolas"/>
              </a:rPr>
              <a:t> </a:t>
            </a:r>
            <a:r>
              <a:rPr sz="1150">
                <a:solidFill>
                  <a:srgbClr val="D8E1E8"/>
                </a:solidFill>
                <a:latin typeface="Consolas"/>
              </a:rPr>
              <a:t>ctx</a:t>
            </a:r>
            <a:r>
              <a:rPr sz="1150">
                <a:solidFill>
                  <a:srgbClr val="D8E1E8"/>
                </a:solidFill>
                <a:latin typeface="Consolas"/>
              </a:rPr>
              <a:t>(</a:t>
            </a:r>
            <a:r>
              <a:rPr sz="1150">
                <a:solidFill>
                  <a:srgbClr val="D8E1E8"/>
                </a:solidFill>
                <a:latin typeface="Consolas"/>
              </a:rPr>
              <a:t>request</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fixture</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micronaut_test_fixture</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request</a:t>
            </a:r>
            <a:r>
              <a:rPr sz="1150">
                <a:solidFill>
                  <a:srgbClr val="D8E1E8"/>
                </a:solidFill>
                <a:latin typeface="Consolas"/>
              </a:rPr>
              <a:t>,</a:t>
            </a:r>
            <a:r>
              <a:rPr sz="1150">
                <a:solidFill>
                  <a:srgbClr val="D8E1E8"/>
                </a:solidFill>
                <a:latin typeface="Consolas"/>
              </a:rPr>
              <a:t> </a:t>
            </a:r>
            <a:r>
              <a:rPr sz="1150">
                <a:solidFill>
                  <a:srgbClr val="6DBEE7"/>
                </a:solidFill>
                <a:latin typeface="Consolas"/>
              </a:rPr>
              <a:t>MicronautTest</a:t>
            </a:r>
            <a:r>
              <a:rPr sz="1150">
                <a:solidFill>
                  <a:srgbClr val="D8E1E8"/>
                </a:solidFill>
                <a:latin typeface="Consolas"/>
              </a:rPr>
              <a:t>(</a:t>
            </a:r>
            <a:r>
              <a:rPr sz="1150">
                <a:solidFill>
                  <a:srgbClr val="D8E1E8"/>
                </a:solidFill>
                <a:latin typeface="Consolas"/>
              </a:rPr>
              <a:t>environments</a:t>
            </a:r>
            <a:r>
              <a:rPr sz="1150">
                <a:solidFill>
                  <a:srgbClr val="D8E1E8"/>
                </a:solidFill>
                <a:latin typeface="Consolas"/>
              </a:rPr>
              <a:t>=</a:t>
            </a:r>
            <a:r>
              <a:rPr sz="1150">
                <a:solidFill>
                  <a:srgbClr val="D8E1E8"/>
                </a:solidFill>
                <a:latin typeface="Consolas"/>
              </a:rPr>
              <a:t>[</a:t>
            </a:r>
            <a:r>
              <a:rPr sz="1150">
                <a:solidFill>
                  <a:srgbClr val="A5D6A7"/>
                </a:solidFill>
                <a:latin typeface="Consolas"/>
              </a:rPr>
              <a:t>"test"</a:t>
            </a:r>
            <a:r>
              <a:rPr sz="1150">
                <a:solidFill>
                  <a:srgbClr val="D8E1E8"/>
                </a:solidFill>
                <a:latin typeface="Consolas"/>
              </a:rPr>
              <a:t>]</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yield</a:t>
            </a:r>
            <a:r>
              <a:rPr sz="1150">
                <a:solidFill>
                  <a:srgbClr val="D8E1E8"/>
                </a:solidFill>
                <a:latin typeface="Consolas"/>
              </a:rPr>
              <a:t> </a:t>
            </a:r>
            <a:r>
              <a:rPr sz="1150">
                <a:solidFill>
                  <a:srgbClr val="D8E1E8"/>
                </a:solidFill>
                <a:latin typeface="Consolas"/>
              </a:rPr>
              <a:t>fixture</a:t>
            </a:r>
          </a:p>
          <a:p>
            <a:pPr>
              <a:lnSpc>
                <a:spcPct val="100000"/>
              </a:lnSpc>
              <a:buNone/>
            </a:pPr>
            <a:r>
              <a:rPr sz="1150">
                <a:solidFill>
                  <a:srgbClr val="D8E1E8"/>
                </a:solidFill>
                <a:latin typeface="Consolas"/>
              </a:rPr>
              <a:t>    </a:t>
            </a:r>
            <a:r>
              <a:rPr sz="1150">
                <a:solidFill>
                  <a:srgbClr val="D8E1E8"/>
                </a:solidFill>
                <a:latin typeface="Consolas"/>
              </a:rPr>
              <a:t>fixture</a:t>
            </a:r>
            <a:r>
              <a:rPr sz="1150">
                <a:solidFill>
                  <a:srgbClr val="D8E1E8"/>
                </a:solidFill>
                <a:latin typeface="Consolas"/>
              </a:rPr>
              <a:t>.</a:t>
            </a:r>
            <a:r>
              <a:rPr sz="1150">
                <a:solidFill>
                  <a:srgbClr val="D8E1E8"/>
                </a:solidFill>
                <a:latin typeface="Consolas"/>
              </a:rPr>
              <a:t>stop</a:t>
            </a:r>
            <a:r>
              <a:rPr sz="1150">
                <a:solidFill>
                  <a:srgbClr val="D8E1E8"/>
                </a:solidFill>
                <a:latin typeface="Consolas"/>
              </a:rPr>
              <a:t>(</a:t>
            </a:r>
            <a:r>
              <a:rPr sz="1150">
                <a:solidFill>
                  <a:srgbClr val="D8E1E8"/>
                </a:solidFill>
                <a:latin typeface="Consolas"/>
              </a:rPr>
              <a:t>)</a:t>
            </a:r>
          </a:p>
          <a:p>
            <a:pPr>
              <a:lnSpc>
                <a:spcPct val="100000"/>
              </a:lnSpc>
              <a:buNone/>
            </a:pPr>
            <a:r>
              <a:rPr sz="1150">
                <a:latin typeface="Consolas"/>
              </a:rPr>
              <a:t> </a:t>
            </a:r>
          </a:p>
          <a:p>
            <a:pPr>
              <a:lnSpc>
                <a:spcPct val="100000"/>
              </a:lnSpc>
              <a:buNone/>
            </a:pPr>
            <a:r>
              <a:rPr sz="1150">
                <a:latin typeface="Consolas"/>
              </a:rPr>
              <a:t> </a:t>
            </a:r>
          </a:p>
          <a:p>
            <a:pPr>
              <a:lnSpc>
                <a:spcPct val="100000"/>
              </a:lnSpc>
              <a:buNone/>
            </a:pPr>
            <a:r>
              <a:rPr sz="1150">
                <a:solidFill>
                  <a:srgbClr val="F19111"/>
                </a:solidFill>
                <a:latin typeface="Consolas"/>
              </a:rPr>
              <a:t>def</a:t>
            </a:r>
            <a:r>
              <a:rPr sz="1150">
                <a:solidFill>
                  <a:srgbClr val="D8E1E8"/>
                </a:solidFill>
                <a:latin typeface="Consolas"/>
              </a:rPr>
              <a:t> </a:t>
            </a:r>
            <a:r>
              <a:rPr sz="1150">
                <a:solidFill>
                  <a:srgbClr val="D8E1E8"/>
                </a:solidFill>
                <a:latin typeface="Consolas"/>
              </a:rPr>
              <a:t>test_environment</a:t>
            </a:r>
            <a:r>
              <a:rPr sz="1150">
                <a:solidFill>
                  <a:srgbClr val="D8E1E8"/>
                </a:solidFill>
                <a:latin typeface="Consolas"/>
              </a:rPr>
              <a:t>(</a:t>
            </a:r>
            <a:r>
              <a:rPr sz="1150">
                <a:solidFill>
                  <a:srgbClr val="D8E1E8"/>
                </a:solidFill>
                <a:latin typeface="Consolas"/>
              </a:rPr>
              <a:t>ctx</a:t>
            </a:r>
            <a:r>
              <a:rPr sz="1150">
                <a:solidFill>
                  <a:srgbClr val="D8E1E8"/>
                </a:solidFill>
                <a:latin typeface="Consolas"/>
              </a:rPr>
              <a:t>)</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env</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D8E1E8"/>
                </a:solidFill>
                <a:latin typeface="Consolas"/>
              </a:rPr>
              <a:t>ctx</a:t>
            </a:r>
            <a:r>
              <a:rPr sz="1150">
                <a:solidFill>
                  <a:srgbClr val="D8E1E8"/>
                </a:solidFill>
                <a:latin typeface="Consolas"/>
              </a:rPr>
              <a:t>[</a:t>
            </a:r>
            <a:r>
              <a:rPr sz="1150">
                <a:solidFill>
                  <a:srgbClr val="A5D6A7"/>
                </a:solidFill>
                <a:latin typeface="Consolas"/>
              </a:rPr>
              <a:t>"io.micronaut.context.env.Environment"</a:t>
            </a:r>
            <a:r>
              <a:rPr sz="1150">
                <a:solidFill>
                  <a:srgbClr val="D8E1E8"/>
                </a:solidFill>
                <a:latin typeface="Consolas"/>
              </a:rPr>
              <a:t>]</a:t>
            </a:r>
          </a:p>
          <a:p>
            <a:pPr>
              <a:lnSpc>
                <a:spcPct val="100000"/>
              </a:lnSpc>
              <a:buNone/>
            </a:pPr>
            <a:r>
              <a:rPr sz="1150">
                <a:solidFill>
                  <a:srgbClr val="D8E1E8"/>
                </a:solidFill>
                <a:latin typeface="Consolas"/>
              </a:rPr>
              <a:t>    </a:t>
            </a:r>
            <a:r>
              <a:rPr sz="1150">
                <a:solidFill>
                  <a:srgbClr val="D8E1E8"/>
                </a:solidFill>
                <a:latin typeface="Consolas"/>
              </a:rPr>
              <a:t>assert</a:t>
            </a:r>
            <a:r>
              <a:rPr sz="1150">
                <a:solidFill>
                  <a:srgbClr val="D8E1E8"/>
                </a:solidFill>
                <a:latin typeface="Consolas"/>
              </a:rPr>
              <a:t> </a:t>
            </a:r>
            <a:r>
              <a:rPr sz="1150">
                <a:solidFill>
                  <a:srgbClr val="A5D6A7"/>
                </a:solidFill>
                <a:latin typeface="Consolas"/>
              </a:rPr>
              <a:t>"test"</a:t>
            </a:r>
            <a:r>
              <a:rPr sz="1150">
                <a:solidFill>
                  <a:srgbClr val="D8E1E8"/>
                </a:solidFill>
                <a:latin typeface="Consolas"/>
              </a:rPr>
              <a:t> </a:t>
            </a:r>
            <a:r>
              <a:rPr sz="1150">
                <a:solidFill>
                  <a:srgbClr val="F19111"/>
                </a:solidFill>
                <a:latin typeface="Consolas"/>
              </a:rPr>
              <a:t>in</a:t>
            </a:r>
            <a:r>
              <a:rPr sz="1150">
                <a:solidFill>
                  <a:srgbClr val="D8E1E8"/>
                </a:solidFill>
                <a:latin typeface="Consolas"/>
              </a:rPr>
              <a:t> </a:t>
            </a:r>
            <a:r>
              <a:rPr sz="1150">
                <a:solidFill>
                  <a:srgbClr val="D8E1E8"/>
                </a:solidFill>
                <a:latin typeface="Consolas"/>
              </a:rPr>
              <a:t>env</a:t>
            </a:r>
            <a:r>
              <a:rPr sz="1150">
                <a:solidFill>
                  <a:srgbClr val="D8E1E8"/>
                </a:solidFill>
                <a:latin typeface="Consolas"/>
              </a:rPr>
              <a:t>.</a:t>
            </a:r>
            <a:r>
              <a:rPr sz="1150">
                <a:solidFill>
                  <a:srgbClr val="D8E1E8"/>
                </a:solidFill>
                <a:latin typeface="Consolas"/>
              </a:rPr>
              <a:t>getActiveNames</a:t>
            </a:r>
            <a:r>
              <a:rPr sz="1150">
                <a:solidFill>
                  <a:srgbClr val="D8E1E8"/>
                </a:solidFill>
                <a:latin typeface="Consolas"/>
              </a:rPr>
              <a:t>(</a:t>
            </a:r>
            <a:r>
              <a:rPr sz="1150">
                <a:solidFill>
                  <a:srgbClr val="D8E1E8"/>
                </a:solidFill>
                <a:latin typeface="Consolas"/>
              </a:rPr>
              <a:t>)</a:t>
            </a:r>
          </a:p>
        </p:txBody>
      </p:sp>
      <p:sp>
        <p:nvSpPr>
          <p:cNvPr id="17" name="Rounded Rectangle 16"/>
          <p:cNvSpPr/>
          <p:nvPr/>
        </p:nvSpPr>
        <p:spPr>
          <a:xfrm>
            <a:off x="7040880" y="1600200"/>
            <a:ext cx="4389120" cy="566928"/>
          </a:xfrm>
          <a:prstGeom prst="roundRect">
            <a:avLst>
              <a:gd name="adj" fmla="val 12903"/>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400" b="1">
                <a:solidFill>
                  <a:srgbClr val="F19111"/>
                </a:solidFill>
                <a:latin typeface="Consolas"/>
              </a:rPr>
              <a:t>pyronaut test</a:t>
            </a:r>
          </a:p>
        </p:txBody>
      </p:sp>
      <p:cxnSp>
        <p:nvCxnSpPr>
          <p:cNvPr id="18" name="Connector 17"/>
          <p:cNvCxnSpPr/>
          <p:nvPr/>
        </p:nvCxnSpPr>
        <p:spPr>
          <a:xfrm>
            <a:off x="9235440" y="2194560"/>
            <a:ext cx="0" cy="256032"/>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040880" y="2468880"/>
            <a:ext cx="4389120" cy="548640"/>
          </a:xfrm>
          <a:prstGeom prst="roundRect">
            <a:avLst>
              <a:gd name="adj" fmla="val 13333"/>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b="1">
                <a:solidFill>
                  <a:srgbClr val="FFFFFF"/>
                </a:solidFill>
              </a:rPr>
              <a:t>JUnit Platform launcher</a:t>
            </a:r>
          </a:p>
        </p:txBody>
      </p:sp>
      <p:cxnSp>
        <p:nvCxnSpPr>
          <p:cNvPr id="20" name="Connector 19"/>
          <p:cNvCxnSpPr/>
          <p:nvPr/>
        </p:nvCxnSpPr>
        <p:spPr>
          <a:xfrm>
            <a:off x="8138160" y="3044952"/>
            <a:ext cx="0" cy="246888"/>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332720" y="3044952"/>
            <a:ext cx="0" cy="246888"/>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040880" y="3310128"/>
            <a:ext cx="2103120" cy="1325880"/>
          </a:xfrm>
          <a:prstGeom prst="roundRect">
            <a:avLst>
              <a:gd name="adj" fmla="val 5517"/>
            </a:avLst>
          </a:prstGeom>
          <a:solidFill>
            <a:srgbClr val="25303A"/>
          </a:solidFill>
          <a:ln w="13970">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400"/>
              </a:spcBef>
              <a:buNone/>
            </a:pPr>
            <a:r>
              <a:rPr sz="1300" b="1">
                <a:solidFill>
                  <a:srgbClr val="FFFFFF"/>
                </a:solidFill>
              </a:rPr>
              <a:t>JUnit Jupiter</a:t>
            </a:r>
          </a:p>
          <a:p>
            <a:pPr algn="ctr">
              <a:buNone/>
            </a:pPr>
            <a:r>
              <a:rPr sz="1050">
                <a:solidFill>
                  <a:srgbClr val="A9B7C4"/>
                </a:solidFill>
              </a:rPr>
              <a:t>Java tests, and JUnit-style Python modules</a:t>
            </a:r>
          </a:p>
        </p:txBody>
      </p:sp>
      <p:sp>
        <p:nvSpPr>
          <p:cNvPr id="23" name="Rounded Rectangle 22"/>
          <p:cNvSpPr/>
          <p:nvPr/>
        </p:nvSpPr>
        <p:spPr>
          <a:xfrm>
            <a:off x="9326880" y="3310128"/>
            <a:ext cx="2103120" cy="1325880"/>
          </a:xfrm>
          <a:prstGeom prst="roundRect">
            <a:avLst>
              <a:gd name="adj" fmla="val 5517"/>
            </a:avLst>
          </a:prstGeom>
          <a:solidFill>
            <a:srgbClr val="2E3B47"/>
          </a:solidFill>
          <a:ln w="1905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Bef>
                <a:spcPts val="400"/>
              </a:spcBef>
              <a:buNone/>
            </a:pPr>
            <a:r>
              <a:rPr sz="1300" b="1">
                <a:solidFill>
                  <a:srgbClr val="FFFFFF"/>
                </a:solidFill>
              </a:rPr>
              <a:t>PytestTestEngine</a:t>
            </a:r>
          </a:p>
          <a:p>
            <a:pPr algn="ctr">
              <a:buNone/>
            </a:pPr>
            <a:r>
              <a:rPr sz="1050">
                <a:solidFill>
                  <a:srgbClr val="A9B7C4"/>
                </a:solidFill>
              </a:rPr>
              <a:t>discovers tests from the Python AST; runs pytest in GraalPy</a:t>
            </a:r>
          </a:p>
        </p:txBody>
      </p:sp>
      <p:sp>
        <p:nvSpPr>
          <p:cNvPr id="24" name="Rounded Rectangle 23"/>
          <p:cNvSpPr/>
          <p:nvPr/>
        </p:nvSpPr>
        <p:spPr>
          <a:xfrm>
            <a:off x="7040880" y="4892040"/>
            <a:ext cx="1371600" cy="420624"/>
          </a:xfrm>
          <a:prstGeom prst="roundRect">
            <a:avLst>
              <a:gd name="adj" fmla="val 50000"/>
            </a:avLst>
          </a:prstGeom>
          <a:solidFill>
            <a:srgbClr val="25303A"/>
          </a:solidFill>
          <a:ln w="15875">
            <a:solidFill>
              <a:srgbClr val="A9B7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00" b="0">
                <a:solidFill>
                  <a:srgbClr val="FFFFFF"/>
                </a:solidFill>
              </a:rPr>
              <a:t>JUnit XML reports</a:t>
            </a:r>
          </a:p>
        </p:txBody>
      </p:sp>
      <p:sp>
        <p:nvSpPr>
          <p:cNvPr id="25" name="Rounded Rectangle 24"/>
          <p:cNvSpPr/>
          <p:nvPr/>
        </p:nvSpPr>
        <p:spPr>
          <a:xfrm>
            <a:off x="8503920" y="4892040"/>
            <a:ext cx="1600200" cy="420624"/>
          </a:xfrm>
          <a:prstGeom prst="roundRect">
            <a:avLst>
              <a:gd name="adj" fmla="val 50000"/>
            </a:avLst>
          </a:prstGeom>
          <a:solidFill>
            <a:srgbClr val="25303A"/>
          </a:solidFill>
          <a:ln w="15875">
            <a:solidFill>
              <a:srgbClr val="A9B7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00" b="0">
                <a:solidFill>
                  <a:srgbClr val="FFFFFF"/>
                </a:solidFill>
              </a:rPr>
              <a:t>VS Code Test Explorer</a:t>
            </a:r>
          </a:p>
        </p:txBody>
      </p:sp>
      <p:sp>
        <p:nvSpPr>
          <p:cNvPr id="26" name="Rounded Rectangle 25"/>
          <p:cNvSpPr/>
          <p:nvPr/>
        </p:nvSpPr>
        <p:spPr>
          <a:xfrm>
            <a:off x="10195560" y="4892040"/>
            <a:ext cx="1234440" cy="420624"/>
          </a:xfrm>
          <a:prstGeom prst="roundRect">
            <a:avLst>
              <a:gd name="adj" fmla="val 50000"/>
            </a:avLst>
          </a:prstGeom>
          <a:solidFill>
            <a:srgbClr val="25303A"/>
          </a:solidFill>
          <a:ln w="15875">
            <a:solidFill>
              <a:srgbClr val="A9B7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00" b="0">
                <a:solidFill>
                  <a:srgbClr val="FFFFFF"/>
                </a:solidFill>
              </a:rPr>
              <a:t>Test Resources</a:t>
            </a:r>
          </a:p>
        </p:txBody>
      </p:sp>
      <p:sp>
        <p:nvSpPr>
          <p:cNvPr id="27" name="Rounded Rectangle 26"/>
          <p:cNvSpPr/>
          <p:nvPr/>
        </p:nvSpPr>
        <p:spPr>
          <a:xfrm>
            <a:off x="7040880" y="5486400"/>
            <a:ext cx="4389120" cy="685800"/>
          </a:xfrm>
          <a:prstGeom prst="roundRect">
            <a:avLst>
              <a:gd name="adj" fmla="val 80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8" name="TextBox 27"/>
          <p:cNvSpPr txBox="1"/>
          <p:nvPr/>
        </p:nvSpPr>
        <p:spPr>
          <a:xfrm>
            <a:off x="7205472" y="5596128"/>
            <a:ext cx="4114800" cy="502920"/>
          </a:xfrm>
          <a:prstGeom prst="rect">
            <a:avLst/>
          </a:prstGeom>
          <a:noFill/>
        </p:spPr>
        <p:txBody>
          <a:bodyPr wrap="none" lIns="0" rIns="0" tIns="0" bIns="0"/>
          <a:lstStyle/>
          <a:p>
            <a:pPr>
              <a:lnSpc>
                <a:spcPct val="100000"/>
              </a:lnSpc>
              <a:buNone/>
            </a:pPr>
            <a:r>
              <a:rPr sz="1100">
                <a:solidFill>
                  <a:srgbClr val="F19111"/>
                </a:solidFill>
                <a:latin typeface="Consolas"/>
              </a:rPr>
              <a:t>[</a:t>
            </a:r>
            <a:r>
              <a:rPr sz="1100">
                <a:solidFill>
                  <a:srgbClr val="F19111"/>
                </a:solidFill>
                <a:latin typeface="Consolas"/>
              </a:rPr>
              <a:t>tool</a:t>
            </a:r>
            <a:r>
              <a:rPr sz="1100">
                <a:solidFill>
                  <a:srgbClr val="F19111"/>
                </a:solidFill>
                <a:latin typeface="Consolas"/>
              </a:rPr>
              <a:t>.</a:t>
            </a:r>
            <a:r>
              <a:rPr sz="1100">
                <a:solidFill>
                  <a:srgbClr val="F19111"/>
                </a:solidFill>
                <a:latin typeface="Consolas"/>
              </a:rPr>
              <a:t>pyronaut</a:t>
            </a:r>
            <a:r>
              <a:rPr sz="1100">
                <a:solidFill>
                  <a:srgbClr val="F19111"/>
                </a:solidFill>
                <a:latin typeface="Consolas"/>
              </a:rPr>
              <a:t>.</a:t>
            </a:r>
            <a:r>
              <a:rPr sz="1100">
                <a:solidFill>
                  <a:srgbClr val="F19111"/>
                </a:solidFill>
                <a:latin typeface="Consolas"/>
              </a:rPr>
              <a:t>test</a:t>
            </a:r>
            <a:r>
              <a:rPr sz="1100">
                <a:solidFill>
                  <a:srgbClr val="F19111"/>
                </a:solidFill>
                <a:latin typeface="Consolas"/>
              </a:rPr>
              <a:t>]</a:t>
            </a:r>
          </a:p>
          <a:p>
            <a:pPr>
              <a:lnSpc>
                <a:spcPct val="100000"/>
              </a:lnSpc>
              <a:buNone/>
            </a:pPr>
            <a:r>
              <a:rPr sz="1100">
                <a:solidFill>
                  <a:srgbClr val="6DBEE7"/>
                </a:solidFill>
                <a:latin typeface="Consolas"/>
              </a:rPr>
              <a:t>engine</a:t>
            </a:r>
            <a:r>
              <a:rPr sz="1100">
                <a:solidFill>
                  <a:srgbClr val="D8E1E8"/>
                </a:solidFill>
                <a:latin typeface="Consolas"/>
              </a:rPr>
              <a:t> </a:t>
            </a:r>
            <a:r>
              <a:rPr sz="1100">
                <a:solidFill>
                  <a:srgbClr val="D8E1E8"/>
                </a:solidFill>
                <a:latin typeface="Consolas"/>
              </a:rPr>
              <a:t>=</a:t>
            </a:r>
            <a:r>
              <a:rPr sz="1100">
                <a:solidFill>
                  <a:srgbClr val="D8E1E8"/>
                </a:solidFill>
                <a:latin typeface="Consolas"/>
              </a:rPr>
              <a:t> </a:t>
            </a:r>
            <a:r>
              <a:rPr sz="1100">
                <a:solidFill>
                  <a:srgbClr val="A5D6A7"/>
                </a:solidFill>
                <a:latin typeface="Consolas"/>
              </a:rPr>
              <a:t>"both"</a:t>
            </a:r>
            <a:r>
              <a:rPr sz="1100">
                <a:solidFill>
                  <a:srgbClr val="D8E1E8"/>
                </a:solidFill>
                <a:latin typeface="Consolas"/>
              </a:rPr>
              <a:t>   </a:t>
            </a:r>
            <a:r>
              <a:rPr sz="1100">
                <a:solidFill>
                  <a:srgbClr val="D8E1E8"/>
                </a:solidFill>
                <a:latin typeface="Consolas"/>
              </a:rPr>
              <a:t># junit|pytest|both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Keeping the inner loop fast</a:t>
            </a:r>
          </a:p>
        </p:txBody>
      </p:sp>
      <p:sp>
        <p:nvSpPr>
          <p:cNvPr id="3" name="Text Placeholder 2"/>
          <p:cNvSpPr>
            <a:spLocks noGrp="1"/>
          </p:cNvSpPr>
          <p:nvPr>
            <p:ph type="body" idx="11" sz="quarter"/>
          </p:nvPr>
        </p:nvSpPr>
        <p:spPr/>
        <p:txBody>
          <a:bodyPr/>
          <a:lstStyle/>
          <a:p>
            <a:r>
              <a:t>Starting GraalPy inside javac isn’t free — so we try never to do it twice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45920"/>
            <a:ext cx="2560320" cy="2011680"/>
          </a:xfrm>
          <a:prstGeom prst="roundRect">
            <a:avLst>
              <a:gd name="adj" fmla="val 3636"/>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600"/>
              </a:spcAft>
              <a:buNone/>
            </a:pPr>
            <a:r>
              <a:rPr sz="1500" b="1">
                <a:solidFill>
                  <a:srgbClr val="F19111"/>
                </a:solidFill>
              </a:rPr>
              <a:t>Incremental processing</a:t>
            </a:r>
          </a:p>
          <a:p>
            <a:pPr algn="l">
              <a:buNone/>
            </a:pPr>
            <a:r>
              <a:rPr sz="1250">
                <a:solidFill>
                  <a:srgbClr val="FFFFFF"/>
                </a:solidFill>
              </a:rPr>
              <a:t>Only affected sources are reprocessed; conservative or optimistic mode for Python</a:t>
            </a:r>
          </a:p>
        </p:txBody>
      </p:sp>
      <p:sp>
        <p:nvSpPr>
          <p:cNvPr id="11" name="Rounded Rectangle 10"/>
          <p:cNvSpPr/>
          <p:nvPr/>
        </p:nvSpPr>
        <p:spPr>
          <a:xfrm>
            <a:off x="3511296" y="1645920"/>
            <a:ext cx="2560320" cy="2011680"/>
          </a:xfrm>
          <a:prstGeom prst="roundRect">
            <a:avLst>
              <a:gd name="adj" fmla="val 3636"/>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600"/>
              </a:spcAft>
              <a:buNone/>
            </a:pPr>
            <a:r>
              <a:rPr sz="1500" b="1">
                <a:solidFill>
                  <a:srgbClr val="F19111"/>
                </a:solidFill>
              </a:rPr>
              <a:t>Compiler daemon</a:t>
            </a:r>
          </a:p>
          <a:p>
            <a:pPr algn="l">
              <a:buNone/>
            </a:pPr>
            <a:r>
              <a:rPr sz="1250">
                <a:solidFill>
                  <a:srgbClr val="FFFFFF"/>
                </a:solidFill>
              </a:rPr>
              <a:t>Keeps up to four initialized GraalPy sessions; loopback only, per-daemon token</a:t>
            </a:r>
          </a:p>
        </p:txBody>
      </p:sp>
      <p:sp>
        <p:nvSpPr>
          <p:cNvPr id="12" name="Rounded Rectangle 11"/>
          <p:cNvSpPr/>
          <p:nvPr/>
        </p:nvSpPr>
        <p:spPr>
          <a:xfrm>
            <a:off x="6254496" y="1645920"/>
            <a:ext cx="2560320" cy="2011680"/>
          </a:xfrm>
          <a:prstGeom prst="roundRect">
            <a:avLst>
              <a:gd name="adj" fmla="val 3636"/>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600"/>
              </a:spcAft>
              <a:buNone/>
            </a:pPr>
            <a:r>
              <a:rPr sz="1500" b="1">
                <a:solidFill>
                  <a:srgbClr val="F19111"/>
                </a:solidFill>
              </a:rPr>
              <a:t>pyronaut dev</a:t>
            </a:r>
          </a:p>
          <a:p>
            <a:pPr algn="l">
              <a:buNone/>
            </a:pPr>
            <a:r>
              <a:rPr sz="1250">
                <a:solidFill>
                  <a:srgbClr val="FFFFFF"/>
                </a:solidFill>
              </a:rPr>
              <a:t>Watches sources, reprocesses and restarts the application</a:t>
            </a:r>
          </a:p>
        </p:txBody>
      </p:sp>
      <p:sp>
        <p:nvSpPr>
          <p:cNvPr id="13" name="Rounded Rectangle 12"/>
          <p:cNvSpPr/>
          <p:nvPr/>
        </p:nvSpPr>
        <p:spPr>
          <a:xfrm>
            <a:off x="768096" y="3886200"/>
            <a:ext cx="2560320" cy="2011680"/>
          </a:xfrm>
          <a:prstGeom prst="roundRect">
            <a:avLst>
              <a:gd name="adj" fmla="val 3636"/>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600"/>
              </a:spcAft>
              <a:buNone/>
            </a:pPr>
            <a:r>
              <a:rPr sz="1500" b="1">
                <a:solidFill>
                  <a:srgbClr val="6DBEE7"/>
                </a:solidFill>
              </a:rPr>
              <a:t>Editor stubs</a:t>
            </a:r>
          </a:p>
          <a:p>
            <a:pPr algn="l">
              <a:buNone/>
            </a:pPr>
            <a:r>
              <a:rPr sz="1250">
                <a:solidFill>
                  <a:srgbClr val="FFFFFF"/>
                </a:solidFill>
              </a:rPr>
              <a:t>Stubs for Java-backed APIs for VS Code and PyCharm, cached per classpath</a:t>
            </a:r>
          </a:p>
        </p:txBody>
      </p:sp>
      <p:sp>
        <p:nvSpPr>
          <p:cNvPr id="14" name="Rounded Rectangle 13"/>
          <p:cNvSpPr/>
          <p:nvPr/>
        </p:nvSpPr>
        <p:spPr>
          <a:xfrm>
            <a:off x="3511296" y="3886200"/>
            <a:ext cx="2560320" cy="2011680"/>
          </a:xfrm>
          <a:prstGeom prst="roundRect">
            <a:avLst>
              <a:gd name="adj" fmla="val 3636"/>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600"/>
              </a:spcAft>
              <a:buNone/>
            </a:pPr>
            <a:r>
              <a:rPr sz="1500" b="1">
                <a:solidFill>
                  <a:srgbClr val="6DBEE7"/>
                </a:solidFill>
              </a:rPr>
              <a:t>Config schemas</a:t>
            </a:r>
          </a:p>
          <a:p>
            <a:pPr algn="l">
              <a:buNone/>
            </a:pPr>
            <a:r>
              <a:rPr sz="1250">
                <a:solidFill>
                  <a:srgbClr val="FFFFFF"/>
                </a:solidFill>
              </a:rPr>
              <a:t>JSON schemas for application config; </a:t>
            </a:r>
            <a:r>
              <a:rPr sz="1250">
                <a:solidFill>
                  <a:srgbClr val="F0CC72"/>
                </a:solidFill>
                <a:latin typeface="Consolas"/>
              </a:rPr>
              <a:t>pyronaut validate-config</a:t>
            </a:r>
            <a:r>
              <a:rPr sz="1250">
                <a:solidFill>
                  <a:srgbClr val="FFFFFF"/>
                </a:solidFill>
              </a:rPr>
              <a:t> fails fast</a:t>
            </a:r>
          </a:p>
        </p:txBody>
      </p:sp>
      <p:sp>
        <p:nvSpPr>
          <p:cNvPr id="15" name="Rounded Rectangle 14"/>
          <p:cNvSpPr/>
          <p:nvPr/>
        </p:nvSpPr>
        <p:spPr>
          <a:xfrm>
            <a:off x="6254496" y="3886200"/>
            <a:ext cx="2560320" cy="2011680"/>
          </a:xfrm>
          <a:prstGeom prst="roundRect">
            <a:avLst>
              <a:gd name="adj" fmla="val 3636"/>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600"/>
              </a:spcAft>
              <a:buNone/>
            </a:pPr>
            <a:r>
              <a:rPr sz="1500" b="1">
                <a:solidFill>
                  <a:srgbClr val="6DBEE7"/>
                </a:solidFill>
              </a:rPr>
              <a:t>VS Code extension</a:t>
            </a:r>
          </a:p>
          <a:p>
            <a:pPr algn="l">
              <a:buNone/>
            </a:pPr>
            <a:r>
              <a:rPr sz="1250">
                <a:solidFill>
                  <a:srgbClr val="FFFFFF"/>
                </a:solidFill>
              </a:rPr>
              <a:t>Test Explorer for pytest and JUnit; manual VSIX install for now</a:t>
            </a:r>
          </a:p>
        </p:txBody>
      </p:sp>
      <p:pic>
        <p:nvPicPr>
          <p:cNvPr id="16" name="Picture 15" descr="mascot.png"/>
          <p:cNvPicPr>
            <a:picLocks noChangeAspect="1"/>
          </p:cNvPicPr>
          <p:nvPr/>
        </p:nvPicPr>
        <p:blipFill>
          <a:blip r:embed="rId3"/>
          <a:stretch>
            <a:fillRect/>
          </a:stretch>
        </p:blipFill>
        <p:spPr>
          <a:xfrm>
            <a:off x="9006840" y="2103120"/>
            <a:ext cx="3057753" cy="34747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Native Image &amp; Crema</a:t>
            </a:r>
          </a:p>
        </p:txBody>
      </p:sp>
      <p:sp>
        <p:nvSpPr>
          <p:cNvPr id="3" name="Text Placeholder 2"/>
          <p:cNvSpPr>
            <a:spLocks noGrp="1"/>
          </p:cNvSpPr>
          <p:nvPr>
            <p:ph type="body" idx="33" sz="quarter"/>
          </p:nvPr>
        </p:nvSpPr>
        <p:spPr>
          <a:xfrm>
            <a:ext cx="5669280" cy="0"/>
          </a:xfrm>
        </p:spPr>
        <p:txBody>
          <a:bodyPr/>
          <a:lstStyle/>
          <a:p>
            <a:r>
              <a:t>Faster startup for tooling and applications — still experimental</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06</a:t>
            </a:r>
          </a:p>
        </p:txBody>
      </p:sp>
      <p:pic>
        <p:nvPicPr>
          <p:cNvPr id="11" name="Picture 10" descr="mascot_flame.png"/>
          <p:cNvPicPr>
            <a:picLocks noChangeAspect="1"/>
          </p:cNvPicPr>
          <p:nvPr/>
        </p:nvPicPr>
        <p:blipFill>
          <a:blip r:embed="rId3"/>
          <a:stretch>
            <a:fillRect/>
          </a:stretch>
        </p:blipFill>
        <p:spPr>
          <a:xfrm>
            <a:off x="6675120" y="1737360"/>
            <a:ext cx="5120640" cy="290852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toolchains, one project</a:t>
            </a:r>
          </a:p>
        </p:txBody>
      </p:sp>
      <p:sp>
        <p:nvSpPr>
          <p:cNvPr id="3" name="Text Placeholder 2"/>
          <p:cNvSpPr>
            <a:spLocks noGrp="1"/>
          </p:cNvSpPr>
          <p:nvPr>
            <p:ph type="body" idx="11" sz="quarter"/>
          </p:nvPr>
        </p:nvSpPr>
        <p:spPr/>
        <p:txBody>
          <a:bodyPr/>
          <a:lstStyle/>
          <a:p>
            <a:r>
              <a:rPr>
                <a:latin typeface="Consolas"/>
              </a:rPr>
              <a:t>toolchain.type</a:t>
            </a:r>
            <a:r>
              <a:t> picks how the CLI tools run — not what you ship</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graphicFrame>
        <p:nvGraphicFramePr>
          <p:cNvPr id="10" name="Table 9"/>
          <p:cNvGraphicFramePr>
            <a:graphicFrameLocks noGrp="1"/>
          </p:cNvGraphicFramePr>
          <p:nvPr/>
        </p:nvGraphicFramePr>
        <p:xfrm>
          <a:off x="768096" y="1645920"/>
          <a:ext cx="6583680" cy="3310128"/>
        </p:xfrm>
        <a:graphic>
          <a:graphicData uri="http://schemas.openxmlformats.org/drawingml/2006/table">
            <a:tbl>
              <a:tblPr firstRow="0" bandRow="0">
                <a:tableStyleId>{2D5ABB26-0587-4C30-8999-92F81FD0307C}</a:tableStyleId>
              </a:tblPr>
              <a:tblGrid>
                <a:gridCol w="2377440"/>
                <a:gridCol w="2103120"/>
                <a:gridCol w="2103120"/>
              </a:tblGrid>
              <a:tr h="457200">
                <a:tc>
                  <a:txBody>
                    <a:bodyPr/>
                    <a:lstStyle/>
                    <a:p>
                      <a:pPr>
                        <a:buNone/>
                      </a:pPr>
                    </a:p>
                  </a:txBody>
                  <a:tcPr marL="137160" marR="91440" anchor="ctr">
                    <a:solidFill>
                      <a:srgbClr val="2E3B47"/>
                    </a:solidFill>
                  </a:tcPr>
                </a:tc>
                <a:tc>
                  <a:txBody>
                    <a:bodyPr/>
                    <a:lstStyle/>
                    <a:p>
                      <a:pPr>
                        <a:buNone/>
                      </a:pPr>
                      <a:r>
                        <a:rPr sz="1300" b="1">
                          <a:solidFill>
                            <a:srgbClr val="6DBEE7"/>
                          </a:solidFill>
                        </a:rPr>
                        <a:t>JVM</a:t>
                      </a:r>
                    </a:p>
                  </a:txBody>
                  <a:tcPr marL="137160" marR="91440" anchor="ctr">
                    <a:solidFill>
                      <a:srgbClr val="2E3B47"/>
                    </a:solidFill>
                  </a:tcPr>
                </a:tc>
                <a:tc>
                  <a:txBody>
                    <a:bodyPr/>
                    <a:lstStyle/>
                    <a:p>
                      <a:pPr>
                        <a:buNone/>
                      </a:pPr>
                      <a:r>
                        <a:rPr sz="1300" b="1">
                          <a:solidFill>
                            <a:srgbClr val="F0CC72"/>
                          </a:solidFill>
                        </a:rPr>
                        <a:t>Native</a:t>
                      </a:r>
                    </a:p>
                  </a:txBody>
                  <a:tcPr marL="137160" marR="91440" anchor="ctr">
                    <a:solidFill>
                      <a:srgbClr val="2E3B47"/>
                    </a:solidFill>
                  </a:tcPr>
                </a:tc>
              </a:tr>
              <a:tr h="713232">
                <a:tc>
                  <a:txBody>
                    <a:bodyPr/>
                    <a:lstStyle/>
                    <a:p>
                      <a:pPr>
                        <a:buNone/>
                      </a:pPr>
                      <a:r>
                        <a:rPr sz="1350" b="1">
                          <a:solidFill>
                            <a:srgbClr val="FFFFFF"/>
                          </a:solidFill>
                        </a:rPr>
                        <a:t>Startup time</a:t>
                      </a:r>
                    </a:p>
                  </a:txBody>
                  <a:tcPr marL="137160" marR="91440" anchor="ctr">
                    <a:solidFill>
                      <a:srgbClr val="25303A"/>
                    </a:solidFill>
                  </a:tcPr>
                </a:tc>
                <a:tc>
                  <a:txBody>
                    <a:bodyPr/>
                    <a:lstStyle/>
                    <a:p>
                      <a:pPr>
                        <a:buNone/>
                      </a:pPr>
                      <a:r>
                        <a:rPr sz="1350" b="0">
                          <a:solidFill>
                            <a:srgbClr val="FFFFFF"/>
                          </a:solidFill>
                        </a:rPr>
                        <a:t>Slower</a:t>
                      </a:r>
                    </a:p>
                  </a:txBody>
                  <a:tcPr marL="137160" marR="91440" anchor="ctr">
                    <a:solidFill>
                      <a:srgbClr val="25303A"/>
                    </a:solidFill>
                  </a:tcPr>
                </a:tc>
                <a:tc>
                  <a:txBody>
                    <a:bodyPr/>
                    <a:lstStyle/>
                    <a:p>
                      <a:pPr>
                        <a:buNone/>
                      </a:pPr>
                      <a:r>
                        <a:rPr sz="1350" b="0">
                          <a:solidFill>
                            <a:srgbClr val="FFFFFF"/>
                          </a:solidFill>
                        </a:rPr>
                        <a:t>Faster</a:t>
                      </a:r>
                    </a:p>
                  </a:txBody>
                  <a:tcPr marL="137160" marR="91440" anchor="ctr">
                    <a:solidFill>
                      <a:srgbClr val="25303A"/>
                    </a:solidFill>
                  </a:tcPr>
                </a:tc>
              </a:tr>
              <a:tr h="713232">
                <a:tc>
                  <a:txBody>
                    <a:bodyPr/>
                    <a:lstStyle/>
                    <a:p>
                      <a:pPr>
                        <a:buNone/>
                      </a:pPr>
                      <a:r>
                        <a:rPr sz="1350" b="1">
                          <a:solidFill>
                            <a:srgbClr val="FFFFFF"/>
                          </a:solidFill>
                        </a:rPr>
                        <a:t>Memory</a:t>
                      </a:r>
                    </a:p>
                  </a:txBody>
                  <a:tcPr marL="137160" marR="91440" anchor="ctr">
                    <a:solidFill>
                      <a:srgbClr val="212A33"/>
                    </a:solidFill>
                  </a:tcPr>
                </a:tc>
                <a:tc>
                  <a:txBody>
                    <a:bodyPr/>
                    <a:lstStyle/>
                    <a:p>
                      <a:pPr>
                        <a:buNone/>
                      </a:pPr>
                      <a:r>
                        <a:rPr sz="1350" b="0">
                          <a:solidFill>
                            <a:srgbClr val="FFFFFF"/>
                          </a:solidFill>
                        </a:rPr>
                        <a:t>Greater</a:t>
                      </a:r>
                    </a:p>
                  </a:txBody>
                  <a:tcPr marL="137160" marR="91440" anchor="ctr">
                    <a:solidFill>
                      <a:srgbClr val="212A33"/>
                    </a:solidFill>
                  </a:tcPr>
                </a:tc>
                <a:tc>
                  <a:txBody>
                    <a:bodyPr/>
                    <a:lstStyle/>
                    <a:p>
                      <a:pPr>
                        <a:buNone/>
                      </a:pPr>
                      <a:r>
                        <a:rPr sz="1350" b="0">
                          <a:solidFill>
                            <a:srgbClr val="FFFFFF"/>
                          </a:solidFill>
                        </a:rPr>
                        <a:t>Lower</a:t>
                      </a:r>
                    </a:p>
                  </a:txBody>
                  <a:tcPr marL="137160" marR="91440" anchor="ctr">
                    <a:solidFill>
                      <a:srgbClr val="212A33"/>
                    </a:solidFill>
                  </a:tcPr>
                </a:tc>
              </a:tr>
              <a:tr h="713232">
                <a:tc>
                  <a:txBody>
                    <a:bodyPr/>
                    <a:lstStyle/>
                    <a:p>
                      <a:pPr>
                        <a:buNone/>
                      </a:pPr>
                      <a:r>
                        <a:rPr sz="1350" b="1">
                          <a:solidFill>
                            <a:srgbClr val="FFFFFF"/>
                          </a:solidFill>
                        </a:rPr>
                        <a:t>Compatibility</a:t>
                      </a:r>
                    </a:p>
                  </a:txBody>
                  <a:tcPr marL="137160" marR="91440" anchor="ctr">
                    <a:solidFill>
                      <a:srgbClr val="25303A"/>
                    </a:solidFill>
                  </a:tcPr>
                </a:tc>
                <a:tc>
                  <a:txBody>
                    <a:bodyPr/>
                    <a:lstStyle/>
                    <a:p>
                      <a:pPr>
                        <a:buNone/>
                      </a:pPr>
                      <a:r>
                        <a:rPr sz="1350" b="0">
                          <a:solidFill>
                            <a:srgbClr val="FFFFFF"/>
                          </a:solidFill>
                        </a:rPr>
                        <a:t>Broad Java library support</a:t>
                      </a:r>
                    </a:p>
                  </a:txBody>
                  <a:tcPr marL="137160" marR="91440" anchor="ctr">
                    <a:solidFill>
                      <a:srgbClr val="25303A"/>
                    </a:solidFill>
                  </a:tcPr>
                </a:tc>
                <a:tc>
                  <a:txBody>
                    <a:bodyPr/>
                    <a:lstStyle/>
                    <a:p>
                      <a:pPr>
                        <a:buNone/>
                      </a:pPr>
                      <a:r>
                        <a:rPr sz="1350" b="0">
                          <a:solidFill>
                            <a:srgbClr val="FFFFFF"/>
                          </a:solidFill>
                        </a:rPr>
                        <a:t>Some libraries need metadata</a:t>
                      </a:r>
                    </a:p>
                  </a:txBody>
                  <a:tcPr marL="137160" marR="91440" anchor="ctr">
                    <a:solidFill>
                      <a:srgbClr val="25303A"/>
                    </a:solidFill>
                  </a:tcPr>
                </a:tc>
              </a:tr>
              <a:tr h="713232">
                <a:tc>
                  <a:txBody>
                    <a:bodyPr/>
                    <a:lstStyle/>
                    <a:p>
                      <a:pPr>
                        <a:buNone/>
                      </a:pPr>
                      <a:r>
                        <a:rPr sz="1350" b="1">
                          <a:solidFill>
                            <a:srgbClr val="FFFFFF"/>
                          </a:solidFill>
                        </a:rPr>
                        <a:t>Peak performance</a:t>
                      </a:r>
                    </a:p>
                  </a:txBody>
                  <a:tcPr marL="137160" marR="91440" anchor="ctr">
                    <a:solidFill>
                      <a:srgbClr val="212A33"/>
                    </a:solidFill>
                  </a:tcPr>
                </a:tc>
                <a:tc>
                  <a:txBody>
                    <a:bodyPr/>
                    <a:lstStyle/>
                    <a:p>
                      <a:pPr>
                        <a:buNone/>
                      </a:pPr>
                      <a:r>
                        <a:rPr sz="1350" b="0">
                          <a:solidFill>
                            <a:srgbClr val="FFFFFF"/>
                          </a:solidFill>
                        </a:rPr>
                        <a:t>Superior</a:t>
                      </a:r>
                    </a:p>
                  </a:txBody>
                  <a:tcPr marL="137160" marR="91440" anchor="ctr">
                    <a:solidFill>
                      <a:srgbClr val="212A33"/>
                    </a:solidFill>
                  </a:tcPr>
                </a:tc>
                <a:tc>
                  <a:txBody>
                    <a:bodyPr/>
                    <a:lstStyle/>
                    <a:p>
                      <a:pPr>
                        <a:buNone/>
                      </a:pPr>
                      <a:r>
                        <a:rPr sz="1350" b="0">
                          <a:solidFill>
                            <a:srgbClr val="FFFFFF"/>
                          </a:solidFill>
                        </a:rPr>
                        <a:t>Requires PGO</a:t>
                      </a:r>
                    </a:p>
                  </a:txBody>
                  <a:tcPr marL="137160" marR="91440" anchor="ctr">
                    <a:solidFill>
                      <a:srgbClr val="212A33"/>
                    </a:solidFill>
                  </a:tcPr>
                </a:tc>
              </a:tr>
            </a:tbl>
          </a:graphicData>
        </a:graphic>
      </p:graphicFrame>
      <p:sp>
        <p:nvSpPr>
          <p:cNvPr id="11" name="TextBox 10"/>
          <p:cNvSpPr txBox="1"/>
          <p:nvPr/>
        </p:nvSpPr>
        <p:spPr>
          <a:xfrm>
            <a:off x="768096" y="5029200"/>
            <a:ext cx="6583680" cy="365760"/>
          </a:xfrm>
          <a:prstGeom prst="rect">
            <a:avLst/>
          </a:prstGeom>
          <a:noFill/>
        </p:spPr>
        <p:txBody>
          <a:bodyPr wrap="square" lIns="0" rIns="0" tIns="0" bIns="0" anchor="t"/>
          <a:lstStyle/>
          <a:p>
            <a:pPr>
              <a:buNone/>
            </a:pPr>
            <a:r>
              <a:rPr sz="1300">
                <a:solidFill>
                  <a:srgbClr val="A9B7C4"/>
                </a:solidFill>
              </a:rPr>
              <a:t>Mix and match: a native toolchain locally, a JVM deployment in production — or the reverse.</a:t>
            </a:r>
          </a:p>
        </p:txBody>
      </p:sp>
      <p:sp>
        <p:nvSpPr>
          <p:cNvPr id="12" name="Rounded Rectangle 11"/>
          <p:cNvSpPr/>
          <p:nvPr/>
        </p:nvSpPr>
        <p:spPr>
          <a:xfrm>
            <a:off x="768096" y="5486400"/>
            <a:ext cx="6583680" cy="685800"/>
          </a:xfrm>
          <a:prstGeom prst="roundRect">
            <a:avLst>
              <a:gd name="adj" fmla="val 8000"/>
            </a:avLst>
          </a:prstGeom>
          <a:solidFill>
            <a:srgbClr val="151A20"/>
          </a:solidFill>
          <a:ln w="12700">
            <a:solidFill>
              <a:srgbClr val="4452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932688" y="5596128"/>
            <a:ext cx="6309360" cy="502920"/>
          </a:xfrm>
          <a:prstGeom prst="rect">
            <a:avLst/>
          </a:prstGeom>
          <a:noFill/>
        </p:spPr>
        <p:txBody>
          <a:bodyPr wrap="none" lIns="0" rIns="0" tIns="0" bIns="0"/>
          <a:lstStyle/>
          <a:p>
            <a:pPr>
              <a:lnSpc>
                <a:spcPct val="100000"/>
              </a:lnSpc>
              <a:buNone/>
            </a:pPr>
            <a:r>
              <a:rPr sz="1150">
                <a:solidFill>
                  <a:srgbClr val="F19111"/>
                </a:solidFill>
                <a:latin typeface="Consolas"/>
              </a:rPr>
              <a:t>[</a:t>
            </a:r>
            <a:r>
              <a:rPr sz="1150">
                <a:solidFill>
                  <a:srgbClr val="F19111"/>
                </a:solidFill>
                <a:latin typeface="Consolas"/>
              </a:rPr>
              <a:t>tool</a:t>
            </a:r>
            <a:r>
              <a:rPr sz="1150">
                <a:solidFill>
                  <a:srgbClr val="F19111"/>
                </a:solidFill>
                <a:latin typeface="Consolas"/>
              </a:rPr>
              <a:t>.</a:t>
            </a:r>
            <a:r>
              <a:rPr sz="1150">
                <a:solidFill>
                  <a:srgbClr val="F19111"/>
                </a:solidFill>
                <a:latin typeface="Consolas"/>
              </a:rPr>
              <a:t>pyronaut</a:t>
            </a:r>
            <a:r>
              <a:rPr sz="1150">
                <a:solidFill>
                  <a:srgbClr val="F19111"/>
                </a:solidFill>
                <a:latin typeface="Consolas"/>
              </a:rPr>
              <a:t>.</a:t>
            </a:r>
            <a:r>
              <a:rPr sz="1150">
                <a:solidFill>
                  <a:srgbClr val="F19111"/>
                </a:solidFill>
                <a:latin typeface="Consolas"/>
              </a:rPr>
              <a:t>toolchain</a:t>
            </a:r>
            <a:r>
              <a:rPr sz="1150">
                <a:solidFill>
                  <a:srgbClr val="F19111"/>
                </a:solidFill>
                <a:latin typeface="Consolas"/>
              </a:rPr>
              <a:t>]</a:t>
            </a:r>
          </a:p>
          <a:p>
            <a:pPr>
              <a:lnSpc>
                <a:spcPct val="100000"/>
              </a:lnSpc>
              <a:buNone/>
            </a:pPr>
            <a:r>
              <a:rPr sz="1150">
                <a:solidFill>
                  <a:srgbClr val="6DBEE7"/>
                </a:solidFill>
                <a:latin typeface="Consolas"/>
              </a:rPr>
              <a:t>type</a:t>
            </a:r>
            <a:r>
              <a:rPr sz="1150">
                <a:solidFill>
                  <a:srgbClr val="D8E1E8"/>
                </a:solidFill>
                <a:latin typeface="Consolas"/>
              </a:rPr>
              <a:t> </a:t>
            </a:r>
            <a:r>
              <a:rPr sz="1150">
                <a:solidFill>
                  <a:srgbClr val="D8E1E8"/>
                </a:solidFill>
                <a:latin typeface="Consolas"/>
              </a:rPr>
              <a:t>=</a:t>
            </a:r>
            <a:r>
              <a:rPr sz="1150">
                <a:solidFill>
                  <a:srgbClr val="D8E1E8"/>
                </a:solidFill>
                <a:latin typeface="Consolas"/>
              </a:rPr>
              <a:t> </a:t>
            </a:r>
            <a:r>
              <a:rPr sz="1150">
                <a:solidFill>
                  <a:srgbClr val="A5D6A7"/>
                </a:solidFill>
                <a:latin typeface="Consolas"/>
              </a:rPr>
              <a:t>"native"</a:t>
            </a:r>
            <a:r>
              <a:rPr sz="1150">
                <a:solidFill>
                  <a:srgbClr val="D8E1E8"/>
                </a:solidFill>
                <a:latin typeface="Consolas"/>
              </a:rPr>
              <a:t>   </a:t>
            </a:r>
            <a:r>
              <a:rPr sz="1150">
                <a:solidFill>
                  <a:srgbClr val="D8E1E8"/>
                </a:solidFill>
                <a:latin typeface="Consolas"/>
              </a:rPr>
              <a:t># jvm|native</a:t>
            </a:r>
          </a:p>
        </p:txBody>
      </p:sp>
      <p:sp>
        <p:nvSpPr>
          <p:cNvPr id="14" name="Rounded Rectangle 13"/>
          <p:cNvSpPr/>
          <p:nvPr/>
        </p:nvSpPr>
        <p:spPr>
          <a:xfrm>
            <a:off x="7772400" y="1645920"/>
            <a:ext cx="3657600" cy="2148840"/>
          </a:xfrm>
          <a:prstGeom prst="roundRect">
            <a:avLst>
              <a:gd name="adj" fmla="val 3404"/>
            </a:avLst>
          </a:prstGeom>
          <a:solidFill>
            <a:srgbClr val="2E3B47"/>
          </a:solidFill>
          <a:ln w="19050">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36576" bIns="36576"/>
          <a:lstStyle/>
          <a:p>
            <a:pPr algn="l">
              <a:spcBef>
                <a:spcPts val="600"/>
              </a:spcBef>
              <a:spcAft>
                <a:spcPts val="800"/>
              </a:spcAft>
              <a:buNone/>
            </a:pPr>
            <a:r>
              <a:rPr sz="1500" b="1">
                <a:solidFill>
                  <a:srgbClr val="F0CC72"/>
                </a:solidFill>
              </a:rPr>
              <a:t>Why native tooling matters</a:t>
            </a:r>
          </a:p>
          <a:p>
            <a:pPr algn="l">
              <a:buNone/>
            </a:pPr>
            <a:r>
              <a:rPr sz="1250">
                <a:solidFill>
                  <a:srgbClr val="FFFFFF"/>
                </a:solidFill>
              </a:rPr>
              <a:t>Every </a:t>
            </a:r>
            <a:r>
              <a:rPr sz="1250">
                <a:solidFill>
                  <a:srgbClr val="F0CC72"/>
                </a:solidFill>
                <a:latin typeface="Consolas"/>
              </a:rPr>
              <a:t>pyronaut dev</a:t>
            </a:r>
            <a:r>
              <a:rPr sz="1250">
                <a:solidFill>
                  <a:srgbClr val="FFFFFF"/>
                </a:solidFill>
              </a:rPr>
              <a:t>, </a:t>
            </a:r>
            <a:r>
              <a:rPr sz="1250">
                <a:solidFill>
                  <a:srgbClr val="F0CC72"/>
                </a:solidFill>
                <a:latin typeface="Consolas"/>
              </a:rPr>
              <a:t>test</a:t>
            </a:r>
            <a:r>
              <a:rPr sz="1250">
                <a:solidFill>
                  <a:srgbClr val="FFFFFF"/>
                </a:solidFill>
              </a:rPr>
              <a:t> and direct </a:t>
            </a:r>
            <a:r>
              <a:rPr sz="1250">
                <a:solidFill>
                  <a:srgbClr val="F0CC72"/>
                </a:solidFill>
                <a:latin typeface="Consolas"/>
              </a:rPr>
              <a:t>run</a:t>
            </a:r>
            <a:r>
              <a:rPr sz="1250">
                <a:solidFill>
                  <a:srgbClr val="FFFFFF"/>
                </a:solidFill>
              </a:rPr>
              <a:t> starts a compiler and a Python runtime. Native launchers make restarts and test runs feel like Python tools.</a:t>
            </a:r>
          </a:p>
        </p:txBody>
      </p:sp>
      <p:sp>
        <p:nvSpPr>
          <p:cNvPr id="15" name="Rounded Rectangle 14"/>
          <p:cNvSpPr/>
          <p:nvPr/>
        </p:nvSpPr>
        <p:spPr>
          <a:xfrm>
            <a:off x="7772400" y="3977639"/>
            <a:ext cx="3657600" cy="2194560"/>
          </a:xfrm>
          <a:prstGeom prst="roundRect">
            <a:avLst>
              <a:gd name="adj" fmla="val 333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36576" bIns="36576"/>
          <a:lstStyle/>
          <a:p>
            <a:pPr algn="l">
              <a:spcBef>
                <a:spcPts val="600"/>
              </a:spcBef>
              <a:spcAft>
                <a:spcPts val="800"/>
              </a:spcAft>
              <a:buNone/>
            </a:pPr>
            <a:r>
              <a:rPr sz="1500" b="1">
                <a:solidFill>
                  <a:srgbClr val="FFFFFF"/>
                </a:solidFill>
              </a:rPr>
              <a:t>Downloaded on demand</a:t>
            </a:r>
          </a:p>
          <a:p>
            <a:pPr algn="l">
              <a:buNone/>
            </a:pPr>
            <a:r>
              <a:rPr sz="1250">
                <a:solidFill>
                  <a:srgbClr val="F0CC72"/>
                </a:solidFill>
                <a:latin typeface="Consolas"/>
              </a:rPr>
              <a:t>pyronaut-dev</a:t>
            </a:r>
            <a:r>
              <a:rPr sz="1250">
                <a:solidFill>
                  <a:srgbClr val="A9B7C4"/>
                </a:solidFill>
              </a:rPr>
              <a:t>, </a:t>
            </a:r>
            <a:r>
              <a:rPr sz="1250">
                <a:solidFill>
                  <a:srgbClr val="F0CC72"/>
                </a:solidFill>
                <a:latin typeface="Consolas"/>
              </a:rPr>
              <a:t>pyronaut-run</a:t>
            </a:r>
            <a:r>
              <a:rPr sz="1250">
                <a:solidFill>
                  <a:srgbClr val="A9B7C4"/>
                </a:solidFill>
              </a:rPr>
              <a:t> and </a:t>
            </a:r>
            <a:r>
              <a:rPr sz="1250">
                <a:solidFill>
                  <a:srgbClr val="F0CC72"/>
                </a:solidFill>
                <a:latin typeface="Consolas"/>
              </a:rPr>
              <a:t>pyronaut-run-python</a:t>
            </a:r>
            <a:r>
              <a:rPr sz="1250">
                <a:solidFill>
                  <a:srgbClr val="A9B7C4"/>
                </a:solidFill>
              </a:rPr>
              <a:t> bundles per OS and architecture — not in the SDK wheel. Direct </a:t>
            </a:r>
            <a:r>
              <a:rPr sz="1250">
                <a:solidFill>
                  <a:srgbClr val="F0CC72"/>
                </a:solidFill>
                <a:latin typeface="Consolas"/>
              </a:rPr>
              <a:t>pyronaut run app.py</a:t>
            </a:r>
            <a:r>
              <a:rPr sz="1250">
                <a:solidFill>
                  <a:srgbClr val="A9B7C4"/>
                </a:solidFill>
              </a:rPr>
              <a:t> defaults to native.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Crema: a native runtime that still loads classes</a:t>
            </a:r>
          </a:p>
        </p:txBody>
      </p:sp>
      <p:sp>
        <p:nvSpPr>
          <p:cNvPr id="3" name="Text Placeholder 2"/>
          <p:cNvSpPr>
            <a:spLocks noGrp="1"/>
          </p:cNvSpPr>
          <p:nvPr>
            <p:ph type="body" idx="11" sz="quarter"/>
          </p:nvPr>
        </p:nvSpPr>
        <p:spPr/>
        <p:txBody>
          <a:bodyPr/>
          <a:lstStyle/>
          <a:p>
            <a:r>
              <a:t>Build the expensive native image once — ship applications as processed classes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72768"/>
            <a:ext cx="4937760" cy="256032"/>
          </a:xfrm>
          <a:prstGeom prst="rect">
            <a:avLst/>
          </a:prstGeom>
          <a:noFill/>
        </p:spPr>
        <p:txBody>
          <a:bodyPr wrap="square" lIns="0" rIns="0" tIns="0" bIns="0" anchor="ctr"/>
          <a:lstStyle/>
          <a:p>
            <a:pPr algn="l">
              <a:buNone/>
            </a:pPr>
            <a:r>
              <a:rPr sz="1100" b="1">
                <a:solidFill>
                  <a:srgbClr val="A9B7C4"/>
                </a:solidFill>
              </a:rPr>
              <a:t>CLOSED-WORLD NATIVE · WHEEL-NATIVE</a:t>
            </a:r>
          </a:p>
        </p:txBody>
      </p:sp>
      <p:sp>
        <p:nvSpPr>
          <p:cNvPr id="11" name="Rounded Rectangle 10"/>
          <p:cNvSpPr/>
          <p:nvPr/>
        </p:nvSpPr>
        <p:spPr>
          <a:xfrm>
            <a:off x="768096" y="1920240"/>
            <a:ext cx="4937760" cy="658368"/>
          </a:xfrm>
          <a:prstGeom prst="roundRect">
            <a:avLst>
              <a:gd name="adj" fmla="val 11111"/>
            </a:avLst>
          </a:prstGeom>
          <a:solidFill>
            <a:srgbClr val="25303A"/>
          </a:solidFill>
          <a:ln w="15875">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application code + dependencies + runtime</a:t>
            </a:r>
          </a:p>
        </p:txBody>
      </p:sp>
      <p:cxnSp>
        <p:nvCxnSpPr>
          <p:cNvPr id="12" name="Connector 11"/>
          <p:cNvCxnSpPr/>
          <p:nvPr/>
        </p:nvCxnSpPr>
        <p:spPr>
          <a:xfrm>
            <a:off x="3236976" y="2596896"/>
            <a:ext cx="0" cy="265176"/>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8096" y="2880360"/>
            <a:ext cx="4937760" cy="658368"/>
          </a:xfrm>
          <a:prstGeom prst="roundRect">
            <a:avLst>
              <a:gd name="adj" fmla="val 11111"/>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native-image analysis — on every build</a:t>
            </a:r>
          </a:p>
        </p:txBody>
      </p:sp>
      <p:cxnSp>
        <p:nvCxnSpPr>
          <p:cNvPr id="14" name="Connector 13"/>
          <p:cNvCxnSpPr/>
          <p:nvPr/>
        </p:nvCxnSpPr>
        <p:spPr>
          <a:xfrm>
            <a:off x="3236976" y="3557016"/>
            <a:ext cx="0" cy="265176"/>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8096" y="3840480"/>
            <a:ext cx="4937760" cy="658368"/>
          </a:xfrm>
          <a:prstGeom prst="roundRect">
            <a:avLst>
              <a:gd name="adj" fmla="val 11111"/>
            </a:avLst>
          </a:prstGeom>
          <a:solidFill>
            <a:srgbClr val="25303A"/>
          </a:solidFill>
          <a:ln w="15875">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300">
                <a:solidFill>
                  <a:srgbClr val="FFFFFF"/>
                </a:solidFill>
              </a:rPr>
              <a:t>standalone executable</a:t>
            </a:r>
          </a:p>
        </p:txBody>
      </p:sp>
      <p:sp>
        <p:nvSpPr>
          <p:cNvPr id="16" name="TextBox 15"/>
          <p:cNvSpPr txBox="1"/>
          <p:nvPr/>
        </p:nvSpPr>
        <p:spPr>
          <a:xfrm>
            <a:off x="768096" y="4846320"/>
            <a:ext cx="4937760" cy="822960"/>
          </a:xfrm>
          <a:prstGeom prst="rect">
            <a:avLst/>
          </a:prstGeom>
          <a:noFill/>
        </p:spPr>
        <p:txBody>
          <a:bodyPr wrap="square" lIns="0" rIns="0" tIns="0" bIns="0" anchor="t"/>
          <a:lstStyle/>
          <a:p>
            <a:pPr>
              <a:buNone/>
            </a:pPr>
            <a:r>
              <a:rPr sz="1200">
                <a:solidFill>
                  <a:srgbClr val="A9B7C4"/>
                </a:solidFill>
              </a:rPr>
              <a:t>Every app must meet closed-world rules: reflection, proxies and resources need metadata.</a:t>
            </a:r>
          </a:p>
        </p:txBody>
      </p:sp>
      <p:sp>
        <p:nvSpPr>
          <p:cNvPr id="17" name="TextBox 16"/>
          <p:cNvSpPr txBox="1"/>
          <p:nvPr/>
        </p:nvSpPr>
        <p:spPr>
          <a:xfrm>
            <a:off x="6309360" y="1572768"/>
            <a:ext cx="5120640" cy="256032"/>
          </a:xfrm>
          <a:prstGeom prst="rect">
            <a:avLst/>
          </a:prstGeom>
          <a:noFill/>
        </p:spPr>
        <p:txBody>
          <a:bodyPr wrap="square" lIns="0" rIns="0" tIns="0" bIns="0" anchor="ctr"/>
          <a:lstStyle/>
          <a:p>
            <a:pPr algn="l">
              <a:buNone/>
            </a:pPr>
            <a:r>
              <a:rPr sz="1100" b="1">
                <a:solidFill>
                  <a:srgbClr val="F19111"/>
                </a:solidFill>
              </a:rPr>
              <a:t>CREMA · WHEEL-CREMA</a:t>
            </a:r>
          </a:p>
        </p:txBody>
      </p:sp>
      <p:sp>
        <p:nvSpPr>
          <p:cNvPr id="18" name="Rounded Rectangle 17"/>
          <p:cNvSpPr/>
          <p:nvPr/>
        </p:nvSpPr>
        <p:spPr>
          <a:xfrm>
            <a:off x="6309360" y="1920240"/>
            <a:ext cx="5120640" cy="1600200"/>
          </a:xfrm>
          <a:prstGeom prst="roundRect">
            <a:avLst>
              <a:gd name="adj" fmla="val 4571"/>
            </a:avLst>
          </a:prstGeom>
          <a:solidFill>
            <a:srgbClr val="2E3B47"/>
          </a:solidFill>
          <a:ln w="254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Bef>
                <a:spcPts val="400"/>
              </a:spcBef>
              <a:spcAft>
                <a:spcPts val="400"/>
              </a:spcAft>
              <a:buNone/>
            </a:pPr>
            <a:r>
              <a:rPr sz="1400" b="1">
                <a:solidFill>
                  <a:srgbClr val="F19111"/>
                </a:solidFill>
              </a:rPr>
              <a:t>Native base — built once</a:t>
            </a:r>
          </a:p>
          <a:p>
            <a:pPr algn="l">
              <a:buNone/>
            </a:pPr>
            <a:r>
              <a:rPr sz="1200">
                <a:solidFill>
                  <a:srgbClr val="F0CC72"/>
                </a:solidFill>
                <a:latin typeface="Consolas"/>
              </a:rPr>
              <a:t>pyronaut-run-python</a:t>
            </a:r>
            <a:r>
              <a:rPr sz="1200">
                <a:solidFill>
                  <a:srgbClr val="FFFFFF"/>
                </a:solidFill>
              </a:rPr>
              <a:t>: runtime + GraalPy + Truffle + Logback</a:t>
            </a:r>
          </a:p>
          <a:p>
            <a:pPr algn="l">
              <a:buNone/>
            </a:pPr>
            <a:r>
              <a:rPr sz="1200">
                <a:solidFill>
                  <a:srgbClr val="F0CC72"/>
                </a:solidFill>
                <a:latin typeface="Consolas"/>
              </a:rPr>
              <a:t>-H:+RuntimeClassLoading</a:t>
            </a:r>
            <a:r>
              <a:rPr sz="1200">
                <a:solidFill>
                  <a:srgbClr val="A9B7C4"/>
                </a:solidFill>
              </a:rPr>
              <a:t>, no compilers or test libraries</a:t>
            </a:r>
          </a:p>
        </p:txBody>
      </p:sp>
      <p:cxnSp>
        <p:nvCxnSpPr>
          <p:cNvPr id="19" name="Connector 18"/>
          <p:cNvCxnSpPr/>
          <p:nvPr/>
        </p:nvCxnSpPr>
        <p:spPr>
          <a:xfrm>
            <a:off x="8869680" y="3547872"/>
            <a:ext cx="0" cy="265176"/>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09360" y="3840480"/>
            <a:ext cx="5120640" cy="914400"/>
          </a:xfrm>
          <a:prstGeom prst="roundRect">
            <a:avLst>
              <a:gd name="adj" fmla="val 8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buNone/>
            </a:pPr>
            <a:r>
              <a:rPr sz="1350" b="1">
                <a:solidFill>
                  <a:srgbClr val="6DBEE7"/>
                </a:solidFill>
              </a:rPr>
              <a:t>Application layer — every build</a:t>
            </a:r>
          </a:p>
          <a:p>
            <a:pPr algn="l">
              <a:buNone/>
            </a:pPr>
            <a:r>
              <a:rPr sz="1200">
                <a:solidFill>
                  <a:srgbClr val="A9B7C4"/>
                </a:solidFill>
              </a:rPr>
              <a:t>processed classes, dependencies, config, schemas</a:t>
            </a:r>
          </a:p>
        </p:txBody>
      </p:sp>
      <p:sp>
        <p:nvSpPr>
          <p:cNvPr id="21" name="TextBox 20"/>
          <p:cNvSpPr txBox="1"/>
          <p:nvPr/>
        </p:nvSpPr>
        <p:spPr>
          <a:xfrm>
            <a:off x="6309360" y="4846320"/>
            <a:ext cx="5120640" cy="822960"/>
          </a:xfrm>
          <a:prstGeom prst="rect">
            <a:avLst/>
          </a:prstGeom>
          <a:noFill/>
        </p:spPr>
        <p:txBody>
          <a:bodyPr wrap="square" lIns="0" rIns="0" tIns="0" bIns="0" anchor="t"/>
          <a:lstStyle/>
          <a:p>
            <a:pPr>
              <a:buNone/>
            </a:pPr>
            <a:r>
              <a:rPr sz="1200">
                <a:solidFill>
                  <a:srgbClr val="A9B7C4"/>
                </a:solidFill>
              </a:rPr>
              <a:t>Classes load at runtime: native startup without the closed-world build per change. Same base as a Docker layer.</a:t>
            </a:r>
          </a:p>
        </p:txBody>
      </p:sp>
      <p:sp>
        <p:nvSpPr>
          <p:cNvPr id="22" name="TextBox 21"/>
          <p:cNvSpPr txBox="1"/>
          <p:nvPr/>
        </p:nvSpPr>
        <p:spPr>
          <a:xfrm>
            <a:off x="768096" y="5596128"/>
            <a:ext cx="2743200" cy="256032"/>
          </a:xfrm>
          <a:prstGeom prst="rect">
            <a:avLst/>
          </a:prstGeom>
          <a:noFill/>
        </p:spPr>
        <p:txBody>
          <a:bodyPr wrap="square" lIns="0" rIns="0" tIns="0" bIns="0" anchor="ctr"/>
          <a:lstStyle/>
          <a:p>
            <a:pPr algn="l">
              <a:buNone/>
            </a:pPr>
            <a:r>
              <a:rPr sz="1000" b="1">
                <a:solidFill>
                  <a:srgbClr val="A9B7C4"/>
                </a:solidFill>
              </a:rPr>
              <a:t>PACKAGING FORMATS</a:t>
            </a:r>
          </a:p>
        </p:txBody>
      </p:sp>
      <p:sp>
        <p:nvSpPr>
          <p:cNvPr id="23" name="Rounded Rectangle 22"/>
          <p:cNvSpPr/>
          <p:nvPr/>
        </p:nvSpPr>
        <p:spPr>
          <a:xfrm>
            <a:off x="768096" y="5870448"/>
            <a:ext cx="1426464" cy="347472"/>
          </a:xfrm>
          <a:prstGeom prst="roundRect">
            <a:avLst>
              <a:gd name="adj" fmla="val 50000"/>
            </a:avLst>
          </a:prstGeom>
          <a:solidFill>
            <a:srgbClr val="25303A"/>
          </a:solidFill>
          <a:ln w="15875">
            <a:solidFill>
              <a:srgbClr val="A9B7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A9B7C4"/>
                </a:solidFill>
              </a:rPr>
              <a:t>fat-jar</a:t>
            </a:r>
          </a:p>
        </p:txBody>
      </p:sp>
      <p:sp>
        <p:nvSpPr>
          <p:cNvPr id="24" name="Rounded Rectangle 23"/>
          <p:cNvSpPr/>
          <p:nvPr/>
        </p:nvSpPr>
        <p:spPr>
          <a:xfrm>
            <a:off x="2304288" y="5870448"/>
            <a:ext cx="1426464" cy="347472"/>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6DBEE7"/>
                </a:solidFill>
              </a:rPr>
              <a:t>wheel-jvm</a:t>
            </a:r>
          </a:p>
        </p:txBody>
      </p:sp>
      <p:sp>
        <p:nvSpPr>
          <p:cNvPr id="25" name="Rounded Rectangle 24"/>
          <p:cNvSpPr/>
          <p:nvPr/>
        </p:nvSpPr>
        <p:spPr>
          <a:xfrm>
            <a:off x="3840480" y="5870448"/>
            <a:ext cx="1426464" cy="347472"/>
          </a:xfrm>
          <a:prstGeom prst="roundRect">
            <a:avLst>
              <a:gd name="adj" fmla="val 50000"/>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6DBEE7"/>
                </a:solidFill>
              </a:rPr>
              <a:t>docker-jvm</a:t>
            </a:r>
          </a:p>
        </p:txBody>
      </p:sp>
      <p:sp>
        <p:nvSpPr>
          <p:cNvPr id="26" name="Rounded Rectangle 25"/>
          <p:cNvSpPr/>
          <p:nvPr/>
        </p:nvSpPr>
        <p:spPr>
          <a:xfrm>
            <a:off x="5376672" y="5870448"/>
            <a:ext cx="1426464" cy="347472"/>
          </a:xfrm>
          <a:prstGeom prst="roundRect">
            <a:avLst>
              <a:gd name="adj" fmla="val 50000"/>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F0CC72"/>
                </a:solidFill>
              </a:rPr>
              <a:t>wheel-native</a:t>
            </a:r>
          </a:p>
        </p:txBody>
      </p:sp>
      <p:sp>
        <p:nvSpPr>
          <p:cNvPr id="27" name="Rounded Rectangle 26"/>
          <p:cNvSpPr/>
          <p:nvPr/>
        </p:nvSpPr>
        <p:spPr>
          <a:xfrm>
            <a:off x="6912864" y="5870448"/>
            <a:ext cx="1426464" cy="347472"/>
          </a:xfrm>
          <a:prstGeom prst="roundRect">
            <a:avLst>
              <a:gd name="adj" fmla="val 50000"/>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F0CC72"/>
                </a:solidFill>
              </a:rPr>
              <a:t>docker-native</a:t>
            </a:r>
          </a:p>
        </p:txBody>
      </p:sp>
      <p:sp>
        <p:nvSpPr>
          <p:cNvPr id="28" name="Rounded Rectangle 27"/>
          <p:cNvSpPr/>
          <p:nvPr/>
        </p:nvSpPr>
        <p:spPr>
          <a:xfrm>
            <a:off x="8449056" y="5870448"/>
            <a:ext cx="1426464" cy="347472"/>
          </a:xfrm>
          <a:prstGeom prst="roundRect">
            <a:avLst>
              <a:gd name="adj" fmla="val 50000"/>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F19111"/>
                </a:solidFill>
              </a:rPr>
              <a:t>wheel-crema</a:t>
            </a:r>
          </a:p>
        </p:txBody>
      </p:sp>
      <p:sp>
        <p:nvSpPr>
          <p:cNvPr id="29" name="Rounded Rectangle 28"/>
          <p:cNvSpPr/>
          <p:nvPr/>
        </p:nvSpPr>
        <p:spPr>
          <a:xfrm>
            <a:off x="9985248" y="5870448"/>
            <a:ext cx="1426464" cy="347472"/>
          </a:xfrm>
          <a:prstGeom prst="roundRect">
            <a:avLst>
              <a:gd name="adj" fmla="val 50000"/>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buNone/>
            </a:pPr>
            <a:r>
              <a:rPr sz="1050" b="0">
                <a:solidFill>
                  <a:srgbClr val="F19111"/>
                </a:solidFill>
              </a:rPr>
              <a:t>docker-crema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Crema is still experimental</a:t>
            </a:r>
          </a:p>
        </p:txBody>
      </p:sp>
      <p:sp>
        <p:nvSpPr>
          <p:cNvPr id="3" name="Text Placeholder 2"/>
          <p:cNvSpPr>
            <a:spLocks noGrp="1"/>
          </p:cNvSpPr>
          <p:nvPr>
            <p:ph type="body" idx="11" sz="quarter"/>
          </p:nvPr>
        </p:nvSpPr>
        <p:spPr/>
        <p:txBody>
          <a:bodyPr/>
          <a:lstStyle/>
          <a:p>
            <a:r>
              <a:t>Native startup for tooling and apps — with real engineering costs today</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91640"/>
            <a:ext cx="3429000" cy="1920240"/>
          </a:xfrm>
          <a:prstGeom prst="roundRect">
            <a:avLst>
              <a:gd name="adj" fmla="val 3809"/>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800"/>
              </a:spcAft>
              <a:buNone/>
            </a:pPr>
            <a:r>
              <a:rPr sz="1550" b="1">
                <a:solidFill>
                  <a:srgbClr val="FFFFFF"/>
                </a:solidFill>
              </a:rPr>
              <a:t>Not all code runs the same yet</a:t>
            </a:r>
          </a:p>
          <a:p>
            <a:pPr algn="l">
              <a:buNone/>
            </a:pPr>
            <a:r>
              <a:rPr sz="1300">
                <a:solidFill>
                  <a:srgbClr val="A9B7C4"/>
                </a:solidFill>
              </a:rPr>
              <a:t>Code loaded at runtime doesn’t always behave exactly as on HotSpot; parity is still being closed</a:t>
            </a:r>
          </a:p>
        </p:txBody>
      </p:sp>
      <p:sp>
        <p:nvSpPr>
          <p:cNvPr id="11" name="Rounded Rectangle 10"/>
          <p:cNvSpPr/>
          <p:nvPr/>
        </p:nvSpPr>
        <p:spPr>
          <a:xfrm>
            <a:off x="4379976" y="1691640"/>
            <a:ext cx="3429000" cy="1920240"/>
          </a:xfrm>
          <a:prstGeom prst="roundRect">
            <a:avLst>
              <a:gd name="adj" fmla="val 3809"/>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800"/>
              </a:spcAft>
              <a:buNone/>
            </a:pPr>
            <a:r>
              <a:rPr sz="1550" b="1">
                <a:solidFill>
                  <a:srgbClr val="FFFFFF"/>
                </a:solidFill>
              </a:rPr>
              <a:t>No G1 GC</a:t>
            </a:r>
          </a:p>
          <a:p>
            <a:pPr algn="l">
              <a:buNone/>
            </a:pPr>
            <a:r>
              <a:rPr sz="1300">
                <a:solidFill>
                  <a:srgbClr val="A9B7C4"/>
                </a:solidFill>
              </a:rPr>
              <a:t>Throughput-oriented services with large heaps feel the collector difference</a:t>
            </a:r>
          </a:p>
        </p:txBody>
      </p:sp>
      <p:sp>
        <p:nvSpPr>
          <p:cNvPr id="12" name="Rounded Rectangle 11"/>
          <p:cNvSpPr/>
          <p:nvPr/>
        </p:nvSpPr>
        <p:spPr>
          <a:xfrm>
            <a:off x="7991856" y="1691640"/>
            <a:ext cx="3429000" cy="1920240"/>
          </a:xfrm>
          <a:prstGeom prst="roundRect">
            <a:avLst>
              <a:gd name="adj" fmla="val 3809"/>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800"/>
              </a:spcAft>
              <a:buNone/>
            </a:pPr>
            <a:r>
              <a:rPr sz="1550" b="1">
                <a:solidFill>
                  <a:srgbClr val="FFFFFF"/>
                </a:solidFill>
              </a:rPr>
              <a:t>Long, difficult builds</a:t>
            </a:r>
          </a:p>
          <a:p>
            <a:pPr algn="l">
              <a:buNone/>
            </a:pPr>
            <a:r>
              <a:rPr sz="1300">
                <a:solidFill>
                  <a:srgbClr val="A9B7C4"/>
                </a:solidFill>
              </a:rPr>
              <a:t>GraalPy + Truffle + javac in one image needs big machines and internal CI</a:t>
            </a:r>
          </a:p>
        </p:txBody>
      </p:sp>
      <p:sp>
        <p:nvSpPr>
          <p:cNvPr id="13" name="Rounded Rectangle 12"/>
          <p:cNvSpPr/>
          <p:nvPr/>
        </p:nvSpPr>
        <p:spPr>
          <a:xfrm>
            <a:off x="768096" y="3840480"/>
            <a:ext cx="3429000" cy="1920240"/>
          </a:xfrm>
          <a:prstGeom prst="roundRect">
            <a:avLst>
              <a:gd name="adj" fmla="val 3809"/>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800"/>
              </a:spcAft>
              <a:buNone/>
            </a:pPr>
            <a:r>
              <a:rPr sz="1550" b="1">
                <a:solidFill>
                  <a:srgbClr val="FFFFFF"/>
                </a:solidFill>
              </a:rPr>
              <a:t>Large binaries to distribute</a:t>
            </a:r>
          </a:p>
          <a:p>
            <a:pPr algn="l">
              <a:buNone/>
            </a:pPr>
            <a:r>
              <a:rPr sz="1300">
                <a:solidFill>
                  <a:srgbClr val="A9B7C4"/>
                </a:solidFill>
              </a:rPr>
              <a:t>Per-OS, per-architecture bundles of runtimes and tooling, downloaded on first use</a:t>
            </a:r>
          </a:p>
        </p:txBody>
      </p:sp>
      <p:sp>
        <p:nvSpPr>
          <p:cNvPr id="14" name="Rounded Rectangle 13"/>
          <p:cNvSpPr/>
          <p:nvPr/>
        </p:nvSpPr>
        <p:spPr>
          <a:xfrm>
            <a:off x="4379976" y="3840480"/>
            <a:ext cx="3429000" cy="1920240"/>
          </a:xfrm>
          <a:prstGeom prst="roundRect">
            <a:avLst>
              <a:gd name="adj" fmla="val 3809"/>
            </a:avLst>
          </a:prstGeom>
          <a:solidFill>
            <a:srgbClr val="25303A"/>
          </a:solidFill>
          <a:ln w="15875">
            <a:solidFill>
              <a:srgbClr val="E0634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800"/>
              </a:spcAft>
              <a:buNone/>
            </a:pPr>
            <a:r>
              <a:rPr sz="1550" b="1">
                <a:solidFill>
                  <a:srgbClr val="FFFFFF"/>
                </a:solidFill>
              </a:rPr>
              <a:t>Performance</a:t>
            </a:r>
          </a:p>
          <a:p>
            <a:pPr algn="l">
              <a:buNone/>
            </a:pPr>
            <a:r>
              <a:rPr sz="1300">
                <a:solidFill>
                  <a:srgbClr val="A9B7C4"/>
                </a:solidFill>
              </a:rPr>
              <a:t>Native trails the JVM on throughput and tail latency today, and PGO isn’t applied yet</a:t>
            </a:r>
          </a:p>
        </p:txBody>
      </p:sp>
      <p:sp>
        <p:nvSpPr>
          <p:cNvPr id="15" name="Rounded Rectangle 14"/>
          <p:cNvSpPr/>
          <p:nvPr/>
        </p:nvSpPr>
        <p:spPr>
          <a:xfrm>
            <a:off x="7991856" y="3840480"/>
            <a:ext cx="3429000" cy="1920240"/>
          </a:xfrm>
          <a:prstGeom prst="roundRect">
            <a:avLst>
              <a:gd name="adj" fmla="val 3809"/>
            </a:avLst>
          </a:prstGeom>
          <a:solidFill>
            <a:srgbClr val="2E3B47"/>
          </a:solidFill>
          <a:ln w="25400">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800"/>
              </a:spcBef>
              <a:spcAft>
                <a:spcPts val="800"/>
              </a:spcAft>
              <a:buNone/>
            </a:pPr>
            <a:r>
              <a:rPr sz="1550" b="1">
                <a:solidFill>
                  <a:srgbClr val="F19111"/>
                </a:solidFill>
              </a:rPr>
              <a:t>Why we still invest</a:t>
            </a:r>
          </a:p>
          <a:p>
            <a:pPr algn="l">
              <a:buNone/>
            </a:pPr>
            <a:r>
              <a:rPr sz="1300">
                <a:solidFill>
                  <a:srgbClr val="FFFFFF"/>
                </a:solidFill>
              </a:rPr>
              <a:t>Fast </a:t>
            </a:r>
            <a:r>
              <a:rPr sz="1300">
                <a:solidFill>
                  <a:srgbClr val="F0CC72"/>
                </a:solidFill>
                <a:latin typeface="Consolas"/>
              </a:rPr>
              <a:t>run</a:t>
            </a:r>
            <a:r>
              <a:rPr sz="1300">
                <a:solidFill>
                  <a:srgbClr val="FFFFFF"/>
                </a:solidFill>
              </a:rPr>
              <a:t>, </a:t>
            </a:r>
            <a:r>
              <a:rPr sz="1300">
                <a:solidFill>
                  <a:srgbClr val="F0CC72"/>
                </a:solidFill>
                <a:latin typeface="Consolas"/>
              </a:rPr>
              <a:t>dev</a:t>
            </a:r>
            <a:r>
              <a:rPr sz="1300">
                <a:solidFill>
                  <a:srgbClr val="FFFFFF"/>
                </a:solidFill>
              </a:rPr>
              <a:t> and </a:t>
            </a:r>
            <a:r>
              <a:rPr sz="1300">
                <a:solidFill>
                  <a:srgbClr val="F0CC72"/>
                </a:solidFill>
                <a:latin typeface="Consolas"/>
              </a:rPr>
              <a:t>test</a:t>
            </a:r>
            <a:r>
              <a:rPr sz="1300">
                <a:solidFill>
                  <a:srgbClr val="FFFFFF"/>
                </a:solidFill>
              </a:rPr>
              <a:t> startup; lower memory; one shared base for many applications.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a:t>
            </a:r>
          </a:p>
        </p:txBody>
      </p:sp>
      <p:sp>
        <p:nvSpPr>
          <p:cNvPr id="3" name="Text Placeholder 2"/>
          <p:cNvSpPr>
            <a:spLocks noGrp="1"/>
          </p:cNvSpPr>
          <p:nvPr>
            <p:ph type="body" idx="33" sz="quarter"/>
          </p:nvPr>
        </p:nvSpPr>
        <p:spPr>
          <a:xfrm>
            <a:ext cx="7498079" cy="0"/>
          </a:xfrm>
        </p:spPr>
        <p:txBody>
          <a:bodyPr/>
          <a:lstStyle/>
          <a:p>
            <a:r>
              <a:t>JVM vs native, Pyronaut vs other frameworks — and what’s left on the table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463040"/>
            <a:ext cx="2743200" cy="640080"/>
          </a:xfrm>
          <a:prstGeom prst="rect">
            <a:avLst/>
          </a:prstGeom>
          <a:noFill/>
        </p:spPr>
        <p:txBody>
          <a:bodyPr wrap="square" lIns="0" rIns="0" tIns="0" bIns="0" anchor="t"/>
          <a:lstStyle/>
          <a:p>
            <a:pPr>
              <a:buNone/>
            </a:pPr>
            <a:r>
              <a:rPr sz="3600" b="1">
                <a:solidFill>
                  <a:srgbClr val="F19111"/>
                </a:solidFill>
              </a:rPr>
              <a:t>07</a:t>
            </a:r>
          </a:p>
        </p:txBody>
      </p:sp>
      <p:pic>
        <p:nvPicPr>
          <p:cNvPr id="11" name="Picture 10" descr="python.png"/>
          <p:cNvPicPr>
            <a:picLocks noChangeAspect="1"/>
          </p:cNvPicPr>
          <p:nvPr/>
        </p:nvPicPr>
        <p:blipFill>
          <a:blip r:embed="rId3"/>
          <a:stretch>
            <a:fillRect/>
          </a:stretch>
        </p:blipFill>
        <p:spPr>
          <a:xfrm>
            <a:off x="8503920" y="1828800"/>
            <a:ext cx="2926080" cy="2985795"/>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benchmark: one workload, six servers</a:t>
            </a:r>
          </a:p>
        </p:txBody>
      </p:sp>
      <p:sp>
        <p:nvSpPr>
          <p:cNvPr id="3" name="Text Placeholder 2"/>
          <p:cNvSpPr>
            <a:spLocks noGrp="1"/>
          </p:cNvSpPr>
          <p:nvPr>
            <p:ph type="body" idx="11" sz="quarter"/>
          </p:nvPr>
        </p:nvSpPr>
        <p:spPr/>
        <p:txBody>
          <a:bodyPr/>
          <a:lstStyle/>
          <a:p>
            <a:r>
              <a:t>Oracle Labs benchmark run, 8 September 2026</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91640"/>
            <a:ext cx="5760720" cy="896112"/>
          </a:xfrm>
          <a:prstGeom prst="roundRect">
            <a:avLst>
              <a:gd name="adj" fmla="val 816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100" b="1">
                <a:solidFill>
                  <a:srgbClr val="F19111"/>
                </a:solidFill>
              </a:rPr>
              <a:t>WORKLOAD</a:t>
            </a:r>
          </a:p>
          <a:p>
            <a:pPr algn="l">
              <a:buNone/>
            </a:pPr>
            <a:r>
              <a:rPr sz="1500">
                <a:solidFill>
                  <a:srgbClr val="FFFFFF"/>
                </a:solidFill>
              </a:rPr>
              <a:t>HTTP/2 over TLS  ·  POST /search/find</a:t>
            </a:r>
          </a:p>
        </p:txBody>
      </p:sp>
      <p:sp>
        <p:nvSpPr>
          <p:cNvPr id="11" name="Rounded Rectangle 10"/>
          <p:cNvSpPr/>
          <p:nvPr/>
        </p:nvSpPr>
        <p:spPr>
          <a:xfrm>
            <a:off x="768096" y="2770632"/>
            <a:ext cx="5760720" cy="896112"/>
          </a:xfrm>
          <a:prstGeom prst="roundRect">
            <a:avLst>
              <a:gd name="adj" fmla="val 816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100" b="1">
                <a:solidFill>
                  <a:srgbClr val="F19111"/>
                </a:solidFill>
              </a:rPr>
              <a:t>MACHINE</a:t>
            </a:r>
          </a:p>
          <a:p>
            <a:pPr algn="l">
              <a:buNone/>
            </a:pPr>
            <a:r>
              <a:rPr sz="1500">
                <a:solidFill>
                  <a:srgbClr val="FFFFFF"/>
                </a:solidFill>
              </a:rPr>
              <a:t>OCI VM.Standard.E4.Flex  ·  3 CPUs  ·  24 GB</a:t>
            </a:r>
          </a:p>
        </p:txBody>
      </p:sp>
      <p:sp>
        <p:nvSpPr>
          <p:cNvPr id="12" name="Rounded Rectangle 11"/>
          <p:cNvSpPr/>
          <p:nvPr/>
        </p:nvSpPr>
        <p:spPr>
          <a:xfrm>
            <a:off x="768096" y="3849624"/>
            <a:ext cx="5760720" cy="896112"/>
          </a:xfrm>
          <a:prstGeom prst="roundRect">
            <a:avLst>
              <a:gd name="adj" fmla="val 816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100" b="1">
                <a:solidFill>
                  <a:srgbClr val="F19111"/>
                </a:solidFill>
              </a:rPr>
              <a:t>LOAD</a:t>
            </a:r>
          </a:p>
          <a:p>
            <a:pPr algn="l">
              <a:buNone/>
            </a:pPr>
            <a:r>
              <a:rPr sz="1500">
                <a:solidFill>
                  <a:srgbClr val="FFFFFF"/>
                </a:solidFill>
              </a:rPr>
              <a:t>fixed request rates, 100 → 64,000 ops/s</a:t>
            </a:r>
          </a:p>
        </p:txBody>
      </p:sp>
      <p:sp>
        <p:nvSpPr>
          <p:cNvPr id="13" name="Rounded Rectangle 12"/>
          <p:cNvSpPr/>
          <p:nvPr/>
        </p:nvSpPr>
        <p:spPr>
          <a:xfrm>
            <a:off x="768096" y="4928616"/>
            <a:ext cx="5760720" cy="896112"/>
          </a:xfrm>
          <a:prstGeom prst="roundRect">
            <a:avLst>
              <a:gd name="adj" fmla="val 8163"/>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buNone/>
            </a:pPr>
            <a:r>
              <a:rPr sz="1100" b="1">
                <a:solidFill>
                  <a:srgbClr val="E0634F"/>
                </a:solidFill>
              </a:rPr>
              <a:t>CAVEAT</a:t>
            </a:r>
          </a:p>
          <a:p>
            <a:pPr algn="l">
              <a:buNone/>
            </a:pPr>
            <a:r>
              <a:rPr sz="1500">
                <a:solidFill>
                  <a:srgbClr val="FFFFFF"/>
                </a:solidFill>
              </a:rPr>
              <a:t>profiling enabled, a single run — directional, not a leaderboard</a:t>
            </a:r>
          </a:p>
        </p:txBody>
      </p:sp>
      <p:sp>
        <p:nvSpPr>
          <p:cNvPr id="14" name="TextBox 13"/>
          <p:cNvSpPr txBox="1"/>
          <p:nvPr/>
        </p:nvSpPr>
        <p:spPr>
          <a:xfrm>
            <a:off x="7040880" y="1572768"/>
            <a:ext cx="4389120" cy="256032"/>
          </a:xfrm>
          <a:prstGeom prst="rect">
            <a:avLst/>
          </a:prstGeom>
          <a:noFill/>
        </p:spPr>
        <p:txBody>
          <a:bodyPr wrap="square" lIns="0" rIns="0" tIns="0" bIns="0" anchor="ctr"/>
          <a:lstStyle/>
          <a:p>
            <a:pPr algn="l">
              <a:buNone/>
            </a:pPr>
            <a:r>
              <a:rPr sz="1100" b="1">
                <a:solidFill>
                  <a:srgbClr val="A9B7C4"/>
                </a:solidFill>
              </a:rPr>
              <a:t>CONTENDERS</a:t>
            </a:r>
          </a:p>
        </p:txBody>
      </p:sp>
      <p:sp>
        <p:nvSpPr>
          <p:cNvPr id="15" name="Rounded Rectangle 14"/>
          <p:cNvSpPr/>
          <p:nvPr/>
        </p:nvSpPr>
        <p:spPr>
          <a:xfrm>
            <a:off x="7040880" y="2029968"/>
            <a:ext cx="329184" cy="329184"/>
          </a:xfrm>
          <a:prstGeom prst="roundRect">
            <a:avLst>
              <a:gd name="adj" fmla="val 16666"/>
            </a:avLst>
          </a:prstGeom>
          <a:solidFill>
            <a:srgbClr val="00A1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6" name="TextBox 15"/>
          <p:cNvSpPr txBox="1"/>
          <p:nvPr/>
        </p:nvSpPr>
        <p:spPr>
          <a:xfrm>
            <a:off x="7543800" y="1920240"/>
            <a:ext cx="3931920" cy="329184"/>
          </a:xfrm>
          <a:prstGeom prst="rect">
            <a:avLst/>
          </a:prstGeom>
          <a:noFill/>
        </p:spPr>
        <p:txBody>
          <a:bodyPr wrap="square" lIns="0" rIns="0" tIns="0" bIns="0" anchor="ctr"/>
          <a:lstStyle/>
          <a:p>
            <a:pPr>
              <a:buNone/>
            </a:pPr>
            <a:r>
              <a:rPr sz="1500" b="1">
                <a:solidFill>
                  <a:srgbClr val="FFFFFF"/>
                </a:solidFill>
              </a:rPr>
              <a:t>Pure Netty</a:t>
            </a:r>
          </a:p>
        </p:txBody>
      </p:sp>
      <p:sp>
        <p:nvSpPr>
          <p:cNvPr id="17" name="TextBox 16"/>
          <p:cNvSpPr txBox="1"/>
          <p:nvPr/>
        </p:nvSpPr>
        <p:spPr>
          <a:xfrm>
            <a:off x="7543800" y="2221992"/>
            <a:ext cx="3931920" cy="274320"/>
          </a:xfrm>
          <a:prstGeom prst="rect">
            <a:avLst/>
          </a:prstGeom>
          <a:noFill/>
        </p:spPr>
        <p:txBody>
          <a:bodyPr wrap="square" lIns="0" rIns="0" tIns="0" bIns="0" anchor="ctr"/>
          <a:lstStyle/>
          <a:p>
            <a:pPr>
              <a:buNone/>
            </a:pPr>
            <a:r>
              <a:rPr sz="1150">
                <a:solidFill>
                  <a:srgbClr val="A9B7C4"/>
                </a:solidFill>
              </a:rPr>
              <a:t>hand-written Java baseline</a:t>
            </a:r>
          </a:p>
        </p:txBody>
      </p:sp>
      <p:sp>
        <p:nvSpPr>
          <p:cNvPr id="18" name="Rounded Rectangle 17"/>
          <p:cNvSpPr/>
          <p:nvPr/>
        </p:nvSpPr>
        <p:spPr>
          <a:xfrm>
            <a:off x="7040880" y="2734056"/>
            <a:ext cx="329184" cy="329184"/>
          </a:xfrm>
          <a:prstGeom prst="roundRect">
            <a:avLst>
              <a:gd name="adj" fmla="val 16666"/>
            </a:avLst>
          </a:prstGeom>
          <a:solidFill>
            <a:srgbClr val="6DBE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9" name="TextBox 18"/>
          <p:cNvSpPr txBox="1"/>
          <p:nvPr/>
        </p:nvSpPr>
        <p:spPr>
          <a:xfrm>
            <a:off x="7543800" y="2624328"/>
            <a:ext cx="3931920" cy="329184"/>
          </a:xfrm>
          <a:prstGeom prst="rect">
            <a:avLst/>
          </a:prstGeom>
          <a:noFill/>
        </p:spPr>
        <p:txBody>
          <a:bodyPr wrap="square" lIns="0" rIns="0" tIns="0" bIns="0" anchor="ctr"/>
          <a:lstStyle/>
          <a:p>
            <a:pPr>
              <a:buNone/>
            </a:pPr>
            <a:r>
              <a:rPr sz="1500" b="1">
                <a:solidFill>
                  <a:srgbClr val="FFFFFF"/>
                </a:solidFill>
              </a:rPr>
              <a:t>Micronaut</a:t>
            </a:r>
          </a:p>
        </p:txBody>
      </p:sp>
      <p:sp>
        <p:nvSpPr>
          <p:cNvPr id="20" name="TextBox 19"/>
          <p:cNvSpPr txBox="1"/>
          <p:nvPr/>
        </p:nvSpPr>
        <p:spPr>
          <a:xfrm>
            <a:off x="7543800" y="2926080"/>
            <a:ext cx="3931920" cy="274320"/>
          </a:xfrm>
          <a:prstGeom prst="rect">
            <a:avLst/>
          </a:prstGeom>
          <a:noFill/>
        </p:spPr>
        <p:txBody>
          <a:bodyPr wrap="square" lIns="0" rIns="0" tIns="0" bIns="0" anchor="ctr"/>
          <a:lstStyle/>
          <a:p>
            <a:pPr>
              <a:buNone/>
            </a:pPr>
            <a:r>
              <a:rPr sz="1150">
                <a:solidFill>
                  <a:srgbClr val="A9B7C4"/>
                </a:solidFill>
              </a:rPr>
              <a:t>Java application</a:t>
            </a:r>
          </a:p>
        </p:txBody>
      </p:sp>
      <p:sp>
        <p:nvSpPr>
          <p:cNvPr id="21" name="Rounded Rectangle 20"/>
          <p:cNvSpPr/>
          <p:nvPr/>
        </p:nvSpPr>
        <p:spPr>
          <a:xfrm>
            <a:off x="7040880" y="3438144"/>
            <a:ext cx="329184" cy="329184"/>
          </a:xfrm>
          <a:prstGeom prst="roundRect">
            <a:avLst>
              <a:gd name="adj" fmla="val 16666"/>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2" name="TextBox 21"/>
          <p:cNvSpPr txBox="1"/>
          <p:nvPr/>
        </p:nvSpPr>
        <p:spPr>
          <a:xfrm>
            <a:off x="7543800" y="3328416"/>
            <a:ext cx="3931920" cy="329184"/>
          </a:xfrm>
          <a:prstGeom prst="rect">
            <a:avLst/>
          </a:prstGeom>
          <a:noFill/>
        </p:spPr>
        <p:txBody>
          <a:bodyPr wrap="square" lIns="0" rIns="0" tIns="0" bIns="0" anchor="ctr"/>
          <a:lstStyle/>
          <a:p>
            <a:pPr>
              <a:buNone/>
            </a:pPr>
            <a:r>
              <a:rPr sz="1500" b="1">
                <a:solidFill>
                  <a:srgbClr val="FFFFFF"/>
                </a:solidFill>
              </a:rPr>
              <a:t>Pyronaut JVM</a:t>
            </a:r>
          </a:p>
        </p:txBody>
      </p:sp>
      <p:sp>
        <p:nvSpPr>
          <p:cNvPr id="23" name="TextBox 22"/>
          <p:cNvSpPr txBox="1"/>
          <p:nvPr/>
        </p:nvSpPr>
        <p:spPr>
          <a:xfrm>
            <a:off x="7543800" y="3630168"/>
            <a:ext cx="3931920" cy="274320"/>
          </a:xfrm>
          <a:prstGeom prst="rect">
            <a:avLst/>
          </a:prstGeom>
          <a:noFill/>
        </p:spPr>
        <p:txBody>
          <a:bodyPr wrap="square" lIns="0" rIns="0" tIns="0" bIns="0" anchor="ctr"/>
          <a:lstStyle/>
          <a:p>
            <a:pPr>
              <a:buNone/>
            </a:pPr>
            <a:r>
              <a:rPr sz="1150">
                <a:solidFill>
                  <a:srgbClr val="A9B7C4"/>
                </a:solidFill>
              </a:rPr>
              <a:t>Python on HotSpot</a:t>
            </a:r>
          </a:p>
        </p:txBody>
      </p:sp>
      <p:sp>
        <p:nvSpPr>
          <p:cNvPr id="24" name="Rounded Rectangle 23"/>
          <p:cNvSpPr/>
          <p:nvPr/>
        </p:nvSpPr>
        <p:spPr>
          <a:xfrm>
            <a:off x="7040880" y="4142232"/>
            <a:ext cx="329184" cy="329184"/>
          </a:xfrm>
          <a:prstGeom prst="roundRect">
            <a:avLst>
              <a:gd name="adj" fmla="val 16666"/>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5" name="TextBox 24"/>
          <p:cNvSpPr txBox="1"/>
          <p:nvPr/>
        </p:nvSpPr>
        <p:spPr>
          <a:xfrm>
            <a:off x="7543800" y="4032504"/>
            <a:ext cx="3931920" cy="329184"/>
          </a:xfrm>
          <a:prstGeom prst="rect">
            <a:avLst/>
          </a:prstGeom>
          <a:noFill/>
        </p:spPr>
        <p:txBody>
          <a:bodyPr wrap="square" lIns="0" rIns="0" tIns="0" bIns="0" anchor="ctr"/>
          <a:lstStyle/>
          <a:p>
            <a:pPr>
              <a:buNone/>
            </a:pPr>
            <a:r>
              <a:rPr sz="1500" b="1">
                <a:solidFill>
                  <a:srgbClr val="FFFFFF"/>
                </a:solidFill>
              </a:rPr>
              <a:t>Pyronaut native</a:t>
            </a:r>
          </a:p>
        </p:txBody>
      </p:sp>
      <p:sp>
        <p:nvSpPr>
          <p:cNvPr id="26" name="TextBox 25"/>
          <p:cNvSpPr txBox="1"/>
          <p:nvPr/>
        </p:nvSpPr>
        <p:spPr>
          <a:xfrm>
            <a:off x="7543800" y="4334256"/>
            <a:ext cx="3931920" cy="274320"/>
          </a:xfrm>
          <a:prstGeom prst="rect">
            <a:avLst/>
          </a:prstGeom>
          <a:noFill/>
        </p:spPr>
        <p:txBody>
          <a:bodyPr wrap="square" lIns="0" rIns="0" tIns="0" bIns="0" anchor="ctr"/>
          <a:lstStyle/>
          <a:p>
            <a:pPr>
              <a:buNone/>
            </a:pPr>
            <a:r>
              <a:rPr sz="1150">
                <a:solidFill>
                  <a:srgbClr val="A9B7C4"/>
                </a:solidFill>
              </a:rPr>
              <a:t>Python on Native Image</a:t>
            </a:r>
          </a:p>
        </p:txBody>
      </p:sp>
      <p:sp>
        <p:nvSpPr>
          <p:cNvPr id="27" name="Rounded Rectangle 26"/>
          <p:cNvSpPr/>
          <p:nvPr/>
        </p:nvSpPr>
        <p:spPr>
          <a:xfrm>
            <a:off x="7040880" y="4846320"/>
            <a:ext cx="329184" cy="329184"/>
          </a:xfrm>
          <a:prstGeom prst="roundRect">
            <a:avLst>
              <a:gd name="adj" fmla="val 16666"/>
            </a:avLst>
          </a:prstGeom>
          <a:solidFill>
            <a:srgbClr val="9B6B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8" name="TextBox 27"/>
          <p:cNvSpPr txBox="1"/>
          <p:nvPr/>
        </p:nvSpPr>
        <p:spPr>
          <a:xfrm>
            <a:off x="7543800" y="4736592"/>
            <a:ext cx="3931920" cy="329184"/>
          </a:xfrm>
          <a:prstGeom prst="rect">
            <a:avLst/>
          </a:prstGeom>
          <a:noFill/>
        </p:spPr>
        <p:txBody>
          <a:bodyPr wrap="square" lIns="0" rIns="0" tIns="0" bIns="0" anchor="ctr"/>
          <a:lstStyle/>
          <a:p>
            <a:pPr>
              <a:buNone/>
            </a:pPr>
            <a:r>
              <a:rPr sz="1500" b="1">
                <a:solidFill>
                  <a:srgbClr val="FFFFFF"/>
                </a:solidFill>
              </a:rPr>
              <a:t>Flask + Gunicorn</a:t>
            </a:r>
          </a:p>
        </p:txBody>
      </p:sp>
      <p:sp>
        <p:nvSpPr>
          <p:cNvPr id="29" name="TextBox 28"/>
          <p:cNvSpPr txBox="1"/>
          <p:nvPr/>
        </p:nvSpPr>
        <p:spPr>
          <a:xfrm>
            <a:off x="7543800" y="5038344"/>
            <a:ext cx="3931920" cy="274320"/>
          </a:xfrm>
          <a:prstGeom prst="rect">
            <a:avLst/>
          </a:prstGeom>
          <a:noFill/>
        </p:spPr>
        <p:txBody>
          <a:bodyPr wrap="square" lIns="0" rIns="0" tIns="0" bIns="0" anchor="ctr"/>
          <a:lstStyle/>
          <a:p>
            <a:pPr>
              <a:buNone/>
            </a:pPr>
            <a:r>
              <a:rPr sz="1150">
                <a:solidFill>
                  <a:srgbClr val="A9B7C4"/>
                </a:solidFill>
              </a:rPr>
              <a:t>CPython, WSGI</a:t>
            </a:r>
          </a:p>
        </p:txBody>
      </p:sp>
      <p:sp>
        <p:nvSpPr>
          <p:cNvPr id="30" name="Rounded Rectangle 29"/>
          <p:cNvSpPr/>
          <p:nvPr/>
        </p:nvSpPr>
        <p:spPr>
          <a:xfrm>
            <a:off x="7040880" y="5550408"/>
            <a:ext cx="329184" cy="329184"/>
          </a:xfrm>
          <a:prstGeom prst="roundRect">
            <a:avLst>
              <a:gd name="adj" fmla="val 16666"/>
            </a:avLst>
          </a:prstGeom>
          <a:solidFill>
            <a:srgbClr val="8E9A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1" name="TextBox 30"/>
          <p:cNvSpPr txBox="1"/>
          <p:nvPr/>
        </p:nvSpPr>
        <p:spPr>
          <a:xfrm>
            <a:off x="7543800" y="5440680"/>
            <a:ext cx="3931920" cy="329184"/>
          </a:xfrm>
          <a:prstGeom prst="rect">
            <a:avLst/>
          </a:prstGeom>
          <a:noFill/>
        </p:spPr>
        <p:txBody>
          <a:bodyPr wrap="square" lIns="0" rIns="0" tIns="0" bIns="0" anchor="ctr"/>
          <a:lstStyle/>
          <a:p>
            <a:pPr>
              <a:buNone/>
            </a:pPr>
            <a:r>
              <a:rPr sz="1500" b="1">
                <a:solidFill>
                  <a:srgbClr val="FFFFFF"/>
                </a:solidFill>
              </a:rPr>
              <a:t>Emmett + Granian</a:t>
            </a:r>
          </a:p>
        </p:txBody>
      </p:sp>
      <p:sp>
        <p:nvSpPr>
          <p:cNvPr id="32" name="TextBox 31"/>
          <p:cNvSpPr txBox="1"/>
          <p:nvPr/>
        </p:nvSpPr>
        <p:spPr>
          <a:xfrm>
            <a:off x="7543800" y="5742432"/>
            <a:ext cx="3931920" cy="274320"/>
          </a:xfrm>
          <a:prstGeom prst="rect">
            <a:avLst/>
          </a:prstGeom>
          <a:noFill/>
        </p:spPr>
        <p:txBody>
          <a:bodyPr wrap="square" lIns="0" rIns="0" tIns="0" bIns="0" anchor="ctr"/>
          <a:lstStyle/>
          <a:p>
            <a:pPr>
              <a:buNone/>
            </a:pPr>
            <a:r>
              <a:rPr sz="1150">
                <a:solidFill>
                  <a:srgbClr val="A9B7C4"/>
                </a:solidFill>
              </a:rPr>
              <a:t>CPython, Rust server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much load can each server sustain?</a:t>
            </a:r>
          </a:p>
        </p:txBody>
      </p:sp>
      <p:sp>
        <p:nvSpPr>
          <p:cNvPr id="3" name="Text Placeholder 2"/>
          <p:cNvSpPr>
            <a:spLocks noGrp="1"/>
          </p:cNvSpPr>
          <p:nvPr>
            <p:ph type="body" idx="11" sz="quarter"/>
          </p:nvPr>
        </p:nvSpPr>
        <p:spPr/>
        <p:txBody>
          <a:bodyPr/>
          <a:lstStyle/>
          <a:p>
            <a:r>
              <a:t>Highest tested request rate each server kept up with (ops/s)</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graphicFrame>
        <p:nvGraphicFramePr>
          <p:cNvPr id="10" name="Chart 9"/>
          <p:cNvGraphicFramePr>
            <a:graphicFrameLocks noGrp="1"/>
          </p:cNvGraphicFramePr>
          <p:nvPr/>
        </p:nvGraphicFramePr>
        <p:xfrm>
          <a:off x="768096" y="1600200"/>
          <a:ext cx="6766560" cy="4572000"/>
        </p:xfrm>
        <a:graphic>
          <a:graphicData uri="http://schemas.openxmlformats.org/drawingml/2006/chart">
            <c:chart xmlns:c="http://schemas.openxmlformats.org/drawingml/2006/chart" r:id="rId3"/>
          </a:graphicData>
        </a:graphic>
      </p:graphicFrame>
      <p:sp>
        <p:nvSpPr>
          <p:cNvPr id="11" name="TextBox 10"/>
          <p:cNvSpPr txBox="1"/>
          <p:nvPr/>
        </p:nvSpPr>
        <p:spPr>
          <a:xfrm>
            <a:off x="7955279" y="1691640"/>
            <a:ext cx="1371600" cy="914400"/>
          </a:xfrm>
          <a:prstGeom prst="rect">
            <a:avLst/>
          </a:prstGeom>
          <a:noFill/>
        </p:spPr>
        <p:txBody>
          <a:bodyPr wrap="square" lIns="0" rIns="0" tIns="0" bIns="0" anchor="ctr"/>
          <a:lstStyle/>
          <a:p>
            <a:pPr>
              <a:buNone/>
            </a:pPr>
            <a:r>
              <a:rPr sz="4400" b="1">
                <a:solidFill>
                  <a:srgbClr val="F19111"/>
                </a:solidFill>
              </a:rPr>
              <a:t>2×</a:t>
            </a:r>
          </a:p>
        </p:txBody>
      </p:sp>
      <p:sp>
        <p:nvSpPr>
          <p:cNvPr id="12" name="TextBox 11"/>
          <p:cNvSpPr txBox="1"/>
          <p:nvPr/>
        </p:nvSpPr>
        <p:spPr>
          <a:xfrm>
            <a:off x="9326880" y="1801368"/>
            <a:ext cx="2194560" cy="365760"/>
          </a:xfrm>
          <a:prstGeom prst="rect">
            <a:avLst/>
          </a:prstGeom>
          <a:noFill/>
        </p:spPr>
        <p:txBody>
          <a:bodyPr wrap="square" lIns="0" rIns="0" tIns="0" bIns="0" anchor="t"/>
          <a:lstStyle/>
          <a:p>
            <a:pPr>
              <a:buNone/>
            </a:pPr>
            <a:r>
              <a:rPr sz="1500" b="1">
                <a:solidFill>
                  <a:srgbClr val="FFFFFF"/>
                </a:solidFill>
              </a:rPr>
              <a:t>Flask + Gunicorn</a:t>
            </a:r>
          </a:p>
        </p:txBody>
      </p:sp>
      <p:sp>
        <p:nvSpPr>
          <p:cNvPr id="13" name="TextBox 12"/>
          <p:cNvSpPr txBox="1"/>
          <p:nvPr/>
        </p:nvSpPr>
        <p:spPr>
          <a:xfrm>
            <a:off x="9326880" y="2148840"/>
            <a:ext cx="2194560" cy="548640"/>
          </a:xfrm>
          <a:prstGeom prst="rect">
            <a:avLst/>
          </a:prstGeom>
          <a:noFill/>
        </p:spPr>
        <p:txBody>
          <a:bodyPr wrap="square" lIns="0" rIns="0" tIns="0" bIns="0" anchor="t"/>
          <a:lstStyle/>
          <a:p>
            <a:pPr>
              <a:buNone/>
            </a:pPr>
            <a:r>
              <a:rPr sz="1200">
                <a:solidFill>
                  <a:srgbClr val="A9B7C4"/>
                </a:solidFill>
              </a:rPr>
              <a:t>Pyronaut JVM sustains 8,000 ops/s</a:t>
            </a:r>
          </a:p>
        </p:txBody>
      </p:sp>
      <p:sp>
        <p:nvSpPr>
          <p:cNvPr id="14" name="TextBox 13"/>
          <p:cNvSpPr txBox="1"/>
          <p:nvPr/>
        </p:nvSpPr>
        <p:spPr>
          <a:xfrm>
            <a:off x="7955279" y="3172968"/>
            <a:ext cx="1371600" cy="914400"/>
          </a:xfrm>
          <a:prstGeom prst="rect">
            <a:avLst/>
          </a:prstGeom>
          <a:noFill/>
        </p:spPr>
        <p:txBody>
          <a:bodyPr wrap="square" lIns="0" rIns="0" tIns="0" bIns="0" anchor="ctr"/>
          <a:lstStyle/>
          <a:p>
            <a:pPr>
              <a:buNone/>
            </a:pPr>
            <a:r>
              <a:rPr sz="4400" b="1">
                <a:solidFill>
                  <a:srgbClr val="F19111"/>
                </a:solidFill>
              </a:rPr>
              <a:t>8×</a:t>
            </a:r>
          </a:p>
        </p:txBody>
      </p:sp>
      <p:sp>
        <p:nvSpPr>
          <p:cNvPr id="15" name="TextBox 14"/>
          <p:cNvSpPr txBox="1"/>
          <p:nvPr/>
        </p:nvSpPr>
        <p:spPr>
          <a:xfrm>
            <a:off x="9326880" y="3282696"/>
            <a:ext cx="2194560" cy="365760"/>
          </a:xfrm>
          <a:prstGeom prst="rect">
            <a:avLst/>
          </a:prstGeom>
          <a:noFill/>
        </p:spPr>
        <p:txBody>
          <a:bodyPr wrap="square" lIns="0" rIns="0" tIns="0" bIns="0" anchor="t"/>
          <a:lstStyle/>
          <a:p>
            <a:pPr>
              <a:buNone/>
            </a:pPr>
            <a:r>
              <a:rPr sz="1500" b="1">
                <a:solidFill>
                  <a:srgbClr val="FFFFFF"/>
                </a:solidFill>
              </a:rPr>
              <a:t>Emmett + Granian</a:t>
            </a:r>
          </a:p>
        </p:txBody>
      </p:sp>
      <p:sp>
        <p:nvSpPr>
          <p:cNvPr id="16" name="TextBox 15"/>
          <p:cNvSpPr txBox="1"/>
          <p:nvPr/>
        </p:nvSpPr>
        <p:spPr>
          <a:xfrm>
            <a:off x="9326880" y="3630168"/>
            <a:ext cx="2194560" cy="548640"/>
          </a:xfrm>
          <a:prstGeom prst="rect">
            <a:avLst/>
          </a:prstGeom>
          <a:noFill/>
        </p:spPr>
        <p:txBody>
          <a:bodyPr wrap="square" lIns="0" rIns="0" tIns="0" bIns="0" anchor="t"/>
          <a:lstStyle/>
          <a:p>
            <a:pPr>
              <a:buNone/>
            </a:pPr>
            <a:r>
              <a:rPr sz="1200">
                <a:solidFill>
                  <a:srgbClr val="A9B7C4"/>
                </a:solidFill>
              </a:rPr>
              <a:t>which topped out at 1,000 ops/s</a:t>
            </a:r>
          </a:p>
        </p:txBody>
      </p:sp>
      <p:sp>
        <p:nvSpPr>
          <p:cNvPr id="17" name="TextBox 16"/>
          <p:cNvSpPr txBox="1"/>
          <p:nvPr/>
        </p:nvSpPr>
        <p:spPr>
          <a:xfrm>
            <a:off x="7955279" y="4654296"/>
            <a:ext cx="1371600" cy="914400"/>
          </a:xfrm>
          <a:prstGeom prst="rect">
            <a:avLst/>
          </a:prstGeom>
          <a:noFill/>
        </p:spPr>
        <p:txBody>
          <a:bodyPr wrap="square" lIns="0" rIns="0" tIns="0" bIns="0" anchor="ctr"/>
          <a:lstStyle/>
          <a:p>
            <a:pPr>
              <a:buNone/>
            </a:pPr>
            <a:r>
              <a:rPr sz="4400" b="1">
                <a:solidFill>
                  <a:srgbClr val="6DBEE7"/>
                </a:solidFill>
              </a:rPr>
              <a:t>¼</a:t>
            </a:r>
          </a:p>
        </p:txBody>
      </p:sp>
      <p:sp>
        <p:nvSpPr>
          <p:cNvPr id="18" name="TextBox 17"/>
          <p:cNvSpPr txBox="1"/>
          <p:nvPr/>
        </p:nvSpPr>
        <p:spPr>
          <a:xfrm>
            <a:off x="9326880" y="4764024"/>
            <a:ext cx="2194560" cy="365760"/>
          </a:xfrm>
          <a:prstGeom prst="rect">
            <a:avLst/>
          </a:prstGeom>
          <a:noFill/>
        </p:spPr>
        <p:txBody>
          <a:bodyPr wrap="square" lIns="0" rIns="0" tIns="0" bIns="0" anchor="t"/>
          <a:lstStyle/>
          <a:p>
            <a:pPr>
              <a:buNone/>
            </a:pPr>
            <a:r>
              <a:rPr sz="1500" b="1">
                <a:solidFill>
                  <a:srgbClr val="FFFFFF"/>
                </a:solidFill>
              </a:rPr>
              <a:t>of Java Micronaut</a:t>
            </a:r>
          </a:p>
        </p:txBody>
      </p:sp>
      <p:sp>
        <p:nvSpPr>
          <p:cNvPr id="19" name="TextBox 18"/>
          <p:cNvSpPr txBox="1"/>
          <p:nvPr/>
        </p:nvSpPr>
        <p:spPr>
          <a:xfrm>
            <a:off x="9326880" y="5111496"/>
            <a:ext cx="2194560" cy="548640"/>
          </a:xfrm>
          <a:prstGeom prst="rect">
            <a:avLst/>
          </a:prstGeom>
          <a:noFill/>
        </p:spPr>
        <p:txBody>
          <a:bodyPr wrap="square" lIns="0" rIns="0" tIns="0" bIns="0" anchor="t"/>
          <a:lstStyle/>
          <a:p>
            <a:pPr>
              <a:buNone/>
            </a:pPr>
            <a:r>
              <a:rPr sz="1200">
                <a:solidFill>
                  <a:srgbClr val="A9B7C4"/>
                </a:solidFill>
              </a:rPr>
              <a:t>the price of executing Python today</a:t>
            </a:r>
          </a:p>
        </p:txBody>
      </p:sp>
      <p:sp>
        <p:nvSpPr>
          <p:cNvPr id="20" name="TextBox 19"/>
          <p:cNvSpPr txBox="1"/>
          <p:nvPr/>
        </p:nvSpPr>
        <p:spPr>
          <a:xfrm>
            <a:off x="7955279" y="5806440"/>
            <a:ext cx="3566160" cy="411480"/>
          </a:xfrm>
          <a:prstGeom prst="rect">
            <a:avLst/>
          </a:prstGeom>
          <a:noFill/>
        </p:spPr>
        <p:txBody>
          <a:bodyPr wrap="square" lIns="0" rIns="0" tIns="0" bIns="0" anchor="t"/>
          <a:lstStyle/>
          <a:p>
            <a:pPr>
              <a:buNone/>
            </a:pPr>
            <a:r>
              <a:rPr sz="1100">
                <a:solidFill>
                  <a:srgbClr val="7D8B98"/>
                </a:solidFill>
              </a:rPr>
              <a:t>Rates were tested in steps: 1k, 4k, 8k, 16k, 32k, 64k.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Latency: p50 and p99</a:t>
            </a:r>
          </a:p>
        </p:txBody>
      </p:sp>
      <p:sp>
        <p:nvSpPr>
          <p:cNvPr id="3" name="Text Placeholder 2"/>
          <p:cNvSpPr>
            <a:spLocks noGrp="1"/>
          </p:cNvSpPr>
          <p:nvPr>
            <p:ph type="body" idx="11" sz="quarter"/>
          </p:nvPr>
        </p:nvSpPr>
        <p:spPr/>
        <p:txBody>
          <a:bodyPr/>
          <a:lstStyle/>
          <a:p>
            <a:r>
              <a:t>Microseconds — lower is better</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TextBox 9"/>
          <p:cNvSpPr txBox="1"/>
          <p:nvPr/>
        </p:nvSpPr>
        <p:spPr>
          <a:xfrm>
            <a:off x="768096" y="1554480"/>
            <a:ext cx="5303520" cy="256032"/>
          </a:xfrm>
          <a:prstGeom prst="rect">
            <a:avLst/>
          </a:prstGeom>
          <a:noFill/>
        </p:spPr>
        <p:txBody>
          <a:bodyPr wrap="square" lIns="0" rIns="0" tIns="0" bIns="0" anchor="ctr"/>
          <a:lstStyle/>
          <a:p>
            <a:pPr algn="l">
              <a:buNone/>
            </a:pPr>
            <a:r>
              <a:rPr sz="1100" b="1">
                <a:solidFill>
                  <a:srgbClr val="FFFFFF"/>
                </a:solidFill>
              </a:rPr>
              <a:t>AT 1,000 OPS/S</a:t>
            </a:r>
          </a:p>
        </p:txBody>
      </p:sp>
      <p:graphicFrame>
        <p:nvGraphicFramePr>
          <p:cNvPr id="11" name="Chart 10"/>
          <p:cNvGraphicFramePr>
            <a:graphicFrameLocks noGrp="1"/>
          </p:cNvGraphicFramePr>
          <p:nvPr/>
        </p:nvGraphicFramePr>
        <p:xfrm>
          <a:off x="768096" y="1783080"/>
          <a:ext cx="5440680" cy="3794760"/>
        </p:xfrm>
        <a:graphic>
          <a:graphicData uri="http://schemas.openxmlformats.org/drawingml/2006/chart">
            <c:chart xmlns:c="http://schemas.openxmlformats.org/drawingml/2006/chart" r:id="rId3"/>
          </a:graphicData>
        </a:graphic>
      </p:graphicFrame>
      <p:sp>
        <p:nvSpPr>
          <p:cNvPr id="12" name="TextBox 11"/>
          <p:cNvSpPr txBox="1"/>
          <p:nvPr/>
        </p:nvSpPr>
        <p:spPr>
          <a:xfrm>
            <a:off x="6355080" y="1554480"/>
            <a:ext cx="5120640" cy="256032"/>
          </a:xfrm>
          <a:prstGeom prst="rect">
            <a:avLst/>
          </a:prstGeom>
          <a:noFill/>
        </p:spPr>
        <p:txBody>
          <a:bodyPr wrap="square" lIns="0" rIns="0" tIns="0" bIns="0" anchor="ctr"/>
          <a:lstStyle/>
          <a:p>
            <a:pPr algn="l">
              <a:buNone/>
            </a:pPr>
            <a:r>
              <a:rPr sz="1100" b="1">
                <a:solidFill>
                  <a:srgbClr val="FFFFFF"/>
                </a:solidFill>
              </a:rPr>
              <a:t>AT 4,000 OPS/S</a:t>
            </a:r>
          </a:p>
        </p:txBody>
      </p:sp>
      <p:graphicFrame>
        <p:nvGraphicFramePr>
          <p:cNvPr id="13" name="Chart 12"/>
          <p:cNvGraphicFramePr>
            <a:graphicFrameLocks noGrp="1"/>
          </p:cNvGraphicFramePr>
          <p:nvPr/>
        </p:nvGraphicFramePr>
        <p:xfrm>
          <a:off x="6355080" y="1783080"/>
          <a:ext cx="5074920" cy="3794760"/>
        </p:xfrm>
        <a:graphic>
          <a:graphicData uri="http://schemas.openxmlformats.org/drawingml/2006/chart">
            <c:chart xmlns:c="http://schemas.openxmlformats.org/drawingml/2006/chart" r:id="rId4"/>
          </a:graphicData>
        </a:graphic>
      </p:graphicFrame>
      <p:sp>
        <p:nvSpPr>
          <p:cNvPr id="14" name="Rounded Rectangle 13"/>
          <p:cNvSpPr/>
          <p:nvPr/>
        </p:nvSpPr>
        <p:spPr>
          <a:xfrm>
            <a:off x="768096" y="5669280"/>
            <a:ext cx="10661904" cy="548640"/>
          </a:xfrm>
          <a:prstGeom prst="roundRect">
            <a:avLst>
              <a:gd name="adj" fmla="val 13333"/>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36576" bIns="36576"/>
          <a:lstStyle/>
          <a:p>
            <a:pPr algn="l">
              <a:buNone/>
            </a:pPr>
            <a:r>
              <a:rPr sz="1250">
                <a:solidFill>
                  <a:srgbClr val="FFFFFF"/>
                </a:solidFill>
              </a:rPr>
              <a:t>Pyronaut JVM p99 is </a:t>
            </a:r>
            <a:r>
              <a:rPr sz="1250" b="1">
                <a:solidFill>
                  <a:srgbClr val="FFFFFF"/>
                </a:solidFill>
              </a:rPr>
              <a:t>3.8× lower than Flask</a:t>
            </a:r>
            <a:r>
              <a:rPr sz="1250">
                <a:solidFill>
                  <a:srgbClr val="FFFFFF"/>
                </a:solidFill>
              </a:rPr>
              <a:t> at 1k and </a:t>
            </a:r>
            <a:r>
              <a:rPr sz="1250" b="1">
                <a:solidFill>
                  <a:srgbClr val="FFFFFF"/>
                </a:solidFill>
              </a:rPr>
              <a:t>10.6× lower</a:t>
            </a:r>
            <a:r>
              <a:rPr sz="1250">
                <a:solidFill>
                  <a:srgbClr val="FFFFFF"/>
                </a:solidFill>
              </a:rPr>
              <a:t> at 4k, ~130–170 µs above Micronaut. Granian’s p99.9 at 1k: </a:t>
            </a:r>
            <a:r>
              <a:rPr sz="1250" b="1">
                <a:solidFill>
                  <a:srgbClr val="FFFFFF"/>
                </a:solidFill>
              </a:rPr>
              <a:t>308 ms</a:t>
            </a:r>
            <a:r>
              <a:rPr sz="1250">
                <a:solidFill>
                  <a:srgbClr val="FFFFFF"/>
                </a:solidFill>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CPU: the cost of running Python</a:t>
            </a:r>
          </a:p>
        </p:txBody>
      </p:sp>
      <p:sp>
        <p:nvSpPr>
          <p:cNvPr id="3" name="Text Placeholder 2"/>
          <p:cNvSpPr>
            <a:spLocks noGrp="1"/>
          </p:cNvSpPr>
          <p:nvPr>
            <p:ph type="body" idx="11" sz="quarter"/>
          </p:nvPr>
        </p:nvSpPr>
        <p:spPr/>
        <p:txBody>
          <a:bodyPr/>
          <a:lstStyle/>
          <a:p>
            <a:r>
              <a:t>JVM CPU (user + system) as a share of the 3-CPU machine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graphicFrame>
        <p:nvGraphicFramePr>
          <p:cNvPr id="10" name="Chart 9"/>
          <p:cNvGraphicFramePr>
            <a:graphicFrameLocks noGrp="1"/>
          </p:cNvGraphicFramePr>
          <p:nvPr/>
        </p:nvGraphicFramePr>
        <p:xfrm>
          <a:off x="768096" y="1600200"/>
          <a:ext cx="6675120" cy="4572000"/>
        </p:xfrm>
        <a:graphic>
          <a:graphicData uri="http://schemas.openxmlformats.org/drawingml/2006/chart">
            <c:chart xmlns:c="http://schemas.openxmlformats.org/drawingml/2006/chart" r:id="rId3"/>
          </a:graphicData>
        </a:graphic>
      </p:graphicFrame>
      <p:sp>
        <p:nvSpPr>
          <p:cNvPr id="11" name="TextBox 10"/>
          <p:cNvSpPr txBox="1"/>
          <p:nvPr/>
        </p:nvSpPr>
        <p:spPr>
          <a:xfrm>
            <a:off x="7863840" y="1645920"/>
            <a:ext cx="3566160" cy="1097280"/>
          </a:xfrm>
          <a:prstGeom prst="rect">
            <a:avLst/>
          </a:prstGeom>
          <a:noFill/>
        </p:spPr>
        <p:txBody>
          <a:bodyPr wrap="square" lIns="0" rIns="0" tIns="0" bIns="0" anchor="ctr"/>
          <a:lstStyle/>
          <a:p>
            <a:pPr>
              <a:buNone/>
            </a:pPr>
            <a:r>
              <a:rPr sz="6400" b="1">
                <a:solidFill>
                  <a:srgbClr val="F19111"/>
                </a:solidFill>
              </a:rPr>
              <a:t>≈3×</a:t>
            </a:r>
          </a:p>
        </p:txBody>
      </p:sp>
      <p:sp>
        <p:nvSpPr>
          <p:cNvPr id="12" name="TextBox 11"/>
          <p:cNvSpPr txBox="1"/>
          <p:nvPr/>
        </p:nvSpPr>
        <p:spPr>
          <a:xfrm>
            <a:off x="7863840" y="2743200"/>
            <a:ext cx="3566160" cy="640080"/>
          </a:xfrm>
          <a:prstGeom prst="rect">
            <a:avLst/>
          </a:prstGeom>
          <a:noFill/>
        </p:spPr>
        <p:txBody>
          <a:bodyPr wrap="square" lIns="0" rIns="0" tIns="0" bIns="0" anchor="t"/>
          <a:lstStyle/>
          <a:p>
            <a:pPr>
              <a:buNone/>
            </a:pPr>
            <a:r>
              <a:rPr sz="1500" b="1">
                <a:solidFill>
                  <a:srgbClr val="FFFFFF"/>
                </a:solidFill>
              </a:rPr>
              <a:t>the CPU of Java Micronaut for the same request rate</a:t>
            </a:r>
          </a:p>
        </p:txBody>
      </p:sp>
      <p:sp>
        <p:nvSpPr>
          <p:cNvPr id="13" name="TextBox 12"/>
          <p:cNvSpPr txBox="1"/>
          <p:nvPr/>
        </p:nvSpPr>
        <p:spPr>
          <a:xfrm>
            <a:off x="7863840" y="3429000"/>
            <a:ext cx="3566160" cy="457200"/>
          </a:xfrm>
          <a:prstGeom prst="rect">
            <a:avLst/>
          </a:prstGeom>
          <a:noFill/>
        </p:spPr>
        <p:txBody>
          <a:bodyPr wrap="square" lIns="0" rIns="0" tIns="0" bIns="0" anchor="t"/>
          <a:lstStyle/>
          <a:p>
            <a:pPr>
              <a:buNone/>
            </a:pPr>
            <a:r>
              <a:rPr sz="1250">
                <a:solidFill>
                  <a:srgbClr val="A9B7C4"/>
                </a:solidFill>
              </a:rPr>
              <a:t>2.7× at 1k  ·  2.8× at 4k  ·  3.0× at 8k</a:t>
            </a:r>
          </a:p>
        </p:txBody>
      </p:sp>
      <p:sp>
        <p:nvSpPr>
          <p:cNvPr id="14" name="Rounded Rectangle 13"/>
          <p:cNvSpPr/>
          <p:nvPr/>
        </p:nvSpPr>
        <p:spPr>
          <a:xfrm>
            <a:off x="7863840" y="4114800"/>
            <a:ext cx="3566160" cy="1600200"/>
          </a:xfrm>
          <a:prstGeom prst="roundRect">
            <a:avLst>
              <a:gd name="adj" fmla="val 4571"/>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Bef>
                <a:spcPts val="400"/>
              </a:spcBef>
              <a:spcAft>
                <a:spcPts val="400"/>
              </a:spcAft>
              <a:buNone/>
            </a:pPr>
            <a:r>
              <a:rPr sz="1350" b="1">
                <a:solidFill>
                  <a:srgbClr val="F19111"/>
                </a:solidFill>
              </a:rPr>
              <a:t>At 16,000 ops/s</a:t>
            </a:r>
          </a:p>
          <a:p>
            <a:pPr algn="l">
              <a:spcAft>
                <a:spcPts val="600"/>
              </a:spcAft>
              <a:buNone/>
            </a:pPr>
            <a:r>
              <a:rPr sz="1250">
                <a:solidFill>
                  <a:srgbClr val="FFFFFF"/>
                </a:solidFill>
              </a:rPr>
              <a:t>Pyronaut JVM used 65% of the machine and couldn’t keep up. Micronaut: 17%.</a:t>
            </a:r>
          </a:p>
          <a:p>
            <a:pPr algn="l">
              <a:buNone/>
            </a:pPr>
            <a:r>
              <a:rPr sz="1100">
                <a:solidFill>
                  <a:srgbClr val="7D8B98"/>
                </a:solidFill>
              </a:rPr>
              <a:t>CPU was recorded for the JVM runs only.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JVM vs native — and what’s left on the table</a:t>
            </a:r>
          </a:p>
        </p:txBody>
      </p:sp>
      <p:sp>
        <p:nvSpPr>
          <p:cNvPr id="3" name="Text Placeholder 2"/>
          <p:cNvSpPr>
            <a:spLocks noGrp="1"/>
          </p:cNvSpPr>
          <p:nvPr>
            <p:ph type="body" idx="11" sz="quarter"/>
          </p:nvPr>
        </p:nvSpPr>
        <p:spPr/>
        <p:txBody>
          <a:bodyPr/>
          <a:lstStyle/>
          <a:p>
            <a:r>
              <a:t>Native wins startup and memory; the JVM wins throughput and tails, for now</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graphicFrame>
        <p:nvGraphicFramePr>
          <p:cNvPr id="10" name="Table 9"/>
          <p:cNvGraphicFramePr>
            <a:graphicFrameLocks noGrp="1"/>
          </p:cNvGraphicFramePr>
          <p:nvPr/>
        </p:nvGraphicFramePr>
        <p:xfrm>
          <a:off x="768096" y="1645920"/>
          <a:ext cx="5852158" cy="3474720"/>
        </p:xfrm>
        <a:graphic>
          <a:graphicData uri="http://schemas.openxmlformats.org/drawingml/2006/table">
            <a:tbl>
              <a:tblPr firstRow="0" bandRow="0">
                <a:tableStyleId>{2D5ABB26-0587-4C30-8999-92F81FD0307C}</a:tableStyleId>
              </a:tblPr>
              <a:tblGrid>
                <a:gridCol w="2103120"/>
                <a:gridCol w="1874519"/>
                <a:gridCol w="1874519"/>
              </a:tblGrid>
              <a:tr h="457200">
                <a:tc>
                  <a:txBody>
                    <a:bodyPr/>
                    <a:lstStyle/>
                    <a:p>
                      <a:pPr>
                        <a:buNone/>
                      </a:pPr>
                    </a:p>
                  </a:txBody>
                  <a:tcPr marL="137160" marR="91440" anchor="ctr">
                    <a:solidFill>
                      <a:srgbClr val="2E3B47"/>
                    </a:solidFill>
                  </a:tcPr>
                </a:tc>
                <a:tc>
                  <a:txBody>
                    <a:bodyPr/>
                    <a:lstStyle/>
                    <a:p>
                      <a:pPr>
                        <a:buNone/>
                      </a:pPr>
                      <a:r>
                        <a:rPr sz="1250" b="1">
                          <a:solidFill>
                            <a:srgbClr val="F19111"/>
                          </a:solidFill>
                        </a:rPr>
                        <a:t>Pyronaut JVM</a:t>
                      </a:r>
                    </a:p>
                  </a:txBody>
                  <a:tcPr marL="137160" marR="91440" anchor="ctr">
                    <a:solidFill>
                      <a:srgbClr val="2E3B47"/>
                    </a:solidFill>
                  </a:tcPr>
                </a:tc>
                <a:tc>
                  <a:txBody>
                    <a:bodyPr/>
                    <a:lstStyle/>
                    <a:p>
                      <a:pPr>
                        <a:buNone/>
                      </a:pPr>
                      <a:r>
                        <a:rPr sz="1250" b="1">
                          <a:solidFill>
                            <a:srgbClr val="F0CC72"/>
                          </a:solidFill>
                        </a:rPr>
                        <a:t>Pyronaut native</a:t>
                      </a:r>
                    </a:p>
                  </a:txBody>
                  <a:tcPr marL="137160" marR="91440" anchor="ctr">
                    <a:solidFill>
                      <a:srgbClr val="2E3B47"/>
                    </a:solidFill>
                  </a:tcPr>
                </a:tc>
              </a:tr>
              <a:tr h="603504">
                <a:tc>
                  <a:txBody>
                    <a:bodyPr/>
                    <a:lstStyle/>
                    <a:p>
                      <a:pPr>
                        <a:buNone/>
                      </a:pPr>
                      <a:r>
                        <a:rPr sz="1300" b="1">
                          <a:solidFill>
                            <a:srgbClr val="FFFFFF"/>
                          </a:solidFill>
                        </a:rPr>
                        <a:t>Sustained rate</a:t>
                      </a:r>
                    </a:p>
                  </a:txBody>
                  <a:tcPr marL="137160" marR="91440" anchor="ctr">
                    <a:solidFill>
                      <a:srgbClr val="25303A"/>
                    </a:solidFill>
                  </a:tcPr>
                </a:tc>
                <a:tc>
                  <a:txBody>
                    <a:bodyPr/>
                    <a:lstStyle/>
                    <a:p>
                      <a:pPr>
                        <a:buNone/>
                      </a:pPr>
                      <a:r>
                        <a:rPr sz="1300" b="0">
                          <a:solidFill>
                            <a:srgbClr val="FFFFFF"/>
                          </a:solidFill>
                        </a:rPr>
                        <a:t>8,000 ops/s</a:t>
                      </a:r>
                    </a:p>
                  </a:txBody>
                  <a:tcPr marL="137160" marR="91440" anchor="ctr">
                    <a:solidFill>
                      <a:srgbClr val="25303A"/>
                    </a:solidFill>
                  </a:tcPr>
                </a:tc>
                <a:tc>
                  <a:txBody>
                    <a:bodyPr/>
                    <a:lstStyle/>
                    <a:p>
                      <a:pPr>
                        <a:buNone/>
                      </a:pPr>
                      <a:r>
                        <a:rPr sz="1300" b="0">
                          <a:solidFill>
                            <a:srgbClr val="FFFFFF"/>
                          </a:solidFill>
                        </a:rPr>
                        <a:t>4,000 ops/s</a:t>
                      </a:r>
                    </a:p>
                  </a:txBody>
                  <a:tcPr marL="137160" marR="91440" anchor="ctr">
                    <a:solidFill>
                      <a:srgbClr val="25303A"/>
                    </a:solidFill>
                  </a:tcPr>
                </a:tc>
              </a:tr>
              <a:tr h="603504">
                <a:tc>
                  <a:txBody>
                    <a:bodyPr/>
                    <a:lstStyle/>
                    <a:p>
                      <a:pPr>
                        <a:buNone/>
                      </a:pPr>
                      <a:r>
                        <a:rPr sz="1300" b="1">
                          <a:solidFill>
                            <a:srgbClr val="FFFFFF"/>
                          </a:solidFill>
                        </a:rPr>
                        <a:t>p50 @ 1k</a:t>
                      </a:r>
                    </a:p>
                  </a:txBody>
                  <a:tcPr marL="137160" marR="91440" anchor="ctr">
                    <a:solidFill>
                      <a:srgbClr val="212A33"/>
                    </a:solidFill>
                  </a:tcPr>
                </a:tc>
                <a:tc>
                  <a:txBody>
                    <a:bodyPr/>
                    <a:lstStyle/>
                    <a:p>
                      <a:pPr>
                        <a:buNone/>
                      </a:pPr>
                      <a:r>
                        <a:rPr sz="1300" b="0">
                          <a:solidFill>
                            <a:srgbClr val="FFFFFF"/>
                          </a:solidFill>
                        </a:rPr>
                        <a:t>385 µs</a:t>
                      </a:r>
                    </a:p>
                  </a:txBody>
                  <a:tcPr marL="137160" marR="91440" anchor="ctr">
                    <a:solidFill>
                      <a:srgbClr val="212A33"/>
                    </a:solidFill>
                  </a:tcPr>
                </a:tc>
                <a:tc>
                  <a:txBody>
                    <a:bodyPr/>
                    <a:lstStyle/>
                    <a:p>
                      <a:pPr>
                        <a:buNone/>
                      </a:pPr>
                      <a:r>
                        <a:rPr sz="1300" b="0">
                          <a:solidFill>
                            <a:srgbClr val="FFFFFF"/>
                          </a:solidFill>
                        </a:rPr>
                        <a:t>662 µs</a:t>
                      </a:r>
                    </a:p>
                  </a:txBody>
                  <a:tcPr marL="137160" marR="91440" anchor="ctr">
                    <a:solidFill>
                      <a:srgbClr val="212A33"/>
                    </a:solidFill>
                  </a:tcPr>
                </a:tc>
              </a:tr>
              <a:tr h="603504">
                <a:tc>
                  <a:txBody>
                    <a:bodyPr/>
                    <a:lstStyle/>
                    <a:p>
                      <a:pPr>
                        <a:buNone/>
                      </a:pPr>
                      <a:r>
                        <a:rPr sz="1300" b="1">
                          <a:solidFill>
                            <a:srgbClr val="FFFFFF"/>
                          </a:solidFill>
                        </a:rPr>
                        <a:t>p99 @ 1k</a:t>
                      </a:r>
                    </a:p>
                  </a:txBody>
                  <a:tcPr marL="137160" marR="91440" anchor="ctr">
                    <a:solidFill>
                      <a:srgbClr val="25303A"/>
                    </a:solidFill>
                  </a:tcPr>
                </a:tc>
                <a:tc>
                  <a:txBody>
                    <a:bodyPr/>
                    <a:lstStyle/>
                    <a:p>
                      <a:pPr>
                        <a:buNone/>
                      </a:pPr>
                      <a:r>
                        <a:rPr sz="1300" b="0">
                          <a:solidFill>
                            <a:srgbClr val="FFFFFF"/>
                          </a:solidFill>
                        </a:rPr>
                        <a:t>512 µs</a:t>
                      </a:r>
                    </a:p>
                  </a:txBody>
                  <a:tcPr marL="137160" marR="91440" anchor="ctr">
                    <a:solidFill>
                      <a:srgbClr val="25303A"/>
                    </a:solidFill>
                  </a:tcPr>
                </a:tc>
                <a:tc>
                  <a:txBody>
                    <a:bodyPr/>
                    <a:lstStyle/>
                    <a:p>
                      <a:pPr>
                        <a:buNone/>
                      </a:pPr>
                      <a:r>
                        <a:rPr sz="1300" b="0">
                          <a:solidFill>
                            <a:srgbClr val="FFFFFF"/>
                          </a:solidFill>
                        </a:rPr>
                        <a:t>882 µs</a:t>
                      </a:r>
                    </a:p>
                  </a:txBody>
                  <a:tcPr marL="137160" marR="91440" anchor="ctr">
                    <a:solidFill>
                      <a:srgbClr val="25303A"/>
                    </a:solidFill>
                  </a:tcPr>
                </a:tc>
              </a:tr>
              <a:tr h="603504">
                <a:tc>
                  <a:txBody>
                    <a:bodyPr/>
                    <a:lstStyle/>
                    <a:p>
                      <a:pPr>
                        <a:buNone/>
                      </a:pPr>
                      <a:r>
                        <a:rPr sz="1300" b="1">
                          <a:solidFill>
                            <a:srgbClr val="FFFFFF"/>
                          </a:solidFill>
                        </a:rPr>
                        <a:t>p99.9 @ 4k</a:t>
                      </a:r>
                    </a:p>
                  </a:txBody>
                  <a:tcPr marL="137160" marR="91440" anchor="ctr">
                    <a:solidFill>
                      <a:srgbClr val="212A33"/>
                    </a:solidFill>
                  </a:tcPr>
                </a:tc>
                <a:tc>
                  <a:txBody>
                    <a:bodyPr/>
                    <a:lstStyle/>
                    <a:p>
                      <a:pPr>
                        <a:buNone/>
                      </a:pPr>
                      <a:r>
                        <a:rPr sz="1300" b="0">
                          <a:solidFill>
                            <a:srgbClr val="FFFFFF"/>
                          </a:solidFill>
                        </a:rPr>
                        <a:t>969 µs</a:t>
                      </a:r>
                    </a:p>
                  </a:txBody>
                  <a:tcPr marL="137160" marR="91440" anchor="ctr">
                    <a:solidFill>
                      <a:srgbClr val="212A33"/>
                    </a:solidFill>
                  </a:tcPr>
                </a:tc>
                <a:tc>
                  <a:txBody>
                    <a:bodyPr/>
                    <a:lstStyle/>
                    <a:p>
                      <a:pPr>
                        <a:buNone/>
                      </a:pPr>
                      <a:r>
                        <a:rPr sz="1300" b="0">
                          <a:solidFill>
                            <a:srgbClr val="FFFFFF"/>
                          </a:solidFill>
                        </a:rPr>
                        <a:t>4,110 µs</a:t>
                      </a:r>
                    </a:p>
                  </a:txBody>
                  <a:tcPr marL="137160" marR="91440" anchor="ctr">
                    <a:solidFill>
                      <a:srgbClr val="212A33"/>
                    </a:solidFill>
                  </a:tcPr>
                </a:tc>
              </a:tr>
              <a:tr h="603504">
                <a:tc>
                  <a:txBody>
                    <a:bodyPr/>
                    <a:lstStyle/>
                    <a:p>
                      <a:pPr>
                        <a:buNone/>
                      </a:pPr>
                      <a:r>
                        <a:rPr sz="1300" b="1">
                          <a:solidFill>
                            <a:srgbClr val="FFFFFF"/>
                          </a:solidFill>
                        </a:rPr>
                        <a:t>Startup · memory</a:t>
                      </a:r>
                    </a:p>
                  </a:txBody>
                  <a:tcPr marL="137160" marR="91440" anchor="ctr">
                    <a:solidFill>
                      <a:srgbClr val="25303A"/>
                    </a:solidFill>
                  </a:tcPr>
                </a:tc>
                <a:tc>
                  <a:txBody>
                    <a:bodyPr/>
                    <a:lstStyle/>
                    <a:p>
                      <a:pPr>
                        <a:buNone/>
                      </a:pPr>
                      <a:r>
                        <a:rPr sz="1300" b="0">
                          <a:solidFill>
                            <a:srgbClr val="FFFFFF"/>
                          </a:solidFill>
                        </a:rPr>
                        <a:t>slower · more</a:t>
                      </a:r>
                    </a:p>
                  </a:txBody>
                  <a:tcPr marL="137160" marR="91440" anchor="ctr">
                    <a:solidFill>
                      <a:srgbClr val="25303A"/>
                    </a:solidFill>
                  </a:tcPr>
                </a:tc>
                <a:tc>
                  <a:txBody>
                    <a:bodyPr/>
                    <a:lstStyle/>
                    <a:p>
                      <a:pPr>
                        <a:buNone/>
                      </a:pPr>
                      <a:r>
                        <a:rPr sz="1300" b="0">
                          <a:solidFill>
                            <a:srgbClr val="FFFFFF"/>
                          </a:solidFill>
                        </a:rPr>
                        <a:t>faster · less</a:t>
                      </a:r>
                    </a:p>
                  </a:txBody>
                  <a:tcPr marL="137160" marR="91440" anchor="ctr">
                    <a:solidFill>
                      <a:srgbClr val="25303A"/>
                    </a:solidFill>
                  </a:tcPr>
                </a:tc>
              </a:tr>
            </a:tbl>
          </a:graphicData>
        </a:graphic>
      </p:graphicFrame>
      <p:sp>
        <p:nvSpPr>
          <p:cNvPr id="11" name="TextBox 10"/>
          <p:cNvSpPr txBox="1"/>
          <p:nvPr/>
        </p:nvSpPr>
        <p:spPr>
          <a:xfrm>
            <a:off x="768096" y="5440680"/>
            <a:ext cx="5669280" cy="731520"/>
          </a:xfrm>
          <a:prstGeom prst="rect">
            <a:avLst/>
          </a:prstGeom>
          <a:noFill/>
        </p:spPr>
        <p:txBody>
          <a:bodyPr wrap="square" lIns="0" rIns="0" tIns="0" bIns="0" anchor="t"/>
          <a:lstStyle/>
          <a:p>
            <a:pPr>
              <a:buNone/>
            </a:pPr>
            <a:r>
              <a:rPr sz="1250">
                <a:solidFill>
                  <a:srgbClr val="A9B7C4"/>
                </a:solidFill>
              </a:rPr>
              <a:t>Native pays ~1.7× at the median and ~4× at p99.9 — the gap PGO and a better collector should close.</a:t>
            </a:r>
          </a:p>
        </p:txBody>
      </p:sp>
      <p:sp>
        <p:nvSpPr>
          <p:cNvPr id="12" name="TextBox 11"/>
          <p:cNvSpPr txBox="1"/>
          <p:nvPr/>
        </p:nvSpPr>
        <p:spPr>
          <a:xfrm>
            <a:off x="6812280" y="1572768"/>
            <a:ext cx="4572000" cy="256032"/>
          </a:xfrm>
          <a:prstGeom prst="rect">
            <a:avLst/>
          </a:prstGeom>
          <a:noFill/>
        </p:spPr>
        <p:txBody>
          <a:bodyPr wrap="square" lIns="0" rIns="0" tIns="0" bIns="0" anchor="ctr"/>
          <a:lstStyle/>
          <a:p>
            <a:pPr algn="l">
              <a:buNone/>
            </a:pPr>
            <a:r>
              <a:rPr sz="1100" b="1">
                <a:solidFill>
                  <a:srgbClr val="F19111"/>
                </a:solidFill>
              </a:rPr>
              <a:t>PGO — THE OBVIOUS NEXT STEP</a:t>
            </a:r>
          </a:p>
        </p:txBody>
      </p:sp>
      <p:sp>
        <p:nvSpPr>
          <p:cNvPr id="13" name="Rounded Rectangle 12"/>
          <p:cNvSpPr/>
          <p:nvPr/>
        </p:nvSpPr>
        <p:spPr>
          <a:xfrm>
            <a:off x="6812280" y="1901952"/>
            <a:ext cx="1417320" cy="1234440"/>
          </a:xfrm>
          <a:prstGeom prst="roundRect">
            <a:avLst>
              <a:gd name="adj" fmla="val 5925"/>
            </a:avLst>
          </a:prstGeom>
          <a:solidFill>
            <a:srgbClr val="2E3B47"/>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150" b="1">
                <a:solidFill>
                  <a:srgbClr val="FFFFFF"/>
                </a:solidFill>
              </a:rPr>
              <a:t>Instrumented native build</a:t>
            </a:r>
          </a:p>
          <a:p>
            <a:pPr algn="ctr">
              <a:buNone/>
            </a:pPr>
            <a:r>
              <a:rPr sz="950">
                <a:solidFill>
                  <a:srgbClr val="A9B7C4"/>
                </a:solidFill>
                <a:latin typeface="Consolas"/>
              </a:rPr>
              <a:t>--pgo-instrument</a:t>
            </a:r>
          </a:p>
        </p:txBody>
      </p:sp>
      <p:cxnSp>
        <p:nvCxnSpPr>
          <p:cNvPr id="14" name="Connector 13"/>
          <p:cNvCxnSpPr/>
          <p:nvPr/>
        </p:nvCxnSpPr>
        <p:spPr>
          <a:xfrm>
            <a:off x="8247888" y="2514600"/>
            <a:ext cx="118872" cy="0"/>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385048" y="1901952"/>
            <a:ext cx="1417320" cy="1234440"/>
          </a:xfrm>
          <a:prstGeom prst="roundRect">
            <a:avLst>
              <a:gd name="adj" fmla="val 5925"/>
            </a:avLst>
          </a:prstGeom>
          <a:solidFill>
            <a:srgbClr val="25303A"/>
          </a:solidFill>
          <a:ln w="15875">
            <a:solidFill>
              <a:srgbClr val="5B68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150" b="1">
                <a:solidFill>
                  <a:srgbClr val="FFFFFF"/>
                </a:solidFill>
              </a:rPr>
              <a:t>Run a representative workload</a:t>
            </a:r>
          </a:p>
          <a:p>
            <a:pPr algn="ctr">
              <a:buNone/>
            </a:pPr>
            <a:r>
              <a:rPr sz="950">
                <a:solidFill>
                  <a:srgbClr val="A9B7C4"/>
                </a:solidFill>
                <a:latin typeface="Consolas"/>
              </a:rPr>
              <a:t>writes a .iprof profile</a:t>
            </a:r>
          </a:p>
        </p:txBody>
      </p:sp>
      <p:cxnSp>
        <p:nvCxnSpPr>
          <p:cNvPr id="16" name="Connector 15"/>
          <p:cNvCxnSpPr/>
          <p:nvPr/>
        </p:nvCxnSpPr>
        <p:spPr>
          <a:xfrm>
            <a:off x="9820656" y="2514600"/>
            <a:ext cx="118872" cy="0"/>
          </a:xfrm>
          <a:prstGeom prst="line">
            <a:avLst/>
          </a:prstGeom>
          <a:ln w="15875">
            <a:solidFill>
              <a:srgbClr val="A9B7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57816" y="1901952"/>
            <a:ext cx="1417320" cy="1234440"/>
          </a:xfrm>
          <a:prstGeom prst="roundRect">
            <a:avLst>
              <a:gd name="adj" fmla="val 5925"/>
            </a:avLst>
          </a:prstGeom>
          <a:solidFill>
            <a:srgbClr val="2E3B47"/>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150" b="1">
                <a:solidFill>
                  <a:srgbClr val="FFFFFF"/>
                </a:solidFill>
              </a:rPr>
              <a:t>Optimized native build</a:t>
            </a:r>
          </a:p>
          <a:p>
            <a:pPr algn="ctr">
              <a:buNone/>
            </a:pPr>
            <a:r>
              <a:rPr sz="950">
                <a:solidFill>
                  <a:srgbClr val="A9B7C4"/>
                </a:solidFill>
                <a:latin typeface="Consolas"/>
              </a:rPr>
              <a:t>--pgo=app.iprof</a:t>
            </a:r>
          </a:p>
        </p:txBody>
      </p:sp>
      <p:sp>
        <p:nvSpPr>
          <p:cNvPr id="18" name="Rounded Rectangle 17"/>
          <p:cNvSpPr/>
          <p:nvPr/>
        </p:nvSpPr>
        <p:spPr>
          <a:xfrm>
            <a:off x="6812280" y="3246120"/>
            <a:ext cx="4617720" cy="502920"/>
          </a:xfrm>
          <a:prstGeom prst="roundRect">
            <a:avLst>
              <a:gd name="adj" fmla="val 14545"/>
            </a:avLst>
          </a:prstGeom>
          <a:noFill/>
          <a:ln w="15875">
            <a:solidFill>
              <a:srgbClr val="E0634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buNone/>
            </a:pPr>
            <a:r>
              <a:rPr sz="1200">
                <a:solidFill>
                  <a:srgbClr val="FFFFFF"/>
                </a:solidFill>
              </a:rPr>
              <a:t>Two native-image builds instead of one</a:t>
            </a:r>
          </a:p>
        </p:txBody>
      </p:sp>
      <p:sp>
        <p:nvSpPr>
          <p:cNvPr id="19" name="TextBox 18"/>
          <p:cNvSpPr txBox="1"/>
          <p:nvPr/>
        </p:nvSpPr>
        <p:spPr>
          <a:xfrm>
            <a:off x="6812280" y="3931920"/>
            <a:ext cx="4572000" cy="256032"/>
          </a:xfrm>
          <a:prstGeom prst="rect">
            <a:avLst/>
          </a:prstGeom>
          <a:noFill/>
        </p:spPr>
        <p:txBody>
          <a:bodyPr wrap="square" lIns="0" rIns="0" tIns="0" bIns="0" anchor="ctr"/>
          <a:lstStyle/>
          <a:p>
            <a:pPr algn="l">
              <a:buNone/>
            </a:pPr>
            <a:r>
              <a:rPr sz="1100" b="1">
                <a:solidFill>
                  <a:srgbClr val="A9B7C4"/>
                </a:solidFill>
              </a:rPr>
              <a:t>OTHER LEVERS</a:t>
            </a:r>
          </a:p>
        </p:txBody>
      </p:sp>
      <p:sp>
        <p:nvSpPr>
          <p:cNvPr id="20" name="TextBox 19"/>
          <p:cNvSpPr txBox="1"/>
          <p:nvPr/>
        </p:nvSpPr>
        <p:spPr>
          <a:xfrm>
            <a:off x="6812280" y="4224528"/>
            <a:ext cx="4617720" cy="457200"/>
          </a:xfrm>
          <a:prstGeom prst="rect">
            <a:avLst/>
          </a:prstGeom>
          <a:noFill/>
        </p:spPr>
        <p:txBody>
          <a:bodyPr wrap="square" lIns="0" rIns="0" tIns="0" bIns="0" anchor="ctr"/>
          <a:lstStyle/>
          <a:p>
            <a:pPr marL="201168" indent="-201168">
              <a:buClr>
                <a:srgbClr val="F19111"/>
              </a:buClr>
              <a:buSzPct val="100000"/>
              <a:buFont typeface="Arial"/>
              <a:buChar char="▪"/>
            </a:pPr>
            <a:r>
              <a:rPr sz="1250" b="1">
                <a:solidFill>
                  <a:srgbClr val="FFFFFF"/>
                </a:solidFill>
              </a:rPr>
              <a:t>GIL-free GraalPy</a:t>
            </a:r>
            <a:r>
              <a:rPr sz="1250">
                <a:solidFill>
                  <a:srgbClr val="FFFFFF"/>
                </a:solidFill>
              </a:rPr>
              <a:t> — real parallelism without pooled contexts</a:t>
            </a:r>
          </a:p>
        </p:txBody>
      </p:sp>
      <p:sp>
        <p:nvSpPr>
          <p:cNvPr id="21" name="TextBox 20"/>
          <p:cNvSpPr txBox="1"/>
          <p:nvPr/>
        </p:nvSpPr>
        <p:spPr>
          <a:xfrm>
            <a:off x="6812280" y="4718304"/>
            <a:ext cx="4617720" cy="457200"/>
          </a:xfrm>
          <a:prstGeom prst="rect">
            <a:avLst/>
          </a:prstGeom>
          <a:noFill/>
        </p:spPr>
        <p:txBody>
          <a:bodyPr wrap="square" lIns="0" rIns="0" tIns="0" bIns="0" anchor="ctr"/>
          <a:lstStyle/>
          <a:p>
            <a:pPr marL="201168" indent="-201168">
              <a:buClr>
                <a:srgbClr val="F19111"/>
              </a:buClr>
              <a:buSzPct val="100000"/>
              <a:buFont typeface="Arial"/>
              <a:buChar char="▪"/>
            </a:pPr>
            <a:r>
              <a:rPr sz="1250" b="1">
                <a:solidFill>
                  <a:srgbClr val="FFFFFF"/>
                </a:solidFill>
              </a:rPr>
              <a:t>G1 for native</a:t>
            </a:r>
            <a:r>
              <a:rPr sz="1250">
                <a:solidFill>
                  <a:srgbClr val="FFFFFF"/>
                </a:solidFill>
              </a:rPr>
              <a:t> — better tails under allocation pressure</a:t>
            </a:r>
          </a:p>
        </p:txBody>
      </p:sp>
      <p:sp>
        <p:nvSpPr>
          <p:cNvPr id="22" name="TextBox 21"/>
          <p:cNvSpPr txBox="1"/>
          <p:nvPr/>
        </p:nvSpPr>
        <p:spPr>
          <a:xfrm>
            <a:off x="6812280" y="5212080"/>
            <a:ext cx="4617720" cy="457200"/>
          </a:xfrm>
          <a:prstGeom prst="rect">
            <a:avLst/>
          </a:prstGeom>
          <a:noFill/>
        </p:spPr>
        <p:txBody>
          <a:bodyPr wrap="square" lIns="0" rIns="0" tIns="0" bIns="0" anchor="ctr"/>
          <a:lstStyle/>
          <a:p>
            <a:pPr marL="201168" indent="-201168">
              <a:buClr>
                <a:srgbClr val="F19111"/>
              </a:buClr>
              <a:buSzPct val="100000"/>
              <a:buFont typeface="Arial"/>
              <a:buChar char="▪"/>
            </a:pPr>
            <a:r>
              <a:rPr sz="1250" b="1">
                <a:solidFill>
                  <a:srgbClr val="FFFFFF"/>
                </a:solidFill>
              </a:rPr>
              <a:t>Cheaper boundary crossings</a:t>
            </a:r>
            <a:r>
              <a:rPr sz="1250">
                <a:solidFill>
                  <a:srgbClr val="FFFFFF"/>
                </a:solidFill>
              </a:rPr>
              <a:t> — fewer bridge calls and conversions per request</a:t>
            </a:r>
          </a:p>
        </p:txBody>
      </p:sp>
      <p:sp>
        <p:nvSpPr>
          <p:cNvPr id="23" name="TextBox 22"/>
          <p:cNvSpPr txBox="1"/>
          <p:nvPr/>
        </p:nvSpPr>
        <p:spPr>
          <a:xfrm>
            <a:off x="6812280" y="5705856"/>
            <a:ext cx="4617720" cy="457200"/>
          </a:xfrm>
          <a:prstGeom prst="rect">
            <a:avLst/>
          </a:prstGeom>
          <a:noFill/>
        </p:spPr>
        <p:txBody>
          <a:bodyPr wrap="square" lIns="0" rIns="0" tIns="0" bIns="0" anchor="ctr"/>
          <a:lstStyle/>
          <a:p>
            <a:pPr marL="201168" indent="-201168">
              <a:buClr>
                <a:srgbClr val="F19111"/>
              </a:buClr>
              <a:buSzPct val="100000"/>
              <a:buFont typeface="Arial"/>
              <a:buChar char="▪"/>
            </a:pPr>
            <a:r>
              <a:rPr sz="1250" b="1">
                <a:solidFill>
                  <a:srgbClr val="FFFFFF"/>
                </a:solidFill>
              </a:rPr>
              <a:t>Pool sizing</a:t>
            </a:r>
            <a:r>
              <a:rPr sz="1250">
                <a:solidFill>
                  <a:srgbClr val="FFFFFF"/>
                </a:solidFill>
              </a:rPr>
              <a:t> — tune contexts to the workload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Today’s limitations</a:t>
            </a:r>
          </a:p>
        </p:txBody>
      </p:sp>
      <p:sp>
        <p:nvSpPr>
          <p:cNvPr id="3" name="Text Placeholder 2"/>
          <p:cNvSpPr>
            <a:spLocks noGrp="1"/>
          </p:cNvSpPr>
          <p:nvPr>
            <p:ph type="body" idx="11" sz="quarter"/>
          </p:nvPr>
        </p:nvSpPr>
        <p:spPr/>
        <p:txBody>
          <a:bodyPr/>
          <a:lstStyle/>
          <a:p>
            <a:r>
              <a:t>What doesn’t work yet — and what to use instead</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Rounded Rectangle 9"/>
          <p:cNvSpPr/>
          <p:nvPr/>
        </p:nvSpPr>
        <p:spPr>
          <a:xfrm>
            <a:off x="768096" y="1645920"/>
            <a:ext cx="3429000" cy="2103120"/>
          </a:xfrm>
          <a:prstGeom prst="roundRect">
            <a:avLst>
              <a:gd name="adj" fmla="val 347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500" b="1">
                <a:solidFill>
                  <a:srgbClr val="F19111"/>
                </a:solidFill>
              </a:rPr>
              <a:t>Native extensions</a:t>
            </a:r>
          </a:p>
          <a:p>
            <a:pPr algn="l">
              <a:buNone/>
            </a:pPr>
            <a:r>
              <a:rPr sz="1250">
                <a:solidFill>
                  <a:srgbClr val="FFFFFF"/>
                </a:solidFill>
              </a:rPr>
              <a:t>CPython wheels aren’t binary-compatible with GraalPy. pydantic-core is unreliable when multithreaded.</a:t>
            </a:r>
          </a:p>
        </p:txBody>
      </p:sp>
      <p:sp>
        <p:nvSpPr>
          <p:cNvPr id="11" name="Rounded Rectangle 10"/>
          <p:cNvSpPr/>
          <p:nvPr/>
        </p:nvSpPr>
        <p:spPr>
          <a:xfrm>
            <a:off x="969264" y="3218688"/>
            <a:ext cx="3026664" cy="365760"/>
          </a:xfrm>
          <a:prstGeom prst="roundRect">
            <a:avLst>
              <a:gd name="adj" fmla="val 5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a:solidFill>
                  <a:srgbClr val="6DBEE7"/>
                </a:solidFill>
              </a:rPr>
              <a:t>→ Micronaut Validation</a:t>
            </a:r>
          </a:p>
        </p:txBody>
      </p:sp>
      <p:sp>
        <p:nvSpPr>
          <p:cNvPr id="12" name="Rounded Rectangle 11"/>
          <p:cNvSpPr/>
          <p:nvPr/>
        </p:nvSpPr>
        <p:spPr>
          <a:xfrm>
            <a:off x="4379976" y="1645920"/>
            <a:ext cx="3429000" cy="2103120"/>
          </a:xfrm>
          <a:prstGeom prst="roundRect">
            <a:avLst>
              <a:gd name="adj" fmla="val 347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500" b="1">
                <a:solidFill>
                  <a:srgbClr val="F19111"/>
                </a:solidFill>
              </a:rPr>
              <a:t>Reflection-based Java libraries</a:t>
            </a:r>
          </a:p>
          <a:p>
            <a:pPr algn="l">
              <a:buNone/>
            </a:pPr>
            <a:r>
              <a:rPr sz="1250">
                <a:solidFill>
                  <a:srgbClr val="FFFFFF"/>
                </a:solidFill>
              </a:rPr>
              <a:t>Hibernate, Jackson databind and friends reflect on Java classes; Python classes aren’t.</a:t>
            </a:r>
          </a:p>
        </p:txBody>
      </p:sp>
      <p:sp>
        <p:nvSpPr>
          <p:cNvPr id="13" name="Rounded Rectangle 12"/>
          <p:cNvSpPr/>
          <p:nvPr/>
        </p:nvSpPr>
        <p:spPr>
          <a:xfrm>
            <a:off x="4581144" y="3218688"/>
            <a:ext cx="3026664" cy="365760"/>
          </a:xfrm>
          <a:prstGeom prst="roundRect">
            <a:avLst>
              <a:gd name="adj" fmla="val 5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a:solidFill>
                  <a:srgbClr val="6DBEE7"/>
                </a:solidFill>
              </a:rPr>
              <a:t>→ Micronaut Data · Serialization</a:t>
            </a:r>
          </a:p>
        </p:txBody>
      </p:sp>
      <p:sp>
        <p:nvSpPr>
          <p:cNvPr id="14" name="Rounded Rectangle 13"/>
          <p:cNvSpPr/>
          <p:nvPr/>
        </p:nvSpPr>
        <p:spPr>
          <a:xfrm>
            <a:off x="7991856" y="1645920"/>
            <a:ext cx="3429000" cy="2103120"/>
          </a:xfrm>
          <a:prstGeom prst="roundRect">
            <a:avLst>
              <a:gd name="adj" fmla="val 347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500" b="1">
                <a:solidFill>
                  <a:srgbClr val="F19111"/>
                </a:solidFill>
              </a:rPr>
              <a:t>The GIL</a:t>
            </a:r>
          </a:p>
          <a:p>
            <a:pPr algn="l">
              <a:buNone/>
            </a:pPr>
            <a:r>
              <a:rPr sz="1250">
                <a:solidFill>
                  <a:srgbClr val="FFFFFF"/>
                </a:solidFill>
              </a:rPr>
              <a:t>Parallelism comes from pooled contexts: module globals are per context, and each costs memory.</a:t>
            </a:r>
          </a:p>
        </p:txBody>
      </p:sp>
      <p:sp>
        <p:nvSpPr>
          <p:cNvPr id="15" name="Rounded Rectangle 14"/>
          <p:cNvSpPr/>
          <p:nvPr/>
        </p:nvSpPr>
        <p:spPr>
          <a:xfrm>
            <a:off x="8193024" y="3218688"/>
            <a:ext cx="3026664" cy="365760"/>
          </a:xfrm>
          <a:prstGeom prst="roundRect">
            <a:avLst>
              <a:gd name="adj" fmla="val 5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a:solidFill>
                  <a:srgbClr val="6DBEE7"/>
                </a:solidFill>
              </a:rPr>
              <a:t>→ GIL-free GraalPy, later</a:t>
            </a:r>
          </a:p>
        </p:txBody>
      </p:sp>
      <p:sp>
        <p:nvSpPr>
          <p:cNvPr id="16" name="Rounded Rectangle 15"/>
          <p:cNvSpPr/>
          <p:nvPr/>
        </p:nvSpPr>
        <p:spPr>
          <a:xfrm>
            <a:off x="768096" y="3931920"/>
            <a:ext cx="3429000" cy="2103120"/>
          </a:xfrm>
          <a:prstGeom prst="roundRect">
            <a:avLst>
              <a:gd name="adj" fmla="val 347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500" b="1">
                <a:solidFill>
                  <a:srgbClr val="F19111"/>
                </a:solidFill>
              </a:rPr>
              <a:t>No virtual threads</a:t>
            </a:r>
          </a:p>
          <a:p>
            <a:pPr algn="l">
              <a:buNone/>
            </a:pPr>
            <a:r>
              <a:rPr sz="1250">
                <a:solidFill>
                  <a:srgbClr val="FFFFFF"/>
                </a:solidFill>
              </a:rPr>
              <a:t>GraalPy can’t run on them, so Python executors use platform threads.</a:t>
            </a:r>
          </a:p>
        </p:txBody>
      </p:sp>
      <p:sp>
        <p:nvSpPr>
          <p:cNvPr id="17" name="Rounded Rectangle 16"/>
          <p:cNvSpPr/>
          <p:nvPr/>
        </p:nvSpPr>
        <p:spPr>
          <a:xfrm>
            <a:off x="969264" y="5504688"/>
            <a:ext cx="3026664" cy="365760"/>
          </a:xfrm>
          <a:prstGeom prst="roundRect">
            <a:avLst>
              <a:gd name="adj" fmla="val 5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a:solidFill>
                  <a:srgbClr val="6DBEE7"/>
                </a:solidFill>
              </a:rPr>
              <a:t>→ future GraalPy</a:t>
            </a:r>
          </a:p>
        </p:txBody>
      </p:sp>
      <p:sp>
        <p:nvSpPr>
          <p:cNvPr id="18" name="Rounded Rectangle 17"/>
          <p:cNvSpPr/>
          <p:nvPr/>
        </p:nvSpPr>
        <p:spPr>
          <a:xfrm>
            <a:off x="4379976" y="3931920"/>
            <a:ext cx="3429000" cy="2103120"/>
          </a:xfrm>
          <a:prstGeom prst="roundRect">
            <a:avLst>
              <a:gd name="adj" fmla="val 347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500" b="1">
                <a:solidFill>
                  <a:srgbClr val="F19111"/>
                </a:solidFill>
              </a:rPr>
              <a:t>Static processing</a:t>
            </a:r>
          </a:p>
          <a:p>
            <a:pPr algn="l">
              <a:buNone/>
            </a:pPr>
            <a:r>
              <a:rPr sz="1250">
                <a:solidFill>
                  <a:srgbClr val="FFFFFF"/>
                </a:solidFill>
              </a:rPr>
              <a:t>Decorators and types must be resolvable at compile time; runtime metaprogramming isn’t seen.</a:t>
            </a:r>
          </a:p>
        </p:txBody>
      </p:sp>
      <p:sp>
        <p:nvSpPr>
          <p:cNvPr id="19" name="Rounded Rectangle 18"/>
          <p:cNvSpPr/>
          <p:nvPr/>
        </p:nvSpPr>
        <p:spPr>
          <a:xfrm>
            <a:off x="4581144" y="5504688"/>
            <a:ext cx="3026664" cy="365760"/>
          </a:xfrm>
          <a:prstGeom prst="roundRect">
            <a:avLst>
              <a:gd name="adj" fmla="val 5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a:solidFill>
                  <a:srgbClr val="6DBEE7"/>
                </a:solidFill>
              </a:rPr>
              <a:t>→ keep types visible to the compiler</a:t>
            </a:r>
          </a:p>
        </p:txBody>
      </p:sp>
      <p:sp>
        <p:nvSpPr>
          <p:cNvPr id="20" name="Rounded Rectangle 19"/>
          <p:cNvSpPr/>
          <p:nvPr/>
        </p:nvSpPr>
        <p:spPr>
          <a:xfrm>
            <a:off x="7991856" y="3931920"/>
            <a:ext cx="3429000" cy="2103120"/>
          </a:xfrm>
          <a:prstGeom prst="roundRect">
            <a:avLst>
              <a:gd name="adj" fmla="val 3478"/>
            </a:avLst>
          </a:prstGeom>
          <a:solidFill>
            <a:srgbClr val="2530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Bef>
                <a:spcPts val="600"/>
              </a:spcBef>
              <a:spcAft>
                <a:spcPts val="600"/>
              </a:spcAft>
              <a:buNone/>
            </a:pPr>
            <a:r>
              <a:rPr sz="1500" b="1">
                <a:solidFill>
                  <a:srgbClr val="F19111"/>
                </a:solidFill>
              </a:rPr>
              <a:t>Platforms &amp; maturity</a:t>
            </a:r>
          </a:p>
          <a:p>
            <a:pPr algn="l">
              <a:buNone/>
            </a:pPr>
            <a:r>
              <a:rPr sz="1250">
                <a:solidFill>
                  <a:srgbClr val="FFFFFF"/>
                </a:solidFill>
              </a:rPr>
              <a:t>macOS and Linux for runtime commands; Crema experimental; VS Code extension manual.</a:t>
            </a:r>
          </a:p>
        </p:txBody>
      </p:sp>
      <p:sp>
        <p:nvSpPr>
          <p:cNvPr id="21" name="Rounded Rectangle 20"/>
          <p:cNvSpPr/>
          <p:nvPr/>
        </p:nvSpPr>
        <p:spPr>
          <a:xfrm>
            <a:off x="8193024" y="5504688"/>
            <a:ext cx="3026664" cy="365760"/>
          </a:xfrm>
          <a:prstGeom prst="roundRect">
            <a:avLst>
              <a:gd name="adj" fmla="val 50000"/>
            </a:avLst>
          </a:prstGeom>
          <a:solidFill>
            <a:srgbClr val="2E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buNone/>
            </a:pPr>
            <a:r>
              <a:rPr sz="1150">
                <a:solidFill>
                  <a:srgbClr val="6DBEE7"/>
                </a:solidFill>
              </a:rPr>
              <a:t>→ wheel-jvm for production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can go from here</a:t>
            </a:r>
          </a:p>
        </p:txBody>
      </p:sp>
      <p:sp>
        <p:nvSpPr>
          <p:cNvPr id="3" name="Text Placeholder 2"/>
          <p:cNvSpPr>
            <a:spLocks noGrp="1"/>
          </p:cNvSpPr>
          <p:nvPr>
            <p:ph type="body" idx="11" sz="quarter"/>
          </p:nvPr>
        </p:nvSpPr>
        <p:spPr/>
        <p:txBody>
          <a:bodyPr/>
          <a:lstStyle/>
          <a:p>
            <a:r>
              <a:t>Most of today’s limits move with GraalPy, Native Image and the tooling</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cxnSp>
        <p:nvCxnSpPr>
          <p:cNvPr id="10" name="Connector 9"/>
          <p:cNvCxnSpPr/>
          <p:nvPr/>
        </p:nvCxnSpPr>
        <p:spPr>
          <a:xfrm>
            <a:off x="768096" y="2103120"/>
            <a:ext cx="9564624" cy="0"/>
          </a:xfrm>
          <a:prstGeom prst="line">
            <a:avLst/>
          </a:prstGeom>
          <a:ln w="31750">
            <a:solidFill>
              <a:srgbClr val="5B68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865376" y="1947672"/>
            <a:ext cx="310896" cy="310896"/>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8096" y="2514600"/>
            <a:ext cx="2514600" cy="2514600"/>
          </a:xfrm>
          <a:prstGeom prst="roundRect">
            <a:avLst>
              <a:gd name="adj" fmla="val 2909"/>
            </a:avLst>
          </a:prstGeom>
          <a:solidFill>
            <a:srgbClr val="25303A"/>
          </a:solidFill>
          <a:ln w="15875">
            <a:solidFill>
              <a:srgbClr val="F19111"/>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1000"/>
              </a:spcAft>
              <a:buNone/>
            </a:pPr>
            <a:r>
              <a:rPr sz="1500" b="1">
                <a:solidFill>
                  <a:srgbClr val="F19111"/>
                </a:solidFill>
              </a:rPr>
              <a:t>GraalPy</a:t>
            </a:r>
          </a:p>
          <a:p>
            <a:pPr algn="l" marL="201168" indent="-201168">
              <a:spcAft>
                <a:spcPts val="600"/>
              </a:spcAft>
              <a:buClr>
                <a:srgbClr val="F19111"/>
              </a:buClr>
              <a:buSzPct val="100000"/>
              <a:buFont typeface="Arial"/>
              <a:buChar char="▪"/>
            </a:pPr>
            <a:r>
              <a:rPr sz="1300">
                <a:solidFill>
                  <a:srgbClr val="FFFFFF"/>
                </a:solidFill>
              </a:rPr>
              <a:t>GIL-free execution</a:t>
            </a:r>
          </a:p>
          <a:p>
            <a:pPr algn="l" marL="201168" indent="-201168">
              <a:spcAft>
                <a:spcPts val="600"/>
              </a:spcAft>
              <a:buClr>
                <a:srgbClr val="F19111"/>
              </a:buClr>
              <a:buSzPct val="100000"/>
              <a:buFont typeface="Arial"/>
              <a:buChar char="▪"/>
            </a:pPr>
            <a:r>
              <a:rPr sz="1300">
                <a:solidFill>
                  <a:srgbClr val="FFFFFF"/>
                </a:solidFill>
              </a:rPr>
              <a:t>virtual-thread support</a:t>
            </a:r>
          </a:p>
          <a:p>
            <a:pPr algn="l" marL="201168" indent="-201168">
              <a:spcAft>
                <a:spcPts val="600"/>
              </a:spcAft>
              <a:buClr>
                <a:srgbClr val="F19111"/>
              </a:buClr>
              <a:buSzPct val="100000"/>
              <a:buFont typeface="Arial"/>
              <a:buChar char="▪"/>
            </a:pPr>
            <a:r>
              <a:rPr sz="1300">
                <a:solidFill>
                  <a:srgbClr val="FFFFFF"/>
                </a:solidFill>
              </a:rPr>
              <a:t>broader package compatibility</a:t>
            </a:r>
          </a:p>
        </p:txBody>
      </p:sp>
      <p:sp>
        <p:nvSpPr>
          <p:cNvPr id="13" name="Oval 12"/>
          <p:cNvSpPr/>
          <p:nvPr/>
        </p:nvSpPr>
        <p:spPr>
          <a:xfrm>
            <a:off x="4562856" y="1947672"/>
            <a:ext cx="310896" cy="310896"/>
          </a:xfrm>
          <a:prstGeom prst="ellipse">
            <a:avLst/>
          </a:prstGeom>
          <a:solidFill>
            <a:srgbClr val="F0CC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65576" y="2514600"/>
            <a:ext cx="2514600" cy="2514600"/>
          </a:xfrm>
          <a:prstGeom prst="roundRect">
            <a:avLst>
              <a:gd name="adj" fmla="val 2909"/>
            </a:avLst>
          </a:prstGeom>
          <a:solidFill>
            <a:srgbClr val="25303A"/>
          </a:solidFill>
          <a:ln w="15875">
            <a:solidFill>
              <a:srgbClr val="F0CC72"/>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1000"/>
              </a:spcAft>
              <a:buNone/>
            </a:pPr>
            <a:r>
              <a:rPr sz="1500" b="1">
                <a:solidFill>
                  <a:srgbClr val="F0CC72"/>
                </a:solidFill>
              </a:rPr>
              <a:t>Native Image &amp; Crema</a:t>
            </a:r>
          </a:p>
          <a:p>
            <a:pPr algn="l" marL="201168" indent="-201168">
              <a:spcAft>
                <a:spcPts val="600"/>
              </a:spcAft>
              <a:buClr>
                <a:srgbClr val="F0CC72"/>
              </a:buClr>
              <a:buSzPct val="100000"/>
              <a:buFont typeface="Arial"/>
              <a:buChar char="▪"/>
            </a:pPr>
            <a:r>
              <a:rPr sz="1300">
                <a:solidFill>
                  <a:srgbClr val="FFFFFF"/>
                </a:solidFill>
              </a:rPr>
              <a:t>behaviour parity with HotSpot</a:t>
            </a:r>
          </a:p>
          <a:p>
            <a:pPr algn="l" marL="201168" indent="-201168">
              <a:spcAft>
                <a:spcPts val="600"/>
              </a:spcAft>
              <a:buClr>
                <a:srgbClr val="F0CC72"/>
              </a:buClr>
              <a:buSzPct val="100000"/>
              <a:buFont typeface="Arial"/>
              <a:buChar char="▪"/>
            </a:pPr>
            <a:r>
              <a:rPr sz="1300">
                <a:solidFill>
                  <a:srgbClr val="FFFFFF"/>
                </a:solidFill>
              </a:rPr>
              <a:t>G1 collector</a:t>
            </a:r>
          </a:p>
          <a:p>
            <a:pPr algn="l" marL="201168" indent="-201168">
              <a:spcAft>
                <a:spcPts val="600"/>
              </a:spcAft>
              <a:buClr>
                <a:srgbClr val="F0CC72"/>
              </a:buClr>
              <a:buSzPct val="100000"/>
              <a:buFont typeface="Arial"/>
              <a:buChar char="▪"/>
            </a:pPr>
            <a:r>
              <a:rPr sz="1300">
                <a:solidFill>
                  <a:srgbClr val="FFFFFF"/>
                </a:solidFill>
              </a:rPr>
              <a:t>PGO-optimized bases</a:t>
            </a:r>
          </a:p>
        </p:txBody>
      </p:sp>
      <p:sp>
        <p:nvSpPr>
          <p:cNvPr id="15" name="Oval 14"/>
          <p:cNvSpPr/>
          <p:nvPr/>
        </p:nvSpPr>
        <p:spPr>
          <a:xfrm>
            <a:off x="7260336" y="1947672"/>
            <a:ext cx="310896" cy="310896"/>
          </a:xfrm>
          <a:prstGeom prst="ellipse">
            <a:avLst/>
          </a:prstGeom>
          <a:solidFill>
            <a:srgbClr val="6D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63056" y="2514600"/>
            <a:ext cx="2514600" cy="2514600"/>
          </a:xfrm>
          <a:prstGeom prst="roundRect">
            <a:avLst>
              <a:gd name="adj" fmla="val 2909"/>
            </a:avLst>
          </a:prstGeom>
          <a:solidFill>
            <a:srgbClr val="25303A"/>
          </a:solidFill>
          <a:ln w="15875">
            <a:solidFill>
              <a:srgbClr val="6DBEE7"/>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1000"/>
              </a:spcAft>
              <a:buNone/>
            </a:pPr>
            <a:r>
              <a:rPr sz="1500" b="1">
                <a:solidFill>
                  <a:srgbClr val="6DBEE7"/>
                </a:solidFill>
              </a:rPr>
              <a:t>Tooling</a:t>
            </a:r>
          </a:p>
          <a:p>
            <a:pPr algn="l" marL="201168" indent="-201168">
              <a:spcAft>
                <a:spcPts val="600"/>
              </a:spcAft>
              <a:buClr>
                <a:srgbClr val="6DBEE7"/>
              </a:buClr>
              <a:buSzPct val="100000"/>
              <a:buFont typeface="Arial"/>
              <a:buChar char="▪"/>
            </a:pPr>
            <a:r>
              <a:rPr sz="1300">
                <a:solidFill>
                  <a:srgbClr val="FFFFFF"/>
                </a:solidFill>
              </a:rPr>
              <a:t>VS Code Marketplace release</a:t>
            </a:r>
          </a:p>
          <a:p>
            <a:pPr algn="l" marL="201168" indent="-201168">
              <a:spcAft>
                <a:spcPts val="600"/>
              </a:spcAft>
              <a:buClr>
                <a:srgbClr val="6DBEE7"/>
              </a:buClr>
              <a:buSzPct val="100000"/>
              <a:buFont typeface="Arial"/>
              <a:buChar char="▪"/>
            </a:pPr>
            <a:r>
              <a:rPr sz="1300">
                <a:solidFill>
                  <a:srgbClr val="FFFFFF"/>
                </a:solidFill>
              </a:rPr>
              <a:t>debug and coverage profiles</a:t>
            </a:r>
          </a:p>
          <a:p>
            <a:pPr algn="l" marL="201168" indent="-201168">
              <a:spcAft>
                <a:spcPts val="600"/>
              </a:spcAft>
              <a:buClr>
                <a:srgbClr val="6DBEE7"/>
              </a:buClr>
              <a:buSzPct val="100000"/>
              <a:buFont typeface="Arial"/>
              <a:buChar char="▪"/>
            </a:pPr>
            <a:r>
              <a:rPr sz="1300">
                <a:solidFill>
                  <a:srgbClr val="FFFFFF"/>
                </a:solidFill>
              </a:rPr>
              <a:t>faster processing</a:t>
            </a:r>
          </a:p>
        </p:txBody>
      </p:sp>
      <p:sp>
        <p:nvSpPr>
          <p:cNvPr id="17" name="Oval 16"/>
          <p:cNvSpPr/>
          <p:nvPr/>
        </p:nvSpPr>
        <p:spPr>
          <a:xfrm>
            <a:off x="9957816" y="1947672"/>
            <a:ext cx="310896" cy="310896"/>
          </a:xfrm>
          <a:prstGeom prst="ellipse">
            <a:avLst/>
          </a:prstGeom>
          <a:solidFill>
            <a:srgbClr val="8BC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860536" y="2514600"/>
            <a:ext cx="2514600" cy="2514600"/>
          </a:xfrm>
          <a:prstGeom prst="roundRect">
            <a:avLst>
              <a:gd name="adj" fmla="val 2909"/>
            </a:avLst>
          </a:prstGeom>
          <a:solidFill>
            <a:srgbClr val="25303A"/>
          </a:solidFill>
          <a:ln w="15875">
            <a:solidFill>
              <a:srgbClr val="8BC34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Bef>
                <a:spcPts val="800"/>
              </a:spcBef>
              <a:spcAft>
                <a:spcPts val="1000"/>
              </a:spcAft>
              <a:buNone/>
            </a:pPr>
            <a:r>
              <a:rPr sz="1500" b="1">
                <a:solidFill>
                  <a:srgbClr val="8BC34A"/>
                </a:solidFill>
              </a:rPr>
              <a:t>Framework</a:t>
            </a:r>
          </a:p>
          <a:p>
            <a:pPr algn="l" marL="201168" indent="-201168">
              <a:spcAft>
                <a:spcPts val="600"/>
              </a:spcAft>
              <a:buClr>
                <a:srgbClr val="8BC34A"/>
              </a:buClr>
              <a:buSzPct val="100000"/>
              <a:buFont typeface="Arial"/>
              <a:buChar char="▪"/>
            </a:pPr>
            <a:r>
              <a:rPr sz="1300">
                <a:solidFill>
                  <a:srgbClr val="FFFFFF"/>
                </a:solidFill>
              </a:rPr>
              <a:t>fewer boundary crossings per request</a:t>
            </a:r>
          </a:p>
          <a:p>
            <a:pPr algn="l" marL="201168" indent="-201168">
              <a:spcAft>
                <a:spcPts val="600"/>
              </a:spcAft>
              <a:buClr>
                <a:srgbClr val="8BC34A"/>
              </a:buClr>
              <a:buSzPct val="100000"/>
              <a:buFont typeface="Arial"/>
              <a:buChar char="▪"/>
            </a:pPr>
            <a:r>
              <a:rPr sz="1300">
                <a:solidFill>
                  <a:srgbClr val="FFFFFF"/>
                </a:solidFill>
              </a:rPr>
              <a:t>pool sizing guidance from real workloads</a:t>
            </a:r>
          </a:p>
        </p:txBody>
      </p:sp>
      <p:pic>
        <p:nvPicPr>
          <p:cNvPr id="19" name="Picture 18" descr="rocket.png"/>
          <p:cNvPicPr>
            <a:picLocks noChangeAspect="1"/>
          </p:cNvPicPr>
          <p:nvPr/>
        </p:nvPicPr>
        <p:blipFill>
          <a:blip r:embed="rId3"/>
          <a:stretch>
            <a:fillRect/>
          </a:stretch>
        </p:blipFill>
        <p:spPr>
          <a:xfrm>
            <a:off x="10561320" y="1417320"/>
            <a:ext cx="820615" cy="777240"/>
          </a:xfrm>
          <a:prstGeom prst="rect">
            <a:avLst/>
          </a:prstGeom>
        </p:spPr>
      </p:pic>
      <p:sp>
        <p:nvSpPr>
          <p:cNvPr id="20" name="TextBox 19"/>
          <p:cNvSpPr txBox="1"/>
          <p:nvPr/>
        </p:nvSpPr>
        <p:spPr>
          <a:xfrm>
            <a:off x="768096" y="5349240"/>
            <a:ext cx="10607040" cy="457200"/>
          </a:xfrm>
          <a:prstGeom prst="rect">
            <a:avLst/>
          </a:prstGeom>
          <a:noFill/>
        </p:spPr>
        <p:txBody>
          <a:bodyPr wrap="square" lIns="0" rIns="0" tIns="0" bIns="0" anchor="t"/>
          <a:lstStyle/>
          <a:p>
            <a:pPr>
              <a:buNone/>
            </a:pPr>
            <a:r>
              <a:rPr sz="1300">
                <a:solidFill>
                  <a:srgbClr val="A9B7C4"/>
                </a:solidFill>
              </a:rPr>
              <a:t>The GIL and virtual-thread limits belong to the current GraalPy release — pool guidance gets revisited when they lift.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Lessons for the next language</a:t>
            </a:r>
          </a:p>
        </p:txBody>
      </p:sp>
      <p:sp>
        <p:nvSpPr>
          <p:cNvPr id="3" name="Text Placeholder 2"/>
          <p:cNvSpPr>
            <a:spLocks noGrp="1"/>
          </p:cNvSpPr>
          <p:nvPr>
            <p:ph type="body" idx="11" sz="quarter"/>
          </p:nvPr>
        </p:nvSpPr>
        <p:spPr/>
        <p:txBody>
          <a:bodyPr/>
          <a:lstStyle/>
          <a:p>
            <a:r>
              <a:t>What bringing Python taught us about Micronaut itself</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a:t>Copyright © 2026, Oracle and/or its affiliates  |  Confidential: Internal</a:t>
            </a:r>
            <a:endParaRPr lang="en-US" dirty="0"/>
          </a:p>
        </p:txBody>
      </p:sp>
      <p:pic>
        <p:nvPicPr>
          <p:cNvPr id="9" name="Picture 8" descr="pyro-footer.png"/>
          <p:cNvPicPr>
            <a:picLocks noChangeAspect="1"/>
          </p:cNvPicPr>
          <p:nvPr/>
        </p:nvPicPr>
        <p:blipFill>
          <a:blip r:embed="rId2"/>
          <a:stretch>
            <a:fillRect/>
          </a:stretch>
        </p:blipFill>
        <p:spPr>
          <a:xfrm>
            <a:off x="9646920" y="6519672"/>
            <a:ext cx="1470429" cy="219456"/>
          </a:xfrm>
          <a:prstGeom prst="rect">
            <a:avLst/>
          </a:prstGeom>
        </p:spPr>
      </p:pic>
      <p:sp>
        <p:nvSpPr>
          <p:cNvPr id="10" name="Oval 9"/>
          <p:cNvSpPr/>
          <p:nvPr/>
        </p:nvSpPr>
        <p:spPr>
          <a:xfrm>
            <a:off x="768096" y="1737360"/>
            <a:ext cx="502920" cy="502920"/>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1</a:t>
            </a:r>
          </a:p>
        </p:txBody>
      </p:sp>
      <p:sp>
        <p:nvSpPr>
          <p:cNvPr id="11" name="TextBox 10"/>
          <p:cNvSpPr txBox="1"/>
          <p:nvPr/>
        </p:nvSpPr>
        <p:spPr>
          <a:xfrm>
            <a:off x="1453895" y="1691640"/>
            <a:ext cx="3200400" cy="685800"/>
          </a:xfrm>
          <a:prstGeom prst="rect">
            <a:avLst/>
          </a:prstGeom>
          <a:noFill/>
        </p:spPr>
        <p:txBody>
          <a:bodyPr wrap="square" lIns="0" rIns="0" tIns="0" bIns="0" anchor="t"/>
          <a:lstStyle/>
          <a:p>
            <a:pPr>
              <a:buNone/>
            </a:pPr>
            <a:r>
              <a:rPr sz="1700" b="1">
                <a:solidFill>
                  <a:srgbClr val="FFFFFF"/>
                </a:solidFill>
              </a:rPr>
              <a:t>The AST / runtime split paid off</a:t>
            </a:r>
          </a:p>
        </p:txBody>
      </p:sp>
      <p:sp>
        <p:nvSpPr>
          <p:cNvPr id="12" name="TextBox 11"/>
          <p:cNvSpPr txBox="1"/>
          <p:nvPr/>
        </p:nvSpPr>
        <p:spPr>
          <a:xfrm>
            <a:off x="1453895" y="2423160"/>
            <a:ext cx="3200400" cy="1097280"/>
          </a:xfrm>
          <a:prstGeom prst="rect">
            <a:avLst/>
          </a:prstGeom>
          <a:noFill/>
        </p:spPr>
        <p:txBody>
          <a:bodyPr wrap="square" lIns="0" rIns="0" tIns="0" bIns="0" anchor="t"/>
          <a:lstStyle/>
          <a:p>
            <a:pPr>
              <a:buNone/>
            </a:pPr>
            <a:r>
              <a:rPr sz="1300">
                <a:solidFill>
                  <a:srgbClr val="A9B7C4"/>
                </a:solidFill>
              </a:rPr>
              <a:t>Implement the Element API once — Data, Serde, Validation and OpenAPI followed, unchanged.</a:t>
            </a:r>
          </a:p>
        </p:txBody>
      </p:sp>
      <p:sp>
        <p:nvSpPr>
          <p:cNvPr id="13" name="Oval 12"/>
          <p:cNvSpPr/>
          <p:nvPr/>
        </p:nvSpPr>
        <p:spPr>
          <a:xfrm>
            <a:off x="4791456" y="1737360"/>
            <a:ext cx="502920" cy="502920"/>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2</a:t>
            </a:r>
          </a:p>
        </p:txBody>
      </p:sp>
      <p:sp>
        <p:nvSpPr>
          <p:cNvPr id="14" name="TextBox 13"/>
          <p:cNvSpPr txBox="1"/>
          <p:nvPr/>
        </p:nvSpPr>
        <p:spPr>
          <a:xfrm>
            <a:off x="5477256" y="1691640"/>
            <a:ext cx="3200400" cy="685800"/>
          </a:xfrm>
          <a:prstGeom prst="rect">
            <a:avLst/>
          </a:prstGeom>
          <a:noFill/>
        </p:spPr>
        <p:txBody>
          <a:bodyPr wrap="square" lIns="0" rIns="0" tIns="0" bIns="0" anchor="t"/>
          <a:lstStyle/>
          <a:p>
            <a:pPr>
              <a:buNone/>
            </a:pPr>
            <a:r>
              <a:rPr sz="1700" b="1">
                <a:solidFill>
                  <a:srgbClr val="FFFFFF"/>
                </a:solidFill>
              </a:rPr>
              <a:t>Use the language’s own tools</a:t>
            </a:r>
          </a:p>
        </p:txBody>
      </p:sp>
      <p:sp>
        <p:nvSpPr>
          <p:cNvPr id="15" name="TextBox 14"/>
          <p:cNvSpPr txBox="1"/>
          <p:nvPr/>
        </p:nvSpPr>
        <p:spPr>
          <a:xfrm>
            <a:off x="5477256" y="2423160"/>
            <a:ext cx="3200400" cy="1097280"/>
          </a:xfrm>
          <a:prstGeom prst="rect">
            <a:avLst/>
          </a:prstGeom>
          <a:noFill/>
        </p:spPr>
        <p:txBody>
          <a:bodyPr wrap="square" lIns="0" rIns="0" tIns="0" bIns="0" anchor="t"/>
          <a:lstStyle/>
          <a:p>
            <a:pPr>
              <a:buNone/>
            </a:pPr>
            <a:r>
              <a:rPr sz="1300">
                <a:solidFill>
                  <a:srgbClr val="A9B7C4"/>
                </a:solidFill>
              </a:rPr>
              <a:t>Python’s ast module, pytest and pyproject.toml — don’t reimplement a parser or a test runner.</a:t>
            </a:r>
          </a:p>
        </p:txBody>
      </p:sp>
      <p:sp>
        <p:nvSpPr>
          <p:cNvPr id="16" name="Oval 15"/>
          <p:cNvSpPr/>
          <p:nvPr/>
        </p:nvSpPr>
        <p:spPr>
          <a:xfrm>
            <a:off x="768096" y="3977640"/>
            <a:ext cx="502920" cy="502920"/>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3</a:t>
            </a:r>
          </a:p>
        </p:txBody>
      </p:sp>
      <p:sp>
        <p:nvSpPr>
          <p:cNvPr id="17" name="TextBox 16"/>
          <p:cNvSpPr txBox="1"/>
          <p:nvPr/>
        </p:nvSpPr>
        <p:spPr>
          <a:xfrm>
            <a:off x="1453895" y="3931920"/>
            <a:ext cx="3200400" cy="685800"/>
          </a:xfrm>
          <a:prstGeom prst="rect">
            <a:avLst/>
          </a:prstGeom>
          <a:noFill/>
        </p:spPr>
        <p:txBody>
          <a:bodyPr wrap="square" lIns="0" rIns="0" tIns="0" bIns="0" anchor="t"/>
          <a:lstStyle/>
          <a:p>
            <a:pPr>
              <a:buNone/>
            </a:pPr>
            <a:r>
              <a:rPr sz="1700" b="1">
                <a:solidFill>
                  <a:srgbClr val="FFFFFF"/>
                </a:solidFill>
              </a:rPr>
              <a:t>Interop is reflection — generate it</a:t>
            </a:r>
          </a:p>
        </p:txBody>
      </p:sp>
      <p:sp>
        <p:nvSpPr>
          <p:cNvPr id="18" name="TextBox 17"/>
          <p:cNvSpPr txBox="1"/>
          <p:nvPr/>
        </p:nvSpPr>
        <p:spPr>
          <a:xfrm>
            <a:off x="1453895" y="4663440"/>
            <a:ext cx="3200400" cy="1097280"/>
          </a:xfrm>
          <a:prstGeom prst="rect">
            <a:avLst/>
          </a:prstGeom>
          <a:noFill/>
        </p:spPr>
        <p:txBody>
          <a:bodyPr wrap="square" lIns="0" rIns="0" tIns="0" bIns="0" anchor="t"/>
          <a:lstStyle/>
          <a:p>
            <a:pPr>
              <a:buNone/>
            </a:pPr>
            <a:r>
              <a:rPr sz="1300">
                <a:solidFill>
                  <a:srgbClr val="A9B7C4"/>
                </a:solidFill>
              </a:rPr>
              <a:t>Bridges and conversions produced at build time keep lookups out of the request path.</a:t>
            </a:r>
          </a:p>
        </p:txBody>
      </p:sp>
      <p:sp>
        <p:nvSpPr>
          <p:cNvPr id="19" name="Oval 18"/>
          <p:cNvSpPr/>
          <p:nvPr/>
        </p:nvSpPr>
        <p:spPr>
          <a:xfrm>
            <a:off x="4791456" y="3977640"/>
            <a:ext cx="502920" cy="502920"/>
          </a:xfrm>
          <a:prstGeom prst="ellipse">
            <a:avLst/>
          </a:prstGeom>
          <a:solidFill>
            <a:srgbClr val="F1911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800" b="1">
                <a:solidFill>
                  <a:srgbClr val="1B222A"/>
                </a:solidFill>
              </a:rPr>
              <a:t>4</a:t>
            </a:r>
          </a:p>
        </p:txBody>
      </p:sp>
      <p:sp>
        <p:nvSpPr>
          <p:cNvPr id="20" name="TextBox 19"/>
          <p:cNvSpPr txBox="1"/>
          <p:nvPr/>
        </p:nvSpPr>
        <p:spPr>
          <a:xfrm>
            <a:off x="5477256" y="3931920"/>
            <a:ext cx="3200400" cy="685800"/>
          </a:xfrm>
          <a:prstGeom prst="rect">
            <a:avLst/>
          </a:prstGeom>
          <a:noFill/>
        </p:spPr>
        <p:txBody>
          <a:bodyPr wrap="square" lIns="0" rIns="0" tIns="0" bIns="0" anchor="t"/>
          <a:lstStyle/>
          <a:p>
            <a:pPr>
              <a:buNone/>
            </a:pPr>
            <a:r>
              <a:rPr sz="1700" b="1">
                <a:solidFill>
                  <a:srgbClr val="FFFFFF"/>
                </a:solidFill>
              </a:rPr>
              <a:t>Tooling is half the product</a:t>
            </a:r>
          </a:p>
        </p:txBody>
      </p:sp>
      <p:sp>
        <p:nvSpPr>
          <p:cNvPr id="21" name="TextBox 20"/>
          <p:cNvSpPr txBox="1"/>
          <p:nvPr/>
        </p:nvSpPr>
        <p:spPr>
          <a:xfrm>
            <a:off x="5477256" y="4663440"/>
            <a:ext cx="3200400" cy="1097280"/>
          </a:xfrm>
          <a:prstGeom prst="rect">
            <a:avLst/>
          </a:prstGeom>
          <a:noFill/>
        </p:spPr>
        <p:txBody>
          <a:bodyPr wrap="square" lIns="0" rIns="0" tIns="0" bIns="0" anchor="t"/>
          <a:lstStyle/>
          <a:p>
            <a:pPr>
              <a:buNone/>
            </a:pPr>
            <a:r>
              <a:rPr sz="1300">
                <a:solidFill>
                  <a:srgbClr val="A9B7C4"/>
                </a:solidFill>
              </a:rPr>
              <a:t>Developers meet the CLI, the editor and the test runner long before the framework.</a:t>
            </a:r>
          </a:p>
        </p:txBody>
      </p:sp>
      <p:pic>
        <p:nvPicPr>
          <p:cNvPr id="22" name="Picture 21" descr="logo_full.png"/>
          <p:cNvPicPr>
            <a:picLocks noChangeAspect="1"/>
          </p:cNvPicPr>
          <p:nvPr/>
        </p:nvPicPr>
        <p:blipFill>
          <a:blip r:embed="rId3"/>
          <a:stretch>
            <a:fillRect/>
          </a:stretch>
        </p:blipFill>
        <p:spPr>
          <a:xfrm>
            <a:off x="8915400" y="2011680"/>
            <a:ext cx="2651760" cy="1819107"/>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racle-FY26-8.0">
  <a:themeElements>
    <a:clrScheme name="Graalv2">
      <a:dk1>
        <a:srgbClr val="181E24"/>
      </a:dk1>
      <a:lt1>
        <a:srgbClr val="FFFFFF"/>
      </a:lt1>
      <a:dk2>
        <a:srgbClr val="181E24"/>
      </a:dk2>
      <a:lt2>
        <a:srgbClr val="FFFFFF"/>
      </a:lt2>
      <a:accent1>
        <a:srgbClr val="008EFF"/>
      </a:accent1>
      <a:accent2>
        <a:srgbClr val="653877"/>
      </a:accent2>
      <a:accent3>
        <a:srgbClr val="B74545"/>
      </a:accent3>
      <a:accent4>
        <a:srgbClr val="F19111"/>
      </a:accent4>
      <a:accent5>
        <a:srgbClr val="01569A"/>
      </a:accent5>
      <a:accent6>
        <a:srgbClr val="00758F"/>
      </a:accent6>
      <a:hlink>
        <a:srgbClr val="6DBEE7"/>
      </a:hlink>
      <a:folHlink>
        <a:srgbClr val="6DBEE7"/>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racle Red">
      <a:srgbClr val="C74634"/>
    </a:custClr>
    <a:custClr name="Brand Dark 170/Hyperlink Dark">
      <a:srgbClr val="F0CC72"/>
    </a:custClr>
    <a:custClr name="Beige 50">
      <a:srgbClr val="D8D0B5"/>
    </a:custClr>
    <a:custClr name="Pine 80">
      <a:srgbClr val="74A683"/>
    </a:custClr>
    <a:custClr name="Teal 90">
      <a:srgbClr val="628F8D"/>
    </a:custClr>
    <a:custClr name="Plum 90">
      <a:srgbClr val="957CA4"/>
    </a:custClr>
    <a:custClr name="Sky 80">
      <a:srgbClr val="5FA2BA"/>
    </a:custClr>
    <a:custClr name="Higlight Light">
      <a:srgbClr val="AE562C"/>
    </a:custClr>
    <a:custClr name="Rose 90">
      <a:srgbClr val="B47282"/>
    </a:custClr>
    <a:custClr name="Brand Yellow ">
      <a:srgbClr val="F1B13F"/>
    </a:custClr>
    <a:custClr name="Brand: Neutral 30">
      <a:srgbClr val="F1EFED"/>
    </a:custClr>
    <a:custClr name="Developer: Pebble 30">
      <a:srgbClr val="E7F0FD"/>
    </a:custClr>
    <a:custClr name="Database: Slate 50">
      <a:srgbClr val="C2D4D4"/>
    </a:custClr>
    <a:custClr name="Pine 90">
      <a:srgbClr val="5C926D"/>
    </a:custClr>
    <a:custClr name="Teal 110">
      <a:srgbClr val="467173"/>
    </a:custClr>
    <a:custClr name="Plum 110">
      <a:srgbClr val="796087"/>
    </a:custClr>
    <a:custClr name="Sky 100">
      <a:srgbClr val="227E9E"/>
    </a:custClr>
    <a:custClr name="Ocean 90">
      <a:srgbClr val="558EA4"/>
    </a:custClr>
    <a:custClr name="Rose 100">
      <a:srgbClr val="925865"/>
    </a:custClr>
    <a:custClr name="Sienna 50">
      <a:srgbClr val="ECCB98"/>
    </a:custClr>
    <a:custClr name="Neutral 70">
      <a:srgbClr val="AEA8A2"/>
    </a:custClr>
    <a:custClr name="Pebble 90">
      <a:srgbClr val="808792"/>
    </a:custClr>
    <a:custClr name="Database: Slate 100">
      <a:srgbClr val="697778"/>
    </a:custClr>
    <a:custClr name="Pine 100">
      <a:srgbClr val="4C825C"/>
    </a:custClr>
    <a:custClr name="Teal 130">
      <a:srgbClr val="375D61"/>
    </a:custClr>
    <a:custClr name="Plum 130">
      <a:srgbClr val="634E71"/>
    </a:custClr>
    <a:custClr name="Sky 120">
      <a:srgbClr val="00688C"/>
    </a:custClr>
    <a:custClr name="Ocean 110">
      <a:srgbClr val="3B7087"/>
    </a:custClr>
    <a:custClr name="Rose 130">
      <a:srgbClr val="7A4753"/>
    </a:custClr>
    <a:custClr name="Sienna 60">
      <a:srgbClr val="DEB068"/>
    </a:custClr>
    <a:custClr name="Brand: Neutral 140">
      <a:srgbClr val="514C47"/>
    </a:custClr>
    <a:custClr name="Pebble 130">
      <a:srgbClr val="53575F"/>
    </a:custClr>
    <a:custClr name="Slate 150">
      <a:srgbClr val="3C4545"/>
    </a:custClr>
    <a:custClr name="Pine 120">
      <a:srgbClr val="3F6B4B"/>
    </a:custClr>
    <a:custClr name="Teal 150">
      <a:srgbClr val="2B484B"/>
    </a:custClr>
    <a:custClr name="Plum 150">
      <a:srgbClr val="4D3C57"/>
    </a:custClr>
    <a:custClr name="Sky 140">
      <a:srgbClr val="04536F"/>
    </a:custClr>
    <a:custClr name="Ocean 120">
      <a:srgbClr val="36677D"/>
    </a:custClr>
    <a:custClr name="Rose 150">
      <a:srgbClr val="5F363F"/>
    </a:custClr>
    <a:custClr name="Sienna 80">
      <a:srgbClr val="C58C52"/>
    </a:custClr>
    <a:custClr name="Brand: Neutral 180">
      <a:srgbClr val="201E1C"/>
    </a:custClr>
    <a:custClr name="Pebble 170">
      <a:srgbClr val="2B2E32"/>
    </a:custClr>
    <a:custClr name="Slate 170">
      <a:srgbClr val="2A2F2F"/>
    </a:custClr>
    <a:custClr name="Pine 160">
      <a:srgbClr val="253D2C"/>
    </a:custClr>
    <a:custClr name="Teal 170">
      <a:srgbClr val="1E3133"/>
    </a:custClr>
    <a:custClr name="Plum 170">
      <a:srgbClr val="36293C"/>
    </a:custClr>
    <a:custClr name="Sky 160">
      <a:srgbClr val="063C4E"/>
    </a:custClr>
    <a:custClr name="Ocean 180">
      <a:srgbClr val="13212C"/>
    </a:custClr>
    <a:custClr name="Rose 180">
      <a:srgbClr val="2D191D"/>
    </a:custClr>
    <a:custClr name="SCM: Sienna 90">
      <a:srgbClr val="B67745"/>
    </a:custClr>
  </a:custClrLst>
  <a:extLst>
    <a:ext uri="{05A4C25C-085E-4340-85A3-A5531E510DB2}">
      <thm15:themeFamily xmlns:thm15="http://schemas.microsoft.com/office/thememl/2012/main" name="Graal Template" id="{38219664-B0BE-9E4A-BFD1-950E880F4072}" vid="{E0568715-0C49-984A-B3BA-1DCBCC46586A}"/>
    </a:ext>
  </a:extLst>
</a:theme>
</file>

<file path=ppt/theme/theme2.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Pillars">
      <a:majorFont>
        <a:latin typeface="Georgia"/>
        <a:ea typeface=""/>
        <a:cs typeface=""/>
      </a:majorFont>
      <a:minorFont>
        <a:latin typeface="Oracle Sans T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22C9B34DEC2143A76D7422EE4B3741" ma:contentTypeVersion="3" ma:contentTypeDescription="Create a new document." ma:contentTypeScope="" ma:versionID="e04b0c96a1fd279bfb88c35ec69e0e52">
  <xsd:schema xmlns:xsd="http://www.w3.org/2001/XMLSchema" xmlns:xs="http://www.w3.org/2001/XMLSchema" xmlns:p="http://schemas.microsoft.com/office/2006/metadata/properties" xmlns:ns2="9cb3e6ae-4110-4b48-ae1c-0e2053abb8d8" targetNamespace="http://schemas.microsoft.com/office/2006/metadata/properties" ma:root="true" ma:fieldsID="8def215c99aa40a82c9f3db25d09cf95" ns2:_="">
    <xsd:import namespace="9cb3e6ae-4110-4b48-ae1c-0e2053abb8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b3e6ae-4110-4b48-ae1c-0e2053abb8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1BB8ED-6F26-4AF1-84E8-CADA78041F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b3e6ae-4110-4b48-ae1c-0e2053abb8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828134A-4936-4540-848F-A67A15F16454}">
  <ds:schemaRefs>
    <ds:schemaRef ds:uri="http://schemas.microsoft.com/sharepoint/v3/contenttype/forms"/>
  </ds:schemaRefs>
</ds:datastoreItem>
</file>

<file path=customXml/itemProps3.xml><?xml version="1.0" encoding="utf-8"?>
<ds:datastoreItem xmlns:ds="http://schemas.openxmlformats.org/officeDocument/2006/customXml" ds:itemID="{7F72E89F-4FF5-4A05-8F61-E9D81A69DB3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92</TotalTime>
  <Words>7159</Words>
  <Application>Microsoft Macintosh PowerPoint</Application>
  <PresentationFormat>Widescreen</PresentationFormat>
  <Paragraphs>1195</Paragraphs>
  <Slides>103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103</vt:i4>
      </vt:variant>
    </vt:vector>
  </HeadingPairs>
  <TitlesOfParts>
    <vt:vector size="113" baseType="lpstr">
      <vt:lpstr>Arial</vt:lpstr>
      <vt:lpstr>Menlo</vt:lpstr>
      <vt:lpstr>Oracle Sans</vt:lpstr>
      <vt:lpstr>Oracle Sans Light</vt:lpstr>
      <vt:lpstr>Oracle Sans Tab</vt:lpstr>
      <vt:lpstr>Oracle Sans Tab Extra Bold</vt:lpstr>
      <vt:lpstr>Oracle Sans Tab Light</vt:lpstr>
      <vt:lpstr>Oracle Sans Tab Semi Bold</vt:lpstr>
      <vt:lpstr>System Font Regular</vt:lpstr>
      <vt:lpstr>Oracle-FY26-8.0</vt:lpstr>
      <vt:lpstr>Title</vt:lpstr>
      <vt:lpstr>What’s different? </vt:lpstr>
      <vt:lpstr>How to use this deck: Fonts and editing</vt:lpstr>
      <vt:lpstr>Template Overview</vt:lpstr>
      <vt:lpstr>Instructions—Title Slide</vt:lpstr>
      <vt:lpstr>PowerPoint Presentation</vt:lpstr>
      <vt:lpstr>Instructions—Background colour</vt:lpstr>
      <vt:lpstr>Instructions</vt:lpstr>
      <vt:lpstr>Instructions</vt:lpstr>
      <vt:lpstr>Logotypes</vt:lpstr>
      <vt:lpstr>How to use this deck: Speaker slides</vt:lpstr>
      <vt:lpstr>General do’s and don’t</vt:lpstr>
      <vt:lpstr>Accessibility</vt:lpstr>
      <vt:lpstr>Agenda title</vt:lpstr>
      <vt:lpstr>Agenda title</vt:lpstr>
      <vt:lpstr>Agenda title</vt:lpstr>
      <vt:lpstr>Agenda title</vt:lpstr>
      <vt:lpstr>Agenda title</vt:lpstr>
      <vt:lpstr>Agenda title</vt:lpstr>
      <vt:lpstr>Cross-pillar, industries, and general divider dark</vt:lpstr>
      <vt:lpstr>Cross-pillar, industries, and general divider light</vt:lpstr>
      <vt:lpstr>General divider with image light</vt:lpstr>
      <vt:lpstr>General divider with image dark</vt:lpstr>
      <vt:lpstr>Title on a dark title/subtitle slide</vt:lpstr>
      <vt:lpstr>Title on a dark title/subtitle one column slide</vt:lpstr>
      <vt:lpstr>Title on a dark two column</vt:lpstr>
      <vt:lpstr>Title on a dark three column</vt:lpstr>
      <vt:lpstr>Title on a dark with 1/3 photo</vt:lpstr>
      <vt:lpstr>Title, content and illustration</vt:lpstr>
      <vt:lpstr>Bold statement on light with a photo on the right</vt:lpstr>
      <vt:lpstr>Title on dark three icons slides</vt:lpstr>
      <vt:lpstr>Title on dark four icons slides</vt:lpstr>
      <vt:lpstr>Title on dark two images and content slide</vt:lpstr>
      <vt:lpstr>A short title goes here on dark</vt:lpstr>
      <vt:lpstr>Title on a light title/subtitle slide</vt:lpstr>
      <vt:lpstr>Title on a light title/subtitle one column slide</vt:lpstr>
      <vt:lpstr>Title on a light two column</vt:lpstr>
      <vt:lpstr>Title on a light three column</vt:lpstr>
      <vt:lpstr>Title and subtitle on light</vt:lpstr>
      <vt:lpstr>Title and 1 column on light</vt:lpstr>
      <vt:lpstr>Title on a light with 1/3 photo</vt:lpstr>
      <vt:lpstr>Title, content and illustration</vt:lpstr>
      <vt:lpstr>Bold statement on light with a photo on the right</vt:lpstr>
      <vt:lpstr>Title on light three icons slides</vt:lpstr>
      <vt:lpstr>Title on light three icons slides</vt:lpstr>
      <vt:lpstr>Title on light two images and content slide</vt:lpstr>
      <vt:lpstr>A short title goes here on light</vt:lpstr>
      <vt:lpstr>A full sized image slide example</vt:lpstr>
      <vt:lpstr>Impact or bold statement on a dark background</vt:lpstr>
      <vt:lpstr>Impact or bold statement on a light background</vt:lpstr>
      <vt:lpstr>A Multi-statement slide example on dark </vt:lpstr>
      <vt:lpstr>A Multi-statement slide example on dark </vt:lpstr>
      <vt:lpstr>Headline copy on  32 point dark slide</vt:lpstr>
      <vt:lpstr>Headline copy on  32 point light slide</vt:lpstr>
      <vt:lpstr>Title on  dark split slide</vt:lpstr>
      <vt:lpstr>Title on  light split slide</vt:lpstr>
      <vt:lpstr>Title on a dark snippet slide</vt:lpstr>
      <vt:lpstr>Title on a dark snippet slide</vt:lpstr>
      <vt:lpstr>Title on a light snippet slide</vt:lpstr>
      <vt:lpstr>Title on a light snippet slide</vt:lpstr>
      <vt:lpstr>Timeline</vt:lpstr>
      <vt:lpstr>Date timeline</vt:lpstr>
      <vt:lpstr>“A general customer quote slide.  Surrounded by quotation marks”</vt:lpstr>
      <vt:lpstr>“A general customer quote slide. Surrounded by quotation marks”</vt:lpstr>
      <vt:lpstr>“A general customer quote slide. Surrounded by quotation marks.”</vt:lpstr>
      <vt:lpstr>“A general customer quote slide. Surrounded by quotation marks.”</vt:lpstr>
      <vt:lpstr>Example on a dark table slide </vt:lpstr>
      <vt:lpstr>Title on a dark table slide </vt:lpstr>
      <vt:lpstr>Title for a from/to slide</vt:lpstr>
      <vt:lpstr>Screenshot on dark</vt:lpstr>
      <vt:lpstr>Grabbable device shells</vt:lpstr>
      <vt:lpstr>Example on a light table slide </vt:lpstr>
      <vt:lpstr>Title on a light table slide </vt:lpstr>
      <vt:lpstr>Title for a from/to slide</vt:lpstr>
      <vt:lpstr>Screenshot on light</vt:lpstr>
      <vt:lpstr>Grabbable device shells</vt:lpstr>
      <vt:lpstr>Single statistic title on dark</vt:lpstr>
      <vt:lpstr>Single statistic title on light</vt:lpstr>
      <vt:lpstr>Title</vt:lpstr>
      <vt:lpstr>Title for a chart </vt:lpstr>
      <vt:lpstr>One speaker on stage</vt:lpstr>
      <vt:lpstr>Two speakers on stage</vt:lpstr>
      <vt:lpstr>Three speakers on stage</vt:lpstr>
      <vt:lpstr>Four speakers on stage</vt:lpstr>
      <vt:lpstr>Speakers-virtual  </vt:lpstr>
      <vt:lpstr>Speakers-virtual profile </vt:lpstr>
      <vt:lpstr>Speakers-virtual </vt:lpstr>
      <vt:lpstr>3 Speakers-virtual </vt:lpstr>
      <vt:lpstr>4 Speakers-virtual </vt:lpstr>
      <vt:lpstr>6 Speakers-virtual </vt:lpstr>
      <vt:lpstr>10 Speakers-virtual </vt:lpstr>
      <vt:lpstr>Forward-Looking statement and Safe harbor slide</vt:lpstr>
      <vt:lpstr>Required legal statements for Oracle Health</vt:lpstr>
      <vt:lpstr>Safe harbor statement</vt:lpstr>
      <vt:lpstr>Safe harbor statement</vt:lpstr>
      <vt:lpstr>Forward-Looking statements</vt:lpstr>
      <vt:lpstr>Forward-Looking statements</vt:lpstr>
      <vt:lpstr>PowerPoint Presentation</vt:lpstr>
      <vt:lpstr>Thank you</vt:lpstr>
      <vt:lpstr>Thank you</vt:lpstr>
      <vt:lpstr>PowerPoint Presentation</vt:lpstr>
      <vt:lpstr>An end slide on dark showing an Oracle logo</vt:lpstr>
      <vt:lpstr>An end slide on light showing an Oracle logo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Shaun Smith</dc:creator>
  <cp:keywords/>
  <dc:description>June 17, 2015
Based on Oracle FY26 template.</dc:description>
  <cp:lastModifiedBy>Shaun Smith</cp:lastModifiedBy>
  <cp:revision>3</cp:revision>
  <dcterms:created xsi:type="dcterms:W3CDTF">2025-06-17T14:29:27Z</dcterms:created>
  <dcterms:modified xsi:type="dcterms:W3CDTF">2025-06-17T16:02:08Z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MSIP_Label_3c76ce46-357f-46de-88d6-77b9bbb83c46_Enabled">
    <vt:lpwstr>true</vt:lpwstr>
  </property>
  <property fmtid="{D5CDD505-2E9C-101B-9397-08002B2CF9AE}" pid="6" name="MSIP_Label_3c76ce46-357f-46de-88d6-77b9bbb83c46_SetDate">
    <vt:lpwstr>2025-01-23T20:44:35Z</vt:lpwstr>
  </property>
  <property fmtid="{D5CDD505-2E9C-101B-9397-08002B2CF9AE}" pid="7" name="MSIP_Label_3c76ce46-357f-46de-88d6-77b9bbb83c46_Method">
    <vt:lpwstr>Privileged</vt:lpwstr>
  </property>
  <property fmtid="{D5CDD505-2E9C-101B-9397-08002B2CF9AE}" pid="8" name="MSIP_Label_3c76ce46-357f-46de-88d6-77b9bbb83c46_Name">
    <vt:lpwstr>Public</vt:lpwstr>
  </property>
  <property fmtid="{D5CDD505-2E9C-101B-9397-08002B2CF9AE}" pid="9" name="MSIP_Label_3c76ce46-357f-46de-88d6-77b9bbb83c46_SiteId">
    <vt:lpwstr>4e2c6054-71cb-48f1-bd6c-3a9705aca71b</vt:lpwstr>
  </property>
  <property fmtid="{D5CDD505-2E9C-101B-9397-08002B2CF9AE}" pid="10" name="MSIP_Label_3c76ce46-357f-46de-88d6-77b9bbb83c46_ActionId">
    <vt:lpwstr>f22884e0-546d-4aff-a9ba-accbb4729511</vt:lpwstr>
  </property>
  <property fmtid="{D5CDD505-2E9C-101B-9397-08002B2CF9AE}" pid="11" name="MSIP_Label_3c76ce46-357f-46de-88d6-77b9bbb83c46_ContentBits">
    <vt:lpwstr>0</vt:lpwstr>
  </property>
  <property fmtid="{D5CDD505-2E9C-101B-9397-08002B2CF9AE}" pid="12" name="MSIP_Label_3c76ce46-357f-46de-88d6-77b9bbb83c46_Tag">
    <vt:lpwstr>50, 0, 1, 1</vt:lpwstr>
  </property>
  <property fmtid="{D5CDD505-2E9C-101B-9397-08002B2CF9AE}" pid="13" name="ContentTypeId">
    <vt:lpwstr>0x010100FD22C9B34DEC2143A76D7422EE4B3741</vt:lpwstr>
  </property>
</Properties>
</file>