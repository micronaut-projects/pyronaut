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7.svg" ContentType="image/svg+xml"/>
  <Override PartName="/ppt/media/image23.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1" r:id="rId4"/>
  </p:sldMasterIdLst>
  <p:notesMasterIdLst>
    <p:notesMasterId r:id="rId108"/>
  </p:notesMasterIdLst>
  <p:handoutMasterIdLst>
    <p:handoutMasterId r:id="rId109"/>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e template" id="{9CC2E9AE-524F-47BB-BEC1-F503FF5CA12D}">
          <p14:sldIdLst>
            <p14:sldId id="2144212630"/>
            <p14:sldId id="2076137302"/>
            <p14:sldId id="2076137156"/>
            <p14:sldId id="2144212619"/>
            <p14:sldId id="2144212591"/>
            <p14:sldId id="2144212433"/>
            <p14:sldId id="2144212586"/>
            <p14:sldId id="2144212618"/>
            <p14:sldId id="2144212620"/>
            <p14:sldId id="2144212629"/>
            <p14:sldId id="2076137350"/>
            <p14:sldId id="2076137380"/>
            <p14:sldId id="2076137307"/>
          </p14:sldIdLst>
        </p14:section>
        <p14:section name="Agenda" id="{41328D16-35E6-6343-90FA-0D3CE4D1FD72}">
          <p14:sldIdLst>
            <p14:sldId id="2076137345"/>
            <p14:sldId id="2144212623"/>
            <p14:sldId id="2076137346"/>
            <p14:sldId id="2144212624"/>
            <p14:sldId id="2076137377"/>
            <p14:sldId id="2076137378"/>
          </p14:sldIdLst>
        </p14:section>
        <p14:section name="Section divider slides" id="{A08B6E49-4FA9-1D47-9747-BAB21FC8A06F}">
          <p14:sldIdLst>
            <p14:sldId id="2076137371"/>
            <p14:sldId id="2076137372"/>
            <p14:sldId id="2076137285"/>
            <p14:sldId id="2076137286"/>
          </p14:sldIdLst>
        </p14:section>
        <p14:section name="Content Slides-Dark" id="{69C79F6C-AA55-485D-BB9F-DB342B159076}">
          <p14:sldIdLst>
            <p14:sldId id="485"/>
            <p14:sldId id="542"/>
            <p14:sldId id="2076137235"/>
            <p14:sldId id="2076137342"/>
            <p14:sldId id="2076137271"/>
            <p14:sldId id="2076137264"/>
            <p14:sldId id="2076137382"/>
            <p14:sldId id="2076136920"/>
            <p14:sldId id="2076137026"/>
            <p14:sldId id="2076137165"/>
            <p14:sldId id="2076137314"/>
          </p14:sldIdLst>
        </p14:section>
        <p14:section name="Content Slides-Light" id="{27D110FE-1692-CC48-BC71-14A13597BEA5}">
          <p14:sldIdLst>
            <p14:sldId id="2076137182"/>
            <p14:sldId id="2076137183"/>
            <p14:sldId id="2076137184"/>
            <p14:sldId id="2076137344"/>
            <p14:sldId id="2076137331"/>
            <p14:sldId id="2076137332"/>
            <p14:sldId id="2076137315"/>
            <p14:sldId id="2076137384"/>
            <p14:sldId id="2076137318"/>
            <p14:sldId id="2076137337"/>
            <p14:sldId id="2076137319"/>
            <p14:sldId id="2076137321"/>
            <p14:sldId id="2076137322"/>
            <p14:sldId id="2076137230"/>
          </p14:sldIdLst>
        </p14:section>
        <p14:section name="Special Slides" id="{678A0263-3EDF-7B42-809D-C478E92A7292}">
          <p14:sldIdLst>
            <p14:sldId id="2076137153"/>
            <p14:sldId id="2076137190"/>
            <p14:sldId id="2076137164"/>
            <p14:sldId id="2076137177"/>
            <p14:sldId id="2076137381"/>
            <p14:sldId id="2076137178"/>
            <p14:sldId id="2076137226"/>
            <p14:sldId id="2076137227"/>
          </p14:sldIdLst>
        </p14:section>
        <p14:section name="Code snippet-Dark" id="{A3915FF8-9B05-7646-8006-03BB9C06B820}">
          <p14:sldIdLst>
            <p14:sldId id="2144212625"/>
            <p14:sldId id="2144212626"/>
          </p14:sldIdLst>
        </p14:section>
        <p14:section name="Code snippet-Light" id="{5F472773-7083-1547-B84E-B8D30442EEC4}">
          <p14:sldIdLst>
            <p14:sldId id="2144212627"/>
            <p14:sldId id="2144212628"/>
          </p14:sldIdLst>
        </p14:section>
        <p14:section name="Timelines" id="{8089EE23-4866-FE4C-8CD1-9224659F0115}">
          <p14:sldIdLst>
            <p14:sldId id="2076137311"/>
            <p14:sldId id="2076137253"/>
          </p14:sldIdLst>
        </p14:section>
        <p14:section name="Quote slides" id="{C4B6D4A3-32D6-4D44-B3AB-214305D36A9C}">
          <p14:sldIdLst>
            <p14:sldId id="2076137024"/>
            <p14:sldId id="2076137180"/>
            <p14:sldId id="2076137179"/>
            <p14:sldId id="2076137181"/>
          </p14:sldIdLst>
        </p14:section>
        <p14:section name="Tables on dark" id="{254AE64C-2541-1849-B767-EE7A5CB308AD}">
          <p14:sldIdLst>
            <p14:sldId id="2076136953"/>
            <p14:sldId id="2076136779"/>
            <p14:sldId id="2076137267"/>
            <p14:sldId id="2076137308"/>
            <p14:sldId id="2076137274"/>
          </p14:sldIdLst>
        </p14:section>
        <p14:section name="Tables on light" id="{8925E521-EFE2-A848-80F4-A3BA10BD696C}">
          <p14:sldIdLst>
            <p14:sldId id="2076137324"/>
            <p14:sldId id="2076137325"/>
            <p14:sldId id="2076137326"/>
            <p14:sldId id="2076137309"/>
            <p14:sldId id="2076137273"/>
          </p14:sldIdLst>
        </p14:section>
        <p14:section name="Data Slides" id="{3692E6E5-922D-E148-B0F3-ECE394AA1E76}">
          <p14:sldIdLst>
            <p14:sldId id="2076137018"/>
            <p14:sldId id="2076137193"/>
            <p14:sldId id="2076136811"/>
            <p14:sldId id="2076136814"/>
          </p14:sldIdLst>
        </p14:section>
        <p14:section name="Speaker Live Events" id="{29D58D03-15DE-494A-BA92-D01A754B06C9}">
          <p14:sldIdLst>
            <p14:sldId id="2076137373"/>
            <p14:sldId id="2076137374"/>
            <p14:sldId id="2076137375"/>
            <p14:sldId id="2076137376"/>
          </p14:sldIdLst>
        </p14:section>
        <p14:section name="Speaker-Virtual" id="{8117FF17-02C1-2B46-B541-6179D882FB7C}">
          <p14:sldIdLst>
            <p14:sldId id="2076136929"/>
            <p14:sldId id="2076137225"/>
            <p14:sldId id="2076136930"/>
            <p14:sldId id="2076136931"/>
            <p14:sldId id="2076137004"/>
            <p14:sldId id="2076137294"/>
            <p14:sldId id="2076137338"/>
          </p14:sldIdLst>
        </p14:section>
        <p14:section name="General Safe Harbor" id="{017C8EE4-8F3A-0649-AB13-3E15EAD58397}">
          <p14:sldIdLst>
            <p14:sldId id="2076137351"/>
            <p14:sldId id="2076137354"/>
            <p14:sldId id="2076137195"/>
            <p14:sldId id="2076137341"/>
            <p14:sldId id="2076137379"/>
            <p14:sldId id="2076137353"/>
          </p14:sldIdLst>
        </p14:section>
        <p14:section name="Thank you slides" id="{91935E4A-BFDD-194E-A0F9-091D3F7B5AB4}">
          <p14:sldIdLst>
            <p14:sldId id="2144212621"/>
            <p14:sldId id="2076137158"/>
            <p14:sldId id="2076137210"/>
          </p14:sldIdLst>
        </p14:section>
        <p14:section name="Closing slides" id="{FB14FD5C-EF6B-E84D-AE89-B7BAFD07C8AA}">
          <p14:sldIdLst>
            <p14:sldId id="2144212622"/>
            <p14:sldId id="440"/>
            <p14:sldId id="2076137197"/>
          </p14:sldIdLst>
        </p14:section>
      </p14:sectionLst>
    </p:ext>
    <p:ext uri="{EFAFB233-063F-42B5-8137-9DF3F51BA10A}">
      <p15:sldGuideLst xmlns:p15="http://schemas.microsoft.com/office/powerpoint/2012/main">
        <p15:guide id="1" orient="horz" pos="1526"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743"/>
    <a:srgbClr val="AE562C"/>
    <a:srgbClr val="2A2F2F"/>
    <a:srgbClr val="ECECEC"/>
    <a:srgbClr val="FFFFFF"/>
    <a:srgbClr val="5F363F"/>
    <a:srgbClr val="E4E1DD"/>
    <a:srgbClr val="F1EFED"/>
    <a:srgbClr val="AEA8A2"/>
    <a:srgbClr val="99AD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08" autoAdjust="0"/>
    <p:restoredTop sz="96271" autoAdjust="0"/>
  </p:normalViewPr>
  <p:slideViewPr>
    <p:cSldViewPr snapToGrid="0" showGuides="1">
      <p:cViewPr varScale="1">
        <p:scale>
          <a:sx n="152" d="100"/>
          <a:sy n="152" d="100"/>
        </p:scale>
        <p:origin x="1016" y="192"/>
      </p:cViewPr>
      <p:guideLst>
        <p:guide orient="horz" pos="1526"/>
        <p:guide pos="3840"/>
      </p:guideLst>
    </p:cSldViewPr>
  </p:slideViewPr>
  <p:outlineViewPr>
    <p:cViewPr>
      <p:scale>
        <a:sx n="33" d="100"/>
        <a:sy n="33" d="100"/>
      </p:scale>
      <p:origin x="0" y="-54472"/>
    </p:cViewPr>
  </p:outlineViewPr>
  <p:notesTextViewPr>
    <p:cViewPr>
      <p:scale>
        <a:sx n="1" d="1"/>
        <a:sy n="1" d="1"/>
      </p:scale>
      <p:origin x="0" y="0"/>
    </p:cViewPr>
  </p:notesTextViewPr>
  <p:sorterViewPr>
    <p:cViewPr>
      <p:scale>
        <a:sx n="83" d="100"/>
        <a:sy n="83" d="100"/>
      </p:scale>
      <p:origin x="0" y="0"/>
    </p:cViewPr>
  </p:sorterViewPr>
  <p:notesViewPr>
    <p:cSldViewPr snapToGrid="0" showGuides="1">
      <p:cViewPr varScale="1">
        <p:scale>
          <a:sx n="87" d="100"/>
          <a:sy n="87" d="100"/>
        </p:scale>
        <p:origin x="4488" y="232"/>
      </p:cViewPr>
      <p:guideLst>
        <p:guide orient="horz" pos="3888"/>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108" Type="http://schemas.openxmlformats.org/officeDocument/2006/relationships/notesMaster" Target="notesMasters/notesMaster1.xml"/><Relationship Id="rId109" Type="http://schemas.openxmlformats.org/officeDocument/2006/relationships/handoutMaster" Target="handoutMasters/handoutMaster1.xml"/><Relationship Id="rId110" Type="http://schemas.openxmlformats.org/officeDocument/2006/relationships/commentAuthors" Target="commentAuthors.xml"/><Relationship Id="rId111" Type="http://schemas.openxmlformats.org/officeDocument/2006/relationships/presProps" Target="presProps.xml"/><Relationship Id="rId112" Type="http://schemas.openxmlformats.org/officeDocument/2006/relationships/viewProps" Target="viewProps.xml"/><Relationship Id="rId113" Type="http://schemas.openxmlformats.org/officeDocument/2006/relationships/theme" Target="theme/theme1.xml"/><Relationship Id="rId114" Type="http://schemas.openxmlformats.org/officeDocument/2006/relationships/tableStyles" Target="tableStyles.xml"/><Relationship Id="rId1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At parity</c:v>
                </c:pt>
              </c:strCache>
            </c:strRef>
          </c:tx>
          <c:spPr>
            <a:solidFill>
              <a:srgbClr val="8BC34A"/>
            </a:solidFill>
            <a:ln>
              <a:noFill/>
            </a:ln>
          </c:spPr>
          <c:cat>
            <c:strRef>
              <c:f>Sheet1!$A$2:$A$2</c:f>
              <c:strCache>
                <c:ptCount val="1"/>
                <c:pt idx="0">
                  <c:v>22 capabilities</c:v>
                </c:pt>
              </c:strCache>
            </c:strRef>
          </c:cat>
          <c:val>
            <c:numRef>
              <c:f>Sheet1!$B$2:$B$2</c:f>
              <c:numCache>
                <c:formatCode>General</c:formatCode>
                <c:ptCount val="1"/>
                <c:pt idx="0">
                  <c:v>4</c:v>
                </c:pt>
              </c:numCache>
            </c:numRef>
          </c:val>
        </c:ser>
        <c:ser>
          <c:idx val="1"/>
          <c:order val="1"/>
          <c:tx>
            <c:strRef>
              <c:f>Sheet1!$C$1</c:f>
              <c:strCache>
                <c:ptCount val="1"/>
                <c:pt idx="0">
                  <c:v>Partial</c:v>
                </c:pt>
              </c:strCache>
            </c:strRef>
          </c:tx>
          <c:spPr>
            <a:solidFill>
              <a:srgbClr val="F0CC72"/>
            </a:solidFill>
            <a:ln>
              <a:noFill/>
            </a:ln>
          </c:spPr>
          <c:cat>
            <c:strRef>
              <c:f>Sheet1!$A$2:$A$2</c:f>
              <c:strCache>
                <c:ptCount val="1"/>
                <c:pt idx="0">
                  <c:v>22 capabilities</c:v>
                </c:pt>
              </c:strCache>
            </c:strRef>
          </c:cat>
          <c:val>
            <c:numRef>
              <c:f>Sheet1!$C$2:$C$2</c:f>
              <c:numCache>
                <c:formatCode>General</c:formatCode>
                <c:ptCount val="1"/>
                <c:pt idx="0">
                  <c:v>3</c:v>
                </c:pt>
              </c:numCache>
            </c:numRef>
          </c:val>
        </c:ser>
        <c:ser>
          <c:idx val="2"/>
          <c:order val="2"/>
          <c:tx>
            <c:strRef>
              <c:f>Sheet1!$D$1</c:f>
              <c:strCache>
                <c:ptCount val="1"/>
                <c:pt idx="0">
                  <c:v>Ecosystem module</c:v>
                </c:pt>
              </c:strCache>
            </c:strRef>
          </c:tx>
          <c:spPr>
            <a:solidFill>
              <a:srgbClr val="6DBEE7"/>
            </a:solidFill>
            <a:ln>
              <a:noFill/>
            </a:ln>
          </c:spPr>
          <c:cat>
            <c:strRef>
              <c:f>Sheet1!$A$2:$A$2</c:f>
              <c:strCache>
                <c:ptCount val="1"/>
                <c:pt idx="0">
                  <c:v>22 capabilities</c:v>
                </c:pt>
              </c:strCache>
            </c:strRef>
          </c:cat>
          <c:val>
            <c:numRef>
              <c:f>Sheet1!$D$2:$D$2</c:f>
              <c:numCache>
                <c:formatCode>General</c:formatCode>
                <c:ptCount val="1"/>
                <c:pt idx="0">
                  <c:v>1</c:v>
                </c:pt>
              </c:numCache>
            </c:numRef>
          </c:val>
        </c:ser>
        <c:ser>
          <c:idx val="3"/>
          <c:order val="3"/>
          <c:tx>
            <c:strRef>
              <c:f>Sheet1!$E$1</c:f>
              <c:strCache>
                <c:ptCount val="1"/>
                <c:pt idx="0">
                  <c:v>Absent</c:v>
                </c:pt>
              </c:strCache>
            </c:strRef>
          </c:tx>
          <c:spPr>
            <a:solidFill>
              <a:srgbClr val="E0634F"/>
            </a:solidFill>
            <a:ln>
              <a:noFill/>
            </a:ln>
          </c:spPr>
          <c:cat>
            <c:strRef>
              <c:f>Sheet1!$A$2:$A$2</c:f>
              <c:strCache>
                <c:ptCount val="1"/>
                <c:pt idx="0">
                  <c:v>22 capabilities</c:v>
                </c:pt>
              </c:strCache>
            </c:strRef>
          </c:cat>
          <c:val>
            <c:numRef>
              <c:f>Sheet1!$E$2:$E$2</c:f>
              <c:numCache>
                <c:formatCode>General</c:formatCode>
                <c:ptCount val="1"/>
                <c:pt idx="0">
                  <c:v>14</c:v>
                </c:pt>
              </c:numCache>
            </c:numRef>
          </c:val>
        </c:ser>
        <c:dLbls>
          <c:numFmt formatCode="#,##0" sourceLinked="0"/>
          <c:txPr>
            <a:bodyPr/>
            <a:lstStyle/>
            <a:p>
              <a:pPr>
                <a:defRPr sz="1500" b="1">
                  <a:solidFill>
                    <a:srgbClr val="FFFFFF"/>
                  </a:solidFill>
                </a:defRPr>
              </a:pPr>
            </a:p>
          </c:txPr>
          <c:dLblPos val="ctr"/>
          <c:showLegendKey val="0"/>
          <c:showVal val="1"/>
          <c:showCatName val="0"/>
          <c:showSerName val="0"/>
          <c:showPercent val="0"/>
          <c:showBubbleSize val="0"/>
          <c:showLeaderLines val="1"/>
        </c:dLbls>
        <c:gapWidth val="35"/>
        <c:overlap val="100"/>
        <c:axId val="-2068027336"/>
        <c:axId val="-2113994440"/>
      </c:barChart>
      <c:catAx>
        <c:axId val="-2068027336"/>
        <c:scaling>
          <c:orientation val="maxMin"/>
        </c:scaling>
        <c:delete val="0"/>
        <c:axPos val="l"/>
        <c:majorTickMark val="out"/>
        <c:minorTickMark val="none"/>
        <c:tickLblPos val="nextTo"/>
        <c:spPr>
          <a:ln>
            <a:solidFill>
              <a:srgbClr val="44525F"/>
            </a:solidFill>
          </a:ln>
        </c:spPr>
        <c:txPr>
          <a:bodyPr/>
          <a:lstStyle/>
          <a:p>
            <a:pPr>
              <a:defRPr sz="1200">
                <a:solidFill>
                  <a:srgbClr val="FFFFFF"/>
                </a:solidFill>
              </a:defRPr>
            </a:pPr>
          </a:p>
        </c:txPr>
        <c:crossAx val="-2113994440"/>
        <c:crosses val="autoZero"/>
        <c:auto val="1"/>
        <c:lblAlgn val="ctr"/>
        <c:lblOffset val="100"/>
        <c:noMultiLvlLbl val="0"/>
      </c:catAx>
      <c:valAx>
        <c:axId val="-2113994440"/>
        <c:scaling>
          <c:max val="22.0"/>
          <c:min val="0.0"/>
        </c:scaling>
        <c:delete/>
        <c:axPos val="b"/>
        <c:majorTickMark val="out"/>
        <c:minorTickMark val="none"/>
        <c:tickLblPos val="nextTo"/>
        <c:crossAx val="-2068027336"/>
        <c:crosses val="autoZero"/>
      </c:valAx>
    </c:plotArea>
    <c:legend>
      <c:legendPos val="t"/>
      <c:overlay val="0"/>
      <c:txPr>
        <a:bodyPr/>
        <a:lstStyle/>
        <a:p>
          <a:pPr>
            <a:defRPr sz="1100">
              <a:solidFill>
                <a:srgbClr val="FFFFFF"/>
              </a:solidFill>
            </a:defRPr>
          </a:pPr>
        </a:p>
      </c:txPr>
    </c:legend>
    <c:dispBlanksAs val="gap"/>
  </c:chart>
  <c:txPr>
    <a:bodyPr/>
    <a:lstStyle/>
    <a:p>
      <a:pPr>
        <a:defRPr sz="1200">
          <a:solidFill>
            <a:srgbClr val="A9B7C4"/>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Findings</c:v>
                </c:pt>
              </c:strCache>
            </c:strRef>
          </c:tx>
          <c:spPr>
            <a:ln>
              <a:noFill/>
            </a:ln>
          </c:spPr>
          <c:dPt>
            <c:idx val="0"/>
            <c:spPr>
              <a:solidFill>
                <a:srgbClr val="E0634F"/>
              </a:solidFill>
            </c:spPr>
          </c:dPt>
          <c:dPt>
            <c:idx val="1"/>
            <c:spPr>
              <a:solidFill>
                <a:srgbClr val="F0A070"/>
              </a:solidFill>
            </c:spPr>
          </c:dPt>
          <c:dPt>
            <c:idx val="2"/>
            <c:spPr>
              <a:solidFill>
                <a:srgbClr val="F0CC72"/>
              </a:solidFill>
            </c:spPr>
          </c:dPt>
          <c:dPt>
            <c:idx val="3"/>
            <c:spPr>
              <a:solidFill>
                <a:srgbClr val="5B6874"/>
              </a:solidFill>
            </c:spPr>
          </c:dPt>
          <c:cat>
            <c:strRef>
              <c:f>Sheet1!$A$2:$A$5</c:f>
              <c:strCache>
                <c:ptCount val="4"/>
                <c:pt idx="0">
                  <c:v>Critical</c:v>
                </c:pt>
                <c:pt idx="1">
                  <c:v>High</c:v>
                </c:pt>
                <c:pt idx="2">
                  <c:v>Medium</c:v>
                </c:pt>
                <c:pt idx="3">
                  <c:v>Low · perf</c:v>
                </c:pt>
              </c:strCache>
            </c:strRef>
          </c:cat>
          <c:val>
            <c:numRef>
              <c:f>Sheet1!$B$2:$B$5</c:f>
              <c:numCache>
                <c:formatCode>General</c:formatCode>
                <c:ptCount val="4"/>
                <c:pt idx="0">
                  <c:v>0</c:v>
                </c:pt>
                <c:pt idx="1">
                  <c:v>15</c:v>
                </c:pt>
                <c:pt idx="2">
                  <c:v>16</c:v>
                </c:pt>
                <c:pt idx="3">
                  <c:v>46</c:v>
                </c:pt>
              </c:numCache>
            </c:numRef>
          </c:val>
        </c:ser>
        <c:dLbls>
          <c:numFmt formatCode="#,##0" sourceLinked="0"/>
          <c:txPr>
            <a:bodyPr/>
            <a:lstStyle/>
            <a:p>
              <a:pPr>
                <a:defRPr sz="1500" b="1">
                  <a:solidFill>
                    <a:srgbClr val="FFFFF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44525F"/>
            </a:solidFill>
          </a:ln>
        </c:spPr>
        <c:txPr>
          <a:bodyPr/>
          <a:lstStyle/>
          <a:p>
            <a:pPr>
              <a:defRPr sz="1200">
                <a:solidFill>
                  <a:srgbClr val="FFFFFF"/>
                </a:solidFill>
              </a:defRPr>
            </a:pPr>
          </a:p>
        </c:txPr>
        <c:crossAx val="-2113994440"/>
        <c:crosses val="autoZero"/>
        <c:auto val="1"/>
        <c:lblAlgn val="ctr"/>
        <c:lblOffset val="100"/>
        <c:noMultiLvlLbl val="0"/>
      </c:catAx>
      <c:valAx>
        <c:axId val="-2113994440"/>
        <c:scaling>
          <c:max val="52.0"/>
          <c:min val="0.0"/>
        </c:scaling>
        <c:delete/>
        <c:axPos val="l"/>
        <c:majorTickMark val="out"/>
        <c:minorTickMark val="none"/>
        <c:tickLblPos val="nextTo"/>
        <c:crossAx val="-2068027336"/>
        <c:crosses val="autoZero"/>
      </c:valAx>
    </c:plotArea>
    <c:dispBlanksAs val="gap"/>
  </c:chart>
  <c:txPr>
    <a:bodyPr/>
    <a:lstStyle/>
    <a:p>
      <a:pPr>
        <a:defRPr sz="1200">
          <a:solidFill>
            <a:srgbClr val="A9B7C4"/>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mn-lt"/>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mn-lt"/>
              </a:defRPr>
            </a:lvl1pPr>
          </a:lstStyle>
          <a:p>
            <a:fld id="{4F9C25BA-F9B0-4418-8CA0-3A9DF1256BA5}" type="datetimeFigureOut">
              <a:rPr lang="en-US" smtClean="0"/>
              <a:pPr/>
              <a:t>6/17/25</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mn-lt"/>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mn-lt"/>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(0:35)</a:t>
            </a:r>
          </a:p>
          <a:p>
            <a:r>
              <a:t>This is the roadmap for the rest of 2026 and 2027, in thirty minutes. It's an internal view for the team: what we've already shipped this year, the seven themes we want to invest in, and a proposed sequencing that we'll confirm with module leads.</a:t>
            </a:r>
          </a:p>
          <a:p>
            <a:r>
              <a:t>Two slides — GraalBase and Graal Cloud Service — are deliberately left as placeholders for the owners of those efforts to complete.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2:05]  (1:30)</a:t>
            </a:r>
          </a:p>
          <a:p>
            <a:r>
              <a:t>Where we start from. Micronaut 5 is out. In June we published what it unlocks for Oracle AI Database: vector search and spatial types in Micronaut Data, JSON Relational Duality Views, transaction priority and client info, with OpenTelemetry through UCP.</a:t>
            </a:r>
          </a:p>
          <a:p>
            <a:r>
              <a:t>Python is working on Micronaut through Pyronaut — the Python AST inside the compiler with GraalPy. And we've changed how we work: AI-driven reviews that produce verified findings, benchmark baselines and prepared pull requests.</a:t>
            </a:r>
          </a:p>
          <a:p>
            <a:r>
              <a:t>The roadmap builds on all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 – 3:35]  (1:30)</a:t>
            </a:r>
          </a:p>
          <a:p>
            <a:r>
              <a:t>Seven themes. One: standards — full Jakarta EE Core Profile, Jakarta Validation and MVC, and complete MicroProfile. Two: languages — Python is delivered, Scala 3 and TypeScript are next. Three: closing the most visible gaps against Spring — HATEOAS and a gateway.</a:t>
            </a:r>
          </a:p>
          <a:p>
            <a:r>
              <a:t>Four: Oracle AI Database features you can only get with Micronaut. Five: hardening the framework through AI, with performance work across HTTP, serialization and internals. Six: developer experience. And seven: the Graal platform — GraalBase and Graal Cloud Service — where the details will come from their owners.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 – 5:25]  (1:50)</a:t>
            </a:r>
          </a:p>
          <a:p>
            <a:r>
              <a:t>Here's a proposed sequencing — rest of 2026 on the left, 2027 on the right. Treat it as a draft for discussion with module leads, not a commitment.</a:t>
            </a:r>
          </a:p>
          <a:p>
            <a:r>
              <a:t>The shape: things that are close — Validation certification, Scala 3, a HATEOAS module, Query Change Notification and examples for AQ and the Kafka APIs, landing the HTTP server hardening, Control Panel and Boot UI — go first. The larger specification work — CDI Lite, Jakarta REST, MVC and MicroProfile — the gateway, TypeScript and the new Oracle access paths follow in 2027.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 – 7:25]  (2:00)</a:t>
            </a:r>
          </a:p>
          <a:p>
            <a:r>
              <a:t>Theme one: standards, starting with the Jakarta EE Core Profile. Seven specifications. We're in better shape than people assume: Dependency Injection is our core model and core runs the jakarta.inject TCK; Micronaut Serialization verifies JSON Processing and JSON Binding against the official TCKs; the common annotations are honoured.</a:t>
            </a:r>
          </a:p>
          <a:p>
            <a:r>
              <a:t>The gaps: micronaut-jaxrs supports the common JAX-RS annotations but is explicitly not a spec implementation, Interceptors we cover with our own AOP model, and CDI Lite isn't there.</a:t>
            </a:r>
          </a:p>
          <a:p>
            <a:r>
              <a:t>CDI Lite is the interesting one: build-compatible extensions were designed so containers can do the work at build time — which is exactly what Micronaut does. The definition of done for this theme is passing the Core Profile TCK.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[7:25 – 9:25]  (2:00)</a:t>
            </a:r>
          </a:p>
          <a:p>
            <a:r>
              <a:t>Beyond the Core Profile. Jakarta Validation is the closest: micronaut-validation already has a Jakarta Validation TCK suite in the repository, so this is about closing the remaining gaps and certifying.</a:t>
            </a:r>
          </a:p>
          <a:p>
            <a:r>
              <a:t>Jakarta MVC 3.0 — controllers, models and a view engine abstraction — maps naturally onto Micronaut Views, which already integrates the template engines.</a:t>
            </a:r>
          </a:p>
          <a:p>
            <a:r>
              <a:t>And MicroProfile 7.1. Every capability exists in Micronaut today: configuration, retry and circuit breakers, health, JWT, OpenAPI, OpenTelemetry and the declarative client. What's missing is the MicroProfile APIs themselves and passing their TCKs. Because MicroProfile builds on the Core Profile, the sequencing follows from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[9:25 – 11:25]  (2:00)</a:t>
            </a:r>
          </a:p>
          <a:p>
            <a:r>
              <a:t>Theme two: languages. This is where the architecture pays off. Java, Kotlin and Groovy each implement the same Element API, and everything downstream — dependency injection, AOP, serialization, validation, Data, OpenAPI — is shared.</a:t>
            </a:r>
          </a:p>
          <a:p>
            <a:r>
              <a:t>Python proved that works for a language that isn't on the JVM: Pyronaut runs Python's own ast module inside javac through GraalPy and implements the Element API. Scala 3 is next, as a compiler plugin that reduces Scala trees to the same model. And for TypeScript in 2027 we expect to follow the path Python opened — the exact approach is still to be designed.</a:t>
            </a:r>
          </a:p>
          <a:p>
            <a:r>
              <a:t>Every new language gets the whole framework on day one — that's the pitch.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[11:25 – 13:15]  (1:50)</a:t>
            </a:r>
          </a:p>
          <a:p>
            <a:r>
              <a:t>Theme three: closing the gaps people point at when they compare us to Spring. First, HATEOAS. We compared Spring HATEOAS 3.1 capability by capability against Micronaut 5.2: of 22 capabilities, 4 are at parity, 3 partial, 1 covered by an ecosystem module, and 14 absent.</a:t>
            </a:r>
          </a:p>
          <a:p>
            <a:r>
              <a:t>The summary line is that Micronaut has the nouns and Spring has the verbs. Core has the HAL document model, but every one of the seven link-construction capabilities — building links from controller methods, assemblers, affordances, a traversing client — is missing.</a:t>
            </a:r>
          </a:p>
          <a:p>
            <a:r>
              <a:t>The proposal is a separate micronaut-hateoas module. Our compile-time route and introspection metadata is a better base for link building and HAL-FORMS than Spring's runtime proxy trick, so this wouldn't be a port. The issue has been open since May 2023 — time to close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 – 15:05]  (1:50)</a:t>
            </a:r>
          </a:p>
          <a:p>
            <a:r>
              <a:t>Second, the gateway. Spring Cloud Gateway is a product: a declarative route table of predicates and filters, configured in YAML and changeable without recompiling.</a:t>
            </a:r>
          </a:p>
          <a:p>
            <a:r>
              <a:t>Micronaut ships the parts one is built from, and they're good parts: ProxyHttpClient, server filters, service discovery and load balancing. A working reverse proxy over discovery is about fifty lines — but you assemble and operate it yourself.</a:t>
            </a:r>
          </a:p>
          <a:p>
            <a:r>
              <a:t>What's missing is the config-driven route table, plus four capabilities with no Micronaut equivalent at any layer: request rate limiting, HTTP response caching, per-route circuit breaking, and JSON-to-gRPC transcoding.</a:t>
            </a:r>
          </a:p>
          <a:p>
            <a:r>
              <a:t>The payoff for building it: compile-time DI and a native binary that starts in tens of milliseconds, which is exactly what you want at the edge.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[15:05 – 17:00]  (1:55)</a:t>
            </a:r>
          </a:p>
          <a:p>
            <a:r>
              <a:t>Theme four: Oracle AI Database. Micronaut 5 already made a lot of the database's capabilities first-class: vector search and spatial queries in repositories, JSON Relational Duality Views, transaction priority, client info, and UCP tracing with OpenTelemetry.</a:t>
            </a:r>
          </a:p>
          <a:p>
            <a:r>
              <a:t>Next: Query Change Notification, so applications can react when the results of a query change — cache invalidation and live updates without polling. A new driver that speaks TTC, Oracle's native wire protocol, directly. SQL over HTTP for environments where a JDBC connection doesn't fit. Graph support in Micronaut Data for SQL property graphs. And many more examples of features people don't know they already have, like Advanced Queuing and the Kafka Java APIs for Transactional Event Queues.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[17:00 – 18:30]  (1:30)</a:t>
            </a:r>
          </a:p>
          <a:p>
            <a:r>
              <a:t>Here's how those items fit together in an application. Today everything goes through JDBC and UCP. The roadmap adds two new paths to the database — a TTC driver and SQL over HTTP — and a path in the other direction: Query Change Notification, where the database tells the application something changed.</a:t>
            </a:r>
          </a:p>
          <a:p>
            <a:r>
              <a:t>On the application side that shows up as graph queries in Micronaut Data repositories and change listeners, alongside messaging with AQ and the Kafka APIs, which already works and needs examples. The message for Oracle: Micronaut is the framework that exposes the whole database, not just SQL.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[18:30 – 20:25]  (1:55)</a:t>
            </a:r>
          </a:p>
          <a:p>
            <a:r>
              <a:t>Theme five: hardening the framework through AI. The first full pass was the Netty HTTP server: HTTP/1.1, HTTP/2, HTTP/3, JSON, multipart, forms, streaming and WebSocket.</a:t>
            </a:r>
          </a:p>
          <a:p>
            <a:r>
              <a:t>77 findings, each verified by tracing call paths in the source — no criticals, 15 high, 16 medium, 46 low and performance. The core is in good shape; the problems cluster at the edges: abnormal termination, bodies that are claimed but never consumed, and hand-rolled WebSocket framing.</a:t>
            </a:r>
          </a:p>
          <a:p>
            <a:r>
              <a:t>Some examples: a one-megabyte gzip body could force around a gigabyte of allocation before any size limit applied; HTTP/2 connection loss never reached in-flight streams; HTTP/3 shared one SSLEngine across QUIC connections. Eight pull requests are prepared, one concern each, with regression tests that fail on the base commit.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 – 22:05]  (1:40)</a:t>
            </a:r>
          </a:p>
          <a:p>
            <a:r>
              <a:t>The Netty review gives us a repeatable loop we'll apply across the framework: review with AI, capture a reproducible benchmark baseline before touching code, fix one concern per pull request starting from a failing test, and re-measure against the baseline.</a:t>
            </a:r>
          </a:p>
          <a:p>
            <a:r>
              <a:t>The HTTP baseline already points at concrete performance wins: parsing browser-style Accept headers costs about 700 nanoseconds and 2.5 kilobytes per request because the result is only cached per request; streaming a JSON array costs 1.5 microseconds and 1.7 kilobytes per element; binding a JSON array as a Flux costs 2.4 times the time and 3 times the allocation of a List; and a 64 KiB upload allocates two to three times its size.</a:t>
            </a:r>
          </a:p>
          <a:p>
            <a:r>
              <a:t>Next passes: the HTTP client, serialization, and framework internals like the bean context and AOP.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[22:05 – 23:45]  (1:40)</a:t>
            </a:r>
          </a:p>
          <a:p>
            <a:r>
              <a:t>Theme six: developer experience. Pyronaut taught us how much the experience around the framework matters, and the same applies to Java developers.</a:t>
            </a:r>
          </a:p>
          <a:p>
            <a:r>
              <a:t>Micronaut Control Panel is already a web UI for dev and test environments: routes, health, environment, metrics, beans, loggers, caches, datasources, Hibernate, Kafka and object storage. The roadmap is to enhance it, and to integrate with Boot UI.</a:t>
            </a:r>
          </a:p>
          <a:p>
            <a:r>
              <a:t>[Speaker: add one or two sentences on the scope of the Boot UI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[23:45 – 24:40]  (0:55)</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[24:40 – 25:35]  (0:55)</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[25:35 – 26:50]  (1:15)</a:t>
            </a:r>
          </a:p>
          <a:p>
            <a:r>
              <a:t>To finish, four proposed principles for delivering all of this. Build time first: CDI Lite, link building, a gateway route table, graph queries — all of it does its work in the compiler, because that's what makes Micronaut different. TCKs are the definition of done for standards. Every performance change comes with a benchmark and a regression test. And AI-first, human-reviewed: agents do the review, the baseline and the first fix; maintainers own the merge.</a:t>
            </a:r>
          </a:p>
          <a:p>
            <a:r>
              <a:t>The ask: an owner for every theme, and feedback on the sequencing before we lock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a:t>
            </a:r>
          </a:p>
          <a:p>
            <a:r>
              <a:t>Q&amp;A. Prompts if it's quiet: Which theme would you want to own? What's missing from this list? Which Oracle AI Database feature do customers ask about most?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emf"/><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emf"/><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0.png"/><Relationship Id="rId5"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1.png"/><Relationship Id="rId5"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2.png"/><Relationship Id="rId5"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3.png"/><Relationship Id="rId5"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4.png"/><Relationship Id="rId5"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5.png"/><Relationship Id="rId5"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6.png"/><Relationship Id="rId4" Type="http://schemas.openxmlformats.org/officeDocument/2006/relationships/image" Target="../media/image24.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a:t>Copyright © 2025,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endParaRPr lang="en-US" dirty="0"/>
          </a:p>
        </p:txBody>
      </p:sp>
    </p:spTree>
    <p:extLst>
      <p:ext uri="{BB962C8B-B14F-4D97-AF65-F5344CB8AC3E}">
        <p14:creationId xmlns:p14="http://schemas.microsoft.com/office/powerpoint/2010/main" val="3577567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 Title 1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endParaRPr lang="en-US" dirty="0"/>
          </a:p>
        </p:txBody>
      </p:sp>
      <p:sp>
        <p:nvSpPr>
          <p:cNvPr id="3" name="Title 1">
            <a:extLst>
              <a:ext uri="{FF2B5EF4-FFF2-40B4-BE49-F238E27FC236}">
                <a16:creationId xmlns:a16="http://schemas.microsoft.com/office/drawing/2014/main" id="{36739B43-C450-F835-7092-F37273F28CC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515502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endParaRPr lang="en-US" dirty="0"/>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33179959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80107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userDrawn="1"/>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7440551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dirty="0"/>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40642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3705370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913024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757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230751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Tit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233853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3118533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 Title/Subtit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636209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04335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 Blan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221015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 3 Icons, Subhead and text">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endParaRPr lang="en-US" dirty="0"/>
          </a:p>
        </p:txBody>
      </p:sp>
      <p:sp>
        <p:nvSpPr>
          <p:cNvPr id="4" name="Title 1">
            <a:extLst>
              <a:ext uri="{FF2B5EF4-FFF2-40B4-BE49-F238E27FC236}">
                <a16:creationId xmlns:a16="http://schemas.microsoft.com/office/drawing/2014/main" id="{F1EE7CC2-3DC4-3A0E-DFCB-453F03D3DB1D}"/>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266360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 3 Icons, Subhead and tex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in.</a:t>
            </a:r>
            <a:endParaRPr lang="en-US" dirty="0"/>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endParaRPr lang="en-US" dirty="0"/>
          </a:p>
        </p:txBody>
      </p:sp>
      <p:sp>
        <p:nvSpPr>
          <p:cNvPr id="2" name="Title 1">
            <a:extLst>
              <a:ext uri="{FF2B5EF4-FFF2-40B4-BE49-F238E27FC236}">
                <a16:creationId xmlns:a16="http://schemas.microsoft.com/office/drawing/2014/main" id="{715DEEB5-6ACE-E85C-517E-E2D4FF357203}"/>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439087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 4 Icons, Subhead and text">
    <p:bg>
      <p:bgRef idx="1001">
        <a:schemeClr val="bg2"/>
      </p:bgRef>
    </p:bg>
    <p:spTree>
      <p:nvGrpSpPr>
        <p:cNvPr id="1" name=""/>
        <p:cNvGrpSpPr/>
        <p:nvPr/>
      </p:nvGrpSpPr>
      <p:grpSpPr>
        <a:xfrm>
          <a:off x="0" y="0"/>
          <a:ext cx="0" cy="0"/>
          <a:chOff x="0" y="0"/>
          <a:chExt cx="0" cy="0"/>
        </a:xfrm>
      </p:grpSpPr>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2" name="Title 1">
            <a:extLst>
              <a:ext uri="{FF2B5EF4-FFF2-40B4-BE49-F238E27FC236}">
                <a16:creationId xmlns:a16="http://schemas.microsoft.com/office/drawing/2014/main" id="{5C9513D9-54CD-33BE-8D41-C32CFC28EAB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60833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 4 Icons, Subhead and tex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endParaRPr lang="en-US" dirty="0"/>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5" name="Title 1">
            <a:extLst>
              <a:ext uri="{FF2B5EF4-FFF2-40B4-BE49-F238E27FC236}">
                <a16:creationId xmlns:a16="http://schemas.microsoft.com/office/drawing/2014/main" id="{5A2B598C-93C2-52E4-6ADA-7A6A6A7BC1F2}"/>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238519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 Title, Subtitle Content &amp; Cod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a:xfrm>
            <a:off x="6873138" y="6425604"/>
            <a:ext cx="2743200" cy="363500"/>
          </a:xfrm>
          <a:prstGeom prst="rect">
            <a:avLst/>
          </a:prstGeom>
        </p:spPr>
        <p:txBody>
          <a:bodyPr/>
          <a:lstStyle/>
          <a:p>
            <a:fld id="{A512C235-CFF0-0A46-A06C-2AFACB29A067}" type="datetime1">
              <a:rPr lang="en-GB" smtClean="0"/>
              <a:t>17/06/2025</a:t>
            </a:fld>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2024,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
        <p:nvSpPr>
          <p:cNvPr id="6" name="Title 1">
            <a:extLst>
              <a:ext uri="{FF2B5EF4-FFF2-40B4-BE49-F238E27FC236}">
                <a16:creationId xmlns:a16="http://schemas.microsoft.com/office/drawing/2014/main" id="{0E7BCF4C-6E0D-A9A3-A54A-F3C3A2DB8237}"/>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11" name="Content">
            <a:extLst>
              <a:ext uri="{FF2B5EF4-FFF2-40B4-BE49-F238E27FC236}">
                <a16:creationId xmlns:a16="http://schemas.microsoft.com/office/drawing/2014/main" id="{D651C04A-CFBC-6525-59DB-38669877FDD7}"/>
              </a:ext>
            </a:extLst>
          </p:cNvPr>
          <p:cNvSpPr>
            <a:spLocks noGrp="1"/>
          </p:cNvSpPr>
          <p:nvPr>
            <p:ph sz="quarter" idx="17"/>
          </p:nvPr>
        </p:nvSpPr>
        <p:spPr>
          <a:xfrm>
            <a:off x="766763" y="1609725"/>
            <a:ext cx="3983037" cy="4498466"/>
          </a:xfrm>
          <a:prstGeom prst="rect">
            <a:avLst/>
          </a:prstGeom>
        </p:spPr>
        <p:txBody>
          <a:bodyPr/>
          <a:lstStyle>
            <a:lvl1pPr marL="0" indent="0">
              <a:buClrTx/>
              <a:buNone/>
              <a:defRPr sz="2200" b="0" i="0">
                <a:solidFill>
                  <a:schemeClr val="tx1"/>
                </a:solidFill>
                <a:latin typeface="Oracle Sans" panose="020B0503020204020204" pitchFamily="34" charset="0"/>
                <a:cs typeface="Oracle Sans" panose="020B0503020204020204" pitchFamily="34" charset="0"/>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 13">
            <a:extLst>
              <a:ext uri="{FF2B5EF4-FFF2-40B4-BE49-F238E27FC236}">
                <a16:creationId xmlns:a16="http://schemas.microsoft.com/office/drawing/2014/main" id="{DADFA44F-DCD4-38F1-053F-A5AF0317B773}"/>
              </a:ext>
            </a:extLst>
          </p:cNvPr>
          <p:cNvGrpSpPr/>
          <p:nvPr userDrawn="1"/>
        </p:nvGrpSpPr>
        <p:grpSpPr>
          <a:xfrm>
            <a:off x="4990863" y="1581150"/>
            <a:ext cx="6872750" cy="4507992"/>
            <a:chOff x="4778477" y="1609725"/>
            <a:chExt cx="6872750" cy="4507992"/>
          </a:xfrm>
        </p:grpSpPr>
        <p:sp>
          <p:nvSpPr>
            <p:cNvPr id="5" name="Rectangle 4">
              <a:extLst>
                <a:ext uri="{FF2B5EF4-FFF2-40B4-BE49-F238E27FC236}">
                  <a16:creationId xmlns:a16="http://schemas.microsoft.com/office/drawing/2014/main" id="{2A83F446-24B5-3723-9593-08DD81B05F19}"/>
                </a:ext>
              </a:extLst>
            </p:cNvPr>
            <p:cNvSpPr/>
            <p:nvPr userDrawn="1"/>
          </p:nvSpPr>
          <p:spPr>
            <a:xfrm>
              <a:off x="4778477" y="1609725"/>
              <a:ext cx="6872749" cy="4507992"/>
            </a:xfrm>
            <a:prstGeom prst="rect">
              <a:avLst/>
            </a:prstGeom>
            <a:solidFill>
              <a:schemeClr val="tx1">
                <a:lumMod val="10000"/>
                <a:lumOff val="90000"/>
              </a:schemeClr>
            </a:solidFill>
            <a:ln>
              <a:no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7" name="Rectangle 6">
              <a:extLst>
                <a:ext uri="{FF2B5EF4-FFF2-40B4-BE49-F238E27FC236}">
                  <a16:creationId xmlns:a16="http://schemas.microsoft.com/office/drawing/2014/main" id="{E999A77D-002A-2AB2-0415-FE8C242109AD}"/>
                </a:ext>
              </a:extLst>
            </p:cNvPr>
            <p:cNvSpPr/>
            <p:nvPr userDrawn="1"/>
          </p:nvSpPr>
          <p:spPr>
            <a:xfrm>
              <a:off x="4782937" y="1615307"/>
              <a:ext cx="6868290" cy="228357"/>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48119B8B-3F66-6C8A-6FAF-B331339F5962}"/>
                </a:ext>
              </a:extLst>
            </p:cNvPr>
            <p:cNvSpPr/>
            <p:nvPr userDrawn="1"/>
          </p:nvSpPr>
          <p:spPr>
            <a:xfrm>
              <a:off x="4873413"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0" name="Oval 9">
              <a:extLst>
                <a:ext uri="{FF2B5EF4-FFF2-40B4-BE49-F238E27FC236}">
                  <a16:creationId xmlns:a16="http://schemas.microsoft.com/office/drawing/2014/main" id="{B162D2A7-2A4A-0738-C834-DBB2F20C755A}"/>
                </a:ext>
              </a:extLst>
            </p:cNvPr>
            <p:cNvSpPr/>
            <p:nvPr userDrawn="1"/>
          </p:nvSpPr>
          <p:spPr>
            <a:xfrm>
              <a:off x="5093855"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Oval 11">
              <a:extLst>
                <a:ext uri="{FF2B5EF4-FFF2-40B4-BE49-F238E27FC236}">
                  <a16:creationId xmlns:a16="http://schemas.microsoft.com/office/drawing/2014/main" id="{BF36ED1A-6989-DA15-8987-0D973025B151}"/>
                </a:ext>
              </a:extLst>
            </p:cNvPr>
            <p:cNvSpPr/>
            <p:nvPr userDrawn="1"/>
          </p:nvSpPr>
          <p:spPr>
            <a:xfrm>
              <a:off x="5314297"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grpSp>
      <p:sp>
        <p:nvSpPr>
          <p:cNvPr id="15" name="Content 2">
            <a:extLst>
              <a:ext uri="{FF2B5EF4-FFF2-40B4-BE49-F238E27FC236}">
                <a16:creationId xmlns:a16="http://schemas.microsoft.com/office/drawing/2014/main" id="{2A32597A-6C85-6B1C-268F-39A3AD6BECD5}"/>
              </a:ext>
            </a:extLst>
          </p:cNvPr>
          <p:cNvSpPr>
            <a:spLocks noGrp="1"/>
          </p:cNvSpPr>
          <p:nvPr>
            <p:ph sz="quarter" idx="18"/>
          </p:nvPr>
        </p:nvSpPr>
        <p:spPr>
          <a:xfrm>
            <a:off x="5094276" y="1949884"/>
            <a:ext cx="6665924" cy="4076163"/>
          </a:xfrm>
          <a:prstGeom prst="rect">
            <a:avLst/>
          </a:prstGeom>
        </p:spPr>
        <p:txBody>
          <a:bodyPr/>
          <a:lstStyle>
            <a:lvl1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Subtitle">
            <a:extLst>
              <a:ext uri="{FF2B5EF4-FFF2-40B4-BE49-F238E27FC236}">
                <a16:creationId xmlns:a16="http://schemas.microsoft.com/office/drawing/2014/main" id="{BB1B1CA3-10CF-2042-FCB7-4EF0A1EF4C31}"/>
              </a:ext>
            </a:extLst>
          </p:cNvPr>
          <p:cNvSpPr>
            <a:spLocks noGrp="1"/>
          </p:cNvSpPr>
          <p:nvPr>
            <p:ph type="body" sz="quarter" idx="11" hasCustomPrompt="1"/>
          </p:nvPr>
        </p:nvSpPr>
        <p:spPr>
          <a:xfrm>
            <a:off x="766762"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524286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 Title/Subtitle Text and Cod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BE07747-2893-48EF-5D50-A5BD340087FF}"/>
              </a:ext>
            </a:extLst>
          </p:cNvPr>
          <p:cNvGrpSpPr/>
          <p:nvPr userDrawn="1"/>
        </p:nvGrpSpPr>
        <p:grpSpPr>
          <a:xfrm>
            <a:off x="5003800" y="1609724"/>
            <a:ext cx="6872749" cy="4507992"/>
            <a:chOff x="4808363" y="1609724"/>
            <a:chExt cx="6872749" cy="4507992"/>
          </a:xfrm>
        </p:grpSpPr>
        <p:sp>
          <p:nvSpPr>
            <p:cNvPr id="10" name="Rectangle 9">
              <a:extLst>
                <a:ext uri="{FF2B5EF4-FFF2-40B4-BE49-F238E27FC236}">
                  <a16:creationId xmlns:a16="http://schemas.microsoft.com/office/drawing/2014/main" id="{E98A9172-9767-0970-3B7F-C65880FFA0EB}"/>
                </a:ext>
              </a:extLst>
            </p:cNvPr>
            <p:cNvSpPr/>
            <p:nvPr userDrawn="1"/>
          </p:nvSpPr>
          <p:spPr>
            <a:xfrm>
              <a:off x="4808363" y="1609724"/>
              <a:ext cx="6872749" cy="4507992"/>
            </a:xfrm>
            <a:prstGeom prst="rect">
              <a:avLst/>
            </a:prstGeom>
            <a:solidFill>
              <a:schemeClr val="bg1"/>
            </a:solidFill>
            <a:ln>
              <a:solidFill>
                <a:schemeClr val="bg1">
                  <a:lumMod val="65000"/>
                  <a:alpha val="59841"/>
                </a:schemeClr>
              </a:solid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1" name="Rectangle 10">
              <a:extLst>
                <a:ext uri="{FF2B5EF4-FFF2-40B4-BE49-F238E27FC236}">
                  <a16:creationId xmlns:a16="http://schemas.microsoft.com/office/drawing/2014/main" id="{E44A923C-9FA2-AD47-3A1D-7DBE54547D8D}"/>
                </a:ext>
              </a:extLst>
            </p:cNvPr>
            <p:cNvSpPr/>
            <p:nvPr userDrawn="1"/>
          </p:nvSpPr>
          <p:spPr>
            <a:xfrm>
              <a:off x="4808363" y="1609724"/>
              <a:ext cx="6868290" cy="228357"/>
            </a:xfrm>
            <a:prstGeom prst="rect">
              <a:avLst/>
            </a:prstGeom>
            <a:solidFill>
              <a:schemeClr val="bg2">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2" name="Oval 11">
              <a:extLst>
                <a:ext uri="{FF2B5EF4-FFF2-40B4-BE49-F238E27FC236}">
                  <a16:creationId xmlns:a16="http://schemas.microsoft.com/office/drawing/2014/main" id="{118C9B2C-95BF-1294-054E-D2B2C13FC4CB}"/>
                </a:ext>
              </a:extLst>
            </p:cNvPr>
            <p:cNvSpPr/>
            <p:nvPr userDrawn="1"/>
          </p:nvSpPr>
          <p:spPr>
            <a:xfrm>
              <a:off x="4898839"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3" name="Oval 12">
              <a:extLst>
                <a:ext uri="{FF2B5EF4-FFF2-40B4-BE49-F238E27FC236}">
                  <a16:creationId xmlns:a16="http://schemas.microsoft.com/office/drawing/2014/main" id="{C9646C5A-FAF2-FEA4-C26D-FD4DD9F2AE79}"/>
                </a:ext>
              </a:extLst>
            </p:cNvPr>
            <p:cNvSpPr/>
            <p:nvPr userDrawn="1"/>
          </p:nvSpPr>
          <p:spPr>
            <a:xfrm>
              <a:off x="5119281"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4" name="Oval 13">
              <a:extLst>
                <a:ext uri="{FF2B5EF4-FFF2-40B4-BE49-F238E27FC236}">
                  <a16:creationId xmlns:a16="http://schemas.microsoft.com/office/drawing/2014/main" id="{579CD218-CCCA-32AD-17DD-D66E9EA98BD6}"/>
                </a:ext>
              </a:extLst>
            </p:cNvPr>
            <p:cNvSpPr/>
            <p:nvPr userDrawn="1"/>
          </p:nvSpPr>
          <p:spPr>
            <a:xfrm>
              <a:off x="5339723"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gr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4062848" cy="4507992"/>
          </a:xfrm>
          <a:prstGeom prst="rect">
            <a:avLst/>
          </a:prstGeom>
        </p:spPr>
        <p:txBody>
          <a:bodyPr/>
          <a:lstStyle>
            <a:lvl1pPr>
              <a:buClrTx/>
              <a:defRPr sz="2200">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5094276" y="1949884"/>
            <a:ext cx="6665924" cy="4076163"/>
          </a:xfrm>
          <a:prstGeom prst="rect">
            <a:avLst/>
          </a:prstGeom>
        </p:spPr>
        <p:txBody>
          <a:bodyPr/>
          <a:lstStyle>
            <a:lvl1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a:xfrm>
            <a:off x="6873138" y="6425604"/>
            <a:ext cx="2743200" cy="363500"/>
          </a:xfrm>
          <a:prstGeom prst="rect">
            <a:avLst/>
          </a:prstGeom>
        </p:spPr>
        <p:txBody>
          <a:bodyPr/>
          <a:lstStyle/>
          <a:p>
            <a:fld id="{5FA38885-3DC0-6E4D-975A-F39C96CBC06E}" type="datetime1">
              <a:rPr lang="en-GB" smtClean="0"/>
              <a:t>17/06/2025</a:t>
            </a:fld>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2024, Oracle and/or its affiliates  |  Confidential: Internal</a:t>
            </a:r>
            <a:endParaRPr lang="en-US" dirty="0"/>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0324937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 Title, Subtitle, Cod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a:xfrm>
            <a:off x="6873138" y="6425604"/>
            <a:ext cx="2743200" cy="363500"/>
          </a:xfrm>
          <a:prstGeom prst="rect">
            <a:avLst/>
          </a:prstGeom>
        </p:spPr>
        <p:txBody>
          <a:bodyPr/>
          <a:lstStyle/>
          <a:p>
            <a:fld id="{A512C235-CFF0-0A46-A06C-2AFACB29A067}" type="datetime1">
              <a:rPr lang="en-GB" smtClean="0"/>
              <a:t>17/06/2025</a:t>
            </a:fld>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2024,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
        <p:nvSpPr>
          <p:cNvPr id="6" name="Title 1">
            <a:extLst>
              <a:ext uri="{FF2B5EF4-FFF2-40B4-BE49-F238E27FC236}">
                <a16:creationId xmlns:a16="http://schemas.microsoft.com/office/drawing/2014/main" id="{0E7BCF4C-6E0D-A9A3-A54A-F3C3A2DB8237}"/>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5" name="Rectangle 4">
            <a:extLst>
              <a:ext uri="{FF2B5EF4-FFF2-40B4-BE49-F238E27FC236}">
                <a16:creationId xmlns:a16="http://schemas.microsoft.com/office/drawing/2014/main" id="{2A83F446-24B5-3723-9593-08DD81B05F19}"/>
              </a:ext>
            </a:extLst>
          </p:cNvPr>
          <p:cNvSpPr/>
          <p:nvPr userDrawn="1"/>
        </p:nvSpPr>
        <p:spPr>
          <a:xfrm>
            <a:off x="762000" y="1581150"/>
            <a:ext cx="9404465" cy="4507992"/>
          </a:xfrm>
          <a:prstGeom prst="rect">
            <a:avLst/>
          </a:prstGeom>
          <a:solidFill>
            <a:schemeClr val="tx1">
              <a:lumMod val="10000"/>
              <a:lumOff val="90000"/>
            </a:schemeClr>
          </a:solidFill>
          <a:ln>
            <a:no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7" name="Rectangle 6">
            <a:extLst>
              <a:ext uri="{FF2B5EF4-FFF2-40B4-BE49-F238E27FC236}">
                <a16:creationId xmlns:a16="http://schemas.microsoft.com/office/drawing/2014/main" id="{E999A77D-002A-2AB2-0415-FE8C242109AD}"/>
              </a:ext>
            </a:extLst>
          </p:cNvPr>
          <p:cNvSpPr/>
          <p:nvPr userDrawn="1"/>
        </p:nvSpPr>
        <p:spPr>
          <a:xfrm>
            <a:off x="768875" y="1586732"/>
            <a:ext cx="9395473" cy="268676"/>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48119B8B-3F66-6C8A-6FAF-B331339F5962}"/>
              </a:ext>
            </a:extLst>
          </p:cNvPr>
          <p:cNvSpPr/>
          <p:nvPr userDrawn="1"/>
        </p:nvSpPr>
        <p:spPr>
          <a:xfrm>
            <a:off x="864673"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0" name="Oval 9">
            <a:extLst>
              <a:ext uri="{FF2B5EF4-FFF2-40B4-BE49-F238E27FC236}">
                <a16:creationId xmlns:a16="http://schemas.microsoft.com/office/drawing/2014/main" id="{B162D2A7-2A4A-0738-C834-DBB2F20C755A}"/>
              </a:ext>
            </a:extLst>
          </p:cNvPr>
          <p:cNvSpPr/>
          <p:nvPr userDrawn="1"/>
        </p:nvSpPr>
        <p:spPr>
          <a:xfrm>
            <a:off x="1085115"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Oval 11">
            <a:extLst>
              <a:ext uri="{FF2B5EF4-FFF2-40B4-BE49-F238E27FC236}">
                <a16:creationId xmlns:a16="http://schemas.microsoft.com/office/drawing/2014/main" id="{BF36ED1A-6989-DA15-8987-0D973025B151}"/>
              </a:ext>
            </a:extLst>
          </p:cNvPr>
          <p:cNvSpPr/>
          <p:nvPr userDrawn="1"/>
        </p:nvSpPr>
        <p:spPr>
          <a:xfrm>
            <a:off x="1305557"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5" name="Content 2">
            <a:extLst>
              <a:ext uri="{FF2B5EF4-FFF2-40B4-BE49-F238E27FC236}">
                <a16:creationId xmlns:a16="http://schemas.microsoft.com/office/drawing/2014/main" id="{2A32597A-6C85-6B1C-268F-39A3AD6BECD5}"/>
              </a:ext>
            </a:extLst>
          </p:cNvPr>
          <p:cNvSpPr>
            <a:spLocks noGrp="1"/>
          </p:cNvSpPr>
          <p:nvPr>
            <p:ph sz="quarter" idx="18"/>
          </p:nvPr>
        </p:nvSpPr>
        <p:spPr>
          <a:xfrm>
            <a:off x="864674" y="1921312"/>
            <a:ext cx="9183094" cy="4086083"/>
          </a:xfrm>
          <a:prstGeom prst="rect">
            <a:avLst/>
          </a:prstGeom>
        </p:spPr>
        <p:txBody>
          <a:bodyPr/>
          <a:lstStyle>
            <a:lvl1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Subtitle">
            <a:extLst>
              <a:ext uri="{FF2B5EF4-FFF2-40B4-BE49-F238E27FC236}">
                <a16:creationId xmlns:a16="http://schemas.microsoft.com/office/drawing/2014/main" id="{BB1B1CA3-10CF-2042-FCB7-4EF0A1EF4C31}"/>
              </a:ext>
            </a:extLst>
          </p:cNvPr>
          <p:cNvSpPr>
            <a:spLocks noGrp="1"/>
          </p:cNvSpPr>
          <p:nvPr>
            <p:ph type="body" sz="quarter" idx="11" hasCustomPrompt="1"/>
          </p:nvPr>
        </p:nvSpPr>
        <p:spPr>
          <a:xfrm>
            <a:off x="766762"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033574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 Title, Subtitle, Code">
    <p:bg>
      <p:bgPr>
        <a:solidFill>
          <a:srgbClr val="1E2830"/>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06EAA0-B91E-97AD-32C2-F2C0D0F38C97}"/>
              </a:ext>
            </a:extLst>
          </p:cNvPr>
          <p:cNvSpPr>
            <a:spLocks noGrp="1"/>
          </p:cNvSpPr>
          <p:nvPr>
            <p:ph type="sldNum" sz="quarter" idx="10"/>
          </p:nvPr>
        </p:nvSpPr>
        <p:spPr/>
        <p:txBody>
          <a:body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68BB07F1-0D0C-D489-D1ED-6C4A9CB8204D}"/>
              </a:ext>
            </a:extLst>
          </p:cNvPr>
          <p:cNvSpPr>
            <a:spLocks noGrp="1"/>
          </p:cNvSpPr>
          <p:nvPr>
            <p:ph type="ftr" sz="quarter" idx="11"/>
          </p:nvPr>
        </p:nvSpPr>
        <p:spPr/>
        <p:txBody>
          <a:bodyPr/>
          <a:lstStyle/>
          <a:p>
            <a:r>
              <a:rPr lang="en-US"/>
              <a:t>Copyright © 2024, Oracle and/or its affiliates  |  Confidential: Internal</a:t>
            </a:r>
            <a:endParaRPr lang="en-US" dirty="0"/>
          </a:p>
        </p:txBody>
      </p:sp>
      <p:sp>
        <p:nvSpPr>
          <p:cNvPr id="5" name="Date Placeholder 4">
            <a:extLst>
              <a:ext uri="{FF2B5EF4-FFF2-40B4-BE49-F238E27FC236}">
                <a16:creationId xmlns:a16="http://schemas.microsoft.com/office/drawing/2014/main" id="{4058A8F5-211A-D62F-320A-1DD9DC0DEB32}"/>
              </a:ext>
            </a:extLst>
          </p:cNvPr>
          <p:cNvSpPr>
            <a:spLocks noGrp="1"/>
          </p:cNvSpPr>
          <p:nvPr>
            <p:ph type="dt" sz="half" idx="12"/>
          </p:nvPr>
        </p:nvSpPr>
        <p:spPr/>
        <p:txBody>
          <a:bodyPr/>
          <a:lstStyle/>
          <a:p>
            <a:fld id="{FE252845-66AE-524A-B3BC-1D3785F23502}" type="datetime1">
              <a:rPr lang="en-GB" smtClean="0"/>
              <a:t>17/06/2025</a:t>
            </a:fld>
            <a:endParaRPr lang="en-US" dirty="0"/>
          </a:p>
        </p:txBody>
      </p:sp>
      <p:sp>
        <p:nvSpPr>
          <p:cNvPr id="7" name="Rectangle 6">
            <a:extLst>
              <a:ext uri="{FF2B5EF4-FFF2-40B4-BE49-F238E27FC236}">
                <a16:creationId xmlns:a16="http://schemas.microsoft.com/office/drawing/2014/main" id="{DB79EE06-D580-5BC3-6997-6B94D9F00107}"/>
              </a:ext>
            </a:extLst>
          </p:cNvPr>
          <p:cNvSpPr/>
          <p:nvPr userDrawn="1"/>
        </p:nvSpPr>
        <p:spPr>
          <a:xfrm>
            <a:off x="768876" y="1629624"/>
            <a:ext cx="9418019" cy="4507992"/>
          </a:xfrm>
          <a:prstGeom prst="rect">
            <a:avLst/>
          </a:prstGeom>
          <a:solidFill>
            <a:schemeClr val="tx1"/>
          </a:solidFill>
          <a:ln>
            <a:solidFill>
              <a:schemeClr val="bg1">
                <a:lumMod val="65000"/>
                <a:alpha val="59841"/>
              </a:schemeClr>
            </a:solidFill>
          </a:ln>
          <a:effectLst>
            <a:outerShdw blurRad="160979" sx="102111" sy="102111"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8" name="Rectangle 7">
            <a:extLst>
              <a:ext uri="{FF2B5EF4-FFF2-40B4-BE49-F238E27FC236}">
                <a16:creationId xmlns:a16="http://schemas.microsoft.com/office/drawing/2014/main" id="{049DE77C-297A-869C-03BA-E210803792BB}"/>
              </a:ext>
            </a:extLst>
          </p:cNvPr>
          <p:cNvSpPr/>
          <p:nvPr userDrawn="1"/>
        </p:nvSpPr>
        <p:spPr>
          <a:xfrm>
            <a:off x="775207" y="1635206"/>
            <a:ext cx="9411909" cy="228357"/>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A4E4CE27-774E-F1E5-3DAE-2EDC6F3F8AC0}"/>
              </a:ext>
            </a:extLst>
          </p:cNvPr>
          <p:cNvSpPr/>
          <p:nvPr userDrawn="1"/>
        </p:nvSpPr>
        <p:spPr>
          <a:xfrm>
            <a:off x="886123" y="1677266"/>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0" name="Oval 9">
            <a:extLst>
              <a:ext uri="{FF2B5EF4-FFF2-40B4-BE49-F238E27FC236}">
                <a16:creationId xmlns:a16="http://schemas.microsoft.com/office/drawing/2014/main" id="{D8F5C5D4-A0A3-88EB-3653-569A95DD09B3}"/>
              </a:ext>
            </a:extLst>
          </p:cNvPr>
          <p:cNvSpPr/>
          <p:nvPr userDrawn="1"/>
        </p:nvSpPr>
        <p:spPr>
          <a:xfrm>
            <a:off x="1099684" y="1682398"/>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Subtitle">
            <a:extLst>
              <a:ext uri="{FF2B5EF4-FFF2-40B4-BE49-F238E27FC236}">
                <a16:creationId xmlns:a16="http://schemas.microsoft.com/office/drawing/2014/main" id="{74440640-E27B-C848-0DE4-2AB09EAD9D21}"/>
              </a:ext>
            </a:extLst>
          </p:cNvPr>
          <p:cNvSpPr>
            <a:spLocks noGrp="1"/>
          </p:cNvSpPr>
          <p:nvPr>
            <p:ph type="body" sz="quarter" idx="14" hasCustomPrompt="1"/>
          </p:nvPr>
        </p:nvSpPr>
        <p:spPr>
          <a:xfrm>
            <a:off x="766763" y="1014984"/>
            <a:ext cx="10670400" cy="330540"/>
          </a:xfrm>
          <a:prstGeom prst="rect">
            <a:avLst/>
          </a:prstGeom>
        </p:spPr>
        <p:txBody>
          <a:bodyPr lIns="0">
            <a:noAutofit/>
          </a:bodyPr>
          <a:lstStyle>
            <a:lvl1pPr marL="0" indent="0">
              <a:spcAft>
                <a:spcPts val="0"/>
              </a:spcAft>
              <a:buNone/>
              <a:defRPr sz="2000" b="0" i="0">
                <a:solidFill>
                  <a:schemeClr val="bg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13" name="Title 4">
            <a:extLst>
              <a:ext uri="{FF2B5EF4-FFF2-40B4-BE49-F238E27FC236}">
                <a16:creationId xmlns:a16="http://schemas.microsoft.com/office/drawing/2014/main" id="{B7BC6395-B369-B287-34EC-F22701AE1009}"/>
              </a:ext>
            </a:extLst>
          </p:cNvPr>
          <p:cNvSpPr>
            <a:spLocks noGrp="1"/>
          </p:cNvSpPr>
          <p:nvPr>
            <p:ph type="title" hasCustomPrompt="1"/>
          </p:nvPr>
        </p:nvSpPr>
        <p:spPr>
          <a:xfrm>
            <a:off x="768875" y="182403"/>
            <a:ext cx="10670400" cy="822960"/>
          </a:xfrm>
        </p:spPr>
        <p:txBody>
          <a:bodyPr/>
          <a:lstStyle>
            <a:lvl1pPr>
              <a:defRPr>
                <a:solidFill>
                  <a:schemeClr val="bg1"/>
                </a:solidFill>
              </a:defRPr>
            </a:lvl1pPr>
          </a:lstStyle>
          <a:p>
            <a:r>
              <a:rPr lang="en-US" dirty="0"/>
              <a:t>Title</a:t>
            </a:r>
          </a:p>
        </p:txBody>
      </p:sp>
      <p:sp>
        <p:nvSpPr>
          <p:cNvPr id="2" name="Oval 1">
            <a:extLst>
              <a:ext uri="{FF2B5EF4-FFF2-40B4-BE49-F238E27FC236}">
                <a16:creationId xmlns:a16="http://schemas.microsoft.com/office/drawing/2014/main" id="{B5823805-F2EB-BF15-C79E-026EBED39A43}"/>
              </a:ext>
            </a:extLst>
          </p:cNvPr>
          <p:cNvSpPr/>
          <p:nvPr userDrawn="1"/>
        </p:nvSpPr>
        <p:spPr>
          <a:xfrm>
            <a:off x="1319539" y="1684898"/>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6" name="Content 2">
            <a:extLst>
              <a:ext uri="{FF2B5EF4-FFF2-40B4-BE49-F238E27FC236}">
                <a16:creationId xmlns:a16="http://schemas.microsoft.com/office/drawing/2014/main" id="{746793E3-7504-DF90-AF07-5207A3169165}"/>
              </a:ext>
            </a:extLst>
          </p:cNvPr>
          <p:cNvSpPr>
            <a:spLocks noGrp="1"/>
          </p:cNvSpPr>
          <p:nvPr>
            <p:ph sz="quarter" idx="18"/>
          </p:nvPr>
        </p:nvSpPr>
        <p:spPr>
          <a:xfrm>
            <a:off x="864674" y="1959949"/>
            <a:ext cx="9183094" cy="4086083"/>
          </a:xfrm>
          <a:prstGeom prst="rect">
            <a:avLst/>
          </a:prstGeom>
        </p:spPr>
        <p:txBody>
          <a:bodyPr/>
          <a:lstStyle>
            <a:lvl1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1pPr>
            <a:lvl2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2pPr>
            <a:lvl3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3pPr>
            <a:lvl4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4pPr>
            <a:lvl5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429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467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accent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296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Graal - Intro - o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extBox 2">
            <a:extLst>
              <a:ext uri="{FF2B5EF4-FFF2-40B4-BE49-F238E27FC236}">
                <a16:creationId xmlns:a16="http://schemas.microsoft.com/office/drawing/2014/main" id="{EEB3CFDF-09D8-72DE-4B7D-770B01D7D615}"/>
              </a:ext>
            </a:extLst>
          </p:cNvPr>
          <p:cNvSpPr txBox="1"/>
          <p:nvPr userDrawn="1"/>
        </p:nvSpPr>
        <p:spPr>
          <a:xfrm>
            <a:off x="2790447" y="901700"/>
            <a:ext cx="6611105" cy="3170099"/>
          </a:xfrm>
          <a:prstGeom prst="rect">
            <a:avLst/>
          </a:prstGeom>
          <a:noFill/>
        </p:spPr>
        <p:txBody>
          <a:bodyPr wrap="none" rtlCol="0">
            <a:spAutoFit/>
          </a:bodyPr>
          <a:lstStyle/>
          <a:p>
            <a:r>
              <a:rPr lang="en-UA" sz="20000" b="1" i="0" dirty="0">
                <a:solidFill>
                  <a:schemeClr val="bg1"/>
                </a:solidFill>
                <a:latin typeface="Oracle Sans" panose="020B0503020204020204" pitchFamily="34" charset="0"/>
                <a:cs typeface="Oracle Sans" panose="020B0503020204020204" pitchFamily="34" charset="0"/>
              </a:rPr>
              <a:t>Graal</a:t>
            </a:r>
          </a:p>
        </p:txBody>
      </p:sp>
      <p:sp>
        <p:nvSpPr>
          <p:cNvPr id="4" name="TextBox 3">
            <a:extLst>
              <a:ext uri="{FF2B5EF4-FFF2-40B4-BE49-F238E27FC236}">
                <a16:creationId xmlns:a16="http://schemas.microsoft.com/office/drawing/2014/main" id="{C326FAAE-5504-D946-1A67-F4AA2EC9E823}"/>
              </a:ext>
            </a:extLst>
          </p:cNvPr>
          <p:cNvSpPr txBox="1"/>
          <p:nvPr userDrawn="1"/>
        </p:nvSpPr>
        <p:spPr>
          <a:xfrm>
            <a:off x="1373360" y="3733245"/>
            <a:ext cx="9445278" cy="338554"/>
          </a:xfrm>
          <a:prstGeom prst="rect">
            <a:avLst/>
          </a:prstGeom>
          <a:noFill/>
        </p:spPr>
        <p:txBody>
          <a:bodyPr wrap="none" rtlCol="0">
            <a:spAutoFit/>
          </a:bodyPr>
          <a:lstStyle/>
          <a:p>
            <a:r>
              <a:rPr lang="en-US" sz="1600" b="0" i="0" dirty="0">
                <a:solidFill>
                  <a:schemeClr val="bg1"/>
                </a:solidFill>
                <a:effectLst/>
                <a:latin typeface="Oracle Sans Light" panose="020B0403020204020204" pitchFamily="34" charset="0"/>
                <a:cs typeface="Oracle Sans Light" panose="020B0403020204020204" pitchFamily="34" charset="0"/>
              </a:rPr>
              <a:t>A full stack for the development and deployment of high performance Java cloud native applications</a:t>
            </a:r>
            <a:endParaRPr lang="en-UA" sz="1600" b="0" i="0" dirty="0">
              <a:solidFill>
                <a:schemeClr val="bg1"/>
              </a:solidFill>
              <a:latin typeface="Oracle Sans Light" panose="020B0403020204020204" pitchFamily="34" charset="0"/>
              <a:cs typeface="Oracle Sans Light" panose="020B0403020204020204" pitchFamily="34" charset="0"/>
            </a:endParaRPr>
          </a:p>
        </p:txBody>
      </p:sp>
      <p:pic>
        <p:nvPicPr>
          <p:cNvPr id="7" name="Picture 6">
            <a:extLst>
              <a:ext uri="{FF2B5EF4-FFF2-40B4-BE49-F238E27FC236}">
                <a16:creationId xmlns:a16="http://schemas.microsoft.com/office/drawing/2014/main" id="{29FFDDDF-E426-5AED-857D-3D160E46AC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29526" y="5269037"/>
            <a:ext cx="1346200" cy="274468"/>
          </a:xfrm>
          <a:prstGeom prst="rect">
            <a:avLst/>
          </a:prstGeom>
        </p:spPr>
      </p:pic>
      <p:pic>
        <p:nvPicPr>
          <p:cNvPr id="9" name="Picture 8">
            <a:extLst>
              <a:ext uri="{FF2B5EF4-FFF2-40B4-BE49-F238E27FC236}">
                <a16:creationId xmlns:a16="http://schemas.microsoft.com/office/drawing/2014/main" id="{A39DCB6D-6C5C-3A50-459B-3E50617E772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73841" y="5137857"/>
            <a:ext cx="2044315" cy="698855"/>
          </a:xfrm>
          <a:prstGeom prst="rect">
            <a:avLst/>
          </a:prstGeom>
        </p:spPr>
      </p:pic>
      <p:pic>
        <p:nvPicPr>
          <p:cNvPr id="11" name="Picture 10">
            <a:extLst>
              <a:ext uri="{FF2B5EF4-FFF2-40B4-BE49-F238E27FC236}">
                <a16:creationId xmlns:a16="http://schemas.microsoft.com/office/drawing/2014/main" id="{20DD6828-908C-B062-66DA-EFEE7579C53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816271" y="5194005"/>
            <a:ext cx="1351591" cy="404152"/>
          </a:xfrm>
          <a:prstGeom prst="rect">
            <a:avLst/>
          </a:prstGeom>
        </p:spPr>
      </p:pic>
    </p:spTree>
    <p:extLst>
      <p:ext uri="{BB962C8B-B14F-4D97-AF65-F5344CB8AC3E}">
        <p14:creationId xmlns:p14="http://schemas.microsoft.com/office/powerpoint/2010/main" val="28122631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 Dark - Gra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6" name="Title">
            <a:extLst>
              <a:ext uri="{FF2B5EF4-FFF2-40B4-BE49-F238E27FC236}">
                <a16:creationId xmlns:a16="http://schemas.microsoft.com/office/drawing/2014/main" id="{D1FC8461-1995-7E08-95C1-D4FFB454B926}"/>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7" name="Subhead">
            <a:extLst>
              <a:ext uri="{FF2B5EF4-FFF2-40B4-BE49-F238E27FC236}">
                <a16:creationId xmlns:a16="http://schemas.microsoft.com/office/drawing/2014/main" id="{2FE2759A-7C68-874B-3C90-5C88D0767EC5}"/>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3" name="Date Placeholder 4">
            <a:extLst>
              <a:ext uri="{FF2B5EF4-FFF2-40B4-BE49-F238E27FC236}">
                <a16:creationId xmlns:a16="http://schemas.microsoft.com/office/drawing/2014/main" id="{9248A7C3-7C80-4287-FE2E-7DBFDEE42BF2}"/>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9BCDE209-168B-F7B5-BC2E-A44A93A1D2C2}"/>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DDADFAC8-0D02-0192-A2D3-FB46E3FFD62B}"/>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14" name="Picture 13">
            <a:extLst>
              <a:ext uri="{FF2B5EF4-FFF2-40B4-BE49-F238E27FC236}">
                <a16:creationId xmlns:a16="http://schemas.microsoft.com/office/drawing/2014/main" id="{C4D87047-085C-0E75-6C68-D7DECC3FAC4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114750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 Dark - GraalV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3" name="Picture 2">
            <a:extLst>
              <a:ext uri="{FF2B5EF4-FFF2-40B4-BE49-F238E27FC236}">
                <a16:creationId xmlns:a16="http://schemas.microsoft.com/office/drawing/2014/main" id="{8A3EF986-E388-00F7-0234-4EBBD1A39FB3}"/>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597479" y="547372"/>
            <a:ext cx="2165008" cy="434717"/>
          </a:xfrm>
          <a:prstGeom prst="rect">
            <a:avLst/>
          </a:prstGeom>
        </p:spPr>
      </p:pic>
      <p:sp>
        <p:nvSpPr>
          <p:cNvPr id="5" name="Date Placeholder 4">
            <a:extLst>
              <a:ext uri="{FF2B5EF4-FFF2-40B4-BE49-F238E27FC236}">
                <a16:creationId xmlns:a16="http://schemas.microsoft.com/office/drawing/2014/main" id="{A8F53524-F2E0-E7EC-DD3E-D5CAAAC76005}"/>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6" name="Footer Placeholder 6">
            <a:extLst>
              <a:ext uri="{FF2B5EF4-FFF2-40B4-BE49-F238E27FC236}">
                <a16:creationId xmlns:a16="http://schemas.microsoft.com/office/drawing/2014/main" id="{121831BD-35B6-53AE-EAD9-E66AEAE4304B}"/>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7" name="Slide Number Placeholder 7">
            <a:extLst>
              <a:ext uri="{FF2B5EF4-FFF2-40B4-BE49-F238E27FC236}">
                <a16:creationId xmlns:a16="http://schemas.microsoft.com/office/drawing/2014/main" id="{E2978A74-3EA8-7734-FF56-FEF7FEFDB481}"/>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27E00180-8769-64EF-62EE-CF7D7625A77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153859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 Dark - Graal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6" name="Picture 5">
            <a:extLst>
              <a:ext uri="{FF2B5EF4-FFF2-40B4-BE49-F238E27FC236}">
                <a16:creationId xmlns:a16="http://schemas.microsoft.com/office/drawing/2014/main" id="{2F2E7960-D9B7-A981-5AC8-06E9394C1E3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431984"/>
            <a:ext cx="2040618" cy="656499"/>
          </a:xfrm>
          <a:prstGeom prst="rect">
            <a:avLst/>
          </a:prstGeom>
        </p:spPr>
      </p:pic>
      <p:sp>
        <p:nvSpPr>
          <p:cNvPr id="3" name="Date Placeholder 4">
            <a:extLst>
              <a:ext uri="{FF2B5EF4-FFF2-40B4-BE49-F238E27FC236}">
                <a16:creationId xmlns:a16="http://schemas.microsoft.com/office/drawing/2014/main" id="{28000CDC-C7E7-8D0C-EED9-E3856B0A2D7F}"/>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E7EF04EB-2567-5A6D-954F-D33F7ADCA7EA}"/>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7" name="Slide Number Placeholder 7">
            <a:extLst>
              <a:ext uri="{FF2B5EF4-FFF2-40B4-BE49-F238E27FC236}">
                <a16:creationId xmlns:a16="http://schemas.microsoft.com/office/drawing/2014/main" id="{96391BDC-E6F0-B383-459B-FE27E73E5636}"/>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3637EFED-00D1-A3BD-C7C0-AF69FFA3F14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5657507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 Dark - GD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12" name="Picture 11">
            <a:extLst>
              <a:ext uri="{FF2B5EF4-FFF2-40B4-BE49-F238E27FC236}">
                <a16:creationId xmlns:a16="http://schemas.microsoft.com/office/drawing/2014/main" id="{80A8ED11-D4C5-6B0E-523D-DE0ED826447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625524"/>
            <a:ext cx="2541166" cy="645375"/>
          </a:xfrm>
          <a:prstGeom prst="rect">
            <a:avLst/>
          </a:prstGeom>
        </p:spPr>
      </p:pic>
      <p:sp>
        <p:nvSpPr>
          <p:cNvPr id="3" name="Date Placeholder 4">
            <a:extLst>
              <a:ext uri="{FF2B5EF4-FFF2-40B4-BE49-F238E27FC236}">
                <a16:creationId xmlns:a16="http://schemas.microsoft.com/office/drawing/2014/main" id="{189C350F-8A92-A2EF-7D36-2EECB8DC7336}"/>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77E9CA49-D6C1-5D50-9BC5-BBF4E321CF1A}"/>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6" name="Slide Number Placeholder 7">
            <a:extLst>
              <a:ext uri="{FF2B5EF4-FFF2-40B4-BE49-F238E27FC236}">
                <a16:creationId xmlns:a16="http://schemas.microsoft.com/office/drawing/2014/main" id="{C0B442D6-EB1F-57E8-0B97-AD3DA6C6B1E6}"/>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B97D513E-8ADA-554C-0008-CCF266491B8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652971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4" name="Title">
            <a:extLst>
              <a:ext uri="{FF2B5EF4-FFF2-40B4-BE49-F238E27FC236}">
                <a16:creationId xmlns:a16="http://schemas.microsoft.com/office/drawing/2014/main" id="{035EDA70-DA41-735D-5ED3-D5B853DC795B}"/>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5" name="Subhead">
            <a:extLst>
              <a:ext uri="{FF2B5EF4-FFF2-40B4-BE49-F238E27FC236}">
                <a16:creationId xmlns:a16="http://schemas.microsoft.com/office/drawing/2014/main" id="{F117CB12-D450-9EEB-DE7B-86B968D13E63}"/>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6" name="Date Placeholder 4">
            <a:extLst>
              <a:ext uri="{FF2B5EF4-FFF2-40B4-BE49-F238E27FC236}">
                <a16:creationId xmlns:a16="http://schemas.microsoft.com/office/drawing/2014/main" id="{A68AA167-1303-5C3E-750D-038B9E9D7BDE}"/>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C573D015-9BA9-1070-2AF6-B1950E753C5D}"/>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596C9B7D-27BE-CF8D-F92A-7A25D3848933}"/>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5C192595-E53B-6198-7FE7-AABD7D07D6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919112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V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6730C637-7BBE-BE75-2A0A-AB26FAAB8CB6}"/>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95191FA2-DB72-859B-8EF1-D84A688473C1}"/>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2DC9D4E2-3728-A850-2A7F-56019A81C5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567734"/>
            <a:ext cx="2165008" cy="433002"/>
          </a:xfrm>
          <a:prstGeom prst="rect">
            <a:avLst/>
          </a:prstGeom>
        </p:spPr>
      </p:pic>
      <p:sp>
        <p:nvSpPr>
          <p:cNvPr id="4" name="Date Placeholder 4">
            <a:extLst>
              <a:ext uri="{FF2B5EF4-FFF2-40B4-BE49-F238E27FC236}">
                <a16:creationId xmlns:a16="http://schemas.microsoft.com/office/drawing/2014/main" id="{6399773D-09D3-D2C8-D004-EC3F7DEBFBE0}"/>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B990EC05-5E74-BF71-FA20-612B33884861}"/>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31FBA5A9-B0EB-4770-D2F2-B8C9CC75664A}"/>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779281A-8676-BDFE-8DCA-05EF48C9E46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7589842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88D94C48-A6D0-4E21-63F1-8415BD44F707}"/>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8BC82EBF-CDCF-AB01-51D0-9B40B5568EF5}"/>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91778988-1C33-72F7-7163-578E4EEDE8C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597631"/>
            <a:ext cx="1975392" cy="410472"/>
          </a:xfrm>
          <a:prstGeom prst="rect">
            <a:avLst/>
          </a:prstGeom>
        </p:spPr>
      </p:pic>
      <p:sp>
        <p:nvSpPr>
          <p:cNvPr id="4" name="Date Placeholder 4">
            <a:extLst>
              <a:ext uri="{FF2B5EF4-FFF2-40B4-BE49-F238E27FC236}">
                <a16:creationId xmlns:a16="http://schemas.microsoft.com/office/drawing/2014/main" id="{BEC55440-F402-A01A-9F89-DE0C6652CE8C}"/>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9062D204-1C32-DC10-F63A-85CE859E56D9}"/>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82B77487-3822-AE3B-D0DF-58C1278F67BA}"/>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B45865C-E78C-EC3D-DDD5-8C3A4AAAC00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956576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 Light - GD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9BAB29B4-42F6-A802-AE37-62AF88F42CC2}"/>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AA23C384-72B9-C358-7F46-436D5E0C957A}"/>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BCE34C67-99DD-2D5E-8D93-D79B3A7B5CB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625524"/>
            <a:ext cx="2541166" cy="653151"/>
          </a:xfrm>
          <a:prstGeom prst="rect">
            <a:avLst/>
          </a:prstGeom>
        </p:spPr>
      </p:pic>
      <p:sp>
        <p:nvSpPr>
          <p:cNvPr id="4" name="Date Placeholder 4">
            <a:extLst>
              <a:ext uri="{FF2B5EF4-FFF2-40B4-BE49-F238E27FC236}">
                <a16:creationId xmlns:a16="http://schemas.microsoft.com/office/drawing/2014/main" id="{B51F5FF1-4209-2567-53A6-D6C43DD1DFF8}"/>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95170F7F-60A4-9231-6476-FB19184209CC}"/>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1B55B1E4-A430-3F05-2AFA-6A7F2441476E}"/>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3ED0DA41-75ED-2F68-A1ED-5819326864D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416777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full-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 title</a:t>
            </a:r>
            <a:br>
              <a:rPr lang="en-US" dirty="0"/>
            </a:br>
            <a:r>
              <a:rPr lang="en-US" dirty="0"/>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3EBD9F2-E972-20CA-5EFD-A415BBB2662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28365" y="150"/>
            <a:ext cx="1718094" cy="1440000"/>
          </a:xfrm>
          <a:prstGeom prst="rect">
            <a:avLst/>
          </a:prstGeom>
        </p:spPr>
      </p:pic>
    </p:spTree>
    <p:extLst>
      <p:ext uri="{BB962C8B-B14F-4D97-AF65-F5344CB8AC3E}">
        <p14:creationId xmlns:p14="http://schemas.microsoft.com/office/powerpoint/2010/main" val="2533433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full-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dirty="0"/>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8039191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ght - Divider_Image">
    <p:bg>
      <p:bgPr>
        <a:solidFill>
          <a:schemeClr val="bg2"/>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1604406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Divider_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304597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1286051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21938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A88749-7EB5-2331-D33E-12835E3B776D}"/>
              </a:ext>
            </a:extLst>
          </p:cNvPr>
          <p:cNvSpPr/>
          <p:nvPr userDrawn="1"/>
        </p:nvSpPr>
        <p:spPr>
          <a:xfrm>
            <a:off x="0" y="4349639"/>
            <a:ext cx="7315201" cy="1165696"/>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4049053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FE6D344-B58B-BFD1-9607-3045A45ED613}"/>
              </a:ext>
            </a:extLst>
          </p:cNvPr>
          <p:cNvSpPr/>
          <p:nvPr userDrawn="1"/>
        </p:nvSpPr>
        <p:spPr>
          <a:xfrm>
            <a:off x="0" y="4349639"/>
            <a:ext cx="7206031" cy="1165696"/>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endParaRPr lang="en-US" dirty="0"/>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740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ark - Quote, Picture, and logo">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DDDA32-0BA4-7E35-DEB5-D424217A8AA3}"/>
              </a:ext>
            </a:extLst>
          </p:cNvPr>
          <p:cNvSpPr/>
          <p:nvPr userDrawn="1"/>
        </p:nvSpPr>
        <p:spPr>
          <a:xfrm>
            <a:off x="5430982" y="4769734"/>
            <a:ext cx="7315201" cy="1165696"/>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2" name="Picture Placeholder 4">
            <a:extLst>
              <a:ext uri="{FF2B5EF4-FFF2-40B4-BE49-F238E27FC236}">
                <a16:creationId xmlns:a16="http://schemas.microsoft.com/office/drawing/2014/main" id="{7CD08DE1-777E-CA25-0EDC-62A850ADB172}"/>
              </a:ext>
            </a:extLst>
          </p:cNvPr>
          <p:cNvSpPr>
            <a:spLocks noGrp="1"/>
          </p:cNvSpPr>
          <p:nvPr>
            <p:ph type="pic" sz="quarter" idx="42" hasCustomPrompt="1"/>
          </p:nvPr>
        </p:nvSpPr>
        <p:spPr>
          <a:xfrm>
            <a:off x="0" y="0"/>
            <a:ext cx="4876800" cy="6858000"/>
          </a:xfrm>
          <a:prstGeom prst="rect">
            <a:avLst/>
          </a:prstGeo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solidFill>
                  <a:schemeClr val="tx1"/>
                </a:solidFill>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endParaRPr lang="en-US" dirty="0"/>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Tree>
    <p:extLst>
      <p:ext uri="{BB962C8B-B14F-4D97-AF65-F5344CB8AC3E}">
        <p14:creationId xmlns:p14="http://schemas.microsoft.com/office/powerpoint/2010/main" val="3962537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ight - Quote, Picture, and log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0FEEA1-7B80-CB08-109A-86DD3E82B79F}"/>
              </a:ext>
            </a:extLst>
          </p:cNvPr>
          <p:cNvSpPr/>
          <p:nvPr userDrawn="1"/>
        </p:nvSpPr>
        <p:spPr>
          <a:xfrm>
            <a:off x="5430982" y="4769734"/>
            <a:ext cx="7206031" cy="1165696"/>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4" name="Picture Placeholder 6">
            <a:extLst>
              <a:ext uri="{FF2B5EF4-FFF2-40B4-BE49-F238E27FC236}">
                <a16:creationId xmlns:a16="http://schemas.microsoft.com/office/drawing/2014/main" id="{6B072475-0C15-14B8-3B46-F4CEFDFAD762}"/>
              </a:ext>
            </a:extLst>
          </p:cNvPr>
          <p:cNvSpPr>
            <a:spLocks noGrp="1"/>
          </p:cNvSpPr>
          <p:nvPr>
            <p:ph type="pic" sz="quarter" idx="42" hasCustomPrompt="1"/>
          </p:nvPr>
        </p:nvSpPr>
        <p:spPr>
          <a:xfrm>
            <a:off x="0" y="0"/>
            <a:ext cx="4876800" cy="6858000"/>
          </a:xfrm>
          <a:prstGeom prst="rect">
            <a:avLst/>
          </a:prstGeom>
        </p:spPr>
        <p:txBody>
          <a:bodyPr anchor="ctr" anchorCtr="1"/>
          <a:lstStyle>
            <a:lvl1pPr marL="0" indent="0">
              <a:buNone/>
              <a:defRPr>
                <a:solidFill>
                  <a:schemeClr val="tx1"/>
                </a:solidFill>
              </a:defRPr>
            </a:lvl1pPr>
          </a:lstStyle>
          <a:p>
            <a:r>
              <a:rPr lang="en-US" dirty="0"/>
              <a:t>Click to add image</a:t>
            </a:r>
          </a:p>
        </p:txBody>
      </p:sp>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5384673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 Single metric">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endParaRPr lang="en-US" dirty="0"/>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accent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Tree>
    <p:extLst>
      <p:ext uri="{BB962C8B-B14F-4D97-AF65-F5344CB8AC3E}">
        <p14:creationId xmlns:p14="http://schemas.microsoft.com/office/powerpoint/2010/main" val="1667720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 Single metric">
    <p:bg>
      <p:bgPr>
        <a:solidFill>
          <a:schemeClr val="bg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accent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19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 Thank You">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endParaRPr lang="en-US" dirty="0"/>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endParaRPr lang="en-US" dirty="0"/>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dirty="0"/>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Dark - Closing Slide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082130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ark - Closing Slide Q&amp;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OTag">
            <a:extLst>
              <a:ext uri="{FF2B5EF4-FFF2-40B4-BE49-F238E27FC236}">
                <a16:creationId xmlns:a16="http://schemas.microsoft.com/office/drawing/2014/main" id="{4A332C52-B2AD-BBB7-E218-CC63173B9E9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38903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926611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5" name="TextBox 4">
            <a:extLst>
              <a:ext uri="{FF2B5EF4-FFF2-40B4-BE49-F238E27FC236}">
                <a16:creationId xmlns:a16="http://schemas.microsoft.com/office/drawing/2014/main" id="{CA4392FF-7C2C-D37B-DD7D-60C8C946E8C6}"/>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73537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7" name="TextBox 16">
            <a:extLst>
              <a:ext uri="{FF2B5EF4-FFF2-40B4-BE49-F238E27FC236}">
                <a16:creationId xmlns:a16="http://schemas.microsoft.com/office/drawing/2014/main" id="{E5EA32E2-5AE7-3199-6814-98A3082209E7}"/>
              </a:ext>
            </a:extLst>
          </p:cNvPr>
          <p:cNvSpPr txBox="1"/>
          <p:nvPr userDrawn="1"/>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userDrawn="1"/>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248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peaker_1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7990251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peaker_2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Two speakers on stage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89835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peaker_3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Three speakers on stage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62324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peaker_4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Four speakers on stage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Tree>
    <p:extLst>
      <p:ext uri="{BB962C8B-B14F-4D97-AF65-F5344CB8AC3E}">
        <p14:creationId xmlns:p14="http://schemas.microsoft.com/office/powerpoint/2010/main" val="2861973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ark - Agenda">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79120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4337567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 Agenda Tab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76371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0500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userDrawn="1"/>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00496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solidFill>
          <a:schemeClr val="bg2"/>
        </a:solid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Tree>
    <p:extLst>
      <p:ext uri="{BB962C8B-B14F-4D97-AF65-F5344CB8AC3E}">
        <p14:creationId xmlns:p14="http://schemas.microsoft.com/office/powerpoint/2010/main" val="2195833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peaker_1">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43612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peaker_1-Profi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63229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peaker_2">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561800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eaker_3">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87615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userDrawn="1">
          <p15:clr>
            <a:srgbClr val="FBAE40"/>
          </p15:clr>
        </p15:guide>
        <p15:guide id="2" pos="5676"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peaker_4">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endParaRPr lang="en-US" dirty="0"/>
          </a:p>
        </p:txBody>
      </p:sp>
    </p:spTree>
    <p:extLst>
      <p:ext uri="{BB962C8B-B14F-4D97-AF65-F5344CB8AC3E}">
        <p14:creationId xmlns:p14="http://schemas.microsoft.com/office/powerpoint/2010/main" val="12919516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peaker_6">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endParaRPr lang="en-US" dirty="0"/>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5236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peaker_10">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Tree>
    <p:extLst>
      <p:ext uri="{BB962C8B-B14F-4D97-AF65-F5344CB8AC3E}">
        <p14:creationId xmlns:p14="http://schemas.microsoft.com/office/powerpoint/2010/main" val="4160616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97214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3points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64788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455559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22896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504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679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endParaRPr lang="en-US" dirty="0"/>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578403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 Illustration_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dirty="0"/>
              <a:t>Click to add photo or illustration</a:t>
            </a:r>
          </a:p>
          <a:p>
            <a:endParaRPr lang="en-US" dirty="0"/>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090114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965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498924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2861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8414200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2025,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endParaRPr lang="en-US" dirty="0"/>
          </a:p>
          <a:p>
            <a:endParaRPr lang="en-US" dirty="0"/>
          </a:p>
        </p:txBody>
      </p:sp>
    </p:spTree>
    <p:extLst>
      <p:ext uri="{BB962C8B-B14F-4D97-AF65-F5344CB8AC3E}">
        <p14:creationId xmlns:p14="http://schemas.microsoft.com/office/powerpoint/2010/main" val="2561398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a:p>
            <a:pPr lvl="0" algn="ctr"/>
            <a:endParaRPr lang="en-US" dirty="0"/>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7035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654871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ark - Bold Statement with Photo half">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endParaRPr lang="en-US" dirty="0"/>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24919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956069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ark - Screensho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Tree>
    <p:extLst>
      <p:ext uri="{BB962C8B-B14F-4D97-AF65-F5344CB8AC3E}">
        <p14:creationId xmlns:p14="http://schemas.microsoft.com/office/powerpoint/2010/main" val="2925250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868498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6643125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ark - 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userDrawn="1"/>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sp>
        <p:nvSpPr>
          <p:cNvPr id="12" name="TextBox 11">
            <a:extLst>
              <a:ext uri="{FF2B5EF4-FFF2-40B4-BE49-F238E27FC236}">
                <a16:creationId xmlns:a16="http://schemas.microsoft.com/office/drawing/2014/main" id="{F8B44FF3-28AB-10D7-B1C4-E339265AAF9B}"/>
              </a:ext>
            </a:extLst>
          </p:cNvPr>
          <p:cNvSpPr txBox="1"/>
          <p:nvPr userDrawn="1"/>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dirty="0">
                <a:solidFill>
                  <a:schemeClr val="tx1"/>
                </a:solidFill>
                <a:latin typeface="Oracle Sans Tab" panose="020B0503020204020204" pitchFamily="34" charset="0"/>
                <a:cs typeface="Oracle Sans Tab" panose="020B0503020204020204" pitchFamily="34" charset="0"/>
              </a:rPr>
            </a:br>
            <a:r>
              <a:rPr lang="en-US" sz="2000" b="0" i="0" dirty="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33899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theme" Target="../theme/theme1.xml"/><Relationship Id="rId9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dirty="0"/>
              <a:t>Copyright © 2025,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95"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917" r:id="rId1"/>
    <p:sldLayoutId id="2147484286" r:id="rId2"/>
    <p:sldLayoutId id="2147484077" r:id="rId3"/>
    <p:sldLayoutId id="2147484078" r:id="rId4"/>
    <p:sldLayoutId id="2147483922" r:id="rId5"/>
    <p:sldLayoutId id="2147484079" r:id="rId6"/>
    <p:sldLayoutId id="2147484296" r:id="rId7"/>
    <p:sldLayoutId id="2147484297" r:id="rId8"/>
    <p:sldLayoutId id="2147484309" r:id="rId9"/>
    <p:sldLayoutId id="2147484308" r:id="rId10"/>
    <p:sldLayoutId id="2147483994" r:id="rId11"/>
    <p:sldLayoutId id="2147484069" r:id="rId12"/>
    <p:sldLayoutId id="2147484074" r:id="rId13"/>
    <p:sldLayoutId id="2147484075" r:id="rId14"/>
    <p:sldLayoutId id="2147484254" r:id="rId15"/>
    <p:sldLayoutId id="2147484008" r:id="rId16"/>
    <p:sldLayoutId id="2147484152" r:id="rId17"/>
    <p:sldLayoutId id="2147484155" r:id="rId18"/>
    <p:sldLayoutId id="2147484227" r:id="rId19"/>
    <p:sldLayoutId id="2147484228" r:id="rId20"/>
    <p:sldLayoutId id="2147484330" r:id="rId21"/>
    <p:sldLayoutId id="2147484331" r:id="rId22"/>
    <p:sldLayoutId id="2147484332" r:id="rId23"/>
    <p:sldLayoutId id="2147484333" r:id="rId24"/>
    <p:sldLayoutId id="2147484219" r:id="rId25"/>
    <p:sldLayoutId id="2147484220" r:id="rId26"/>
    <p:sldLayoutId id="2147484321" r:id="rId27"/>
    <p:sldLayoutId id="2147484322" r:id="rId28"/>
    <p:sldLayoutId id="2147484323" r:id="rId29"/>
    <p:sldLayoutId id="2147484324" r:id="rId30"/>
    <p:sldLayoutId id="2147484325" r:id="rId31"/>
    <p:sldLayoutId id="2147484326" r:id="rId32"/>
    <p:sldLayoutId id="2147484327" r:id="rId33"/>
    <p:sldLayoutId id="2147484328" r:id="rId34"/>
    <p:sldLayoutId id="2147484329" r:id="rId35"/>
    <p:sldLayoutId id="2147484283" r:id="rId36"/>
    <p:sldLayoutId id="2147484295" r:id="rId37"/>
    <p:sldLayoutId id="2147484290" r:id="rId38"/>
    <p:sldLayoutId id="2147484292" r:id="rId39"/>
    <p:sldLayoutId id="2147484259" r:id="rId40"/>
    <p:sldLayoutId id="2147484313" r:id="rId41"/>
    <p:sldLayoutId id="2147484226" r:id="rId42"/>
    <p:sldLayoutId id="2147484003" r:id="rId43"/>
    <p:sldLayoutId id="2147484221" r:id="rId44"/>
    <p:sldLayoutId id="2147484222" r:id="rId45"/>
    <p:sldLayoutId id="2147484031" r:id="rId46"/>
    <p:sldLayoutId id="2147484030" r:id="rId47"/>
    <p:sldLayoutId id="2147483943" r:id="rId48"/>
    <p:sldLayoutId id="2147483763" r:id="rId49"/>
    <p:sldLayoutId id="2147484334" r:id="rId50"/>
    <p:sldLayoutId id="2147484335" r:id="rId51"/>
    <p:sldLayoutId id="2147484237" r:id="rId52"/>
    <p:sldLayoutId id="2147484093" r:id="rId53"/>
    <p:sldLayoutId id="2147484314" r:id="rId54"/>
    <p:sldLayoutId id="2147484315" r:id="rId55"/>
    <p:sldLayoutId id="2147484316" r:id="rId56"/>
    <p:sldLayoutId id="2147484317" r:id="rId57"/>
    <p:sldLayoutId id="2147484318" r:id="rId58"/>
    <p:sldLayoutId id="2147484255" r:id="rId59"/>
    <p:sldLayoutId id="2147484310" r:id="rId60"/>
    <p:sldLayoutId id="2147484311" r:id="rId61"/>
    <p:sldLayoutId id="2147484312" r:id="rId62"/>
    <p:sldLayoutId id="2147484250" r:id="rId63"/>
    <p:sldLayoutId id="2147484251" r:id="rId64"/>
    <p:sldLayoutId id="2147484044" r:id="rId65"/>
    <p:sldLayoutId id="2147484274" r:id="rId66"/>
    <p:sldLayoutId id="2147484045" r:id="rId67"/>
    <p:sldLayoutId id="2147484046" r:id="rId68"/>
    <p:sldLayoutId id="2147484047" r:id="rId69"/>
    <p:sldLayoutId id="2147484293" r:id="rId70"/>
    <p:sldLayoutId id="2147484294" r:id="rId71"/>
    <p:sldLayoutId id="2147484256" r:id="rId72"/>
    <p:sldLayoutId id="2147484319" r:id="rId73"/>
    <p:sldLayoutId id="2147484285" r:id="rId74"/>
    <p:sldLayoutId id="2147484284" r:id="rId75"/>
    <p:sldLayoutId id="2147484005" r:id="rId76"/>
    <p:sldLayoutId id="2147484006" r:id="rId77"/>
    <p:sldLayoutId id="2147484159" r:id="rId78"/>
    <p:sldLayoutId id="2147484157" r:id="rId79"/>
    <p:sldLayoutId id="2147484275" r:id="rId80"/>
    <p:sldLayoutId id="2147484276" r:id="rId81"/>
    <p:sldLayoutId id="2147484282" r:id="rId82"/>
    <p:sldLayoutId id="2147484258" r:id="rId83"/>
    <p:sldLayoutId id="2147484277" r:id="rId84"/>
    <p:sldLayoutId id="2147484252" r:id="rId85"/>
    <p:sldLayoutId id="2147484257" r:id="rId86"/>
    <p:sldLayoutId id="2147484320" r:id="rId87"/>
    <p:sldLayoutId id="2147484281" r:id="rId88"/>
    <p:sldLayoutId id="2147484298" r:id="rId89"/>
    <p:sldLayoutId id="2147484299" r:id="rId90"/>
    <p:sldLayoutId id="2147483744" r:id="rId91"/>
    <p:sldLayoutId id="2147483944" r:id="rId92"/>
    <p:sldLayoutId id="2147484287" r:id="rId9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5ACBF0"/>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26.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2.png"/><Relationship Id="rId4" Type="http://schemas.openxmlformats.org/officeDocument/2006/relationships/image" Target="../media/image3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chart" Target="../charts/chart1.xml"/><Relationship Id="rId4" Type="http://schemas.openxmlformats.org/officeDocument/2006/relationships/image" Target="../media/image3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chart" Target="../charts/chart2.xml"/><Relationship Id="rId4" Type="http://schemas.openxmlformats.org/officeDocument/2006/relationships/image" Target="../media/image35.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4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3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png"/><Relationship Id="rId3" Type="http://schemas.openxmlformats.org/officeDocument/2006/relationships/image" Target="../media/image4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5" name="Picture 4" descr="mn-stacked-white.png"/>
          <p:cNvPicPr>
            <a:picLocks noChangeAspect="1"/>
          </p:cNvPicPr>
          <p:nvPr/>
        </p:nvPicPr>
        <p:blipFill>
          <a:blip r:embed="rId2"/>
          <a:stretch>
            <a:fillRect/>
          </a:stretch>
        </p:blipFill>
        <p:spPr>
          <a:xfrm>
            <a:off x="768096" y="685800"/>
            <a:ext cx="1710335" cy="1097280"/>
          </a:xfrm>
          <a:prstGeom prst="rect">
            <a:avLst/>
          </a:prstGeom>
        </p:spPr>
      </p:pic>
      <p:sp>
        <p:nvSpPr>
          <p:cNvPr id="6" name="TextBox 5"/>
          <p:cNvSpPr txBox="1"/>
          <p:nvPr/>
        </p:nvSpPr>
        <p:spPr>
          <a:xfrm>
            <a:off x="768096" y="2148840"/>
            <a:ext cx="6217920" cy="320040"/>
          </a:xfrm>
          <a:prstGeom prst="rect">
            <a:avLst/>
          </a:prstGeom>
          <a:noFill/>
        </p:spPr>
        <p:txBody>
          <a:bodyPr wrap="square" lIns="0" rIns="0" tIns="0" bIns="0" anchor="t"/>
          <a:lstStyle/>
          <a:p>
            <a:pPr>
              <a:buNone/>
            </a:pPr>
            <a:r>
              <a:rPr sz="1200" b="1">
                <a:solidFill>
                  <a:srgbClr val="F19111"/>
                </a:solidFill>
              </a:rPr>
              <a:t>MICRONAUT TEAM  ·  INTERNAL</a:t>
            </a:r>
          </a:p>
        </p:txBody>
      </p:sp>
      <p:sp>
        <p:nvSpPr>
          <p:cNvPr id="7" name="TextBox 6"/>
          <p:cNvSpPr txBox="1"/>
          <p:nvPr/>
        </p:nvSpPr>
        <p:spPr>
          <a:xfrm>
            <a:off x="768096" y="2560320"/>
            <a:ext cx="6583680" cy="1737360"/>
          </a:xfrm>
          <a:prstGeom prst="rect">
            <a:avLst/>
          </a:prstGeom>
          <a:noFill/>
        </p:spPr>
        <p:txBody>
          <a:bodyPr wrap="square" lIns="0" rIns="0" tIns="0" bIns="0" anchor="t"/>
          <a:lstStyle/>
          <a:p>
            <a:pPr>
              <a:lnSpc>
                <a:spcPct val="95000"/>
              </a:lnSpc>
              <a:buNone/>
            </a:pPr>
            <a:r>
              <a:rPr sz="4400" b="1">
                <a:solidFill>
                  <a:srgbClr val="FFFFFF"/>
                </a:solidFill>
              </a:rPr>
              <a:t>Micronaut Roadmap</a:t>
            </a:r>
          </a:p>
          <a:p>
            <a:pPr>
              <a:lnSpc>
                <a:spcPct val="95000"/>
              </a:lnSpc>
              <a:buNone/>
            </a:pPr>
            <a:r>
              <a:rPr sz="4400" b="1">
                <a:solidFill>
                  <a:srgbClr val="F19111"/>
                </a:solidFill>
              </a:rPr>
              <a:t>2026 – 2027</a:t>
            </a:r>
          </a:p>
        </p:txBody>
      </p:sp>
      <p:sp>
        <p:nvSpPr>
          <p:cNvPr id="8" name="TextBox 7"/>
          <p:cNvSpPr txBox="1"/>
          <p:nvPr/>
        </p:nvSpPr>
        <p:spPr>
          <a:xfrm>
            <a:off x="768096" y="4343400"/>
            <a:ext cx="6035040" cy="731520"/>
          </a:xfrm>
          <a:prstGeom prst="rect">
            <a:avLst/>
          </a:prstGeom>
          <a:noFill/>
        </p:spPr>
        <p:txBody>
          <a:bodyPr wrap="square" lIns="0" rIns="0" tIns="0" bIns="0" anchor="t"/>
          <a:lstStyle/>
          <a:p>
            <a:pPr>
              <a:buNone/>
            </a:pPr>
            <a:r>
              <a:rPr sz="1700">
                <a:solidFill>
                  <a:srgbClr val="A9B7C4"/>
                </a:solidFill>
              </a:rPr>
              <a:t>Standards, languages, Oracle AI Database, AI-driven hardening and a better developer experience</a:t>
            </a:r>
          </a:p>
        </p:txBody>
      </p:sp>
      <p:sp>
        <p:nvSpPr>
          <p:cNvPr id="9" name="Rounded Rectangle 8"/>
          <p:cNvSpPr/>
          <p:nvPr/>
        </p:nvSpPr>
        <p:spPr>
          <a:xfrm>
            <a:off x="768096" y="5303520"/>
            <a:ext cx="5120640" cy="822960"/>
          </a:xfrm>
          <a:prstGeom prst="roundRect">
            <a:avLst>
              <a:gd name="adj" fmla="val 888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600" b="1">
                <a:solidFill>
                  <a:srgbClr val="FFFFFF"/>
                </a:solidFill>
              </a:rPr>
              <a:t>Graeme Rocher</a:t>
            </a:r>
          </a:p>
          <a:p>
            <a:pPr algn="l">
              <a:buNone/>
            </a:pPr>
            <a:r>
              <a:rPr sz="1300">
                <a:solidFill>
                  <a:srgbClr val="A9B7C4"/>
                </a:solidFill>
              </a:rPr>
              <a:t>Micronaut Team  ·  September 2026</a:t>
            </a:r>
          </a:p>
        </p:txBody>
      </p:sp>
      <p:pic>
        <p:nvPicPr>
          <p:cNvPr id="10" name="Picture 9" descr="sally.png"/>
          <p:cNvPicPr>
            <a:picLocks noChangeAspect="1"/>
          </p:cNvPicPr>
          <p:nvPr/>
        </p:nvPicPr>
        <p:blipFill>
          <a:blip r:embed="rId3"/>
          <a:stretch>
            <a:fillRect/>
          </a:stretch>
        </p:blipFill>
        <p:spPr>
          <a:xfrm>
            <a:off x="7589520" y="822960"/>
            <a:ext cx="3599078" cy="4937760"/>
          </a:xfrm>
          <a:prstGeom prst="rect">
            <a:avLst/>
          </a:prstGeom>
        </p:spPr>
      </p:pic>
      <p:pic>
        <p:nvPicPr>
          <p:cNvPr id="11" name="Picture 10" descr="rocket.png"/>
          <p:cNvPicPr>
            <a:picLocks noChangeAspect="1"/>
          </p:cNvPicPr>
          <p:nvPr/>
        </p:nvPicPr>
        <p:blipFill>
          <a:blip r:embed="rId4"/>
          <a:stretch>
            <a:fillRect/>
          </a:stretch>
        </p:blipFill>
        <p:spPr>
          <a:xfrm>
            <a:off x="10058400" y="4206240"/>
            <a:ext cx="1834316" cy="1737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start from</a:t>
            </a:r>
          </a:p>
        </p:txBody>
      </p:sp>
      <p:sp>
        <p:nvSpPr>
          <p:cNvPr id="3" name="Text Placeholder 2"/>
          <p:cNvSpPr>
            <a:spLocks noGrp="1"/>
          </p:cNvSpPr>
          <p:nvPr>
            <p:ph type="body" idx="11" sz="quarter"/>
          </p:nvPr>
        </p:nvSpPr>
        <p:spPr/>
        <p:txBody>
          <a:bodyPr/>
          <a:lstStyle/>
          <a:p>
            <a:r>
              <a:t>What 2026 has already delivered</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768096" y="1645920"/>
            <a:ext cx="5212080" cy="2057400"/>
          </a:xfrm>
          <a:prstGeom prst="roundRect">
            <a:avLst>
              <a:gd name="adj" fmla="val 3555"/>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050" b="1">
                <a:solidFill>
                  <a:srgbClr val="8BC34A"/>
                </a:solidFill>
              </a:rPr>
              <a:t>✓  DELIVERED</a:t>
            </a:r>
          </a:p>
          <a:p>
            <a:pPr algn="l">
              <a:spcAft>
                <a:spcPts val="600"/>
              </a:spcAft>
              <a:buNone/>
            </a:pPr>
            <a:r>
              <a:rPr sz="1800" b="1">
                <a:solidFill>
                  <a:srgbClr val="FFFFFF"/>
                </a:solidFill>
              </a:rPr>
              <a:t>Micronaut 5</a:t>
            </a:r>
          </a:p>
          <a:p>
            <a:pPr algn="l">
              <a:buNone/>
            </a:pPr>
            <a:r>
              <a:rPr sz="1300">
                <a:solidFill>
                  <a:srgbClr val="A9B7C4"/>
                </a:solidFill>
              </a:rPr>
              <a:t>The current generation of the framework and its module ecosystem</a:t>
            </a:r>
          </a:p>
        </p:txBody>
      </p:sp>
      <p:pic>
        <p:nvPicPr>
          <p:cNvPr id="11" name="Picture 10" descr="mn-icon-white.png"/>
          <p:cNvPicPr>
            <a:picLocks noChangeAspect="1"/>
          </p:cNvPicPr>
          <p:nvPr/>
        </p:nvPicPr>
        <p:blipFill>
          <a:blip r:embed="rId3"/>
          <a:stretch>
            <a:fillRect/>
          </a:stretch>
        </p:blipFill>
        <p:spPr>
          <a:xfrm>
            <a:off x="4928616" y="2670048"/>
            <a:ext cx="778679" cy="777240"/>
          </a:xfrm>
          <a:prstGeom prst="rect">
            <a:avLst/>
          </a:prstGeom>
        </p:spPr>
      </p:pic>
      <p:sp>
        <p:nvSpPr>
          <p:cNvPr id="12" name="Rounded Rectangle 11"/>
          <p:cNvSpPr/>
          <p:nvPr/>
        </p:nvSpPr>
        <p:spPr>
          <a:xfrm>
            <a:off x="6208776" y="1645920"/>
            <a:ext cx="5212080" cy="2057400"/>
          </a:xfrm>
          <a:prstGeom prst="roundRect">
            <a:avLst>
              <a:gd name="adj" fmla="val 3555"/>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050" b="1">
                <a:solidFill>
                  <a:srgbClr val="8BC34A"/>
                </a:solidFill>
              </a:rPr>
              <a:t>✓  DELIVERED</a:t>
            </a:r>
          </a:p>
          <a:p>
            <a:pPr algn="l">
              <a:spcAft>
                <a:spcPts val="600"/>
              </a:spcAft>
              <a:buNone/>
            </a:pPr>
            <a:r>
              <a:rPr sz="1800" b="1">
                <a:solidFill>
                  <a:srgbClr val="FFFFFF"/>
                </a:solidFill>
              </a:rPr>
              <a:t>Oracle AI Database in Micronaut Data</a:t>
            </a:r>
          </a:p>
          <a:p>
            <a:pPr algn="l">
              <a:buNone/>
            </a:pPr>
            <a:r>
              <a:rPr sz="1300">
                <a:solidFill>
                  <a:srgbClr val="A9B7C4"/>
                </a:solidFill>
              </a:rPr>
              <a:t>Vector search, spatial types, JSON Relational Duality Views, transaction priority, client info</a:t>
            </a:r>
          </a:p>
        </p:txBody>
      </p:sp>
      <p:sp>
        <p:nvSpPr>
          <p:cNvPr id="13" name="Rounded Rectangle 12"/>
          <p:cNvSpPr/>
          <p:nvPr/>
        </p:nvSpPr>
        <p:spPr>
          <a:xfrm>
            <a:off x="768096" y="3931920"/>
            <a:ext cx="5212080" cy="2057400"/>
          </a:xfrm>
          <a:prstGeom prst="roundRect">
            <a:avLst>
              <a:gd name="adj" fmla="val 3555"/>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050" b="1">
                <a:solidFill>
                  <a:srgbClr val="8BC34A"/>
                </a:solidFill>
              </a:rPr>
              <a:t>✓  DELIVERED</a:t>
            </a:r>
          </a:p>
          <a:p>
            <a:pPr algn="l">
              <a:spcAft>
                <a:spcPts val="600"/>
              </a:spcAft>
              <a:buNone/>
            </a:pPr>
            <a:r>
              <a:rPr sz="1800" b="1">
                <a:solidFill>
                  <a:srgbClr val="FFFFFF"/>
                </a:solidFill>
              </a:rPr>
              <a:t>Python on Micronaut</a:t>
            </a:r>
          </a:p>
          <a:p>
            <a:pPr algn="l">
              <a:buNone/>
            </a:pPr>
            <a:r>
              <a:rPr sz="1300">
                <a:solidFill>
                  <a:srgbClr val="A9B7C4"/>
                </a:solidFill>
              </a:rPr>
              <a:t>Pyronaut: Python AST in the compiler via GraalPy, bridges, a Python-first CLI</a:t>
            </a:r>
          </a:p>
        </p:txBody>
      </p:sp>
      <p:pic>
        <p:nvPicPr>
          <p:cNvPr id="14" name="Picture 13" descr="mascot.png"/>
          <p:cNvPicPr>
            <a:picLocks noChangeAspect="1"/>
          </p:cNvPicPr>
          <p:nvPr/>
        </p:nvPicPr>
        <p:blipFill>
          <a:blip r:embed="rId4"/>
          <a:stretch>
            <a:fillRect/>
          </a:stretch>
        </p:blipFill>
        <p:spPr>
          <a:xfrm>
            <a:off x="4928616" y="4956048"/>
            <a:ext cx="804671" cy="914400"/>
          </a:xfrm>
          <a:prstGeom prst="rect">
            <a:avLst/>
          </a:prstGeom>
        </p:spPr>
      </p:pic>
      <p:sp>
        <p:nvSpPr>
          <p:cNvPr id="15" name="Rounded Rectangle 14"/>
          <p:cNvSpPr/>
          <p:nvPr/>
        </p:nvSpPr>
        <p:spPr>
          <a:xfrm>
            <a:off x="6208776" y="3931920"/>
            <a:ext cx="5212080" cy="2057400"/>
          </a:xfrm>
          <a:prstGeom prst="roundRect">
            <a:avLst>
              <a:gd name="adj" fmla="val 3555"/>
            </a:avLst>
          </a:prstGeom>
          <a:solidFill>
            <a:srgbClr val="25303A"/>
          </a:solidFill>
          <a:ln w="15875">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050" b="1">
                <a:solidFill>
                  <a:srgbClr val="8BC34A"/>
                </a:solidFill>
              </a:rPr>
              <a:t>✓  DELIVERED</a:t>
            </a:r>
          </a:p>
          <a:p>
            <a:pPr algn="l">
              <a:spcAft>
                <a:spcPts val="600"/>
              </a:spcAft>
              <a:buNone/>
            </a:pPr>
            <a:r>
              <a:rPr sz="1800" b="1">
                <a:solidFill>
                  <a:srgbClr val="FFFFFF"/>
                </a:solidFill>
              </a:rPr>
              <a:t>AI-first engineering</a:t>
            </a:r>
          </a:p>
          <a:p>
            <a:pPr algn="l">
              <a:buNone/>
            </a:pPr>
            <a:r>
              <a:rPr sz="1300">
                <a:solidFill>
                  <a:srgbClr val="A9B7C4"/>
                </a:solidFill>
              </a:rPr>
              <a:t>AI-driven reviews producing findings, benchmarks and ready-to-merge fixes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Seven themes for 2026 – 2027</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pic>
        <p:nvPicPr>
          <p:cNvPr id="12" name="Picture 11" descr="mn-footer.png"/>
          <p:cNvPicPr>
            <a:picLocks noChangeAspect="1"/>
          </p:cNvPicPr>
          <p:nvPr/>
        </p:nvPicPr>
        <p:blipFill>
          <a:blip r:embed="rId2"/>
          <a:stretch>
            <a:fillRect/>
          </a:stretch>
        </p:blipFill>
        <p:spPr>
          <a:xfrm>
            <a:off x="10058400" y="6483096"/>
            <a:ext cx="975360" cy="292608"/>
          </a:xfrm>
          <a:prstGeom prst="rect">
            <a:avLst/>
          </a:prstGeom>
        </p:spPr>
      </p:pic>
      <p:sp>
        <p:nvSpPr>
          <p:cNvPr id="13" name="Rounded Rectangle 12"/>
          <p:cNvSpPr/>
          <p:nvPr/>
        </p:nvSpPr>
        <p:spPr>
          <a:xfrm>
            <a:off x="768096" y="1234440"/>
            <a:ext cx="2560320" cy="2331720"/>
          </a:xfrm>
          <a:prstGeom prst="roundRect">
            <a:avLst>
              <a:gd name="adj" fmla="val 3137"/>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6DBEE7"/>
                </a:solidFill>
              </a:rPr>
              <a:t>01</a:t>
            </a:r>
          </a:p>
          <a:p>
            <a:pPr algn="l">
              <a:spcAft>
                <a:spcPts val="600"/>
              </a:spcAft>
              <a:buNone/>
            </a:pPr>
            <a:r>
              <a:rPr sz="1450" b="1">
                <a:solidFill>
                  <a:srgbClr val="FFFFFF"/>
                </a:solidFill>
              </a:rPr>
              <a:t>Standards</a:t>
            </a:r>
          </a:p>
          <a:p>
            <a:pPr algn="l" marL="201168" indent="-201168">
              <a:spcAft>
                <a:spcPts val="200"/>
              </a:spcAft>
              <a:buClr>
                <a:srgbClr val="6DBEE7"/>
              </a:buClr>
              <a:buSzPct val="100000"/>
              <a:buFont typeface="Arial"/>
              <a:buChar char="▪"/>
            </a:pPr>
            <a:r>
              <a:rPr sz="1150">
                <a:solidFill>
                  <a:srgbClr val="A9B7C4"/>
                </a:solidFill>
              </a:rPr>
              <a:t>Full Jakarta EE Core Profile</a:t>
            </a:r>
          </a:p>
          <a:p>
            <a:pPr algn="l" marL="201168" indent="-201168">
              <a:spcAft>
                <a:spcPts val="200"/>
              </a:spcAft>
              <a:buClr>
                <a:srgbClr val="6DBEE7"/>
              </a:buClr>
              <a:buSzPct val="100000"/>
              <a:buFont typeface="Arial"/>
              <a:buChar char="▪"/>
            </a:pPr>
            <a:r>
              <a:rPr sz="1150">
                <a:solidFill>
                  <a:srgbClr val="A9B7C4"/>
                </a:solidFill>
              </a:rPr>
              <a:t>Jakarta Validation and MVC</a:t>
            </a:r>
          </a:p>
          <a:p>
            <a:pPr algn="l" marL="201168" indent="-201168">
              <a:spcAft>
                <a:spcPts val="200"/>
              </a:spcAft>
              <a:buClr>
                <a:srgbClr val="6DBEE7"/>
              </a:buClr>
              <a:buSzPct val="100000"/>
              <a:buFont typeface="Arial"/>
              <a:buChar char="▪"/>
            </a:pPr>
            <a:r>
              <a:rPr sz="1150">
                <a:solidFill>
                  <a:srgbClr val="A9B7C4"/>
                </a:solidFill>
              </a:rPr>
              <a:t>Complete MicroProfile</a:t>
            </a:r>
          </a:p>
        </p:txBody>
      </p:sp>
      <p:pic>
        <p:nvPicPr>
          <p:cNvPr id="14" name="Picture 13" descr="book.png"/>
          <p:cNvPicPr>
            <a:picLocks noChangeAspect="1"/>
          </p:cNvPicPr>
          <p:nvPr/>
        </p:nvPicPr>
        <p:blipFill>
          <a:blip r:embed="rId3"/>
          <a:stretch>
            <a:fillRect/>
          </a:stretch>
        </p:blipFill>
        <p:spPr>
          <a:xfrm>
            <a:off x="2368296" y="2807208"/>
            <a:ext cx="687847" cy="658368"/>
          </a:xfrm>
          <a:prstGeom prst="rect">
            <a:avLst/>
          </a:prstGeom>
        </p:spPr>
      </p:pic>
      <p:sp>
        <p:nvSpPr>
          <p:cNvPr id="15" name="Rounded Rectangle 14"/>
          <p:cNvSpPr/>
          <p:nvPr/>
        </p:nvSpPr>
        <p:spPr>
          <a:xfrm>
            <a:off x="3483864" y="1234440"/>
            <a:ext cx="2560320" cy="2331720"/>
          </a:xfrm>
          <a:prstGeom prst="roundRect">
            <a:avLst>
              <a:gd name="adj" fmla="val 3137"/>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F19111"/>
                </a:solidFill>
              </a:rPr>
              <a:t>02</a:t>
            </a:r>
          </a:p>
          <a:p>
            <a:pPr algn="l">
              <a:spcAft>
                <a:spcPts val="600"/>
              </a:spcAft>
              <a:buNone/>
            </a:pPr>
            <a:r>
              <a:rPr sz="1450" b="1">
                <a:solidFill>
                  <a:srgbClr val="FFFFFF"/>
                </a:solidFill>
              </a:rPr>
              <a:t>Languages</a:t>
            </a:r>
          </a:p>
          <a:p>
            <a:pPr algn="l" marL="201168" indent="-201168">
              <a:spcAft>
                <a:spcPts val="200"/>
              </a:spcAft>
              <a:buClr>
                <a:srgbClr val="F19111"/>
              </a:buClr>
              <a:buSzPct val="100000"/>
              <a:buFont typeface="Arial"/>
              <a:buChar char="▪"/>
            </a:pPr>
            <a:r>
              <a:rPr sz="1150">
                <a:solidFill>
                  <a:srgbClr val="A9B7C4"/>
                </a:solidFill>
              </a:rPr>
              <a:t>Python ✓ delivered</a:t>
            </a:r>
          </a:p>
          <a:p>
            <a:pPr algn="l" marL="201168" indent="-201168">
              <a:spcAft>
                <a:spcPts val="200"/>
              </a:spcAft>
              <a:buClr>
                <a:srgbClr val="F19111"/>
              </a:buClr>
              <a:buSzPct val="100000"/>
              <a:buFont typeface="Arial"/>
              <a:buChar char="▪"/>
            </a:pPr>
            <a:r>
              <a:rPr sz="1150">
                <a:solidFill>
                  <a:srgbClr val="A9B7C4"/>
                </a:solidFill>
              </a:rPr>
              <a:t>Scala 3</a:t>
            </a:r>
          </a:p>
          <a:p>
            <a:pPr algn="l" marL="201168" indent="-201168">
              <a:spcAft>
                <a:spcPts val="200"/>
              </a:spcAft>
              <a:buClr>
                <a:srgbClr val="F19111"/>
              </a:buClr>
              <a:buSzPct val="100000"/>
              <a:buFont typeface="Arial"/>
              <a:buChar char="▪"/>
            </a:pPr>
            <a:r>
              <a:rPr sz="1150">
                <a:solidFill>
                  <a:srgbClr val="A9B7C4"/>
                </a:solidFill>
              </a:rPr>
              <a:t>TypeScript</a:t>
            </a:r>
          </a:p>
        </p:txBody>
      </p:sp>
      <p:pic>
        <p:nvPicPr>
          <p:cNvPr id="16" name="Picture 15" descr="python.png"/>
          <p:cNvPicPr>
            <a:picLocks noChangeAspect="1"/>
          </p:cNvPicPr>
          <p:nvPr/>
        </p:nvPicPr>
        <p:blipFill>
          <a:blip r:embed="rId4"/>
          <a:stretch>
            <a:fillRect/>
          </a:stretch>
        </p:blipFill>
        <p:spPr>
          <a:xfrm>
            <a:off x="5084064" y="2807208"/>
            <a:ext cx="645200" cy="658368"/>
          </a:xfrm>
          <a:prstGeom prst="rect">
            <a:avLst/>
          </a:prstGeom>
        </p:spPr>
      </p:pic>
      <p:sp>
        <p:nvSpPr>
          <p:cNvPr id="17" name="Rounded Rectangle 16"/>
          <p:cNvSpPr/>
          <p:nvPr/>
        </p:nvSpPr>
        <p:spPr>
          <a:xfrm>
            <a:off x="6199632" y="1234440"/>
            <a:ext cx="2560320" cy="2331720"/>
          </a:xfrm>
          <a:prstGeom prst="roundRect">
            <a:avLst>
              <a:gd name="adj" fmla="val 3137"/>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8BC34A"/>
                </a:solidFill>
              </a:rPr>
              <a:t>03</a:t>
            </a:r>
          </a:p>
          <a:p>
            <a:pPr algn="l">
              <a:spcAft>
                <a:spcPts val="600"/>
              </a:spcAft>
              <a:buNone/>
            </a:pPr>
            <a:r>
              <a:rPr sz="1450" b="1">
                <a:solidFill>
                  <a:srgbClr val="FFFFFF"/>
                </a:solidFill>
              </a:rPr>
              <a:t>Closing gaps vs Spring</a:t>
            </a:r>
          </a:p>
          <a:p>
            <a:pPr algn="l" marL="201168" indent="-201168">
              <a:spcAft>
                <a:spcPts val="200"/>
              </a:spcAft>
              <a:buClr>
                <a:srgbClr val="8BC34A"/>
              </a:buClr>
              <a:buSzPct val="100000"/>
              <a:buFont typeface="Arial"/>
              <a:buChar char="▪"/>
            </a:pPr>
            <a:r>
              <a:rPr sz="1150">
                <a:solidFill>
                  <a:srgbClr val="A9B7C4"/>
                </a:solidFill>
              </a:rPr>
              <a:t>HATEOAS</a:t>
            </a:r>
          </a:p>
          <a:p>
            <a:pPr algn="l" marL="201168" indent="-201168">
              <a:spcAft>
                <a:spcPts val="200"/>
              </a:spcAft>
              <a:buClr>
                <a:srgbClr val="8BC34A"/>
              </a:buClr>
              <a:buSzPct val="100000"/>
              <a:buFont typeface="Arial"/>
              <a:buChar char="▪"/>
            </a:pPr>
            <a:r>
              <a:rPr sz="1150">
                <a:solidFill>
                  <a:srgbClr val="A9B7C4"/>
                </a:solidFill>
              </a:rPr>
              <a:t>Cloud Gateway</a:t>
            </a:r>
          </a:p>
        </p:txBody>
      </p:sp>
      <p:pic>
        <p:nvPicPr>
          <p:cNvPr id="18" name="Picture 17" descr="pointboard.png"/>
          <p:cNvPicPr>
            <a:picLocks noChangeAspect="1"/>
          </p:cNvPicPr>
          <p:nvPr/>
        </p:nvPicPr>
        <p:blipFill>
          <a:blip r:embed="rId5"/>
          <a:stretch>
            <a:fillRect/>
          </a:stretch>
        </p:blipFill>
        <p:spPr>
          <a:xfrm>
            <a:off x="7114032" y="2807208"/>
            <a:ext cx="1501164" cy="658368"/>
          </a:xfrm>
          <a:prstGeom prst="rect">
            <a:avLst/>
          </a:prstGeom>
        </p:spPr>
      </p:pic>
      <p:sp>
        <p:nvSpPr>
          <p:cNvPr id="19" name="Rounded Rectangle 18"/>
          <p:cNvSpPr/>
          <p:nvPr/>
        </p:nvSpPr>
        <p:spPr>
          <a:xfrm>
            <a:off x="8915400" y="1234440"/>
            <a:ext cx="2560320" cy="2331720"/>
          </a:xfrm>
          <a:prstGeom prst="roundRect">
            <a:avLst>
              <a:gd name="adj" fmla="val 3137"/>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E0634F"/>
                </a:solidFill>
              </a:rPr>
              <a:t>04</a:t>
            </a:r>
          </a:p>
          <a:p>
            <a:pPr algn="l">
              <a:spcAft>
                <a:spcPts val="600"/>
              </a:spcAft>
              <a:buNone/>
            </a:pPr>
            <a:r>
              <a:rPr sz="1450" b="1">
                <a:solidFill>
                  <a:srgbClr val="FFFFFF"/>
                </a:solidFill>
              </a:rPr>
              <a:t>Oracle AI Database</a:t>
            </a:r>
          </a:p>
          <a:p>
            <a:pPr algn="l" marL="201168" indent="-201168">
              <a:spcAft>
                <a:spcPts val="200"/>
              </a:spcAft>
              <a:buClr>
                <a:srgbClr val="E0634F"/>
              </a:buClr>
              <a:buSzPct val="100000"/>
              <a:buFont typeface="Arial"/>
              <a:buChar char="▪"/>
            </a:pPr>
            <a:r>
              <a:rPr sz="1150">
                <a:solidFill>
                  <a:srgbClr val="A9B7C4"/>
                </a:solidFill>
              </a:rPr>
              <a:t>Query Change Notification</a:t>
            </a:r>
          </a:p>
          <a:p>
            <a:pPr algn="l" marL="201168" indent="-201168">
              <a:spcAft>
                <a:spcPts val="200"/>
              </a:spcAft>
              <a:buClr>
                <a:srgbClr val="E0634F"/>
              </a:buClr>
              <a:buSzPct val="100000"/>
              <a:buFont typeface="Arial"/>
              <a:buChar char="▪"/>
            </a:pPr>
            <a:r>
              <a:rPr sz="1150">
                <a:solidFill>
                  <a:srgbClr val="A9B7C4"/>
                </a:solidFill>
              </a:rPr>
              <a:t>TTC driver · SQL over HTTP</a:t>
            </a:r>
          </a:p>
          <a:p>
            <a:pPr algn="l" marL="201168" indent="-201168">
              <a:spcAft>
                <a:spcPts val="200"/>
              </a:spcAft>
              <a:buClr>
                <a:srgbClr val="E0634F"/>
              </a:buClr>
              <a:buSzPct val="100000"/>
              <a:buFont typeface="Arial"/>
              <a:buChar char="▪"/>
            </a:pPr>
            <a:r>
              <a:rPr sz="1150">
                <a:solidFill>
                  <a:srgbClr val="A9B7C4"/>
                </a:solidFill>
              </a:rPr>
              <a:t>Graph in Micronaut Data</a:t>
            </a:r>
          </a:p>
        </p:txBody>
      </p:sp>
      <p:pic>
        <p:nvPicPr>
          <p:cNvPr id="20" name="Picture 19" descr="plant.png"/>
          <p:cNvPicPr>
            <a:picLocks noChangeAspect="1"/>
          </p:cNvPicPr>
          <p:nvPr/>
        </p:nvPicPr>
        <p:blipFill>
          <a:blip r:embed="rId6"/>
          <a:stretch>
            <a:fillRect/>
          </a:stretch>
        </p:blipFill>
        <p:spPr>
          <a:xfrm>
            <a:off x="10515600" y="2807208"/>
            <a:ext cx="905417" cy="658368"/>
          </a:xfrm>
          <a:prstGeom prst="rect">
            <a:avLst/>
          </a:prstGeom>
        </p:spPr>
      </p:pic>
      <p:sp>
        <p:nvSpPr>
          <p:cNvPr id="21" name="Rounded Rectangle 20"/>
          <p:cNvSpPr/>
          <p:nvPr/>
        </p:nvSpPr>
        <p:spPr>
          <a:xfrm>
            <a:off x="768096" y="3749039"/>
            <a:ext cx="2560320" cy="2331720"/>
          </a:xfrm>
          <a:prstGeom prst="roundRect">
            <a:avLst>
              <a:gd name="adj" fmla="val 3137"/>
            </a:avLst>
          </a:prstGeom>
          <a:solidFill>
            <a:srgbClr val="25303A"/>
          </a:solidFill>
          <a:ln w="15875">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9B6BB5"/>
                </a:solidFill>
              </a:rPr>
              <a:t>05</a:t>
            </a:r>
          </a:p>
          <a:p>
            <a:pPr algn="l">
              <a:spcAft>
                <a:spcPts val="600"/>
              </a:spcAft>
              <a:buNone/>
            </a:pPr>
            <a:r>
              <a:rPr sz="1450" b="1">
                <a:solidFill>
                  <a:srgbClr val="FFFFFF"/>
                </a:solidFill>
              </a:rPr>
              <a:t>Hardening through AI</a:t>
            </a:r>
          </a:p>
          <a:p>
            <a:pPr algn="l" marL="201168" indent="-201168">
              <a:spcAft>
                <a:spcPts val="200"/>
              </a:spcAft>
              <a:buClr>
                <a:srgbClr val="9B6BB5"/>
              </a:buClr>
              <a:buSzPct val="100000"/>
              <a:buFont typeface="Arial"/>
              <a:buChar char="▪"/>
            </a:pPr>
            <a:r>
              <a:rPr sz="1150">
                <a:solidFill>
                  <a:srgbClr val="A9B7C4"/>
                </a:solidFill>
              </a:rPr>
              <a:t>HTTP server and client</a:t>
            </a:r>
          </a:p>
          <a:p>
            <a:pPr algn="l" marL="201168" indent="-201168">
              <a:spcAft>
                <a:spcPts val="200"/>
              </a:spcAft>
              <a:buClr>
                <a:srgbClr val="9B6BB5"/>
              </a:buClr>
              <a:buSzPct val="100000"/>
              <a:buFont typeface="Arial"/>
              <a:buChar char="▪"/>
            </a:pPr>
            <a:r>
              <a:rPr sz="1150">
                <a:solidFill>
                  <a:srgbClr val="A9B7C4"/>
                </a:solidFill>
              </a:rPr>
              <a:t>Serialization</a:t>
            </a:r>
          </a:p>
          <a:p>
            <a:pPr algn="l" marL="201168" indent="-201168">
              <a:spcAft>
                <a:spcPts val="200"/>
              </a:spcAft>
              <a:buClr>
                <a:srgbClr val="9B6BB5"/>
              </a:buClr>
              <a:buSzPct val="100000"/>
              <a:buFont typeface="Arial"/>
              <a:buChar char="▪"/>
            </a:pPr>
            <a:r>
              <a:rPr sz="1150">
                <a:solidFill>
                  <a:srgbClr val="A9B7C4"/>
                </a:solidFill>
              </a:rPr>
              <a:t>Framework internals</a:t>
            </a:r>
          </a:p>
        </p:txBody>
      </p:sp>
      <p:pic>
        <p:nvPicPr>
          <p:cNvPr id="22" name="Picture 21" descr="magnify.png"/>
          <p:cNvPicPr>
            <a:picLocks noChangeAspect="1"/>
          </p:cNvPicPr>
          <p:nvPr/>
        </p:nvPicPr>
        <p:blipFill>
          <a:blip r:embed="rId7"/>
          <a:stretch>
            <a:fillRect/>
          </a:stretch>
        </p:blipFill>
        <p:spPr>
          <a:xfrm>
            <a:off x="2368296" y="5321807"/>
            <a:ext cx="665018" cy="658368"/>
          </a:xfrm>
          <a:prstGeom prst="rect">
            <a:avLst/>
          </a:prstGeom>
        </p:spPr>
      </p:pic>
      <p:sp>
        <p:nvSpPr>
          <p:cNvPr id="23" name="Rounded Rectangle 22"/>
          <p:cNvSpPr/>
          <p:nvPr/>
        </p:nvSpPr>
        <p:spPr>
          <a:xfrm>
            <a:off x="3483864" y="3749039"/>
            <a:ext cx="2560320" cy="2331720"/>
          </a:xfrm>
          <a:prstGeom prst="roundRect">
            <a:avLst>
              <a:gd name="adj" fmla="val 3137"/>
            </a:avLst>
          </a:prstGeom>
          <a:solidFill>
            <a:srgbClr val="25303A"/>
          </a:solidFill>
          <a:ln w="15875">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00A1B8"/>
                </a:solidFill>
              </a:rPr>
              <a:t>06</a:t>
            </a:r>
          </a:p>
          <a:p>
            <a:pPr algn="l">
              <a:spcAft>
                <a:spcPts val="600"/>
              </a:spcAft>
              <a:buNone/>
            </a:pPr>
            <a:r>
              <a:rPr sz="1450" b="1">
                <a:solidFill>
                  <a:srgbClr val="FFFFFF"/>
                </a:solidFill>
              </a:rPr>
              <a:t>Developer experience</a:t>
            </a:r>
          </a:p>
          <a:p>
            <a:pPr algn="l" marL="201168" indent="-201168">
              <a:spcAft>
                <a:spcPts val="200"/>
              </a:spcAft>
              <a:buClr>
                <a:srgbClr val="00A1B8"/>
              </a:buClr>
              <a:buSzPct val="100000"/>
              <a:buFont typeface="Arial"/>
              <a:buChar char="▪"/>
            </a:pPr>
            <a:r>
              <a:rPr sz="1150">
                <a:solidFill>
                  <a:srgbClr val="A9B7C4"/>
                </a:solidFill>
              </a:rPr>
              <a:t>Enhanced developer UIs</a:t>
            </a:r>
          </a:p>
          <a:p>
            <a:pPr algn="l" marL="201168" indent="-201168">
              <a:spcAft>
                <a:spcPts val="200"/>
              </a:spcAft>
              <a:buClr>
                <a:srgbClr val="00A1B8"/>
              </a:buClr>
              <a:buSzPct val="100000"/>
              <a:buFont typeface="Arial"/>
              <a:buChar char="▪"/>
            </a:pPr>
            <a:r>
              <a:rPr sz="1150">
                <a:solidFill>
                  <a:srgbClr val="A9B7C4"/>
                </a:solidFill>
              </a:rPr>
              <a:t>Micronaut Control Panel</a:t>
            </a:r>
          </a:p>
          <a:p>
            <a:pPr algn="l" marL="201168" indent="-201168">
              <a:spcAft>
                <a:spcPts val="200"/>
              </a:spcAft>
              <a:buClr>
                <a:srgbClr val="00A1B8"/>
              </a:buClr>
              <a:buSzPct val="100000"/>
              <a:buFont typeface="Arial"/>
              <a:buChar char="▪"/>
            </a:pPr>
            <a:r>
              <a:rPr sz="1150">
                <a:solidFill>
                  <a:srgbClr val="A9B7C4"/>
                </a:solidFill>
              </a:rPr>
              <a:t>Boot UI integration</a:t>
            </a:r>
          </a:p>
        </p:txBody>
      </p:sp>
      <p:pic>
        <p:nvPicPr>
          <p:cNvPr id="24" name="Picture 23" descr="happy.png"/>
          <p:cNvPicPr>
            <a:picLocks noChangeAspect="1"/>
          </p:cNvPicPr>
          <p:nvPr/>
        </p:nvPicPr>
        <p:blipFill>
          <a:blip r:embed="rId8"/>
          <a:stretch>
            <a:fillRect/>
          </a:stretch>
        </p:blipFill>
        <p:spPr>
          <a:xfrm>
            <a:off x="5084064" y="5321807"/>
            <a:ext cx="620746" cy="658368"/>
          </a:xfrm>
          <a:prstGeom prst="rect">
            <a:avLst/>
          </a:prstGeom>
        </p:spPr>
      </p:pic>
      <p:sp>
        <p:nvSpPr>
          <p:cNvPr id="25" name="Rounded Rectangle 24"/>
          <p:cNvSpPr/>
          <p:nvPr/>
        </p:nvSpPr>
        <p:spPr>
          <a:xfrm>
            <a:off x="6199632" y="3749039"/>
            <a:ext cx="2560320" cy="2331720"/>
          </a:xfrm>
          <a:prstGeom prst="roundRect">
            <a:avLst>
              <a:gd name="adj" fmla="val 3137"/>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400"/>
              </a:spcBef>
              <a:buNone/>
            </a:pPr>
            <a:r>
              <a:rPr sz="2000" b="1">
                <a:solidFill>
                  <a:srgbClr val="F0CC72"/>
                </a:solidFill>
              </a:rPr>
              <a:t>07</a:t>
            </a:r>
          </a:p>
          <a:p>
            <a:pPr algn="l">
              <a:spcAft>
                <a:spcPts val="600"/>
              </a:spcAft>
              <a:buNone/>
            </a:pPr>
            <a:r>
              <a:rPr sz="1450" b="1">
                <a:solidFill>
                  <a:srgbClr val="FFFFFF"/>
                </a:solidFill>
              </a:rPr>
              <a:t>Graal platform</a:t>
            </a:r>
          </a:p>
          <a:p>
            <a:pPr algn="l" marL="201168" indent="-201168">
              <a:spcAft>
                <a:spcPts val="200"/>
              </a:spcAft>
              <a:buClr>
                <a:srgbClr val="F0CC72"/>
              </a:buClr>
              <a:buSzPct val="100000"/>
              <a:buFont typeface="Arial"/>
              <a:buChar char="▪"/>
            </a:pPr>
            <a:r>
              <a:rPr sz="1150">
                <a:solidFill>
                  <a:srgbClr val="A9B7C4"/>
                </a:solidFill>
              </a:rPr>
              <a:t>GraalBase</a:t>
            </a:r>
          </a:p>
          <a:p>
            <a:pPr algn="l" marL="201168" indent="-201168">
              <a:spcAft>
                <a:spcPts val="200"/>
              </a:spcAft>
              <a:buClr>
                <a:srgbClr val="F0CC72"/>
              </a:buClr>
              <a:buSzPct val="100000"/>
              <a:buFont typeface="Arial"/>
              <a:buChar char="▪"/>
            </a:pPr>
            <a:r>
              <a:rPr sz="1150">
                <a:solidFill>
                  <a:srgbClr val="A9B7C4"/>
                </a:solidFill>
              </a:rPr>
              <a:t>Graal Cloud Service</a:t>
            </a:r>
          </a:p>
          <a:p>
            <a:pPr algn="l" marL="201168" indent="-201168">
              <a:spcAft>
                <a:spcPts val="200"/>
              </a:spcAft>
              <a:buClr>
                <a:srgbClr val="F0CC72"/>
              </a:buClr>
              <a:buSzPct val="100000"/>
              <a:buFont typeface="Arial"/>
              <a:buChar char="▪"/>
            </a:pPr>
            <a:r>
              <a:rPr sz="1150">
                <a:solidFill>
                  <a:srgbClr val="7D8B98"/>
                </a:solidFill>
              </a:rPr>
              <a:t>[details to come]</a:t>
            </a:r>
          </a:p>
        </p:txBody>
      </p:sp>
      <p:pic>
        <p:nvPicPr>
          <p:cNvPr id="26" name="Picture 25" descr="umbrella.png"/>
          <p:cNvPicPr>
            <a:picLocks noChangeAspect="1"/>
          </p:cNvPicPr>
          <p:nvPr/>
        </p:nvPicPr>
        <p:blipFill>
          <a:blip r:embed="rId9"/>
          <a:stretch>
            <a:fillRect/>
          </a:stretch>
        </p:blipFill>
        <p:spPr>
          <a:xfrm>
            <a:off x="7799832" y="5321807"/>
            <a:ext cx="607579" cy="658368"/>
          </a:xfrm>
          <a:prstGeom prst="rect">
            <a:avLst/>
          </a:prstGeom>
        </p:spPr>
      </p:pic>
      <p:pic>
        <p:nvPicPr>
          <p:cNvPr id="27" name="Picture 26" descr="sally.png"/>
          <p:cNvPicPr>
            <a:picLocks noChangeAspect="1"/>
          </p:cNvPicPr>
          <p:nvPr/>
        </p:nvPicPr>
        <p:blipFill>
          <a:blip r:embed="rId10"/>
          <a:stretch>
            <a:fillRect/>
          </a:stretch>
        </p:blipFill>
        <p:spPr>
          <a:xfrm>
            <a:off x="9464040" y="3886200"/>
            <a:ext cx="1732889" cy="2377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sequencing</a:t>
            </a:r>
          </a:p>
        </p:txBody>
      </p:sp>
      <p:sp>
        <p:nvSpPr>
          <p:cNvPr id="3" name="Text Placeholder 2"/>
          <p:cNvSpPr>
            <a:spLocks noGrp="1"/>
          </p:cNvSpPr>
          <p:nvPr>
            <p:ph type="body" idx="11" sz="quarter"/>
          </p:nvPr>
        </p:nvSpPr>
        <p:spPr/>
        <p:txBody>
          <a:bodyPr/>
          <a:lstStyle/>
          <a:p>
            <a:r>
              <a:t>Rest of 2026 vs 2027 — to be confirmed with module leads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TextBox 9"/>
          <p:cNvSpPr txBox="1"/>
          <p:nvPr/>
        </p:nvSpPr>
        <p:spPr>
          <a:xfrm>
            <a:off x="3246120" y="1481328"/>
            <a:ext cx="4023360" cy="256032"/>
          </a:xfrm>
          <a:prstGeom prst="rect">
            <a:avLst/>
          </a:prstGeom>
          <a:noFill/>
        </p:spPr>
        <p:txBody>
          <a:bodyPr wrap="square" lIns="0" rIns="0" tIns="0" bIns="0" anchor="ctr"/>
          <a:lstStyle/>
          <a:p>
            <a:pPr algn="l">
              <a:buNone/>
            </a:pPr>
            <a:r>
              <a:rPr sz="1200" b="1">
                <a:solidFill>
                  <a:srgbClr val="F19111"/>
                </a:solidFill>
              </a:rPr>
              <a:t>REST OF 2026</a:t>
            </a:r>
          </a:p>
        </p:txBody>
      </p:sp>
      <p:sp>
        <p:nvSpPr>
          <p:cNvPr id="11" name="TextBox 10"/>
          <p:cNvSpPr txBox="1"/>
          <p:nvPr/>
        </p:nvSpPr>
        <p:spPr>
          <a:xfrm>
            <a:off x="7406640" y="1481328"/>
            <a:ext cx="4023360" cy="256032"/>
          </a:xfrm>
          <a:prstGeom prst="rect">
            <a:avLst/>
          </a:prstGeom>
          <a:noFill/>
        </p:spPr>
        <p:txBody>
          <a:bodyPr wrap="square" lIns="0" rIns="0" tIns="0" bIns="0" anchor="ctr"/>
          <a:lstStyle/>
          <a:p>
            <a:pPr algn="l">
              <a:buNone/>
            </a:pPr>
            <a:r>
              <a:rPr sz="1200" b="1">
                <a:solidFill>
                  <a:srgbClr val="6DBEE7"/>
                </a:solidFill>
              </a:rPr>
              <a:t>2027</a:t>
            </a:r>
          </a:p>
        </p:txBody>
      </p:sp>
      <p:sp>
        <p:nvSpPr>
          <p:cNvPr id="12" name="Rounded Rectangle 11"/>
          <p:cNvSpPr/>
          <p:nvPr/>
        </p:nvSpPr>
        <p:spPr>
          <a:xfrm>
            <a:off x="768096" y="1783080"/>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6DBEE7"/>
                </a:solidFill>
              </a:rPr>
              <a:t>01  Standards</a:t>
            </a:r>
          </a:p>
        </p:txBody>
      </p:sp>
      <p:sp>
        <p:nvSpPr>
          <p:cNvPr id="13" name="Rounded Rectangle 12"/>
          <p:cNvSpPr/>
          <p:nvPr/>
        </p:nvSpPr>
        <p:spPr>
          <a:xfrm>
            <a:off x="3246120" y="1783080"/>
            <a:ext cx="4023360" cy="530352"/>
          </a:xfrm>
          <a:prstGeom prst="roundRect">
            <a:avLst>
              <a:gd name="adj" fmla="val 8620"/>
            </a:avLst>
          </a:prstGeom>
          <a:solidFill>
            <a:srgbClr val="25303A"/>
          </a:solidFill>
          <a:ln w="1270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Jakarta Validation certification · CDI Lite design</a:t>
            </a:r>
          </a:p>
        </p:txBody>
      </p:sp>
      <p:sp>
        <p:nvSpPr>
          <p:cNvPr id="14" name="Rounded Rectangle 13"/>
          <p:cNvSpPr/>
          <p:nvPr/>
        </p:nvSpPr>
        <p:spPr>
          <a:xfrm>
            <a:off x="7406640" y="1783080"/>
            <a:ext cx="4023360" cy="530352"/>
          </a:xfrm>
          <a:prstGeom prst="roundRect">
            <a:avLst>
              <a:gd name="adj" fmla="val 8620"/>
            </a:avLst>
          </a:prstGeom>
          <a:solidFill>
            <a:srgbClr val="25303A"/>
          </a:solidFill>
          <a:ln w="1270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Core Profile (CDI Lite, Interceptors, REST) · Jakarta MVC · MicroProfile</a:t>
            </a:r>
          </a:p>
        </p:txBody>
      </p:sp>
      <p:sp>
        <p:nvSpPr>
          <p:cNvPr id="15" name="Rounded Rectangle 14"/>
          <p:cNvSpPr/>
          <p:nvPr/>
        </p:nvSpPr>
        <p:spPr>
          <a:xfrm>
            <a:off x="768096" y="2404872"/>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F19111"/>
                </a:solidFill>
              </a:rPr>
              <a:t>02  Languages</a:t>
            </a:r>
          </a:p>
        </p:txBody>
      </p:sp>
      <p:sp>
        <p:nvSpPr>
          <p:cNvPr id="16" name="Rounded Rectangle 15"/>
          <p:cNvSpPr/>
          <p:nvPr/>
        </p:nvSpPr>
        <p:spPr>
          <a:xfrm>
            <a:off x="3246120" y="2404872"/>
            <a:ext cx="4023360" cy="530352"/>
          </a:xfrm>
          <a:prstGeom prst="roundRect">
            <a:avLst>
              <a:gd name="adj" fmla="val 8620"/>
            </a:avLst>
          </a:prstGeom>
          <a:solidFill>
            <a:srgbClr val="25303A"/>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Python ✓ · Scala 3</a:t>
            </a:r>
          </a:p>
        </p:txBody>
      </p:sp>
      <p:sp>
        <p:nvSpPr>
          <p:cNvPr id="17" name="Rounded Rectangle 16"/>
          <p:cNvSpPr/>
          <p:nvPr/>
        </p:nvSpPr>
        <p:spPr>
          <a:xfrm>
            <a:off x="7406640" y="2404872"/>
            <a:ext cx="4023360" cy="530352"/>
          </a:xfrm>
          <a:prstGeom prst="roundRect">
            <a:avLst>
              <a:gd name="adj" fmla="val 8620"/>
            </a:avLst>
          </a:prstGeom>
          <a:solidFill>
            <a:srgbClr val="25303A"/>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TypeScript</a:t>
            </a:r>
          </a:p>
        </p:txBody>
      </p:sp>
      <p:sp>
        <p:nvSpPr>
          <p:cNvPr id="18" name="Rounded Rectangle 17"/>
          <p:cNvSpPr/>
          <p:nvPr/>
        </p:nvSpPr>
        <p:spPr>
          <a:xfrm>
            <a:off x="768096" y="3026664"/>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8BC34A"/>
                </a:solidFill>
              </a:rPr>
              <a:t>03  Closing gaps vs Spring</a:t>
            </a:r>
          </a:p>
        </p:txBody>
      </p:sp>
      <p:sp>
        <p:nvSpPr>
          <p:cNvPr id="19" name="Rounded Rectangle 18"/>
          <p:cNvSpPr/>
          <p:nvPr/>
        </p:nvSpPr>
        <p:spPr>
          <a:xfrm>
            <a:off x="3246120" y="3026664"/>
            <a:ext cx="4023360" cy="530352"/>
          </a:xfrm>
          <a:prstGeom prst="roundRect">
            <a:avLst>
              <a:gd name="adj" fmla="val 862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micronaut-hateoas</a:t>
            </a:r>
          </a:p>
        </p:txBody>
      </p:sp>
      <p:sp>
        <p:nvSpPr>
          <p:cNvPr id="20" name="Rounded Rectangle 19"/>
          <p:cNvSpPr/>
          <p:nvPr/>
        </p:nvSpPr>
        <p:spPr>
          <a:xfrm>
            <a:off x="7406640" y="3026664"/>
            <a:ext cx="4023360" cy="530352"/>
          </a:xfrm>
          <a:prstGeom prst="roundRect">
            <a:avLst>
              <a:gd name="adj" fmla="val 862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Declarative gateway</a:t>
            </a:r>
          </a:p>
        </p:txBody>
      </p:sp>
      <p:sp>
        <p:nvSpPr>
          <p:cNvPr id="21" name="Rounded Rectangle 20"/>
          <p:cNvSpPr/>
          <p:nvPr/>
        </p:nvSpPr>
        <p:spPr>
          <a:xfrm>
            <a:off x="768096" y="3648456"/>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E0634F"/>
                </a:solidFill>
              </a:rPr>
              <a:t>04  Oracle AI Database</a:t>
            </a:r>
          </a:p>
        </p:txBody>
      </p:sp>
      <p:sp>
        <p:nvSpPr>
          <p:cNvPr id="22" name="Rounded Rectangle 21"/>
          <p:cNvSpPr/>
          <p:nvPr/>
        </p:nvSpPr>
        <p:spPr>
          <a:xfrm>
            <a:off x="3246120" y="3648456"/>
            <a:ext cx="4023360" cy="530352"/>
          </a:xfrm>
          <a:prstGeom prst="roundRect">
            <a:avLst>
              <a:gd name="adj" fmla="val 8620"/>
            </a:avLst>
          </a:prstGeom>
          <a:solidFill>
            <a:srgbClr val="25303A"/>
          </a:solidFill>
          <a:ln w="12700">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Query Change Notification · AQ and Kafka API examples</a:t>
            </a:r>
          </a:p>
        </p:txBody>
      </p:sp>
      <p:sp>
        <p:nvSpPr>
          <p:cNvPr id="23" name="Rounded Rectangle 22"/>
          <p:cNvSpPr/>
          <p:nvPr/>
        </p:nvSpPr>
        <p:spPr>
          <a:xfrm>
            <a:off x="7406640" y="3648456"/>
            <a:ext cx="4023360" cy="530352"/>
          </a:xfrm>
          <a:prstGeom prst="roundRect">
            <a:avLst>
              <a:gd name="adj" fmla="val 8620"/>
            </a:avLst>
          </a:prstGeom>
          <a:solidFill>
            <a:srgbClr val="25303A"/>
          </a:solidFill>
          <a:ln w="12700">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TTC driver · SQL over HTTP · Graph in Micronaut Data</a:t>
            </a:r>
          </a:p>
        </p:txBody>
      </p:sp>
      <p:sp>
        <p:nvSpPr>
          <p:cNvPr id="24" name="Rounded Rectangle 23"/>
          <p:cNvSpPr/>
          <p:nvPr/>
        </p:nvSpPr>
        <p:spPr>
          <a:xfrm>
            <a:off x="768096" y="4270248"/>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9B6BB5"/>
                </a:solidFill>
              </a:rPr>
              <a:t>05  Hardening through AI</a:t>
            </a:r>
          </a:p>
        </p:txBody>
      </p:sp>
      <p:sp>
        <p:nvSpPr>
          <p:cNvPr id="25" name="Rounded Rectangle 24"/>
          <p:cNvSpPr/>
          <p:nvPr/>
        </p:nvSpPr>
        <p:spPr>
          <a:xfrm>
            <a:off x="3246120" y="4270248"/>
            <a:ext cx="4023360" cy="530352"/>
          </a:xfrm>
          <a:prstGeom prst="roundRect">
            <a:avLst>
              <a:gd name="adj" fmla="val 8620"/>
            </a:avLst>
          </a:prstGeom>
          <a:solidFill>
            <a:srgbClr val="25303A"/>
          </a:solidFill>
          <a:ln w="1270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HTTP server fixes land · benchmark baselines</a:t>
            </a:r>
          </a:p>
        </p:txBody>
      </p:sp>
      <p:sp>
        <p:nvSpPr>
          <p:cNvPr id="26" name="Rounded Rectangle 25"/>
          <p:cNvSpPr/>
          <p:nvPr/>
        </p:nvSpPr>
        <p:spPr>
          <a:xfrm>
            <a:off x="7406640" y="4270248"/>
            <a:ext cx="4023360" cy="530352"/>
          </a:xfrm>
          <a:prstGeom prst="roundRect">
            <a:avLst>
              <a:gd name="adj" fmla="val 8620"/>
            </a:avLst>
          </a:prstGeom>
          <a:solidFill>
            <a:srgbClr val="25303A"/>
          </a:solidFill>
          <a:ln w="1270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Serialization and framework internals</a:t>
            </a:r>
          </a:p>
        </p:txBody>
      </p:sp>
      <p:sp>
        <p:nvSpPr>
          <p:cNvPr id="27" name="Rounded Rectangle 26"/>
          <p:cNvSpPr/>
          <p:nvPr/>
        </p:nvSpPr>
        <p:spPr>
          <a:xfrm>
            <a:off x="768096" y="4892040"/>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00A1B8"/>
                </a:solidFill>
              </a:rPr>
              <a:t>06  Developer experience</a:t>
            </a:r>
          </a:p>
        </p:txBody>
      </p:sp>
      <p:sp>
        <p:nvSpPr>
          <p:cNvPr id="28" name="Rounded Rectangle 27"/>
          <p:cNvSpPr/>
          <p:nvPr/>
        </p:nvSpPr>
        <p:spPr>
          <a:xfrm>
            <a:off x="3246120" y="4892040"/>
            <a:ext cx="4023360" cy="530352"/>
          </a:xfrm>
          <a:prstGeom prst="roundRect">
            <a:avLst>
              <a:gd name="adj" fmla="val 8620"/>
            </a:avLst>
          </a:prstGeom>
          <a:solidFill>
            <a:srgbClr val="25303A"/>
          </a:solidFill>
          <a:ln w="12700">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Boot UI integration</a:t>
            </a:r>
          </a:p>
        </p:txBody>
      </p:sp>
      <p:sp>
        <p:nvSpPr>
          <p:cNvPr id="29" name="Rounded Rectangle 28"/>
          <p:cNvSpPr/>
          <p:nvPr/>
        </p:nvSpPr>
        <p:spPr>
          <a:xfrm>
            <a:off x="7406640" y="4892040"/>
            <a:ext cx="4023360" cy="530352"/>
          </a:xfrm>
          <a:prstGeom prst="roundRect">
            <a:avLst>
              <a:gd name="adj" fmla="val 8620"/>
            </a:avLst>
          </a:prstGeom>
          <a:solidFill>
            <a:srgbClr val="25303A"/>
          </a:solidFill>
          <a:ln w="12700">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FFFFFF"/>
                </a:solidFill>
              </a:rPr>
              <a:t>Enhanced Micronaut Control Panel</a:t>
            </a:r>
          </a:p>
        </p:txBody>
      </p:sp>
      <p:sp>
        <p:nvSpPr>
          <p:cNvPr id="30" name="Rounded Rectangle 29"/>
          <p:cNvSpPr/>
          <p:nvPr/>
        </p:nvSpPr>
        <p:spPr>
          <a:xfrm>
            <a:off x="768096" y="5513832"/>
            <a:ext cx="2331720" cy="530352"/>
          </a:xfrm>
          <a:prstGeom prst="roundRect">
            <a:avLst>
              <a:gd name="adj" fmla="val 862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b="1">
                <a:solidFill>
                  <a:srgbClr val="F0CC72"/>
                </a:solidFill>
              </a:rPr>
              <a:t>07  Graal platform</a:t>
            </a:r>
          </a:p>
        </p:txBody>
      </p:sp>
      <p:sp>
        <p:nvSpPr>
          <p:cNvPr id="31" name="Rounded Rectangle 30"/>
          <p:cNvSpPr/>
          <p:nvPr/>
        </p:nvSpPr>
        <p:spPr>
          <a:xfrm>
            <a:off x="3246120" y="5513832"/>
            <a:ext cx="4023360" cy="530352"/>
          </a:xfrm>
          <a:prstGeom prst="roundRect">
            <a:avLst>
              <a:gd name="adj" fmla="val 8620"/>
            </a:avLst>
          </a:prstGeom>
          <a:solidFill>
            <a:srgbClr val="1F262E"/>
          </a:solidFill>
          <a:ln w="1270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7D8B98"/>
                </a:solidFill>
              </a:rPr>
              <a:t>[to be completed by owners]</a:t>
            </a:r>
          </a:p>
        </p:txBody>
      </p:sp>
      <p:sp>
        <p:nvSpPr>
          <p:cNvPr id="32" name="Rounded Rectangle 31"/>
          <p:cNvSpPr/>
          <p:nvPr/>
        </p:nvSpPr>
        <p:spPr>
          <a:xfrm>
            <a:off x="7406640" y="5513832"/>
            <a:ext cx="4023360" cy="530352"/>
          </a:xfrm>
          <a:prstGeom prst="roundRect">
            <a:avLst>
              <a:gd name="adj" fmla="val 8620"/>
            </a:avLst>
          </a:prstGeom>
          <a:solidFill>
            <a:srgbClr val="1F262E"/>
          </a:solidFill>
          <a:ln w="1270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a:solidFill>
                  <a:srgbClr val="7D8B98"/>
                </a:solidFill>
              </a:rPr>
              <a:t>[to be completed by owners]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Jakarta EE Core Profile</a:t>
            </a:r>
          </a:p>
        </p:txBody>
      </p:sp>
      <p:sp>
        <p:nvSpPr>
          <p:cNvPr id="3" name="Text Placeholder 2"/>
          <p:cNvSpPr>
            <a:spLocks noGrp="1"/>
          </p:cNvSpPr>
          <p:nvPr>
            <p:ph type="body" idx="11" sz="quarter"/>
          </p:nvPr>
        </p:nvSpPr>
        <p:spPr/>
        <p:txBody>
          <a:bodyPr/>
          <a:lstStyle/>
          <a:p>
            <a:r>
              <a:t>Core Profile 11 — status in Micronaut today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6DBEE7"/>
                </a:solidFill>
              </a:rPr>
              <a:t>THEME 1  ·  STANDARDS</a:t>
            </a:r>
          </a:p>
        </p:txBody>
      </p:sp>
      <p:graphicFrame>
        <p:nvGraphicFramePr>
          <p:cNvPr id="11" name="Table 10"/>
          <p:cNvGraphicFramePr>
            <a:graphicFrameLocks noGrp="1"/>
          </p:cNvGraphicFramePr>
          <p:nvPr/>
        </p:nvGraphicFramePr>
        <p:xfrm>
          <a:off x="768096" y="1645920"/>
          <a:ext cx="8275320" cy="4251960"/>
        </p:xfrm>
        <a:graphic>
          <a:graphicData uri="http://schemas.openxmlformats.org/drawingml/2006/table">
            <a:tbl>
              <a:tblPr firstRow="0" bandRow="0">
                <a:tableStyleId>{2D5ABB26-0587-4C30-8999-92F81FD0307C}</a:tableStyleId>
              </a:tblPr>
              <a:tblGrid>
                <a:gridCol w="2926080"/>
                <a:gridCol w="3931920"/>
                <a:gridCol w="1417320"/>
              </a:tblGrid>
              <a:tr h="411480">
                <a:tc>
                  <a:txBody>
                    <a:bodyPr/>
                    <a:lstStyle/>
                    <a:p>
                      <a:pPr>
                        <a:buNone/>
                      </a:pPr>
                      <a:r>
                        <a:rPr sz="1150" b="1">
                          <a:solidFill>
                            <a:srgbClr val="A9B7C4"/>
                          </a:solidFill>
                        </a:rPr>
                        <a:t>Specification</a:t>
                      </a:r>
                    </a:p>
                  </a:txBody>
                  <a:tcPr marL="128016" marR="73152" anchor="ctr">
                    <a:solidFill>
                      <a:srgbClr val="2E3B47"/>
                    </a:solidFill>
                  </a:tcPr>
                </a:tc>
                <a:tc>
                  <a:txBody>
                    <a:bodyPr/>
                    <a:lstStyle/>
                    <a:p>
                      <a:pPr>
                        <a:buNone/>
                      </a:pPr>
                      <a:r>
                        <a:rPr sz="1150" b="1">
                          <a:solidFill>
                            <a:srgbClr val="A9B7C4"/>
                          </a:solidFill>
                        </a:rPr>
                        <a:t>In Micronaut today</a:t>
                      </a:r>
                    </a:p>
                  </a:txBody>
                  <a:tcPr marL="128016" marR="73152" anchor="ctr">
                    <a:solidFill>
                      <a:srgbClr val="2E3B47"/>
                    </a:solidFill>
                  </a:tcPr>
                </a:tc>
                <a:tc>
                  <a:txBody>
                    <a:bodyPr/>
                    <a:lstStyle/>
                    <a:p>
                      <a:pPr>
                        <a:buNone/>
                      </a:pPr>
                      <a:r>
                        <a:rPr sz="1150" b="1">
                          <a:solidFill>
                            <a:srgbClr val="A9B7C4"/>
                          </a:solidFill>
                        </a:rPr>
                        <a:t>Status</a:t>
                      </a:r>
                    </a:p>
                  </a:txBody>
                  <a:tcPr marL="128016" marR="73152" anchor="ctr">
                    <a:solidFill>
                      <a:srgbClr val="2E3B47"/>
                    </a:solidFill>
                  </a:tcPr>
                </a:tc>
              </a:tr>
              <a:tr h="548640">
                <a:tc>
                  <a:txBody>
                    <a:bodyPr/>
                    <a:lstStyle/>
                    <a:p>
                      <a:pPr>
                        <a:buNone/>
                      </a:pPr>
                      <a:r>
                        <a:rPr sz="1250" b="1">
                          <a:solidFill>
                            <a:srgbClr val="FFFFFF"/>
                          </a:solidFill>
                        </a:rPr>
                        <a:t>Dependency Injection 2.0</a:t>
                      </a:r>
                    </a:p>
                  </a:txBody>
                  <a:tcPr marL="128016" marR="73152" anchor="ctr">
                    <a:solidFill>
                      <a:srgbClr val="25303A"/>
                    </a:solidFill>
                  </a:tcPr>
                </a:tc>
                <a:tc>
                  <a:txBody>
                    <a:bodyPr/>
                    <a:lstStyle/>
                    <a:p>
                      <a:pPr>
                        <a:buNone/>
                      </a:pPr>
                      <a:r>
                        <a:rPr sz="1250" b="0">
                          <a:solidFill>
                            <a:srgbClr val="FFFFFF"/>
                          </a:solidFill>
                        </a:rPr>
                        <a:t>The core DI model; jakarta.inject TCK in core</a:t>
                      </a:r>
                    </a:p>
                  </a:txBody>
                  <a:tcPr marL="128016" marR="73152" anchor="ctr">
                    <a:solidFill>
                      <a:srgbClr val="25303A"/>
                    </a:solidFill>
                  </a:tcPr>
                </a:tc>
                <a:tc>
                  <a:txBody>
                    <a:bodyPr/>
                    <a:lstStyle/>
                    <a:p>
                      <a:pPr>
                        <a:buNone/>
                      </a:pPr>
                      <a:r>
                        <a:rPr sz="1250" b="0">
                          <a:solidFill>
                            <a:srgbClr val="8BC34A"/>
                          </a:solidFill>
                        </a:rPr>
                        <a:t>TCK verified</a:t>
                      </a:r>
                    </a:p>
                  </a:txBody>
                  <a:tcPr marL="128016" marR="73152" anchor="ctr">
                    <a:solidFill>
                      <a:srgbClr val="25303A"/>
                    </a:solidFill>
                  </a:tcPr>
                </a:tc>
              </a:tr>
              <a:tr h="548640">
                <a:tc>
                  <a:txBody>
                    <a:bodyPr/>
                    <a:lstStyle/>
                    <a:p>
                      <a:pPr>
                        <a:buNone/>
                      </a:pPr>
                      <a:r>
                        <a:rPr sz="1250" b="1">
                          <a:solidFill>
                            <a:srgbClr val="FFFFFF"/>
                          </a:solidFill>
                        </a:rPr>
                        <a:t>JSON Processing 2.1</a:t>
                      </a:r>
                    </a:p>
                  </a:txBody>
                  <a:tcPr marL="128016" marR="73152" anchor="ctr">
                    <a:solidFill>
                      <a:srgbClr val="212A33"/>
                    </a:solidFill>
                  </a:tcPr>
                </a:tc>
                <a:tc>
                  <a:txBody>
                    <a:bodyPr/>
                    <a:lstStyle/>
                    <a:p>
                      <a:pPr>
                        <a:buNone/>
                      </a:pPr>
                      <a:r>
                        <a:rPr sz="1250" b="0">
                          <a:solidFill>
                            <a:srgbClr val="FFFFFF"/>
                          </a:solidFill>
                        </a:rPr>
                        <a:t>Micronaut Serialization, verified with the TCK</a:t>
                      </a:r>
                    </a:p>
                  </a:txBody>
                  <a:tcPr marL="128016" marR="73152" anchor="ctr">
                    <a:solidFill>
                      <a:srgbClr val="212A33"/>
                    </a:solidFill>
                  </a:tcPr>
                </a:tc>
                <a:tc>
                  <a:txBody>
                    <a:bodyPr/>
                    <a:lstStyle/>
                    <a:p>
                      <a:pPr>
                        <a:buNone/>
                      </a:pPr>
                      <a:r>
                        <a:rPr sz="1250" b="0">
                          <a:solidFill>
                            <a:srgbClr val="8BC34A"/>
                          </a:solidFill>
                        </a:rPr>
                        <a:t>TCK verified</a:t>
                      </a:r>
                    </a:p>
                  </a:txBody>
                  <a:tcPr marL="128016" marR="73152" anchor="ctr">
                    <a:solidFill>
                      <a:srgbClr val="212A33"/>
                    </a:solidFill>
                  </a:tcPr>
                </a:tc>
              </a:tr>
              <a:tr h="548640">
                <a:tc>
                  <a:txBody>
                    <a:bodyPr/>
                    <a:lstStyle/>
                    <a:p>
                      <a:pPr>
                        <a:buNone/>
                      </a:pPr>
                      <a:r>
                        <a:rPr sz="1250" b="1">
                          <a:solidFill>
                            <a:srgbClr val="FFFFFF"/>
                          </a:solidFill>
                        </a:rPr>
                        <a:t>JSON Binding 3.0</a:t>
                      </a:r>
                    </a:p>
                  </a:txBody>
                  <a:tcPr marL="128016" marR="73152" anchor="ctr">
                    <a:solidFill>
                      <a:srgbClr val="25303A"/>
                    </a:solidFill>
                  </a:tcPr>
                </a:tc>
                <a:tc>
                  <a:txBody>
                    <a:bodyPr/>
                    <a:lstStyle/>
                    <a:p>
                      <a:pPr>
                        <a:buNone/>
                      </a:pPr>
                      <a:r>
                        <a:rPr sz="1250" b="0">
                          <a:solidFill>
                            <a:srgbClr val="FFFFFF"/>
                          </a:solidFill>
                        </a:rPr>
                        <a:t>Micronaut Serialization, verified with the TCK</a:t>
                      </a:r>
                    </a:p>
                  </a:txBody>
                  <a:tcPr marL="128016" marR="73152" anchor="ctr">
                    <a:solidFill>
                      <a:srgbClr val="25303A"/>
                    </a:solidFill>
                  </a:tcPr>
                </a:tc>
                <a:tc>
                  <a:txBody>
                    <a:bodyPr/>
                    <a:lstStyle/>
                    <a:p>
                      <a:pPr>
                        <a:buNone/>
                      </a:pPr>
                      <a:r>
                        <a:rPr sz="1250" b="0">
                          <a:solidFill>
                            <a:srgbClr val="8BC34A"/>
                          </a:solidFill>
                        </a:rPr>
                        <a:t>TCK verified</a:t>
                      </a:r>
                    </a:p>
                  </a:txBody>
                  <a:tcPr marL="128016" marR="73152" anchor="ctr">
                    <a:solidFill>
                      <a:srgbClr val="25303A"/>
                    </a:solidFill>
                  </a:tcPr>
                </a:tc>
              </a:tr>
              <a:tr h="548640">
                <a:tc>
                  <a:txBody>
                    <a:bodyPr/>
                    <a:lstStyle/>
                    <a:p>
                      <a:pPr>
                        <a:buNone/>
                      </a:pPr>
                      <a:r>
                        <a:rPr sz="1250" b="1">
                          <a:solidFill>
                            <a:srgbClr val="FFFFFF"/>
                          </a:solidFill>
                        </a:rPr>
                        <a:t>Annotations 3.0</a:t>
                      </a:r>
                    </a:p>
                  </a:txBody>
                  <a:tcPr marL="128016" marR="73152" anchor="ctr">
                    <a:solidFill>
                      <a:srgbClr val="212A33"/>
                    </a:solidFill>
                  </a:tcPr>
                </a:tc>
                <a:tc>
                  <a:txBody>
                    <a:bodyPr/>
                    <a:lstStyle/>
                    <a:p>
                      <a:pPr>
                        <a:buNone/>
                      </a:pPr>
                      <a:r>
                        <a:rPr sz="1250" b="0">
                          <a:solidFill>
                            <a:srgbClr val="FFFFFF"/>
                          </a:solidFill>
                        </a:rPr>
                        <a:t>@PostConstruct, @PreDestroy and friends honoured</a:t>
                      </a:r>
                    </a:p>
                  </a:txBody>
                  <a:tcPr marL="128016" marR="73152" anchor="ctr">
                    <a:solidFill>
                      <a:srgbClr val="212A33"/>
                    </a:solidFill>
                  </a:tcPr>
                </a:tc>
                <a:tc>
                  <a:txBody>
                    <a:bodyPr/>
                    <a:lstStyle/>
                    <a:p>
                      <a:pPr>
                        <a:buNone/>
                      </a:pPr>
                      <a:r>
                        <a:rPr sz="1250" b="0">
                          <a:solidFill>
                            <a:srgbClr val="8BC34A"/>
                          </a:solidFill>
                        </a:rPr>
                        <a:t>Supported</a:t>
                      </a:r>
                    </a:p>
                  </a:txBody>
                  <a:tcPr marL="128016" marR="73152" anchor="ctr">
                    <a:solidFill>
                      <a:srgbClr val="212A33"/>
                    </a:solidFill>
                  </a:tcPr>
                </a:tc>
              </a:tr>
              <a:tr h="548640">
                <a:tc>
                  <a:txBody>
                    <a:bodyPr/>
                    <a:lstStyle/>
                    <a:p>
                      <a:pPr>
                        <a:buNone/>
                      </a:pPr>
                      <a:r>
                        <a:rPr sz="1250" b="1">
                          <a:solidFill>
                            <a:srgbClr val="FFFFFF"/>
                          </a:solidFill>
                        </a:rPr>
                        <a:t>RESTful Web Services 4.0</a:t>
                      </a:r>
                    </a:p>
                  </a:txBody>
                  <a:tcPr marL="128016" marR="73152" anchor="ctr">
                    <a:solidFill>
                      <a:srgbClr val="25303A"/>
                    </a:solidFill>
                  </a:tcPr>
                </a:tc>
                <a:tc>
                  <a:txBody>
                    <a:bodyPr/>
                    <a:lstStyle/>
                    <a:p>
                      <a:pPr>
                        <a:buNone/>
                      </a:pPr>
                      <a:r>
                        <a:rPr sz="1250" b="0">
                          <a:solidFill>
                            <a:srgbClr val="FFFFFF"/>
                          </a:solidFill>
                        </a:rPr>
                        <a:t>micronaut-jaxrs: common annotations, not a spec implementation</a:t>
                      </a:r>
                    </a:p>
                  </a:txBody>
                  <a:tcPr marL="128016" marR="73152" anchor="ctr">
                    <a:solidFill>
                      <a:srgbClr val="25303A"/>
                    </a:solidFill>
                  </a:tcPr>
                </a:tc>
                <a:tc>
                  <a:txBody>
                    <a:bodyPr/>
                    <a:lstStyle/>
                    <a:p>
                      <a:pPr>
                        <a:buNone/>
                      </a:pPr>
                      <a:r>
                        <a:rPr sz="1250" b="0">
                          <a:solidFill>
                            <a:srgbClr val="F0CC72"/>
                          </a:solidFill>
                        </a:rPr>
                        <a:t>Partial</a:t>
                      </a:r>
                    </a:p>
                  </a:txBody>
                  <a:tcPr marL="128016" marR="73152" anchor="ctr">
                    <a:solidFill>
                      <a:srgbClr val="25303A"/>
                    </a:solidFill>
                  </a:tcPr>
                </a:tc>
              </a:tr>
              <a:tr h="548640">
                <a:tc>
                  <a:txBody>
                    <a:bodyPr/>
                    <a:lstStyle/>
                    <a:p>
                      <a:pPr>
                        <a:buNone/>
                      </a:pPr>
                      <a:r>
                        <a:rPr sz="1250" b="1">
                          <a:solidFill>
                            <a:srgbClr val="FFFFFF"/>
                          </a:solidFill>
                        </a:rPr>
                        <a:t>Interceptors 2.2</a:t>
                      </a:r>
                    </a:p>
                  </a:txBody>
                  <a:tcPr marL="128016" marR="73152" anchor="ctr">
                    <a:solidFill>
                      <a:srgbClr val="212A33"/>
                    </a:solidFill>
                  </a:tcPr>
                </a:tc>
                <a:tc>
                  <a:txBody>
                    <a:bodyPr/>
                    <a:lstStyle/>
                    <a:p>
                      <a:pPr>
                        <a:buNone/>
                      </a:pPr>
                      <a:r>
                        <a:rPr sz="1250" b="0">
                          <a:solidFill>
                            <a:srgbClr val="FFFFFF"/>
                          </a:solidFill>
                        </a:rPr>
                        <a:t>Micronaut AOP has its own interceptor model</a:t>
                      </a:r>
                    </a:p>
                  </a:txBody>
                  <a:tcPr marL="128016" marR="73152" anchor="ctr">
                    <a:solidFill>
                      <a:srgbClr val="212A33"/>
                    </a:solidFill>
                  </a:tcPr>
                </a:tc>
                <a:tc>
                  <a:txBody>
                    <a:bodyPr/>
                    <a:lstStyle/>
                    <a:p>
                      <a:pPr>
                        <a:buNone/>
                      </a:pPr>
                      <a:r>
                        <a:rPr sz="1250" b="0">
                          <a:solidFill>
                            <a:srgbClr val="E0634F"/>
                          </a:solidFill>
                        </a:rPr>
                        <a:t>Gap</a:t>
                      </a:r>
                    </a:p>
                  </a:txBody>
                  <a:tcPr marL="128016" marR="73152" anchor="ctr">
                    <a:solidFill>
                      <a:srgbClr val="212A33"/>
                    </a:solidFill>
                  </a:tcPr>
                </a:tc>
              </a:tr>
              <a:tr h="548640">
                <a:tc>
                  <a:txBody>
                    <a:bodyPr/>
                    <a:lstStyle/>
                    <a:p>
                      <a:pPr>
                        <a:buNone/>
                      </a:pPr>
                      <a:r>
                        <a:rPr sz="1250" b="1">
                          <a:solidFill>
                            <a:srgbClr val="FFFFFF"/>
                          </a:solidFill>
                        </a:rPr>
                        <a:t>CDI 4.1 — CDI Lite</a:t>
                      </a:r>
                    </a:p>
                  </a:txBody>
                  <a:tcPr marL="128016" marR="73152" anchor="ctr">
                    <a:solidFill>
                      <a:srgbClr val="25303A"/>
                    </a:solidFill>
                  </a:tcPr>
                </a:tc>
                <a:tc>
                  <a:txBody>
                    <a:bodyPr/>
                    <a:lstStyle/>
                    <a:p>
                      <a:pPr>
                        <a:buNone/>
                      </a:pPr>
                      <a:r>
                        <a:rPr sz="1250" b="0">
                          <a:solidFill>
                            <a:srgbClr val="FFFFFF"/>
                          </a:solidFill>
                        </a:rPr>
                        <a:t>No CDI Lite container or build-compatible extensions</a:t>
                      </a:r>
                    </a:p>
                  </a:txBody>
                  <a:tcPr marL="128016" marR="73152" anchor="ctr">
                    <a:solidFill>
                      <a:srgbClr val="25303A"/>
                    </a:solidFill>
                  </a:tcPr>
                </a:tc>
                <a:tc>
                  <a:txBody>
                    <a:bodyPr/>
                    <a:lstStyle/>
                    <a:p>
                      <a:pPr>
                        <a:buNone/>
                      </a:pPr>
                      <a:r>
                        <a:rPr sz="1250" b="0">
                          <a:solidFill>
                            <a:srgbClr val="E0634F"/>
                          </a:solidFill>
                        </a:rPr>
                        <a:t>Gap</a:t>
                      </a:r>
                    </a:p>
                  </a:txBody>
                  <a:tcPr marL="128016" marR="73152" anchor="ctr">
                    <a:solidFill>
                      <a:srgbClr val="25303A"/>
                    </a:solidFill>
                  </a:tcPr>
                </a:tc>
              </a:tr>
            </a:tbl>
          </a:graphicData>
        </a:graphic>
      </p:graphicFrame>
      <p:sp>
        <p:nvSpPr>
          <p:cNvPr id="12" name="Rounded Rectangle 11"/>
          <p:cNvSpPr/>
          <p:nvPr/>
        </p:nvSpPr>
        <p:spPr>
          <a:xfrm>
            <a:off x="9326880" y="1645920"/>
            <a:ext cx="2103120" cy="4160520"/>
          </a:xfrm>
          <a:prstGeom prst="roundRect">
            <a:avLst>
              <a:gd name="adj" fmla="val 3478"/>
            </a:avLst>
          </a:prstGeom>
          <a:solidFill>
            <a:srgbClr val="2E3B47"/>
          </a:solidFill>
          <a:ln w="1905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600"/>
              </a:spcAft>
              <a:buNone/>
            </a:pPr>
            <a:r>
              <a:rPr sz="1400" b="1">
                <a:solidFill>
                  <a:srgbClr val="6DBEE7"/>
                </a:solidFill>
              </a:rPr>
              <a:t>Why it fits</a:t>
            </a:r>
          </a:p>
          <a:p>
            <a:pPr algn="l">
              <a:spcAft>
                <a:spcPts val="800"/>
              </a:spcAft>
              <a:buNone/>
            </a:pPr>
            <a:r>
              <a:rPr sz="1200">
                <a:solidFill>
                  <a:srgbClr val="FFFFFF"/>
                </a:solidFill>
              </a:rPr>
              <a:t>CDI Lite was designed for build-time processing — the model Micronaut has had since 1.0.</a:t>
            </a:r>
          </a:p>
          <a:p>
            <a:pPr algn="l">
              <a:buNone/>
            </a:pPr>
            <a:r>
              <a:rPr sz="1200">
                <a:solidFill>
                  <a:srgbClr val="A9B7C4"/>
                </a:solidFill>
              </a:rPr>
              <a:t>Definition of done: pass the Core Profile TCK.</a:t>
            </a:r>
          </a:p>
        </p:txBody>
      </p:sp>
      <p:pic>
        <p:nvPicPr>
          <p:cNvPr id="13" name="Picture 12" descr="book.png"/>
          <p:cNvPicPr>
            <a:picLocks noChangeAspect="1"/>
          </p:cNvPicPr>
          <p:nvPr/>
        </p:nvPicPr>
        <p:blipFill>
          <a:blip r:embed="rId3"/>
          <a:stretch>
            <a:fillRect/>
          </a:stretch>
        </p:blipFill>
        <p:spPr>
          <a:xfrm>
            <a:off x="9646920" y="4572000"/>
            <a:ext cx="1385247" cy="1325880"/>
          </a:xfrm>
          <a:prstGeom prst="rect">
            <a:avLst/>
          </a:prstGeom>
        </p:spPr>
      </p:pic>
      <p:sp>
        <p:nvSpPr>
          <p:cNvPr id="14" name="TextBox 13"/>
          <p:cNvSpPr txBox="1"/>
          <p:nvPr/>
        </p:nvSpPr>
        <p:spPr>
          <a:xfrm>
            <a:off x="768096" y="6144768"/>
            <a:ext cx="8412480" cy="274320"/>
          </a:xfrm>
          <a:prstGeom prst="rect">
            <a:avLst/>
          </a:prstGeom>
          <a:noFill/>
        </p:spPr>
        <p:txBody>
          <a:bodyPr wrap="square" lIns="0" rIns="0" tIns="0" bIns="0" anchor="t"/>
          <a:lstStyle/>
          <a:p>
            <a:pPr>
              <a:buNone/>
            </a:pPr>
            <a:r>
              <a:rPr sz="1000">
                <a:solidFill>
                  <a:srgbClr val="7D8B98"/>
                </a:solidFill>
              </a:rPr>
              <a:t>Status reflects repository and module docs as of September 2026 — module owners to confirm.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Core Profile</a:t>
            </a:r>
          </a:p>
        </p:txBody>
      </p:sp>
      <p:sp>
        <p:nvSpPr>
          <p:cNvPr id="3" name="Text Placeholder 2"/>
          <p:cNvSpPr>
            <a:spLocks noGrp="1"/>
          </p:cNvSpPr>
          <p:nvPr>
            <p:ph type="body" idx="11" sz="quarter"/>
          </p:nvPr>
        </p:nvSpPr>
        <p:spPr/>
        <p:txBody>
          <a:bodyPr/>
          <a:lstStyle/>
          <a:p>
            <a:r>
              <a:t>Jakarta Validation, Jakarta MVC and MicroProfile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6DBEE7"/>
                </a:solidFill>
              </a:rPr>
              <a:t>THEME 1  ·  STANDARDS</a:t>
            </a:r>
          </a:p>
        </p:txBody>
      </p:sp>
      <p:sp>
        <p:nvSpPr>
          <p:cNvPr id="11" name="Rounded Rectangle 10"/>
          <p:cNvSpPr/>
          <p:nvPr/>
        </p:nvSpPr>
        <p:spPr>
          <a:xfrm>
            <a:off x="768096" y="1645920"/>
            <a:ext cx="4480560" cy="1920240"/>
          </a:xfrm>
          <a:prstGeom prst="roundRect">
            <a:avLst>
              <a:gd name="adj" fmla="val 3809"/>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spcAft>
                <a:spcPts val="800"/>
              </a:spcAft>
              <a:buNone/>
            </a:pPr>
            <a:r>
              <a:rPr sz="1700" b="1">
                <a:solidFill>
                  <a:srgbClr val="6DBEE7"/>
                </a:solidFill>
              </a:rPr>
              <a:t>Jakarta Validation</a:t>
            </a:r>
          </a:p>
          <a:p>
            <a:pPr algn="l">
              <a:spcAft>
                <a:spcPts val="1000"/>
              </a:spcAft>
              <a:buNone/>
            </a:pPr>
            <a:r>
              <a:rPr sz="1300">
                <a:solidFill>
                  <a:srgbClr val="FFFFFF"/>
                </a:solidFill>
              </a:rPr>
              <a:t>micronaut-validation already carries a Jakarta Validation TCK suite</a:t>
            </a:r>
          </a:p>
          <a:p>
            <a:pPr algn="l">
              <a:buNone/>
            </a:pPr>
            <a:r>
              <a:rPr sz="1300">
                <a:solidFill>
                  <a:srgbClr val="F19111"/>
                </a:solidFill>
              </a:rPr>
              <a:t>→ Close the remaining TCK gaps and certify</a:t>
            </a:r>
          </a:p>
        </p:txBody>
      </p:sp>
      <p:sp>
        <p:nvSpPr>
          <p:cNvPr id="12" name="Rounded Rectangle 11"/>
          <p:cNvSpPr/>
          <p:nvPr/>
        </p:nvSpPr>
        <p:spPr>
          <a:xfrm>
            <a:off x="768096" y="3794760"/>
            <a:ext cx="4480560" cy="1920240"/>
          </a:xfrm>
          <a:prstGeom prst="roundRect">
            <a:avLst>
              <a:gd name="adj" fmla="val 3809"/>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spcAft>
                <a:spcPts val="800"/>
              </a:spcAft>
              <a:buNone/>
            </a:pPr>
            <a:r>
              <a:rPr sz="1700" b="1">
                <a:solidFill>
                  <a:srgbClr val="6DBEE7"/>
                </a:solidFill>
              </a:rPr>
              <a:t>Jakarta MVC 3.0</a:t>
            </a:r>
          </a:p>
          <a:p>
            <a:pPr algn="l">
              <a:spcAft>
                <a:spcPts val="1000"/>
              </a:spcAft>
              <a:buNone/>
            </a:pPr>
            <a:r>
              <a:rPr sz="1300">
                <a:solidFill>
                  <a:srgbClr val="FFFFFF"/>
                </a:solidFill>
              </a:rPr>
              <a:t>Controllers, Models and ViewEngine map onto Micronaut Views</a:t>
            </a:r>
          </a:p>
          <a:p>
            <a:pPr algn="l">
              <a:buNone/>
            </a:pPr>
            <a:r>
              <a:rPr sz="1300">
                <a:solidFill>
                  <a:srgbClr val="F19111"/>
                </a:solidFill>
              </a:rPr>
              <a:t>→ Implement MVC on the existing view engines</a:t>
            </a:r>
          </a:p>
        </p:txBody>
      </p:sp>
      <p:sp>
        <p:nvSpPr>
          <p:cNvPr id="13" name="TextBox 12"/>
          <p:cNvSpPr txBox="1"/>
          <p:nvPr/>
        </p:nvSpPr>
        <p:spPr>
          <a:xfrm>
            <a:off x="5577840" y="1572768"/>
            <a:ext cx="5852160" cy="256032"/>
          </a:xfrm>
          <a:prstGeom prst="rect">
            <a:avLst/>
          </a:prstGeom>
          <a:noFill/>
        </p:spPr>
        <p:txBody>
          <a:bodyPr wrap="square" lIns="0" rIns="0" tIns="0" bIns="0" anchor="ctr"/>
          <a:lstStyle/>
          <a:p>
            <a:pPr algn="l">
              <a:buNone/>
            </a:pPr>
            <a:r>
              <a:rPr sz="1100" b="1">
                <a:solidFill>
                  <a:srgbClr val="A9B7C4"/>
                </a:solidFill>
              </a:rPr>
              <a:t>MICROPROFILE 7.1 — THE CAPABILITIES EXIST; THE SPEC APIS DON’T</a:t>
            </a:r>
          </a:p>
        </p:txBody>
      </p:sp>
      <p:graphicFrame>
        <p:nvGraphicFramePr>
          <p:cNvPr id="14" name="Table 13"/>
          <p:cNvGraphicFramePr>
            <a:graphicFrameLocks noGrp="1"/>
          </p:cNvGraphicFramePr>
          <p:nvPr/>
        </p:nvGraphicFramePr>
        <p:xfrm>
          <a:off x="5577840" y="1874519"/>
          <a:ext cx="5852160" cy="3803904"/>
        </p:xfrm>
        <a:graphic>
          <a:graphicData uri="http://schemas.openxmlformats.org/drawingml/2006/table">
            <a:tbl>
              <a:tblPr firstRow="0" bandRow="0">
                <a:tableStyleId>{2D5ABB26-0587-4C30-8999-92F81FD0307C}</a:tableStyleId>
              </a:tblPr>
              <a:tblGrid>
                <a:gridCol w="2011680"/>
                <a:gridCol w="3840480"/>
              </a:tblGrid>
              <a:tr h="411480">
                <a:tc>
                  <a:txBody>
                    <a:bodyPr/>
                    <a:lstStyle/>
                    <a:p>
                      <a:pPr>
                        <a:buNone/>
                      </a:pPr>
                      <a:r>
                        <a:rPr sz="1150" b="1">
                          <a:solidFill>
                            <a:srgbClr val="6DBEE7"/>
                          </a:solidFill>
                        </a:rPr>
                        <a:t>MicroProfile spec</a:t>
                      </a:r>
                    </a:p>
                  </a:txBody>
                  <a:tcPr marL="128016" marR="73152" anchor="ctr">
                    <a:solidFill>
                      <a:srgbClr val="2E3B47"/>
                    </a:solidFill>
                  </a:tcPr>
                </a:tc>
                <a:tc>
                  <a:txBody>
                    <a:bodyPr/>
                    <a:lstStyle/>
                    <a:p>
                      <a:pPr>
                        <a:buNone/>
                      </a:pPr>
                      <a:r>
                        <a:rPr sz="1150" b="1">
                          <a:solidFill>
                            <a:srgbClr val="A9B7C4"/>
                          </a:solidFill>
                        </a:rPr>
                        <a:t>Micronaut today</a:t>
                      </a:r>
                    </a:p>
                  </a:txBody>
                  <a:tcPr marL="128016" marR="73152" anchor="ctr">
                    <a:solidFill>
                      <a:srgbClr val="2E3B47"/>
                    </a:solidFill>
                  </a:tcPr>
                </a:tc>
              </a:tr>
              <a:tr h="484632">
                <a:tc>
                  <a:txBody>
                    <a:bodyPr/>
                    <a:lstStyle/>
                    <a:p>
                      <a:pPr>
                        <a:buNone/>
                      </a:pPr>
                      <a:r>
                        <a:rPr sz="1250" b="1">
                          <a:solidFill>
                            <a:srgbClr val="FFFFFF"/>
                          </a:solidFill>
                        </a:rPr>
                        <a:t>Config 3.1</a:t>
                      </a:r>
                    </a:p>
                  </a:txBody>
                  <a:tcPr marL="128016" marR="73152" anchor="ctr">
                    <a:solidFill>
                      <a:srgbClr val="25303A"/>
                    </a:solidFill>
                  </a:tcPr>
                </a:tc>
                <a:tc>
                  <a:txBody>
                    <a:bodyPr/>
                    <a:lstStyle/>
                    <a:p>
                      <a:pPr>
                        <a:buNone/>
                      </a:pPr>
                      <a:r>
                        <a:rPr sz="1250" b="0">
                          <a:solidFill>
                            <a:srgbClr val="FFFFFF"/>
                          </a:solidFill>
                        </a:rPr>
                        <a:t>Micronaut configuration</a:t>
                      </a:r>
                    </a:p>
                  </a:txBody>
                  <a:tcPr marL="128016" marR="73152" anchor="ctr">
                    <a:solidFill>
                      <a:srgbClr val="25303A"/>
                    </a:solidFill>
                  </a:tcPr>
                </a:tc>
              </a:tr>
              <a:tr h="484632">
                <a:tc>
                  <a:txBody>
                    <a:bodyPr/>
                    <a:lstStyle/>
                    <a:p>
                      <a:pPr>
                        <a:buNone/>
                      </a:pPr>
                      <a:r>
                        <a:rPr sz="1250" b="1">
                          <a:solidFill>
                            <a:srgbClr val="FFFFFF"/>
                          </a:solidFill>
                        </a:rPr>
                        <a:t>Fault Tolerance 4.1</a:t>
                      </a:r>
                    </a:p>
                  </a:txBody>
                  <a:tcPr marL="128016" marR="73152" anchor="ctr">
                    <a:solidFill>
                      <a:srgbClr val="212A33"/>
                    </a:solidFill>
                  </a:tcPr>
                </a:tc>
                <a:tc>
                  <a:txBody>
                    <a:bodyPr/>
                    <a:lstStyle/>
                    <a:p>
                      <a:pPr>
                        <a:buNone/>
                      </a:pPr>
                      <a:r>
                        <a:rPr sz="1250" b="0">
                          <a:solidFill>
                            <a:srgbClr val="FFFFFF"/>
                          </a:solidFill>
                        </a:rPr>
                        <a:t>@Retryable, @CircuitBreaker</a:t>
                      </a:r>
                    </a:p>
                  </a:txBody>
                  <a:tcPr marL="128016" marR="73152" anchor="ctr">
                    <a:solidFill>
                      <a:srgbClr val="212A33"/>
                    </a:solidFill>
                  </a:tcPr>
                </a:tc>
              </a:tr>
              <a:tr h="484632">
                <a:tc>
                  <a:txBody>
                    <a:bodyPr/>
                    <a:lstStyle/>
                    <a:p>
                      <a:pPr>
                        <a:buNone/>
                      </a:pPr>
                      <a:r>
                        <a:rPr sz="1250" b="1">
                          <a:solidFill>
                            <a:srgbClr val="FFFFFF"/>
                          </a:solidFill>
                        </a:rPr>
                        <a:t>Health 4.0</a:t>
                      </a:r>
                    </a:p>
                  </a:txBody>
                  <a:tcPr marL="128016" marR="73152" anchor="ctr">
                    <a:solidFill>
                      <a:srgbClr val="25303A"/>
                    </a:solidFill>
                  </a:tcPr>
                </a:tc>
                <a:tc>
                  <a:txBody>
                    <a:bodyPr/>
                    <a:lstStyle/>
                    <a:p>
                      <a:pPr>
                        <a:buNone/>
                      </a:pPr>
                      <a:r>
                        <a:rPr sz="1250" b="0">
                          <a:solidFill>
                            <a:srgbClr val="FFFFFF"/>
                          </a:solidFill>
                        </a:rPr>
                        <a:t>Management health endpoint</a:t>
                      </a:r>
                    </a:p>
                  </a:txBody>
                  <a:tcPr marL="128016" marR="73152" anchor="ctr">
                    <a:solidFill>
                      <a:srgbClr val="25303A"/>
                    </a:solidFill>
                  </a:tcPr>
                </a:tc>
              </a:tr>
              <a:tr h="484632">
                <a:tc>
                  <a:txBody>
                    <a:bodyPr/>
                    <a:lstStyle/>
                    <a:p>
                      <a:pPr>
                        <a:buNone/>
                      </a:pPr>
                      <a:r>
                        <a:rPr sz="1250" b="1">
                          <a:solidFill>
                            <a:srgbClr val="FFFFFF"/>
                          </a:solidFill>
                        </a:rPr>
                        <a:t>JWT Authentication 2.1</a:t>
                      </a:r>
                    </a:p>
                  </a:txBody>
                  <a:tcPr marL="128016" marR="73152" anchor="ctr">
                    <a:solidFill>
                      <a:srgbClr val="212A33"/>
                    </a:solidFill>
                  </a:tcPr>
                </a:tc>
                <a:tc>
                  <a:txBody>
                    <a:bodyPr/>
                    <a:lstStyle/>
                    <a:p>
                      <a:pPr>
                        <a:buNone/>
                      </a:pPr>
                      <a:r>
                        <a:rPr sz="1250" b="0">
                          <a:solidFill>
                            <a:srgbClr val="FFFFFF"/>
                          </a:solidFill>
                        </a:rPr>
                        <a:t>Micronaut Security JWT</a:t>
                      </a:r>
                    </a:p>
                  </a:txBody>
                  <a:tcPr marL="128016" marR="73152" anchor="ctr">
                    <a:solidFill>
                      <a:srgbClr val="212A33"/>
                    </a:solidFill>
                  </a:tcPr>
                </a:tc>
              </a:tr>
              <a:tr h="484632">
                <a:tc>
                  <a:txBody>
                    <a:bodyPr/>
                    <a:lstStyle/>
                    <a:p>
                      <a:pPr>
                        <a:buNone/>
                      </a:pPr>
                      <a:r>
                        <a:rPr sz="1250" b="1">
                          <a:solidFill>
                            <a:srgbClr val="FFFFFF"/>
                          </a:solidFill>
                        </a:rPr>
                        <a:t>OpenAPI 4.1</a:t>
                      </a:r>
                    </a:p>
                  </a:txBody>
                  <a:tcPr marL="128016" marR="73152" anchor="ctr">
                    <a:solidFill>
                      <a:srgbClr val="25303A"/>
                    </a:solidFill>
                  </a:tcPr>
                </a:tc>
                <a:tc>
                  <a:txBody>
                    <a:bodyPr/>
                    <a:lstStyle/>
                    <a:p>
                      <a:pPr>
                        <a:buNone/>
                      </a:pPr>
                      <a:r>
                        <a:rPr sz="1250" b="0">
                          <a:solidFill>
                            <a:srgbClr val="FFFFFF"/>
                          </a:solidFill>
                        </a:rPr>
                        <a:t>Micronaut OpenAPI, generated at build time</a:t>
                      </a:r>
                    </a:p>
                  </a:txBody>
                  <a:tcPr marL="128016" marR="73152" anchor="ctr">
                    <a:solidFill>
                      <a:srgbClr val="25303A"/>
                    </a:solidFill>
                  </a:tcPr>
                </a:tc>
              </a:tr>
              <a:tr h="484632">
                <a:tc>
                  <a:txBody>
                    <a:bodyPr/>
                    <a:lstStyle/>
                    <a:p>
                      <a:pPr>
                        <a:buNone/>
                      </a:pPr>
                      <a:r>
                        <a:rPr sz="1250" b="1">
                          <a:solidFill>
                            <a:srgbClr val="FFFFFF"/>
                          </a:solidFill>
                        </a:rPr>
                        <a:t>Telemetry 2.1</a:t>
                      </a:r>
                    </a:p>
                  </a:txBody>
                  <a:tcPr marL="128016" marR="73152" anchor="ctr">
                    <a:solidFill>
                      <a:srgbClr val="212A33"/>
                    </a:solidFill>
                  </a:tcPr>
                </a:tc>
                <a:tc>
                  <a:txBody>
                    <a:bodyPr/>
                    <a:lstStyle/>
                    <a:p>
                      <a:pPr>
                        <a:buNone/>
                      </a:pPr>
                      <a:r>
                        <a:rPr sz="1250" b="0">
                          <a:solidFill>
                            <a:srgbClr val="FFFFFF"/>
                          </a:solidFill>
                        </a:rPr>
                        <a:t>Micronaut Tracing with OpenTelemetry</a:t>
                      </a:r>
                    </a:p>
                  </a:txBody>
                  <a:tcPr marL="128016" marR="73152" anchor="ctr">
                    <a:solidFill>
                      <a:srgbClr val="212A33"/>
                    </a:solidFill>
                  </a:tcPr>
                </a:tc>
              </a:tr>
              <a:tr h="484632">
                <a:tc>
                  <a:txBody>
                    <a:bodyPr/>
                    <a:lstStyle/>
                    <a:p>
                      <a:pPr>
                        <a:buNone/>
                      </a:pPr>
                      <a:r>
                        <a:rPr sz="1250" b="1">
                          <a:solidFill>
                            <a:srgbClr val="FFFFFF"/>
                          </a:solidFill>
                        </a:rPr>
                        <a:t>Rest Client 4.0</a:t>
                      </a:r>
                    </a:p>
                  </a:txBody>
                  <a:tcPr marL="128016" marR="73152" anchor="ctr">
                    <a:solidFill>
                      <a:srgbClr val="25303A"/>
                    </a:solidFill>
                  </a:tcPr>
                </a:tc>
                <a:tc>
                  <a:txBody>
                    <a:bodyPr/>
                    <a:lstStyle/>
                    <a:p>
                      <a:pPr>
                        <a:buNone/>
                      </a:pPr>
                      <a:r>
                        <a:rPr sz="1250" b="0">
                          <a:solidFill>
                            <a:srgbClr val="FFFFFF"/>
                          </a:solidFill>
                        </a:rPr>
                        <a:t>Declarative @Client, generated at build time</a:t>
                      </a:r>
                    </a:p>
                  </a:txBody>
                  <a:tcPr marL="128016" marR="73152" anchor="ctr">
                    <a:solidFill>
                      <a:srgbClr val="25303A"/>
                    </a:solidFill>
                  </a:tcPr>
                </a:tc>
              </a:tr>
            </a:tbl>
          </a:graphicData>
        </a:graphic>
      </p:graphicFrame>
      <p:sp>
        <p:nvSpPr>
          <p:cNvPr id="15" name="TextBox 14"/>
          <p:cNvSpPr txBox="1"/>
          <p:nvPr/>
        </p:nvSpPr>
        <p:spPr>
          <a:xfrm>
            <a:off x="5577840" y="5852160"/>
            <a:ext cx="5852160" cy="365760"/>
          </a:xfrm>
          <a:prstGeom prst="rect">
            <a:avLst/>
          </a:prstGeom>
          <a:noFill/>
        </p:spPr>
        <p:txBody>
          <a:bodyPr wrap="square" lIns="0" rIns="0" tIns="0" bIns="0" anchor="t"/>
          <a:lstStyle/>
          <a:p>
            <a:pPr>
              <a:buNone/>
            </a:pPr>
            <a:r>
              <a:rPr sz="1250">
                <a:solidFill>
                  <a:srgbClr val="A9B7C4"/>
                </a:solidFill>
              </a:rPr>
              <a:t>MicroProfile 7.1 builds on Core Profile — so Core Profile comes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compiler architecture, more languages</a:t>
            </a:r>
          </a:p>
        </p:txBody>
      </p:sp>
      <p:sp>
        <p:nvSpPr>
          <p:cNvPr id="3" name="Text Placeholder 2"/>
          <p:cNvSpPr>
            <a:spLocks noGrp="1"/>
          </p:cNvSpPr>
          <p:nvPr>
            <p:ph type="body" idx="11" sz="quarter"/>
          </p:nvPr>
        </p:nvSpPr>
        <p:spPr/>
        <p:txBody>
          <a:bodyPr/>
          <a:lstStyle/>
          <a:p>
            <a:r>
              <a:t>Each language implements the Element API — everything downstream is shared</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F19111"/>
                </a:solidFill>
              </a:rPr>
              <a:t>THEME 2  ·  LANGUAGES</a:t>
            </a:r>
          </a:p>
        </p:txBody>
      </p:sp>
      <p:sp>
        <p:nvSpPr>
          <p:cNvPr id="11" name="Rounded Rectangle 10"/>
          <p:cNvSpPr/>
          <p:nvPr/>
        </p:nvSpPr>
        <p:spPr>
          <a:xfrm>
            <a:off x="768096" y="1691640"/>
            <a:ext cx="1664208" cy="1600200"/>
          </a:xfrm>
          <a:prstGeom prst="roundRect">
            <a:avLst>
              <a:gd name="adj" fmla="val 4571"/>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8BC34A"/>
                </a:solidFill>
              </a:rPr>
              <a:t>SHIPPING</a:t>
            </a:r>
          </a:p>
          <a:p>
            <a:pPr algn="ctr">
              <a:spcAft>
                <a:spcPts val="400"/>
              </a:spcAft>
              <a:buNone/>
            </a:pPr>
            <a:r>
              <a:rPr sz="1600" b="1">
                <a:solidFill>
                  <a:srgbClr val="FFFFFF"/>
                </a:solidFill>
              </a:rPr>
              <a:t>Java</a:t>
            </a:r>
          </a:p>
          <a:p>
            <a:pPr algn="ctr">
              <a:buNone/>
            </a:pPr>
            <a:r>
              <a:rPr sz="1050">
                <a:solidFill>
                  <a:srgbClr val="A9B7C4"/>
                </a:solidFill>
              </a:rPr>
              <a:t>javac annotation processing</a:t>
            </a:r>
          </a:p>
        </p:txBody>
      </p:sp>
      <p:cxnSp>
        <p:nvCxnSpPr>
          <p:cNvPr id="12" name="Connector 11"/>
          <p:cNvCxnSpPr/>
          <p:nvPr/>
        </p:nvCxnSpPr>
        <p:spPr>
          <a:xfrm>
            <a:off x="1600200" y="3319272"/>
            <a:ext cx="4498848"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78608" y="1691640"/>
            <a:ext cx="1664208" cy="1600200"/>
          </a:xfrm>
          <a:prstGeom prst="roundRect">
            <a:avLst>
              <a:gd name="adj" fmla="val 4571"/>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8BC34A"/>
                </a:solidFill>
              </a:rPr>
              <a:t>SHIPPING</a:t>
            </a:r>
          </a:p>
          <a:p>
            <a:pPr algn="ctr">
              <a:spcAft>
                <a:spcPts val="400"/>
              </a:spcAft>
              <a:buNone/>
            </a:pPr>
            <a:r>
              <a:rPr sz="1600" b="1">
                <a:solidFill>
                  <a:srgbClr val="FFFFFF"/>
                </a:solidFill>
              </a:rPr>
              <a:t>Kotlin</a:t>
            </a:r>
          </a:p>
          <a:p>
            <a:pPr algn="ctr">
              <a:buNone/>
            </a:pPr>
            <a:r>
              <a:rPr sz="1050">
                <a:solidFill>
                  <a:srgbClr val="A9B7C4"/>
                </a:solidFill>
              </a:rPr>
              <a:t>KSP</a:t>
            </a:r>
          </a:p>
        </p:txBody>
      </p:sp>
      <p:cxnSp>
        <p:nvCxnSpPr>
          <p:cNvPr id="14" name="Connector 13"/>
          <p:cNvCxnSpPr/>
          <p:nvPr/>
        </p:nvCxnSpPr>
        <p:spPr>
          <a:xfrm>
            <a:off x="3410712" y="3319272"/>
            <a:ext cx="2688336"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89120" y="1691640"/>
            <a:ext cx="1664208" cy="1600200"/>
          </a:xfrm>
          <a:prstGeom prst="roundRect">
            <a:avLst>
              <a:gd name="adj" fmla="val 4571"/>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8BC34A"/>
                </a:solidFill>
              </a:rPr>
              <a:t>SHIPPING</a:t>
            </a:r>
          </a:p>
          <a:p>
            <a:pPr algn="ctr">
              <a:spcAft>
                <a:spcPts val="400"/>
              </a:spcAft>
              <a:buNone/>
            </a:pPr>
            <a:r>
              <a:rPr sz="1600" b="1">
                <a:solidFill>
                  <a:srgbClr val="FFFFFF"/>
                </a:solidFill>
              </a:rPr>
              <a:t>Groovy</a:t>
            </a:r>
          </a:p>
          <a:p>
            <a:pPr algn="ctr">
              <a:buNone/>
            </a:pPr>
            <a:r>
              <a:rPr sz="1050">
                <a:solidFill>
                  <a:srgbClr val="A9B7C4"/>
                </a:solidFill>
              </a:rPr>
              <a:t>AST transformations</a:t>
            </a:r>
          </a:p>
        </p:txBody>
      </p:sp>
      <p:cxnSp>
        <p:nvCxnSpPr>
          <p:cNvPr id="16" name="Connector 15"/>
          <p:cNvCxnSpPr/>
          <p:nvPr/>
        </p:nvCxnSpPr>
        <p:spPr>
          <a:xfrm>
            <a:off x="5221224" y="3319272"/>
            <a:ext cx="877824"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99631" y="1691640"/>
            <a:ext cx="1664208" cy="1600200"/>
          </a:xfrm>
          <a:prstGeom prst="roundRect">
            <a:avLst>
              <a:gd name="adj" fmla="val 4571"/>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8BC34A"/>
                </a:solidFill>
              </a:rPr>
              <a:t>DELIVERED</a:t>
            </a:r>
          </a:p>
          <a:p>
            <a:pPr algn="ctr">
              <a:spcAft>
                <a:spcPts val="400"/>
              </a:spcAft>
              <a:buNone/>
            </a:pPr>
            <a:r>
              <a:rPr sz="1600" b="1">
                <a:solidFill>
                  <a:srgbClr val="FFFFFF"/>
                </a:solidFill>
              </a:rPr>
              <a:t>Python</a:t>
            </a:r>
          </a:p>
          <a:p>
            <a:pPr algn="ctr">
              <a:buNone/>
            </a:pPr>
            <a:r>
              <a:rPr sz="1050">
                <a:solidFill>
                  <a:srgbClr val="A9B7C4"/>
                </a:solidFill>
              </a:rPr>
              <a:t>GraalPy ast inside javac</a:t>
            </a:r>
          </a:p>
        </p:txBody>
      </p:sp>
      <p:cxnSp>
        <p:nvCxnSpPr>
          <p:cNvPr id="18" name="Connector 17"/>
          <p:cNvCxnSpPr/>
          <p:nvPr/>
        </p:nvCxnSpPr>
        <p:spPr>
          <a:xfrm flipH="1">
            <a:off x="6099048" y="3319272"/>
            <a:ext cx="932688"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10144" y="1691640"/>
            <a:ext cx="1664208" cy="1600200"/>
          </a:xfrm>
          <a:prstGeom prst="roundRect">
            <a:avLst>
              <a:gd name="adj" fmla="val 4571"/>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F19111"/>
                </a:solidFill>
              </a:rPr>
              <a:t>2026</a:t>
            </a:r>
          </a:p>
          <a:p>
            <a:pPr algn="ctr">
              <a:spcAft>
                <a:spcPts val="400"/>
              </a:spcAft>
              <a:buNone/>
            </a:pPr>
            <a:r>
              <a:rPr sz="1600" b="1">
                <a:solidFill>
                  <a:srgbClr val="FFFFFF"/>
                </a:solidFill>
              </a:rPr>
              <a:t>Scala 3</a:t>
            </a:r>
          </a:p>
          <a:p>
            <a:pPr algn="ctr">
              <a:buNone/>
            </a:pPr>
            <a:r>
              <a:rPr sz="1050">
                <a:solidFill>
                  <a:srgbClr val="A9B7C4"/>
                </a:solidFill>
              </a:rPr>
              <a:t>compiler plugin</a:t>
            </a:r>
          </a:p>
        </p:txBody>
      </p:sp>
      <p:cxnSp>
        <p:nvCxnSpPr>
          <p:cNvPr id="20" name="Connector 19"/>
          <p:cNvCxnSpPr/>
          <p:nvPr/>
        </p:nvCxnSpPr>
        <p:spPr>
          <a:xfrm flipH="1">
            <a:off x="6099048" y="3319272"/>
            <a:ext cx="2743200"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820656" y="1691640"/>
            <a:ext cx="1664208" cy="1600200"/>
          </a:xfrm>
          <a:prstGeom prst="roundRect">
            <a:avLst>
              <a:gd name="adj" fmla="val 4571"/>
            </a:avLst>
          </a:prstGeom>
          <a:solidFill>
            <a:srgbClr val="2E3B47"/>
          </a:solidFill>
          <a:ln w="1905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600"/>
              </a:spcBef>
              <a:spcAft>
                <a:spcPts val="600"/>
              </a:spcAft>
              <a:buNone/>
            </a:pPr>
            <a:r>
              <a:rPr sz="950" b="1">
                <a:solidFill>
                  <a:srgbClr val="6DBEE7"/>
                </a:solidFill>
              </a:rPr>
              <a:t>2027</a:t>
            </a:r>
          </a:p>
          <a:p>
            <a:pPr algn="ctr">
              <a:spcAft>
                <a:spcPts val="400"/>
              </a:spcAft>
              <a:buNone/>
            </a:pPr>
            <a:r>
              <a:rPr sz="1600" b="1">
                <a:solidFill>
                  <a:srgbClr val="FFFFFF"/>
                </a:solidFill>
              </a:rPr>
              <a:t>TypeScript</a:t>
            </a:r>
          </a:p>
          <a:p>
            <a:pPr algn="ctr">
              <a:buNone/>
            </a:pPr>
            <a:r>
              <a:rPr sz="1050">
                <a:solidFill>
                  <a:srgbClr val="A9B7C4"/>
                </a:solidFill>
              </a:rPr>
              <a:t>exploring the Python path</a:t>
            </a:r>
          </a:p>
        </p:txBody>
      </p:sp>
      <p:cxnSp>
        <p:nvCxnSpPr>
          <p:cNvPr id="22" name="Connector 21"/>
          <p:cNvCxnSpPr/>
          <p:nvPr/>
        </p:nvCxnSpPr>
        <p:spPr>
          <a:xfrm flipH="1">
            <a:off x="6099048" y="3319272"/>
            <a:ext cx="4553712" cy="448056"/>
          </a:xfrm>
          <a:prstGeom prst="line">
            <a:avLst/>
          </a:prstGeom>
          <a:ln w="12700">
            <a:solidFill>
              <a:srgbClr val="5B687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926080" y="3794760"/>
            <a:ext cx="6355080" cy="731520"/>
          </a:xfrm>
          <a:prstGeom prst="roundRect">
            <a:avLst>
              <a:gd name="adj" fmla="val 10000"/>
            </a:avLst>
          </a:prstGeom>
          <a:solidFill>
            <a:srgbClr val="2E3B47"/>
          </a:solidFill>
          <a:ln w="254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600" b="1">
                <a:solidFill>
                  <a:srgbClr val="FFFFFF"/>
                </a:solidFill>
              </a:rPr>
              <a:t>Element API  →  Micronaut visitors</a:t>
            </a:r>
          </a:p>
          <a:p>
            <a:pPr algn="ctr">
              <a:buNone/>
            </a:pPr>
            <a:r>
              <a:rPr sz="1200">
                <a:solidFill>
                  <a:srgbClr val="A9B7C4"/>
                </a:solidFill>
              </a:rPr>
              <a:t>DI · AOP · Serialization · Validation · Data · OpenAPI</a:t>
            </a:r>
          </a:p>
        </p:txBody>
      </p:sp>
      <p:cxnSp>
        <p:nvCxnSpPr>
          <p:cNvPr id="24" name="Connector 23"/>
          <p:cNvCxnSpPr/>
          <p:nvPr/>
        </p:nvCxnSpPr>
        <p:spPr>
          <a:xfrm>
            <a:off x="6099048" y="4544568"/>
            <a:ext cx="0" cy="347472"/>
          </a:xfrm>
          <a:prstGeom prst="line">
            <a:avLst/>
          </a:prstGeom>
          <a:ln w="19050">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926080" y="4919472"/>
            <a:ext cx="6355080" cy="640080"/>
          </a:xfrm>
          <a:prstGeom prst="roundRect">
            <a:avLst>
              <a:gd name="adj" fmla="val 11428"/>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One runtime  ·  one set of modules  ·  JVM or Native Image</a:t>
            </a:r>
          </a:p>
        </p:txBody>
      </p:sp>
      <p:pic>
        <p:nvPicPr>
          <p:cNvPr id="26" name="Picture 25" descr="python.png"/>
          <p:cNvPicPr>
            <a:picLocks noChangeAspect="1"/>
          </p:cNvPicPr>
          <p:nvPr/>
        </p:nvPicPr>
        <p:blipFill>
          <a:blip r:embed="rId3"/>
          <a:stretch>
            <a:fillRect/>
          </a:stretch>
        </p:blipFill>
        <p:spPr>
          <a:xfrm>
            <a:off x="9692640" y="3749039"/>
            <a:ext cx="1792224" cy="1828800"/>
          </a:xfrm>
          <a:prstGeom prst="rect">
            <a:avLst/>
          </a:prstGeom>
        </p:spPr>
      </p:pic>
      <p:pic>
        <p:nvPicPr>
          <p:cNvPr id="27" name="Picture 26" descr="java.png"/>
          <p:cNvPicPr>
            <a:picLocks noChangeAspect="1"/>
          </p:cNvPicPr>
          <p:nvPr/>
        </p:nvPicPr>
        <p:blipFill>
          <a:blip r:embed="rId4"/>
          <a:stretch>
            <a:fillRect/>
          </a:stretch>
        </p:blipFill>
        <p:spPr>
          <a:xfrm>
            <a:off x="768096" y="3977639"/>
            <a:ext cx="1920240" cy="132222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 gaps vs Spring: HATEOAS</a:t>
            </a:r>
          </a:p>
        </p:txBody>
      </p:sp>
      <p:sp>
        <p:nvSpPr>
          <p:cNvPr id="3" name="Text Placeholder 2"/>
          <p:cNvSpPr>
            <a:spLocks noGrp="1"/>
          </p:cNvSpPr>
          <p:nvPr>
            <p:ph type="body" idx="11" sz="quarter"/>
          </p:nvPr>
        </p:nvSpPr>
        <p:spPr/>
        <p:txBody>
          <a:bodyPr/>
          <a:lstStyle/>
          <a:p>
            <a:r>
              <a:t>Micronaut has the nouns; Spring has the verbs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8BC34A"/>
                </a:solidFill>
              </a:rPr>
              <a:t>THEME 3  ·  SPRING GAPS</a:t>
            </a:r>
          </a:p>
        </p:txBody>
      </p:sp>
      <p:graphicFrame>
        <p:nvGraphicFramePr>
          <p:cNvPr id="11" name="Chart 10"/>
          <p:cNvGraphicFramePr>
            <a:graphicFrameLocks noGrp="1"/>
          </p:cNvGraphicFramePr>
          <p:nvPr/>
        </p:nvGraphicFramePr>
        <p:xfrm>
          <a:off x="768096" y="1600200"/>
          <a:ext cx="5669280" cy="2103120"/>
        </p:xfrm>
        <a:graphic>
          <a:graphicData uri="http://schemas.openxmlformats.org/drawingml/2006/chart">
            <c:chart xmlns:c="http://schemas.openxmlformats.org/drawingml/2006/chart" r:id="rId3"/>
          </a:graphicData>
        </a:graphic>
      </p:graphicFrame>
      <p:sp>
        <p:nvSpPr>
          <p:cNvPr id="12" name="Rounded Rectangle 11"/>
          <p:cNvSpPr/>
          <p:nvPr/>
        </p:nvSpPr>
        <p:spPr>
          <a:xfrm>
            <a:off x="768096" y="3840480"/>
            <a:ext cx="5669280" cy="2331720"/>
          </a:xfrm>
          <a:prstGeom prst="roundRect">
            <a:avLst>
              <a:gd name="adj" fmla="val 313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400" b="1">
                <a:solidFill>
                  <a:srgbClr val="8BC34A"/>
                </a:solidFill>
              </a:rPr>
              <a:t>What core ships</a:t>
            </a:r>
          </a:p>
          <a:p>
            <a:pPr algn="l">
              <a:spcAft>
                <a:spcPts val="800"/>
              </a:spcAft>
              <a:buNone/>
            </a:pPr>
            <a:r>
              <a:rPr sz="1250">
                <a:solidFill>
                  <a:srgbClr val="FFFFFF"/>
                </a:solidFill>
              </a:rPr>
              <a:t>The HAL document model — </a:t>
            </a:r>
            <a:r>
              <a:rPr sz="1250">
                <a:solidFill>
                  <a:srgbClr val="F0CC72"/>
                </a:solidFill>
                <a:latin typeface="Consolas"/>
              </a:rPr>
              <a:t>Link</a:t>
            </a:r>
            <a:r>
              <a:rPr sz="1250">
                <a:solidFill>
                  <a:srgbClr val="FFFFFF"/>
                </a:solidFill>
              </a:rPr>
              <a:t>, </a:t>
            </a:r>
            <a:r>
              <a:rPr sz="1250">
                <a:solidFill>
                  <a:srgbClr val="F0CC72"/>
                </a:solidFill>
                <a:latin typeface="Consolas"/>
              </a:rPr>
              <a:t>_links</a:t>
            </a:r>
            <a:r>
              <a:rPr sz="1250">
                <a:solidFill>
                  <a:srgbClr val="FFFFFF"/>
                </a:solidFill>
              </a:rPr>
              <a:t>, </a:t>
            </a:r>
            <a:r>
              <a:rPr sz="1250">
                <a:solidFill>
                  <a:srgbClr val="F0CC72"/>
                </a:solidFill>
                <a:latin typeface="Consolas"/>
              </a:rPr>
              <a:t>_embedded</a:t>
            </a:r>
            <a:r>
              <a:rPr sz="1250">
                <a:solidFill>
                  <a:srgbClr val="FFFFFF"/>
                </a:solidFill>
              </a:rPr>
              <a:t> and </a:t>
            </a:r>
            <a:r>
              <a:rPr sz="1250">
                <a:solidFill>
                  <a:srgbClr val="F0CC72"/>
                </a:solidFill>
                <a:latin typeface="Consolas"/>
              </a:rPr>
              <a:t>application/hal+json</a:t>
            </a:r>
            <a:r>
              <a:rPr sz="1250">
                <a:solidFill>
                  <a:srgbClr val="FFFFFF"/>
                </a:solidFill>
              </a:rPr>
              <a:t> — in seven files untouched since 4.x.</a:t>
            </a:r>
          </a:p>
          <a:p>
            <a:pPr algn="l">
              <a:spcAft>
                <a:spcPts val="600"/>
              </a:spcAft>
              <a:buNone/>
            </a:pPr>
            <a:r>
              <a:rPr sz="1400" b="1">
                <a:solidFill>
                  <a:srgbClr val="E0634F"/>
                </a:solidFill>
              </a:rPr>
              <a:t>What’s missing</a:t>
            </a:r>
          </a:p>
          <a:p>
            <a:pPr algn="l">
              <a:buNone/>
            </a:pPr>
            <a:r>
              <a:rPr sz="1250">
                <a:solidFill>
                  <a:srgbClr val="FFFFFF"/>
                </a:solidFill>
              </a:rPr>
              <a:t>All seven link-construction capabilities: links from controller methods, representation assemblers, affordances, a traversing client.</a:t>
            </a:r>
          </a:p>
        </p:txBody>
      </p:sp>
      <p:sp>
        <p:nvSpPr>
          <p:cNvPr id="13" name="Rounded Rectangle 12"/>
          <p:cNvSpPr/>
          <p:nvPr/>
        </p:nvSpPr>
        <p:spPr>
          <a:xfrm>
            <a:off x="6720840" y="1645920"/>
            <a:ext cx="4709160" cy="3017520"/>
          </a:xfrm>
          <a:prstGeom prst="roundRect">
            <a:avLst>
              <a:gd name="adj" fmla="val 2424"/>
            </a:avLst>
          </a:prstGeom>
          <a:solidFill>
            <a:srgbClr val="2E3B47"/>
          </a:solidFill>
          <a:ln w="2222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1000"/>
              </a:spcAft>
              <a:buNone/>
            </a:pPr>
            <a:r>
              <a:rPr sz="1700" b="1">
                <a:solidFill>
                  <a:srgbClr val="8BC34A"/>
                </a:solidFill>
              </a:rPr>
              <a:t>Proposal: micronaut-hateoas</a:t>
            </a:r>
          </a:p>
          <a:p>
            <a:pPr algn="l" marL="201168" indent="-201168">
              <a:spcAft>
                <a:spcPts val="600"/>
              </a:spcAft>
              <a:buClr>
                <a:srgbClr val="8BC34A"/>
              </a:buClr>
              <a:buSzPct val="100000"/>
              <a:buFont typeface="Arial"/>
              <a:buChar char="▪"/>
            </a:pPr>
            <a:r>
              <a:rPr sz="1300">
                <a:solidFill>
                  <a:srgbClr val="FFFFFF"/>
                </a:solidFill>
              </a:rPr>
              <a:t>A separate module; core keeps owning only the wire vocabulary</a:t>
            </a:r>
          </a:p>
          <a:p>
            <a:pPr algn="l" marL="201168" indent="-201168">
              <a:spcAft>
                <a:spcPts val="600"/>
              </a:spcAft>
              <a:buClr>
                <a:srgbClr val="8BC34A"/>
              </a:buClr>
              <a:buSzPct val="100000"/>
              <a:buFont typeface="Arial"/>
              <a:buChar char="▪"/>
            </a:pPr>
            <a:r>
              <a:rPr sz="1300">
                <a:solidFill>
                  <a:srgbClr val="FFFFFF"/>
                </a:solidFill>
              </a:rPr>
              <a:t>Build links and HAL-FORMS from compile-time route and introspection metadata</a:t>
            </a:r>
          </a:p>
          <a:p>
            <a:pPr algn="l" marL="201168" indent="-201168">
              <a:buClr>
                <a:srgbClr val="8BC34A"/>
              </a:buClr>
              <a:buSzPct val="100000"/>
              <a:buFont typeface="Arial"/>
              <a:buChar char="▪"/>
            </a:pPr>
            <a:r>
              <a:rPr sz="1300">
                <a:solidFill>
                  <a:srgbClr val="FFFFFF"/>
                </a:solidFill>
              </a:rPr>
              <a:t>A stronger foundation than Spring’s runtime proxies — not a port</a:t>
            </a:r>
          </a:p>
        </p:txBody>
      </p:sp>
      <p:sp>
        <p:nvSpPr>
          <p:cNvPr id="14" name="Rounded Rectangle 13"/>
          <p:cNvSpPr/>
          <p:nvPr/>
        </p:nvSpPr>
        <p:spPr>
          <a:xfrm>
            <a:off x="6720840" y="4846320"/>
            <a:ext cx="4709160" cy="1325880"/>
          </a:xfrm>
          <a:prstGeom prst="roundRect">
            <a:avLst>
              <a:gd name="adj" fmla="val 551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300" b="1">
                <a:solidFill>
                  <a:srgbClr val="6DBEE7"/>
                </a:solidFill>
                <a:latin typeface="Consolas"/>
              </a:rPr>
              <a:t>micronaut-core#9251</a:t>
            </a:r>
          </a:p>
          <a:p>
            <a:pPr algn="l">
              <a:buNone/>
            </a:pPr>
            <a:r>
              <a:rPr sz="1150">
                <a:solidFill>
                  <a:srgbClr val="A9B7C4"/>
                </a:solidFill>
              </a:rPr>
              <a:t>open and under consideration since May 2023</a:t>
            </a:r>
          </a:p>
        </p:txBody>
      </p:sp>
      <p:pic>
        <p:nvPicPr>
          <p:cNvPr id="15" name="Picture 14" descr="pointboard.png"/>
          <p:cNvPicPr>
            <a:picLocks noChangeAspect="1"/>
          </p:cNvPicPr>
          <p:nvPr/>
        </p:nvPicPr>
        <p:blipFill>
          <a:blip r:embed="rId4"/>
          <a:stretch>
            <a:fillRect/>
          </a:stretch>
        </p:blipFill>
        <p:spPr>
          <a:xfrm>
            <a:off x="4846320" y="1627632"/>
            <a:ext cx="1508760" cy="66169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 gaps vs Spring: Cloud Gateway</a:t>
            </a:r>
          </a:p>
        </p:txBody>
      </p:sp>
      <p:sp>
        <p:nvSpPr>
          <p:cNvPr id="3" name="Text Placeholder 2"/>
          <p:cNvSpPr>
            <a:spLocks noGrp="1"/>
          </p:cNvSpPr>
          <p:nvPr>
            <p:ph type="body" idx="11" sz="quarter"/>
          </p:nvPr>
        </p:nvSpPr>
        <p:spPr/>
        <p:txBody>
          <a:bodyPr/>
          <a:lstStyle/>
          <a:p>
            <a:r>
              <a:t>Micronaut ships the parts of a gateway — not the gateway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8BC34A"/>
                </a:solidFill>
              </a:rPr>
              <a:t>THEME 3  ·  SPRING GAPS</a:t>
            </a:r>
          </a:p>
        </p:txBody>
      </p:sp>
      <p:sp>
        <p:nvSpPr>
          <p:cNvPr id="11" name="TextBox 10"/>
          <p:cNvSpPr txBox="1"/>
          <p:nvPr/>
        </p:nvSpPr>
        <p:spPr>
          <a:xfrm>
            <a:off x="768096" y="1572768"/>
            <a:ext cx="5120640" cy="256032"/>
          </a:xfrm>
          <a:prstGeom prst="rect">
            <a:avLst/>
          </a:prstGeom>
          <a:noFill/>
        </p:spPr>
        <p:txBody>
          <a:bodyPr wrap="square" lIns="0" rIns="0" tIns="0" bIns="0" anchor="ctr"/>
          <a:lstStyle/>
          <a:p>
            <a:pPr algn="l">
              <a:buNone/>
            </a:pPr>
            <a:r>
              <a:rPr sz="1100" b="1">
                <a:solidFill>
                  <a:srgbClr val="8BC34A"/>
                </a:solidFill>
              </a:rPr>
              <a:t>WHAT MICRONAUT HAS TODAY</a:t>
            </a:r>
          </a:p>
        </p:txBody>
      </p:sp>
      <p:sp>
        <p:nvSpPr>
          <p:cNvPr id="12" name="Rounded Rectangle 11"/>
          <p:cNvSpPr/>
          <p:nvPr/>
        </p:nvSpPr>
        <p:spPr>
          <a:xfrm>
            <a:off x="768096" y="1874519"/>
            <a:ext cx="2468880" cy="804672"/>
          </a:xfrm>
          <a:prstGeom prst="roundRect">
            <a:avLst>
              <a:gd name="adj" fmla="val 909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300" b="1">
                <a:solidFill>
                  <a:srgbClr val="FFFFFF"/>
                </a:solidFill>
                <a:latin typeface="Consolas"/>
              </a:rPr>
              <a:t>ProxyHttpClient</a:t>
            </a:r>
          </a:p>
          <a:p>
            <a:pPr algn="l">
              <a:buNone/>
            </a:pPr>
            <a:r>
              <a:rPr sz="1100">
                <a:solidFill>
                  <a:srgbClr val="A9B7C4"/>
                </a:solidFill>
              </a:rPr>
              <a:t>streaming reverse proxy</a:t>
            </a:r>
          </a:p>
        </p:txBody>
      </p:sp>
      <p:sp>
        <p:nvSpPr>
          <p:cNvPr id="13" name="Rounded Rectangle 12"/>
          <p:cNvSpPr/>
          <p:nvPr/>
        </p:nvSpPr>
        <p:spPr>
          <a:xfrm>
            <a:off x="3374136" y="1874519"/>
            <a:ext cx="2468880" cy="804672"/>
          </a:xfrm>
          <a:prstGeom prst="roundRect">
            <a:avLst>
              <a:gd name="adj" fmla="val 909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300" b="1">
                <a:solidFill>
                  <a:srgbClr val="FFFFFF"/>
                </a:solidFill>
                <a:latin typeface="Consolas"/>
              </a:rPr>
              <a:t>@ServerFilter</a:t>
            </a:r>
          </a:p>
          <a:p>
            <a:pPr algn="l">
              <a:buNone/>
            </a:pPr>
            <a:r>
              <a:rPr sz="1100">
                <a:solidFill>
                  <a:srgbClr val="A9B7C4"/>
                </a:solidFill>
              </a:rPr>
              <a:t>match and route requests</a:t>
            </a:r>
          </a:p>
        </p:txBody>
      </p:sp>
      <p:sp>
        <p:nvSpPr>
          <p:cNvPr id="14" name="Rounded Rectangle 13"/>
          <p:cNvSpPr/>
          <p:nvPr/>
        </p:nvSpPr>
        <p:spPr>
          <a:xfrm>
            <a:off x="768096" y="2834639"/>
            <a:ext cx="2468880" cy="804672"/>
          </a:xfrm>
          <a:prstGeom prst="roundRect">
            <a:avLst>
              <a:gd name="adj" fmla="val 909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300" b="1">
                <a:solidFill>
                  <a:srgbClr val="FFFFFF"/>
                </a:solidFill>
              </a:rPr>
              <a:t>Service discovery</a:t>
            </a:r>
          </a:p>
          <a:p>
            <a:pPr algn="l">
              <a:buNone/>
            </a:pPr>
            <a:r>
              <a:rPr sz="1100">
                <a:solidFill>
                  <a:srgbClr val="A9B7C4"/>
                </a:solidFill>
              </a:rPr>
              <a:t>DiscoveryClient</a:t>
            </a:r>
          </a:p>
        </p:txBody>
      </p:sp>
      <p:sp>
        <p:nvSpPr>
          <p:cNvPr id="15" name="Rounded Rectangle 14"/>
          <p:cNvSpPr/>
          <p:nvPr/>
        </p:nvSpPr>
        <p:spPr>
          <a:xfrm>
            <a:off x="3374136" y="2834639"/>
            <a:ext cx="2468880" cy="804672"/>
          </a:xfrm>
          <a:prstGeom prst="roundRect">
            <a:avLst>
              <a:gd name="adj" fmla="val 9090"/>
            </a:avLst>
          </a:prstGeom>
          <a:solidFill>
            <a:srgbClr val="25303A"/>
          </a:solidFill>
          <a:ln w="1270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300" b="1">
                <a:solidFill>
                  <a:srgbClr val="FFFFFF"/>
                </a:solidFill>
              </a:rPr>
              <a:t>Load balancing</a:t>
            </a:r>
          </a:p>
          <a:p>
            <a:pPr algn="l">
              <a:buNone/>
            </a:pPr>
            <a:r>
              <a:rPr sz="1100">
                <a:solidFill>
                  <a:srgbClr val="A9B7C4"/>
                </a:solidFill>
              </a:rPr>
              <a:t>client-side LoadBalancer</a:t>
            </a:r>
          </a:p>
        </p:txBody>
      </p:sp>
      <p:sp>
        <p:nvSpPr>
          <p:cNvPr id="16" name="TextBox 15"/>
          <p:cNvSpPr txBox="1"/>
          <p:nvPr/>
        </p:nvSpPr>
        <p:spPr>
          <a:xfrm>
            <a:off x="768096" y="3886200"/>
            <a:ext cx="5074920" cy="640080"/>
          </a:xfrm>
          <a:prstGeom prst="rect">
            <a:avLst/>
          </a:prstGeom>
          <a:noFill/>
        </p:spPr>
        <p:txBody>
          <a:bodyPr wrap="square" lIns="0" rIns="0" tIns="0" bIns="0" anchor="t"/>
          <a:lstStyle/>
          <a:p>
            <a:pPr>
              <a:buNone/>
            </a:pPr>
            <a:r>
              <a:rPr sz="1300">
                <a:solidFill>
                  <a:srgbClr val="A9B7C4"/>
                </a:solidFill>
              </a:rPr>
              <a:t>A working reverse proxy over discovery is about fifty lines — but you write and operate it.</a:t>
            </a:r>
          </a:p>
        </p:txBody>
      </p:sp>
      <p:sp>
        <p:nvSpPr>
          <p:cNvPr id="17" name="TextBox 16"/>
          <p:cNvSpPr txBox="1"/>
          <p:nvPr/>
        </p:nvSpPr>
        <p:spPr>
          <a:xfrm>
            <a:off x="768096" y="4572000"/>
            <a:ext cx="5120640" cy="256032"/>
          </a:xfrm>
          <a:prstGeom prst="rect">
            <a:avLst/>
          </a:prstGeom>
          <a:noFill/>
        </p:spPr>
        <p:txBody>
          <a:bodyPr wrap="square" lIns="0" rIns="0" tIns="0" bIns="0" anchor="ctr"/>
          <a:lstStyle/>
          <a:p>
            <a:pPr algn="l">
              <a:buNone/>
            </a:pPr>
            <a:r>
              <a:rPr sz="1100" b="1">
                <a:solidFill>
                  <a:srgbClr val="A9B7C4"/>
                </a:solidFill>
              </a:rPr>
              <a:t>WHY IT’S WORTH IT</a:t>
            </a:r>
          </a:p>
        </p:txBody>
      </p:sp>
      <p:sp>
        <p:nvSpPr>
          <p:cNvPr id="18" name="TextBox 17"/>
          <p:cNvSpPr txBox="1"/>
          <p:nvPr/>
        </p:nvSpPr>
        <p:spPr>
          <a:xfrm>
            <a:off x="768096" y="4846320"/>
            <a:ext cx="5074920" cy="1188720"/>
          </a:xfrm>
          <a:prstGeom prst="rect">
            <a:avLst/>
          </a:prstGeom>
          <a:noFill/>
        </p:spPr>
        <p:txBody>
          <a:bodyPr wrap="square" lIns="0" rIns="0" tIns="0" bIns="0" anchor="t"/>
          <a:lstStyle/>
          <a:p>
            <a:pPr>
              <a:buNone/>
            </a:pPr>
            <a:r>
              <a:rPr sz="1300">
                <a:solidFill>
                  <a:srgbClr val="FFFFFF"/>
                </a:solidFill>
              </a:rPr>
              <a:t>Compile-time DI and a native binary that starts in tens of milliseconds — an advantage for a component that scales out at the edge.</a:t>
            </a:r>
          </a:p>
        </p:txBody>
      </p:sp>
      <p:sp>
        <p:nvSpPr>
          <p:cNvPr id="19" name="TextBox 18"/>
          <p:cNvSpPr txBox="1"/>
          <p:nvPr/>
        </p:nvSpPr>
        <p:spPr>
          <a:xfrm>
            <a:off x="6309360" y="1572768"/>
            <a:ext cx="5120640" cy="256032"/>
          </a:xfrm>
          <a:prstGeom prst="rect">
            <a:avLst/>
          </a:prstGeom>
          <a:noFill/>
        </p:spPr>
        <p:txBody>
          <a:bodyPr wrap="square" lIns="0" rIns="0" tIns="0" bIns="0" anchor="ctr"/>
          <a:lstStyle/>
          <a:p>
            <a:pPr algn="l">
              <a:buNone/>
            </a:pPr>
            <a:r>
              <a:rPr sz="1100" b="1">
                <a:solidFill>
                  <a:srgbClr val="E0634F"/>
                </a:solidFill>
              </a:rPr>
              <a:t>MISSING AT ANY LAYER TODAY</a:t>
            </a:r>
          </a:p>
        </p:txBody>
      </p:sp>
      <p:sp>
        <p:nvSpPr>
          <p:cNvPr id="20" name="Rounded Rectangle 19"/>
          <p:cNvSpPr/>
          <p:nvPr/>
        </p:nvSpPr>
        <p:spPr>
          <a:xfrm>
            <a:off x="6309360" y="1874519"/>
            <a:ext cx="5120640" cy="822960"/>
          </a:xfrm>
          <a:prstGeom prst="roundRect">
            <a:avLst>
              <a:gd name="adj" fmla="val 8888"/>
            </a:avLst>
          </a:prstGeom>
          <a:solidFill>
            <a:srgbClr val="2E3B47"/>
          </a:solidFill>
          <a:ln w="19050">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400" b="1">
                <a:solidFill>
                  <a:srgbClr val="FFFFFF"/>
                </a:solidFill>
              </a:rPr>
              <a:t>Declarative route table</a:t>
            </a:r>
          </a:p>
          <a:p>
            <a:pPr algn="l">
              <a:buNone/>
            </a:pPr>
            <a:r>
              <a:rPr sz="1150">
                <a:solidFill>
                  <a:srgbClr val="A9B7C4"/>
                </a:solidFill>
              </a:rPr>
              <a:t>predicates and filters from config, no recompiling</a:t>
            </a:r>
          </a:p>
        </p:txBody>
      </p:sp>
      <p:sp>
        <p:nvSpPr>
          <p:cNvPr id="21" name="Rounded Rectangle 20"/>
          <p:cNvSpPr/>
          <p:nvPr/>
        </p:nvSpPr>
        <p:spPr>
          <a:xfrm>
            <a:off x="6309360" y="2788920"/>
            <a:ext cx="5120640" cy="548640"/>
          </a:xfrm>
          <a:prstGeom prst="roundRect">
            <a:avLst>
              <a:gd name="adj" fmla="val 1333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a:solidFill>
                  <a:srgbClr val="FFFFFF"/>
                </a:solidFill>
              </a:rPr>
              <a:t>Request rate limiting</a:t>
            </a:r>
          </a:p>
        </p:txBody>
      </p:sp>
      <p:sp>
        <p:nvSpPr>
          <p:cNvPr id="22" name="Rounded Rectangle 21"/>
          <p:cNvSpPr/>
          <p:nvPr/>
        </p:nvSpPr>
        <p:spPr>
          <a:xfrm>
            <a:off x="6309360" y="3447287"/>
            <a:ext cx="5120640" cy="548640"/>
          </a:xfrm>
          <a:prstGeom prst="roundRect">
            <a:avLst>
              <a:gd name="adj" fmla="val 1333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a:solidFill>
                  <a:srgbClr val="FFFFFF"/>
                </a:solidFill>
              </a:rPr>
              <a:t>HTTP response caching</a:t>
            </a:r>
          </a:p>
        </p:txBody>
      </p:sp>
      <p:sp>
        <p:nvSpPr>
          <p:cNvPr id="23" name="Rounded Rectangle 22"/>
          <p:cNvSpPr/>
          <p:nvPr/>
        </p:nvSpPr>
        <p:spPr>
          <a:xfrm>
            <a:off x="6309360" y="4105656"/>
            <a:ext cx="5120640" cy="548640"/>
          </a:xfrm>
          <a:prstGeom prst="roundRect">
            <a:avLst>
              <a:gd name="adj" fmla="val 1333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a:solidFill>
                  <a:srgbClr val="FFFFFF"/>
                </a:solidFill>
              </a:rPr>
              <a:t>Per-route circuit breaking</a:t>
            </a:r>
          </a:p>
        </p:txBody>
      </p:sp>
      <p:sp>
        <p:nvSpPr>
          <p:cNvPr id="24" name="Rounded Rectangle 23"/>
          <p:cNvSpPr/>
          <p:nvPr/>
        </p:nvSpPr>
        <p:spPr>
          <a:xfrm>
            <a:off x="6309360" y="4764024"/>
            <a:ext cx="5120640" cy="548640"/>
          </a:xfrm>
          <a:prstGeom prst="roundRect">
            <a:avLst>
              <a:gd name="adj" fmla="val 1333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a:solidFill>
                  <a:srgbClr val="FFFFFF"/>
                </a:solidFill>
              </a:rPr>
              <a:t>JSON-to-gRPC transcoding</a:t>
            </a:r>
          </a:p>
        </p:txBody>
      </p:sp>
      <p:sp>
        <p:nvSpPr>
          <p:cNvPr id="25" name="Rounded Rectangle 24"/>
          <p:cNvSpPr/>
          <p:nvPr/>
        </p:nvSpPr>
        <p:spPr>
          <a:xfrm>
            <a:off x="6309360" y="5394960"/>
            <a:ext cx="5120640" cy="777240"/>
          </a:xfrm>
          <a:prstGeom prst="roundRect">
            <a:avLst>
              <a:gd name="adj" fmla="val 9411"/>
            </a:avLst>
          </a:prstGeom>
          <a:noFill/>
          <a:ln w="19050">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350" b="1">
                <a:solidFill>
                  <a:srgbClr val="8BC34A"/>
                </a:solidFill>
              </a:rPr>
              <a:t>Proposal: a declarative gateway module on these parts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Oracle AI Database, only with Micronaut</a:t>
            </a:r>
          </a:p>
        </p:txBody>
      </p:sp>
      <p:sp>
        <p:nvSpPr>
          <p:cNvPr id="3" name="Text Placeholder 2"/>
          <p:cNvSpPr>
            <a:spLocks noGrp="1"/>
          </p:cNvSpPr>
          <p:nvPr>
            <p:ph type="body" idx="11" sz="quarter"/>
          </p:nvPr>
        </p:nvSpPr>
        <p:spPr/>
        <p:txBody>
          <a:bodyPr/>
          <a:lstStyle/>
          <a:p>
            <a:r>
              <a:t>Build on what Micronaut 5 shipped with features no other framework has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E0634F"/>
                </a:solidFill>
              </a:rPr>
              <a:t>THEME 4  ·  ORACLE AI DATABASE</a:t>
            </a:r>
          </a:p>
        </p:txBody>
      </p:sp>
      <p:sp>
        <p:nvSpPr>
          <p:cNvPr id="11" name="TextBox 10"/>
          <p:cNvSpPr txBox="1"/>
          <p:nvPr/>
        </p:nvSpPr>
        <p:spPr>
          <a:xfrm>
            <a:off x="768096" y="1572768"/>
            <a:ext cx="3840480" cy="256032"/>
          </a:xfrm>
          <a:prstGeom prst="rect">
            <a:avLst/>
          </a:prstGeom>
          <a:noFill/>
        </p:spPr>
        <p:txBody>
          <a:bodyPr wrap="square" lIns="0" rIns="0" tIns="0" bIns="0" anchor="ctr"/>
          <a:lstStyle/>
          <a:p>
            <a:pPr algn="l">
              <a:buNone/>
            </a:pPr>
            <a:r>
              <a:rPr sz="1100" b="1">
                <a:solidFill>
                  <a:srgbClr val="8BC34A"/>
                </a:solidFill>
              </a:rPr>
              <a:t>SHIPPING IN MICRONAUT 5</a:t>
            </a:r>
          </a:p>
        </p:txBody>
      </p:sp>
      <p:sp>
        <p:nvSpPr>
          <p:cNvPr id="12" name="Rounded Rectangle 11"/>
          <p:cNvSpPr/>
          <p:nvPr/>
        </p:nvSpPr>
        <p:spPr>
          <a:xfrm>
            <a:off x="768096" y="1901952"/>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AI Vector Search in repositories</a:t>
            </a:r>
          </a:p>
        </p:txBody>
      </p:sp>
      <p:sp>
        <p:nvSpPr>
          <p:cNvPr id="13" name="Rounded Rectangle 12"/>
          <p:cNvSpPr/>
          <p:nvPr/>
        </p:nvSpPr>
        <p:spPr>
          <a:xfrm>
            <a:off x="768096" y="2505456"/>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Spatial types and proximity queries</a:t>
            </a:r>
          </a:p>
        </p:txBody>
      </p:sp>
      <p:sp>
        <p:nvSpPr>
          <p:cNvPr id="14" name="Rounded Rectangle 13"/>
          <p:cNvSpPr/>
          <p:nvPr/>
        </p:nvSpPr>
        <p:spPr>
          <a:xfrm>
            <a:off x="768096" y="3108960"/>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JSON Relational Duality Views</a:t>
            </a:r>
          </a:p>
        </p:txBody>
      </p:sp>
      <p:sp>
        <p:nvSpPr>
          <p:cNvPr id="15" name="Rounded Rectangle 14"/>
          <p:cNvSpPr/>
          <p:nvPr/>
        </p:nvSpPr>
        <p:spPr>
          <a:xfrm>
            <a:off x="768096" y="3712464"/>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Transaction priority</a:t>
            </a:r>
          </a:p>
        </p:txBody>
      </p:sp>
      <p:sp>
        <p:nvSpPr>
          <p:cNvPr id="16" name="Rounded Rectangle 15"/>
          <p:cNvSpPr/>
          <p:nvPr/>
        </p:nvSpPr>
        <p:spPr>
          <a:xfrm>
            <a:off x="768096" y="4315968"/>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Session client info</a:t>
            </a:r>
          </a:p>
        </p:txBody>
      </p:sp>
      <p:sp>
        <p:nvSpPr>
          <p:cNvPr id="17" name="Rounded Rectangle 16"/>
          <p:cNvSpPr/>
          <p:nvPr/>
        </p:nvSpPr>
        <p:spPr>
          <a:xfrm>
            <a:off x="768096" y="4919472"/>
            <a:ext cx="3840480" cy="493776"/>
          </a:xfrm>
          <a:prstGeom prst="roundRect">
            <a:avLst>
              <a:gd name="adj" fmla="val 9259"/>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250">
                <a:solidFill>
                  <a:srgbClr val="FFFFFF"/>
                </a:solidFill>
              </a:rPr>
              <a:t>✓  UCP tracing with OpenTelemetry</a:t>
            </a:r>
          </a:p>
        </p:txBody>
      </p:sp>
      <p:pic>
        <p:nvPicPr>
          <p:cNvPr id="18" name="Picture 17" descr="plant.png"/>
          <p:cNvPicPr>
            <a:picLocks noChangeAspect="1"/>
          </p:cNvPicPr>
          <p:nvPr/>
        </p:nvPicPr>
        <p:blipFill>
          <a:blip r:embed="rId3"/>
          <a:stretch>
            <a:fillRect/>
          </a:stretch>
        </p:blipFill>
        <p:spPr>
          <a:xfrm>
            <a:off x="1097280" y="5532120"/>
            <a:ext cx="1068895" cy="777240"/>
          </a:xfrm>
          <a:prstGeom prst="rect">
            <a:avLst/>
          </a:prstGeom>
        </p:spPr>
      </p:pic>
      <p:sp>
        <p:nvSpPr>
          <p:cNvPr id="19" name="TextBox 18"/>
          <p:cNvSpPr txBox="1"/>
          <p:nvPr/>
        </p:nvSpPr>
        <p:spPr>
          <a:xfrm>
            <a:off x="4983480" y="1572768"/>
            <a:ext cx="6400800" cy="256032"/>
          </a:xfrm>
          <a:prstGeom prst="rect">
            <a:avLst/>
          </a:prstGeom>
          <a:noFill/>
        </p:spPr>
        <p:txBody>
          <a:bodyPr wrap="square" lIns="0" rIns="0" tIns="0" bIns="0" anchor="ctr"/>
          <a:lstStyle/>
          <a:p>
            <a:pPr algn="l">
              <a:buNone/>
            </a:pPr>
            <a:r>
              <a:rPr sz="1100" b="1">
                <a:solidFill>
                  <a:srgbClr val="E0634F"/>
                </a:solidFill>
              </a:rPr>
              <a:t>NEXT</a:t>
            </a:r>
          </a:p>
        </p:txBody>
      </p:sp>
      <p:sp>
        <p:nvSpPr>
          <p:cNvPr id="20" name="Rounded Rectangle 19"/>
          <p:cNvSpPr/>
          <p:nvPr/>
        </p:nvSpPr>
        <p:spPr>
          <a:xfrm>
            <a:off x="4983480" y="1901952"/>
            <a:ext cx="3108960" cy="1261872"/>
          </a:xfrm>
          <a:prstGeom prst="roundRect">
            <a:avLst>
              <a:gd name="adj" fmla="val 5797"/>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400"/>
              </a:spcAft>
              <a:buNone/>
            </a:pPr>
            <a:r>
              <a:rPr sz="1400" b="1">
                <a:solidFill>
                  <a:srgbClr val="FFFFFF"/>
                </a:solidFill>
              </a:rPr>
              <a:t>Query Change Notification</a:t>
            </a:r>
          </a:p>
          <a:p>
            <a:pPr algn="l">
              <a:buNone/>
            </a:pPr>
            <a:r>
              <a:rPr sz="1200">
                <a:solidFill>
                  <a:srgbClr val="A9B7C4"/>
                </a:solidFill>
              </a:rPr>
              <a:t>React when query results change — cache invalidation and live updates without polling</a:t>
            </a:r>
          </a:p>
        </p:txBody>
      </p:sp>
      <p:sp>
        <p:nvSpPr>
          <p:cNvPr id="21" name="Rounded Rectangle 20"/>
          <p:cNvSpPr/>
          <p:nvPr/>
        </p:nvSpPr>
        <p:spPr>
          <a:xfrm>
            <a:off x="8229600" y="1901952"/>
            <a:ext cx="3108960" cy="1261872"/>
          </a:xfrm>
          <a:prstGeom prst="roundRect">
            <a:avLst>
              <a:gd name="adj" fmla="val 5797"/>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400"/>
              </a:spcAft>
              <a:buNone/>
            </a:pPr>
            <a:r>
              <a:rPr sz="1400" b="1">
                <a:solidFill>
                  <a:srgbClr val="FFFFFF"/>
                </a:solidFill>
              </a:rPr>
              <a:t>A new driver directly over TTC</a:t>
            </a:r>
          </a:p>
          <a:p>
            <a:pPr algn="l">
              <a:buNone/>
            </a:pPr>
            <a:r>
              <a:rPr sz="1200">
                <a:solidFill>
                  <a:srgbClr val="A9B7C4"/>
                </a:solidFill>
              </a:rPr>
              <a:t>Speak Oracle’s native wire protocol directly from Micronaut</a:t>
            </a:r>
          </a:p>
        </p:txBody>
      </p:sp>
      <p:sp>
        <p:nvSpPr>
          <p:cNvPr id="22" name="Rounded Rectangle 21"/>
          <p:cNvSpPr/>
          <p:nvPr/>
        </p:nvSpPr>
        <p:spPr>
          <a:xfrm>
            <a:off x="4983480" y="3319272"/>
            <a:ext cx="3108960" cy="1261872"/>
          </a:xfrm>
          <a:prstGeom prst="roundRect">
            <a:avLst>
              <a:gd name="adj" fmla="val 5797"/>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400"/>
              </a:spcAft>
              <a:buNone/>
            </a:pPr>
            <a:r>
              <a:rPr sz="1400" b="1">
                <a:solidFill>
                  <a:srgbClr val="FFFFFF"/>
                </a:solidFill>
              </a:rPr>
              <a:t>SQL over HTTP</a:t>
            </a:r>
          </a:p>
          <a:p>
            <a:pPr algn="l">
              <a:buNone/>
            </a:pPr>
            <a:r>
              <a:rPr sz="1200">
                <a:solidFill>
                  <a:srgbClr val="A9B7C4"/>
                </a:solidFill>
              </a:rPr>
              <a:t>Reach Oracle over HTTP where a JDBC connection doesn’t fit</a:t>
            </a:r>
          </a:p>
        </p:txBody>
      </p:sp>
      <p:sp>
        <p:nvSpPr>
          <p:cNvPr id="23" name="Rounded Rectangle 22"/>
          <p:cNvSpPr/>
          <p:nvPr/>
        </p:nvSpPr>
        <p:spPr>
          <a:xfrm>
            <a:off x="8229600" y="3319272"/>
            <a:ext cx="3108960" cy="1261872"/>
          </a:xfrm>
          <a:prstGeom prst="roundRect">
            <a:avLst>
              <a:gd name="adj" fmla="val 5797"/>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400"/>
              </a:spcAft>
              <a:buNone/>
            </a:pPr>
            <a:r>
              <a:rPr sz="1400" b="1">
                <a:solidFill>
                  <a:srgbClr val="FFFFFF"/>
                </a:solidFill>
              </a:rPr>
              <a:t>Graph in Micronaut Data</a:t>
            </a:r>
          </a:p>
          <a:p>
            <a:pPr algn="l">
              <a:buNone/>
            </a:pPr>
            <a:r>
              <a:rPr sz="1200">
                <a:solidFill>
                  <a:srgbClr val="A9B7C4"/>
                </a:solidFill>
              </a:rPr>
              <a:t>SQL property graphs and GRAPH_TABLE queries from repositories</a:t>
            </a:r>
          </a:p>
        </p:txBody>
      </p:sp>
      <p:sp>
        <p:nvSpPr>
          <p:cNvPr id="24" name="Rounded Rectangle 23"/>
          <p:cNvSpPr/>
          <p:nvPr/>
        </p:nvSpPr>
        <p:spPr>
          <a:xfrm>
            <a:off x="4983480" y="4736592"/>
            <a:ext cx="6355080" cy="914400"/>
          </a:xfrm>
          <a:prstGeom prst="roundRect">
            <a:avLst>
              <a:gd name="adj" fmla="val 8000"/>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Bef>
                <a:spcPts val="600"/>
              </a:spcBef>
              <a:spcAft>
                <a:spcPts val="400"/>
              </a:spcAft>
              <a:buNone/>
            </a:pPr>
            <a:r>
              <a:rPr sz="1400" b="1">
                <a:solidFill>
                  <a:srgbClr val="FFFFFF"/>
                </a:solidFill>
              </a:rPr>
              <a:t>More examples</a:t>
            </a:r>
          </a:p>
          <a:p>
            <a:pPr algn="l">
              <a:buNone/>
            </a:pPr>
            <a:r>
              <a:rPr sz="1200">
                <a:solidFill>
                  <a:srgbClr val="A9B7C4"/>
                </a:solidFill>
              </a:rPr>
              <a:t>Advanced Queuing and the Kafka Java APIs for Transactional Event Queues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database, every access path</a:t>
            </a:r>
          </a:p>
        </p:txBody>
      </p:sp>
      <p:sp>
        <p:nvSpPr>
          <p:cNvPr id="3" name="Text Placeholder 2"/>
          <p:cNvSpPr>
            <a:spLocks noGrp="1"/>
          </p:cNvSpPr>
          <p:nvPr>
            <p:ph type="body" idx="11" sz="quarter"/>
          </p:nvPr>
        </p:nvSpPr>
        <p:spPr/>
        <p:txBody>
          <a:bodyPr/>
          <a:lstStyle/>
          <a:p>
            <a:r>
              <a:t>Where each roadmap item plugs into an application</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E0634F"/>
                </a:solidFill>
              </a:rPr>
              <a:t>THEME 4  ·  ORACLE AI DATABASE</a:t>
            </a:r>
          </a:p>
        </p:txBody>
      </p:sp>
      <p:sp>
        <p:nvSpPr>
          <p:cNvPr id="11" name="Rounded Rectangle 10"/>
          <p:cNvSpPr/>
          <p:nvPr/>
        </p:nvSpPr>
        <p:spPr>
          <a:xfrm>
            <a:off x="768096" y="1691640"/>
            <a:ext cx="2743200" cy="4297680"/>
          </a:xfrm>
          <a:prstGeom prst="roundRect">
            <a:avLst>
              <a:gd name="adj" fmla="val 2666"/>
            </a:avLst>
          </a:prstGeom>
          <a:solidFill>
            <a:srgbClr val="25303A"/>
          </a:solidFill>
          <a:ln w="1905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ctr">
              <a:spcBef>
                <a:spcPts val="800"/>
              </a:spcBef>
              <a:spcAft>
                <a:spcPts val="600"/>
              </a:spcAft>
              <a:buNone/>
            </a:pPr>
            <a:r>
              <a:rPr sz="1500" b="1">
                <a:solidFill>
                  <a:srgbClr val="FFFFFF"/>
                </a:solidFill>
              </a:rPr>
              <a:t>Micronaut application</a:t>
            </a:r>
          </a:p>
        </p:txBody>
      </p:sp>
      <p:sp>
        <p:nvSpPr>
          <p:cNvPr id="12" name="Rounded Rectangle 11"/>
          <p:cNvSpPr/>
          <p:nvPr/>
        </p:nvSpPr>
        <p:spPr>
          <a:xfrm>
            <a:off x="960120" y="2331720"/>
            <a:ext cx="2359152" cy="685800"/>
          </a:xfrm>
          <a:prstGeom prst="roundRect">
            <a:avLst>
              <a:gd name="adj" fmla="val 10666"/>
            </a:avLst>
          </a:prstGeom>
          <a:solidFill>
            <a:srgbClr val="212A33"/>
          </a:solidFill>
          <a:ln w="952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Micronaut Data repositories</a:t>
            </a:r>
          </a:p>
        </p:txBody>
      </p:sp>
      <p:sp>
        <p:nvSpPr>
          <p:cNvPr id="13" name="Rounded Rectangle 12"/>
          <p:cNvSpPr/>
          <p:nvPr/>
        </p:nvSpPr>
        <p:spPr>
          <a:xfrm>
            <a:off x="960120" y="3200400"/>
            <a:ext cx="2359152" cy="685800"/>
          </a:xfrm>
          <a:prstGeom prst="roundRect">
            <a:avLst>
              <a:gd name="adj" fmla="val 10666"/>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Graph queries</a:t>
            </a:r>
          </a:p>
        </p:txBody>
      </p:sp>
      <p:sp>
        <p:nvSpPr>
          <p:cNvPr id="14" name="Rounded Rectangle 13"/>
          <p:cNvSpPr/>
          <p:nvPr/>
        </p:nvSpPr>
        <p:spPr>
          <a:xfrm>
            <a:off x="960120" y="4069079"/>
            <a:ext cx="2359152" cy="685800"/>
          </a:xfrm>
          <a:prstGeom prst="roundRect">
            <a:avLst>
              <a:gd name="adj" fmla="val 10666"/>
            </a:avLst>
          </a:prstGeom>
          <a:solidFill>
            <a:srgbClr val="212A33"/>
          </a:solidFill>
          <a:ln w="952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Messaging: AQ · Kafka APIs</a:t>
            </a:r>
          </a:p>
        </p:txBody>
      </p:sp>
      <p:sp>
        <p:nvSpPr>
          <p:cNvPr id="15" name="Rounded Rectangle 14"/>
          <p:cNvSpPr/>
          <p:nvPr/>
        </p:nvSpPr>
        <p:spPr>
          <a:xfrm>
            <a:off x="960120" y="4937759"/>
            <a:ext cx="2359152" cy="685800"/>
          </a:xfrm>
          <a:prstGeom prst="roundRect">
            <a:avLst>
              <a:gd name="adj" fmla="val 10666"/>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Change listeners</a:t>
            </a:r>
          </a:p>
        </p:txBody>
      </p:sp>
      <p:cxnSp>
        <p:nvCxnSpPr>
          <p:cNvPr id="16" name="Connector 15"/>
          <p:cNvCxnSpPr/>
          <p:nvPr/>
        </p:nvCxnSpPr>
        <p:spPr>
          <a:xfrm>
            <a:off x="3566160" y="2423160"/>
            <a:ext cx="4069080" cy="0"/>
          </a:xfrm>
          <a:prstGeom prst="line">
            <a:avLst/>
          </a:prstGeom>
          <a:ln w="19050">
            <a:solidFill>
              <a:srgbClr val="5B6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89120" y="2103120"/>
            <a:ext cx="2468880" cy="640080"/>
          </a:xfrm>
          <a:prstGeom prst="roundRect">
            <a:avLst>
              <a:gd name="adj" fmla="val 11428"/>
            </a:avLst>
          </a:prstGeom>
          <a:solidFill>
            <a:srgbClr val="25303A"/>
          </a:solidFill>
          <a:ln w="1587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50" b="1">
                <a:solidFill>
                  <a:srgbClr val="FFFFFF"/>
                </a:solidFill>
              </a:rPr>
              <a:t>JDBC + UCP</a:t>
            </a:r>
          </a:p>
          <a:p>
            <a:pPr algn="ctr">
              <a:buNone/>
            </a:pPr>
            <a:r>
              <a:rPr sz="950" b="1">
                <a:solidFill>
                  <a:srgbClr val="7D8B98"/>
                </a:solidFill>
              </a:rPr>
              <a:t>TODAY</a:t>
            </a:r>
          </a:p>
        </p:txBody>
      </p:sp>
      <p:cxnSp>
        <p:nvCxnSpPr>
          <p:cNvPr id="18" name="Connector 17"/>
          <p:cNvCxnSpPr/>
          <p:nvPr/>
        </p:nvCxnSpPr>
        <p:spPr>
          <a:xfrm>
            <a:off x="3566160" y="3383280"/>
            <a:ext cx="4069080" cy="0"/>
          </a:xfrm>
          <a:prstGeom prst="line">
            <a:avLst/>
          </a:prstGeom>
          <a:ln w="28575">
            <a:solidFill>
              <a:srgbClr val="E063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89120" y="3063240"/>
            <a:ext cx="2468880" cy="640080"/>
          </a:xfrm>
          <a:prstGeom prst="roundRect">
            <a:avLst>
              <a:gd name="adj" fmla="val 11428"/>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50" b="1">
                <a:solidFill>
                  <a:srgbClr val="FFFFFF"/>
                </a:solidFill>
              </a:rPr>
              <a:t>TTC driver</a:t>
            </a:r>
          </a:p>
          <a:p>
            <a:pPr algn="ctr">
              <a:buNone/>
            </a:pPr>
            <a:r>
              <a:rPr sz="950" b="1">
                <a:solidFill>
                  <a:srgbClr val="E0634F"/>
                </a:solidFill>
              </a:rPr>
              <a:t>NEW</a:t>
            </a:r>
          </a:p>
        </p:txBody>
      </p:sp>
      <p:cxnSp>
        <p:nvCxnSpPr>
          <p:cNvPr id="20" name="Connector 19"/>
          <p:cNvCxnSpPr/>
          <p:nvPr/>
        </p:nvCxnSpPr>
        <p:spPr>
          <a:xfrm>
            <a:off x="3566160" y="4343400"/>
            <a:ext cx="4069080" cy="0"/>
          </a:xfrm>
          <a:prstGeom prst="line">
            <a:avLst/>
          </a:prstGeom>
          <a:ln w="28575">
            <a:solidFill>
              <a:srgbClr val="E063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89120" y="4023360"/>
            <a:ext cx="2468880" cy="640080"/>
          </a:xfrm>
          <a:prstGeom prst="roundRect">
            <a:avLst>
              <a:gd name="adj" fmla="val 11428"/>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50" b="1">
                <a:solidFill>
                  <a:srgbClr val="FFFFFF"/>
                </a:solidFill>
              </a:rPr>
              <a:t>SQL over HTTP</a:t>
            </a:r>
          </a:p>
          <a:p>
            <a:pPr algn="ctr">
              <a:buNone/>
            </a:pPr>
            <a:r>
              <a:rPr sz="950" b="1">
                <a:solidFill>
                  <a:srgbClr val="E0634F"/>
                </a:solidFill>
              </a:rPr>
              <a:t>NEW</a:t>
            </a:r>
          </a:p>
        </p:txBody>
      </p:sp>
      <p:cxnSp>
        <p:nvCxnSpPr>
          <p:cNvPr id="22" name="Connector 21"/>
          <p:cNvCxnSpPr/>
          <p:nvPr/>
        </p:nvCxnSpPr>
        <p:spPr>
          <a:xfrm flipH="1">
            <a:off x="3566160" y="5349240"/>
            <a:ext cx="4069080" cy="0"/>
          </a:xfrm>
          <a:prstGeom prst="line">
            <a:avLst/>
          </a:prstGeom>
          <a:ln w="28575">
            <a:solidFill>
              <a:srgbClr val="E063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89120" y="5029200"/>
            <a:ext cx="2468880" cy="640080"/>
          </a:xfrm>
          <a:prstGeom prst="roundRect">
            <a:avLst>
              <a:gd name="adj" fmla="val 11428"/>
            </a:avLst>
          </a:prstGeom>
          <a:solidFill>
            <a:srgbClr val="2E3B47"/>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50" b="1">
                <a:solidFill>
                  <a:srgbClr val="FFFFFF"/>
                </a:solidFill>
              </a:rPr>
              <a:t>Query Change Notification</a:t>
            </a:r>
          </a:p>
          <a:p>
            <a:pPr algn="ctr">
              <a:buNone/>
            </a:pPr>
            <a:r>
              <a:rPr sz="950" b="1">
                <a:solidFill>
                  <a:srgbClr val="E0634F"/>
                </a:solidFill>
              </a:rPr>
              <a:t>NEW  ·  DATABASE → APP</a:t>
            </a:r>
          </a:p>
        </p:txBody>
      </p:sp>
      <p:sp>
        <p:nvSpPr>
          <p:cNvPr id="24" name="Rounded Rectangle 23"/>
          <p:cNvSpPr/>
          <p:nvPr/>
        </p:nvSpPr>
        <p:spPr>
          <a:xfrm>
            <a:off x="7680960" y="1691640"/>
            <a:ext cx="3749039" cy="4297680"/>
          </a:xfrm>
          <a:prstGeom prst="roundRect">
            <a:avLst>
              <a:gd name="adj" fmla="val 1951"/>
            </a:avLst>
          </a:prstGeom>
          <a:solidFill>
            <a:srgbClr val="25303A"/>
          </a:solidFill>
          <a:ln w="2222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1000"/>
              </a:spcAft>
              <a:buNone/>
            </a:pPr>
            <a:r>
              <a:rPr sz="1700" b="1">
                <a:solidFill>
                  <a:srgbClr val="E0634F"/>
                </a:solidFill>
              </a:rPr>
              <a:t>Oracle AI Database</a:t>
            </a:r>
          </a:p>
          <a:p>
            <a:pPr algn="l" marL="201168" indent="-201168">
              <a:spcAft>
                <a:spcPts val="600"/>
              </a:spcAft>
              <a:buClr>
                <a:srgbClr val="8BC34A"/>
              </a:buClr>
              <a:buSzPct val="100000"/>
              <a:buFont typeface="Arial"/>
              <a:buChar char="▪"/>
            </a:pPr>
            <a:r>
              <a:rPr sz="1300">
                <a:solidFill>
                  <a:srgbClr val="FFFFFF"/>
                </a:solidFill>
              </a:rPr>
              <a:t>Relational and JSON Duality Views</a:t>
            </a:r>
          </a:p>
          <a:p>
            <a:pPr algn="l" marL="201168" indent="-201168">
              <a:spcAft>
                <a:spcPts val="600"/>
              </a:spcAft>
              <a:buClr>
                <a:srgbClr val="8BC34A"/>
              </a:buClr>
              <a:buSzPct val="100000"/>
              <a:buFont typeface="Arial"/>
              <a:buChar char="▪"/>
            </a:pPr>
            <a:r>
              <a:rPr sz="1300">
                <a:solidFill>
                  <a:srgbClr val="FFFFFF"/>
                </a:solidFill>
              </a:rPr>
              <a:t>AI Vector Search and spatial</a:t>
            </a:r>
          </a:p>
          <a:p>
            <a:pPr algn="l" marL="201168" indent="-201168">
              <a:spcAft>
                <a:spcPts val="600"/>
              </a:spcAft>
              <a:buClr>
                <a:srgbClr val="8BC34A"/>
              </a:buClr>
              <a:buSzPct val="100000"/>
              <a:buFont typeface="Arial"/>
              <a:buChar char="▪"/>
            </a:pPr>
            <a:r>
              <a:rPr sz="1300">
                <a:solidFill>
                  <a:srgbClr val="FFFFFF"/>
                </a:solidFill>
              </a:rPr>
              <a:t>Transactional Event Queues and AQ</a:t>
            </a:r>
          </a:p>
          <a:p>
            <a:pPr algn="l" marL="201168" indent="-201168">
              <a:spcAft>
                <a:spcPts val="600"/>
              </a:spcAft>
              <a:buClr>
                <a:srgbClr val="E0634F"/>
              </a:buClr>
              <a:buSzPct val="100000"/>
              <a:buFont typeface="Arial"/>
              <a:buChar char="▪"/>
            </a:pPr>
            <a:r>
              <a:rPr sz="1300">
                <a:solidFill>
                  <a:srgbClr val="FFFFFF"/>
                </a:solidFill>
              </a:rPr>
              <a:t>SQL property graphs</a:t>
            </a:r>
          </a:p>
          <a:p>
            <a:pPr algn="l" marL="201168" indent="-201168">
              <a:buClr>
                <a:srgbClr val="E0634F"/>
              </a:buClr>
              <a:buSzPct val="100000"/>
              <a:buFont typeface="Arial"/>
              <a:buChar char="▪"/>
            </a:pPr>
            <a:r>
              <a:rPr sz="1300">
                <a:solidFill>
                  <a:srgbClr val="FFFFFF"/>
                </a:solidFill>
              </a:rPr>
              <a:t>Continuous query notification</a:t>
            </a:r>
          </a:p>
        </p:txBody>
      </p:sp>
      <p:sp>
        <p:nvSpPr>
          <p:cNvPr id="25" name="TextBox 24"/>
          <p:cNvSpPr txBox="1"/>
          <p:nvPr/>
        </p:nvSpPr>
        <p:spPr>
          <a:xfrm>
            <a:off x="7680960" y="6035040"/>
            <a:ext cx="1188720" cy="274320"/>
          </a:xfrm>
          <a:prstGeom prst="rect">
            <a:avLst/>
          </a:prstGeom>
          <a:noFill/>
        </p:spPr>
        <p:txBody>
          <a:bodyPr wrap="square" lIns="0" rIns="0" tIns="0" bIns="0" anchor="t"/>
          <a:lstStyle/>
          <a:p>
            <a:pPr>
              <a:buNone/>
            </a:pPr>
            <a:r>
              <a:rPr sz="1050">
                <a:solidFill>
                  <a:srgbClr val="8BC34A"/>
                </a:solidFill>
              </a:rPr>
              <a:t>● shipping</a:t>
            </a:r>
          </a:p>
        </p:txBody>
      </p:sp>
      <p:sp>
        <p:nvSpPr>
          <p:cNvPr id="26" name="TextBox 25"/>
          <p:cNvSpPr txBox="1"/>
          <p:nvPr/>
        </p:nvSpPr>
        <p:spPr>
          <a:xfrm>
            <a:off x="8869680" y="6035040"/>
            <a:ext cx="1371600" cy="274320"/>
          </a:xfrm>
          <a:prstGeom prst="rect">
            <a:avLst/>
          </a:prstGeom>
          <a:noFill/>
        </p:spPr>
        <p:txBody>
          <a:bodyPr wrap="square" lIns="0" rIns="0" tIns="0" bIns="0" anchor="t"/>
          <a:lstStyle/>
          <a:p>
            <a:pPr>
              <a:buNone/>
            </a:pPr>
            <a:r>
              <a:rPr sz="1050">
                <a:solidFill>
                  <a:srgbClr val="E0634F"/>
                </a:solidFill>
              </a:rPr>
              <a:t>● roadmap</a:t>
            </a:r>
          </a:p>
        </p:txBody>
      </p:sp>
      <p:pic>
        <p:nvPicPr>
          <p:cNvPr id="27" name="Picture 26" descr="plant.png"/>
          <p:cNvPicPr>
            <a:picLocks noChangeAspect="1"/>
          </p:cNvPicPr>
          <p:nvPr/>
        </p:nvPicPr>
        <p:blipFill>
          <a:blip r:embed="rId3"/>
          <a:stretch>
            <a:fillRect/>
          </a:stretch>
        </p:blipFill>
        <p:spPr>
          <a:xfrm>
            <a:off x="9326880" y="4617720"/>
            <a:ext cx="1634781" cy="11887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Hardening through AI: the Netty server</a:t>
            </a:r>
          </a:p>
        </p:txBody>
      </p:sp>
      <p:sp>
        <p:nvSpPr>
          <p:cNvPr id="3" name="Text Placeholder 2"/>
          <p:cNvSpPr>
            <a:spLocks noGrp="1"/>
          </p:cNvSpPr>
          <p:nvPr>
            <p:ph type="body" idx="11" sz="quarter"/>
          </p:nvPr>
        </p:nvSpPr>
        <p:spPr/>
        <p:txBody>
          <a:bodyPr/>
          <a:lstStyle/>
          <a:p>
            <a:r>
              <a:t>An AI-driven review of the HTTP server, September 2026</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9B6BB5"/>
                </a:solidFill>
              </a:rPr>
              <a:t>THEME 5  ·  AI HARDENING</a:t>
            </a:r>
          </a:p>
        </p:txBody>
      </p:sp>
      <p:graphicFrame>
        <p:nvGraphicFramePr>
          <p:cNvPr id="11" name="Chart 10"/>
          <p:cNvGraphicFramePr>
            <a:graphicFrameLocks noGrp="1"/>
          </p:cNvGraphicFramePr>
          <p:nvPr/>
        </p:nvGraphicFramePr>
        <p:xfrm>
          <a:off x="768096" y="1600200"/>
          <a:ext cx="4206240" cy="3017520"/>
        </p:xfrm>
        <a:graphic>
          <a:graphicData uri="http://schemas.openxmlformats.org/drawingml/2006/chart">
            <c:chart xmlns:c="http://schemas.openxmlformats.org/drawingml/2006/chart" r:id="rId3"/>
          </a:graphicData>
        </a:graphic>
      </p:graphicFrame>
      <p:sp>
        <p:nvSpPr>
          <p:cNvPr id="12" name="TextBox 11"/>
          <p:cNvSpPr txBox="1"/>
          <p:nvPr/>
        </p:nvSpPr>
        <p:spPr>
          <a:xfrm>
            <a:off x="768096" y="4663440"/>
            <a:ext cx="4206240" cy="457200"/>
          </a:xfrm>
          <a:prstGeom prst="rect">
            <a:avLst/>
          </a:prstGeom>
          <a:noFill/>
        </p:spPr>
        <p:txBody>
          <a:bodyPr wrap="square" lIns="0" rIns="0" tIns="0" bIns="0" anchor="t"/>
          <a:lstStyle/>
          <a:p>
            <a:pPr algn="ctr">
              <a:buNone/>
            </a:pPr>
            <a:r>
              <a:rPr sz="1400" b="1">
                <a:solidFill>
                  <a:srgbClr val="FFFFFF"/>
                </a:solidFill>
              </a:rPr>
              <a:t>77 findings</a:t>
            </a:r>
            <a:r>
              <a:rPr sz="1400">
                <a:solidFill>
                  <a:srgbClr val="FFFFFF"/>
                </a:solidFill>
              </a:rPr>
              <a:t>, each traced through the source</a:t>
            </a:r>
          </a:p>
        </p:txBody>
      </p:sp>
      <p:sp>
        <p:nvSpPr>
          <p:cNvPr id="13" name="Rounded Rectangle 12"/>
          <p:cNvSpPr/>
          <p:nvPr/>
        </p:nvSpPr>
        <p:spPr>
          <a:xfrm>
            <a:off x="768096" y="5212080"/>
            <a:ext cx="4206240" cy="960120"/>
          </a:xfrm>
          <a:prstGeom prst="roundRect">
            <a:avLst>
              <a:gd name="adj" fmla="val 7619"/>
            </a:avLst>
          </a:prstGeom>
          <a:solidFill>
            <a:srgbClr val="2E3B47"/>
          </a:solidFill>
          <a:ln w="1905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500" b="1">
                <a:solidFill>
                  <a:srgbClr val="9B6BB5"/>
                </a:solidFill>
              </a:rPr>
              <a:t>8 pull requests prepared</a:t>
            </a:r>
          </a:p>
          <a:p>
            <a:pPr algn="l">
              <a:buNone/>
            </a:pPr>
            <a:r>
              <a:rPr sz="1200">
                <a:solidFill>
                  <a:srgbClr val="A9B7C4"/>
                </a:solidFill>
              </a:rPr>
              <a:t>one concern each, with regression tests that fail on the base commit</a:t>
            </a:r>
          </a:p>
        </p:txBody>
      </p:sp>
      <p:sp>
        <p:nvSpPr>
          <p:cNvPr id="14" name="TextBox 13"/>
          <p:cNvSpPr txBox="1"/>
          <p:nvPr/>
        </p:nvSpPr>
        <p:spPr>
          <a:xfrm>
            <a:off x="5349240" y="1572768"/>
            <a:ext cx="6035040" cy="256032"/>
          </a:xfrm>
          <a:prstGeom prst="rect">
            <a:avLst/>
          </a:prstGeom>
          <a:noFill/>
        </p:spPr>
        <p:txBody>
          <a:bodyPr wrap="square" lIns="0" rIns="0" tIns="0" bIns="0" anchor="ctr"/>
          <a:lstStyle/>
          <a:p>
            <a:pPr algn="l">
              <a:buNone/>
            </a:pPr>
            <a:r>
              <a:rPr sz="1100" b="1">
                <a:solidFill>
                  <a:srgbClr val="9B6BB5"/>
                </a:solidFill>
              </a:rPr>
              <a:t>FIX FIRST</a:t>
            </a:r>
          </a:p>
        </p:txBody>
      </p:sp>
      <p:sp>
        <p:nvSpPr>
          <p:cNvPr id="15" name="Rounded Rectangle 14"/>
          <p:cNvSpPr/>
          <p:nvPr/>
        </p:nvSpPr>
        <p:spPr>
          <a:xfrm>
            <a:off x="5349240" y="1874519"/>
            <a:ext cx="6080760" cy="749808"/>
          </a:xfrm>
          <a:prstGeom prst="roundRect">
            <a:avLst>
              <a:gd name="adj" fmla="val 609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b="1">
                <a:solidFill>
                  <a:srgbClr val="FFFFFF"/>
                </a:solidFill>
              </a:rPr>
              <a:t>Decompression amplification</a:t>
            </a:r>
          </a:p>
          <a:p>
            <a:pPr algn="l">
              <a:buNone/>
            </a:pPr>
            <a:r>
              <a:rPr sz="1150">
                <a:solidFill>
                  <a:srgbClr val="A9B7C4"/>
                </a:solidFill>
              </a:rPr>
              <a:t>a 1 MB gzip body could force ~1 GB of allocation before any limit applied</a:t>
            </a:r>
          </a:p>
        </p:txBody>
      </p:sp>
      <p:sp>
        <p:nvSpPr>
          <p:cNvPr id="16" name="Rounded Rectangle 15"/>
          <p:cNvSpPr/>
          <p:nvPr/>
        </p:nvSpPr>
        <p:spPr>
          <a:xfrm>
            <a:off x="5349240" y="2743200"/>
            <a:ext cx="6080760" cy="749808"/>
          </a:xfrm>
          <a:prstGeom prst="roundRect">
            <a:avLst>
              <a:gd name="adj" fmla="val 609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b="1">
                <a:solidFill>
                  <a:srgbClr val="FFFFFF"/>
                </a:solidFill>
              </a:rPr>
              <a:t>Claimed but unconsumed bodies</a:t>
            </a:r>
          </a:p>
          <a:p>
            <a:pPr algn="l">
              <a:buNone/>
            </a:pPr>
            <a:r>
              <a:rPr sz="1150">
                <a:solidFill>
                  <a:srgbClr val="A9B7C4"/>
                </a:solidFill>
              </a:rPr>
              <a:t>Publisher, InputStream and multipart bodies leaked and stalled keep-alive connections</a:t>
            </a:r>
          </a:p>
        </p:txBody>
      </p:sp>
      <p:sp>
        <p:nvSpPr>
          <p:cNvPr id="17" name="Rounded Rectangle 16"/>
          <p:cNvSpPr/>
          <p:nvPr/>
        </p:nvSpPr>
        <p:spPr>
          <a:xfrm>
            <a:off x="5349240" y="3611879"/>
            <a:ext cx="6080760" cy="749808"/>
          </a:xfrm>
          <a:prstGeom prst="roundRect">
            <a:avLst>
              <a:gd name="adj" fmla="val 609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b="1">
                <a:solidFill>
                  <a:srgbClr val="FFFFFF"/>
                </a:solidFill>
              </a:rPr>
              <a:t>HTTP/2 stream termination</a:t>
            </a:r>
          </a:p>
          <a:p>
            <a:pPr algn="l">
              <a:buNone/>
            </a:pPr>
            <a:r>
              <a:rPr sz="1150">
                <a:solidFill>
                  <a:srgbClr val="A9B7C4"/>
                </a:solidFill>
              </a:rPr>
              <a:t>connection loss never reached streams; trailers and graceful GOAWAY mishandled</a:t>
            </a:r>
          </a:p>
        </p:txBody>
      </p:sp>
      <p:sp>
        <p:nvSpPr>
          <p:cNvPr id="18" name="Rounded Rectangle 17"/>
          <p:cNvSpPr/>
          <p:nvPr/>
        </p:nvSpPr>
        <p:spPr>
          <a:xfrm>
            <a:off x="5349240" y="4480559"/>
            <a:ext cx="6080760" cy="749808"/>
          </a:xfrm>
          <a:prstGeom prst="roundRect">
            <a:avLst>
              <a:gd name="adj" fmla="val 609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b="1">
                <a:solidFill>
                  <a:srgbClr val="FFFFFF"/>
                </a:solidFill>
              </a:rPr>
              <a:t>HTTP/3 session isolation</a:t>
            </a:r>
          </a:p>
          <a:p>
            <a:pPr algn="l">
              <a:buNone/>
            </a:pPr>
            <a:r>
              <a:rPr sz="1150">
                <a:solidFill>
                  <a:srgbClr val="A9B7C4"/>
                </a:solidFill>
              </a:rPr>
              <a:t>one SSLEngine shared across QUIC connections could expose another client’s certificate</a:t>
            </a:r>
          </a:p>
        </p:txBody>
      </p:sp>
      <p:sp>
        <p:nvSpPr>
          <p:cNvPr id="19" name="Rounded Rectangle 18"/>
          <p:cNvSpPr/>
          <p:nvPr/>
        </p:nvSpPr>
        <p:spPr>
          <a:xfrm>
            <a:off x="5349240" y="5349240"/>
            <a:ext cx="6080760" cy="749808"/>
          </a:xfrm>
          <a:prstGeom prst="roundRect">
            <a:avLst>
              <a:gd name="adj" fmla="val 609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50" b="1">
                <a:solidFill>
                  <a:srgbClr val="FFFFFF"/>
                </a:solidFill>
              </a:rPr>
              <a:t>WebSocket close and framing</a:t>
            </a:r>
          </a:p>
          <a:p>
            <a:pPr algn="l">
              <a:buNone/>
            </a:pPr>
            <a:r>
              <a:rPr sz="1150">
                <a:solidFill>
                  <a:srgbClr val="A9B7C4"/>
                </a:solidFill>
              </a:rPr>
              <a:t>server close without @OnClose never closed TCP; fragments decoded incorrectly</a:t>
            </a:r>
          </a:p>
        </p:txBody>
      </p:sp>
      <p:pic>
        <p:nvPicPr>
          <p:cNvPr id="20" name="Picture 19" descr="magnify.png"/>
          <p:cNvPicPr>
            <a:picLocks noChangeAspect="1"/>
          </p:cNvPicPr>
          <p:nvPr/>
        </p:nvPicPr>
        <p:blipFill>
          <a:blip r:embed="rId4"/>
          <a:stretch>
            <a:fillRect/>
          </a:stretch>
        </p:blipFill>
        <p:spPr>
          <a:xfrm>
            <a:off x="914400" y="1691640"/>
            <a:ext cx="969818" cy="960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hardening loop, across the framework</a:t>
            </a:r>
          </a:p>
        </p:txBody>
      </p:sp>
      <p:sp>
        <p:nvSpPr>
          <p:cNvPr id="3" name="Text Placeholder 2"/>
          <p:cNvSpPr>
            <a:spLocks noGrp="1"/>
          </p:cNvSpPr>
          <p:nvPr>
            <p:ph type="body" idx="11" sz="quarter"/>
          </p:nvPr>
        </p:nvSpPr>
        <p:spPr/>
        <p:txBody>
          <a:bodyPr/>
          <a:lstStyle/>
          <a:p>
            <a:r>
              <a:t>Better performance across HTTP, serialization and framework internals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9B6BB5"/>
                </a:solidFill>
              </a:rPr>
              <a:t>THEME 5  ·  AI HARDENING</a:t>
            </a:r>
          </a:p>
        </p:txBody>
      </p:sp>
      <p:sp>
        <p:nvSpPr>
          <p:cNvPr id="11" name="Rounded Rectangle 10"/>
          <p:cNvSpPr/>
          <p:nvPr/>
        </p:nvSpPr>
        <p:spPr>
          <a:xfrm>
            <a:off x="2331720" y="1673352"/>
            <a:ext cx="1828800" cy="950976"/>
          </a:xfrm>
          <a:prstGeom prst="roundRect">
            <a:avLst>
              <a:gd name="adj" fmla="val 7692"/>
            </a:avLst>
          </a:prstGeom>
          <a:solidFill>
            <a:srgbClr val="2E3B47"/>
          </a:solidFill>
          <a:ln w="1905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Review</a:t>
            </a:r>
          </a:p>
          <a:p>
            <a:pPr algn="ctr">
              <a:buNone/>
            </a:pPr>
            <a:r>
              <a:rPr sz="950">
                <a:solidFill>
                  <a:srgbClr val="A9B7C4"/>
                </a:solidFill>
              </a:rPr>
              <a:t>AI traces call paths; findings ranked by severity</a:t>
            </a:r>
          </a:p>
        </p:txBody>
      </p:sp>
      <p:sp>
        <p:nvSpPr>
          <p:cNvPr id="12" name="Rounded Rectangle 11"/>
          <p:cNvSpPr/>
          <p:nvPr/>
        </p:nvSpPr>
        <p:spPr>
          <a:xfrm>
            <a:off x="3931920" y="3456432"/>
            <a:ext cx="1828800" cy="950976"/>
          </a:xfrm>
          <a:prstGeom prst="roundRect">
            <a:avLst>
              <a:gd name="adj" fmla="val 7692"/>
            </a:avLst>
          </a:prstGeom>
          <a:solidFill>
            <a:srgbClr val="2E3B47"/>
          </a:solidFill>
          <a:ln w="1905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Baseline</a:t>
            </a:r>
          </a:p>
          <a:p>
            <a:pPr algn="ctr">
              <a:buNone/>
            </a:pPr>
            <a:r>
              <a:rPr sz="950">
                <a:solidFill>
                  <a:srgbClr val="A9B7C4"/>
                </a:solidFill>
              </a:rPr>
              <a:t>reproducible JMH scenarios before changing code</a:t>
            </a:r>
          </a:p>
        </p:txBody>
      </p:sp>
      <p:sp>
        <p:nvSpPr>
          <p:cNvPr id="13" name="Rounded Rectangle 12"/>
          <p:cNvSpPr/>
          <p:nvPr/>
        </p:nvSpPr>
        <p:spPr>
          <a:xfrm>
            <a:off x="2331720" y="5193792"/>
            <a:ext cx="1828800" cy="950976"/>
          </a:xfrm>
          <a:prstGeom prst="roundRect">
            <a:avLst>
              <a:gd name="adj" fmla="val 7692"/>
            </a:avLst>
          </a:prstGeom>
          <a:solidFill>
            <a:srgbClr val="2E3B47"/>
          </a:solidFill>
          <a:ln w="1905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Fix</a:t>
            </a:r>
          </a:p>
          <a:p>
            <a:pPr algn="ctr">
              <a:buNone/>
            </a:pPr>
            <a:r>
              <a:rPr sz="950">
                <a:solidFill>
                  <a:srgbClr val="A9B7C4"/>
                </a:solidFill>
              </a:rPr>
              <a:t>one concern per PR, failing test first</a:t>
            </a:r>
          </a:p>
        </p:txBody>
      </p:sp>
      <p:sp>
        <p:nvSpPr>
          <p:cNvPr id="14" name="Rounded Rectangle 13"/>
          <p:cNvSpPr/>
          <p:nvPr/>
        </p:nvSpPr>
        <p:spPr>
          <a:xfrm>
            <a:off x="731519" y="3456432"/>
            <a:ext cx="1828800" cy="950976"/>
          </a:xfrm>
          <a:prstGeom prst="roundRect">
            <a:avLst>
              <a:gd name="adj" fmla="val 7692"/>
            </a:avLst>
          </a:prstGeom>
          <a:solidFill>
            <a:srgbClr val="2E3B47"/>
          </a:solidFill>
          <a:ln w="19050">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Re-measure</a:t>
            </a:r>
          </a:p>
          <a:p>
            <a:pPr algn="ctr">
              <a:buNone/>
            </a:pPr>
            <a:r>
              <a:rPr sz="950">
                <a:solidFill>
                  <a:srgbClr val="A9B7C4"/>
                </a:solidFill>
              </a:rPr>
              <a:t>compare against the baseline; keep what’s real</a:t>
            </a:r>
          </a:p>
        </p:txBody>
      </p:sp>
      <p:cxnSp>
        <p:nvCxnSpPr>
          <p:cNvPr id="15" name="Connector 14"/>
          <p:cNvCxnSpPr/>
          <p:nvPr/>
        </p:nvCxnSpPr>
        <p:spPr>
          <a:xfrm>
            <a:off x="4178808" y="2377440"/>
            <a:ext cx="438912" cy="1060704"/>
          </a:xfrm>
          <a:prstGeom prst="line">
            <a:avLst/>
          </a:prstGeom>
          <a:ln w="22225">
            <a:solidFill>
              <a:srgbClr val="9B6B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178808" y="4425696"/>
            <a:ext cx="438912" cy="1014984"/>
          </a:xfrm>
          <a:prstGeom prst="line">
            <a:avLst/>
          </a:prstGeom>
          <a:ln w="22225">
            <a:solidFill>
              <a:srgbClr val="9B6B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1874519" y="4425696"/>
            <a:ext cx="438913" cy="1014984"/>
          </a:xfrm>
          <a:prstGeom prst="line">
            <a:avLst/>
          </a:prstGeom>
          <a:ln w="22225">
            <a:solidFill>
              <a:srgbClr val="9B6B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874519" y="2377440"/>
            <a:ext cx="438913" cy="1060704"/>
          </a:xfrm>
          <a:prstGeom prst="line">
            <a:avLst/>
          </a:prstGeom>
          <a:ln w="22225">
            <a:solidFill>
              <a:srgbClr val="9B6B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9" name="Picture 18" descr="broom.png"/>
          <p:cNvPicPr>
            <a:picLocks noChangeAspect="1"/>
          </p:cNvPicPr>
          <p:nvPr/>
        </p:nvPicPr>
        <p:blipFill>
          <a:blip r:embed="rId3"/>
          <a:stretch>
            <a:fillRect/>
          </a:stretch>
        </p:blipFill>
        <p:spPr>
          <a:xfrm>
            <a:off x="2679191" y="3474720"/>
            <a:ext cx="1032387" cy="914400"/>
          </a:xfrm>
          <a:prstGeom prst="rect">
            <a:avLst/>
          </a:prstGeom>
        </p:spPr>
      </p:pic>
      <p:sp>
        <p:nvSpPr>
          <p:cNvPr id="20" name="TextBox 19"/>
          <p:cNvSpPr txBox="1"/>
          <p:nvPr/>
        </p:nvSpPr>
        <p:spPr>
          <a:xfrm>
            <a:off x="6126480" y="1572768"/>
            <a:ext cx="5303520" cy="256032"/>
          </a:xfrm>
          <a:prstGeom prst="rect">
            <a:avLst/>
          </a:prstGeom>
          <a:noFill/>
        </p:spPr>
        <p:txBody>
          <a:bodyPr wrap="square" lIns="0" rIns="0" tIns="0" bIns="0" anchor="ctr"/>
          <a:lstStyle/>
          <a:p>
            <a:pPr algn="l">
              <a:buNone/>
            </a:pPr>
            <a:r>
              <a:rPr sz="1100" b="1">
                <a:solidFill>
                  <a:srgbClr val="9B6BB5"/>
                </a:solidFill>
              </a:rPr>
              <a:t>WHAT THE HTTP BASELINE ALREADY SHOWS</a:t>
            </a:r>
          </a:p>
        </p:txBody>
      </p:sp>
      <p:sp>
        <p:nvSpPr>
          <p:cNvPr id="21" name="TextBox 20"/>
          <p:cNvSpPr txBox="1"/>
          <p:nvPr/>
        </p:nvSpPr>
        <p:spPr>
          <a:xfrm>
            <a:off x="6126480" y="1874519"/>
            <a:ext cx="2240280" cy="658368"/>
          </a:xfrm>
          <a:prstGeom prst="rect">
            <a:avLst/>
          </a:prstGeom>
          <a:noFill/>
        </p:spPr>
        <p:txBody>
          <a:bodyPr wrap="square" lIns="0" rIns="0" tIns="0" bIns="0" anchor="ctr"/>
          <a:lstStyle/>
          <a:p>
            <a:pPr>
              <a:buNone/>
            </a:pPr>
            <a:r>
              <a:rPr sz="1400" b="1">
                <a:solidFill>
                  <a:srgbClr val="F19111"/>
                </a:solidFill>
              </a:rPr>
              <a:t>~700 ns · 2.5 KB</a:t>
            </a:r>
          </a:p>
        </p:txBody>
      </p:sp>
      <p:sp>
        <p:nvSpPr>
          <p:cNvPr id="22" name="TextBox 21"/>
          <p:cNvSpPr txBox="1"/>
          <p:nvPr/>
        </p:nvSpPr>
        <p:spPr>
          <a:xfrm>
            <a:off x="8412480" y="1874519"/>
            <a:ext cx="3017520" cy="658368"/>
          </a:xfrm>
          <a:prstGeom prst="rect">
            <a:avLst/>
          </a:prstGeom>
          <a:noFill/>
        </p:spPr>
        <p:txBody>
          <a:bodyPr wrap="square" lIns="0" rIns="0" tIns="0" bIns="0" anchor="ctr"/>
          <a:lstStyle/>
          <a:p>
            <a:pPr>
              <a:buNone/>
            </a:pPr>
            <a:r>
              <a:rPr sz="1200">
                <a:solidFill>
                  <a:srgbClr val="FFFFFF"/>
                </a:solidFill>
              </a:rPr>
              <a:t>per request parsing browser Accept headers — cache them across requests</a:t>
            </a:r>
          </a:p>
        </p:txBody>
      </p:sp>
      <p:sp>
        <p:nvSpPr>
          <p:cNvPr id="23" name="TextBox 22"/>
          <p:cNvSpPr txBox="1"/>
          <p:nvPr/>
        </p:nvSpPr>
        <p:spPr>
          <a:xfrm>
            <a:off x="6126480" y="2660903"/>
            <a:ext cx="2240280" cy="658368"/>
          </a:xfrm>
          <a:prstGeom prst="rect">
            <a:avLst/>
          </a:prstGeom>
          <a:noFill/>
        </p:spPr>
        <p:txBody>
          <a:bodyPr wrap="square" lIns="0" rIns="0" tIns="0" bIns="0" anchor="ctr"/>
          <a:lstStyle/>
          <a:p>
            <a:pPr>
              <a:buNone/>
            </a:pPr>
            <a:r>
              <a:rPr sz="1400" b="1">
                <a:solidFill>
                  <a:srgbClr val="F19111"/>
                </a:solidFill>
              </a:rPr>
              <a:t>1.5 µs · 1.7 KB</a:t>
            </a:r>
          </a:p>
        </p:txBody>
      </p:sp>
      <p:sp>
        <p:nvSpPr>
          <p:cNvPr id="24" name="TextBox 23"/>
          <p:cNvSpPr txBox="1"/>
          <p:nvPr/>
        </p:nvSpPr>
        <p:spPr>
          <a:xfrm>
            <a:off x="8412480" y="2660903"/>
            <a:ext cx="3017520" cy="658368"/>
          </a:xfrm>
          <a:prstGeom prst="rect">
            <a:avLst/>
          </a:prstGeom>
          <a:noFill/>
        </p:spPr>
        <p:txBody>
          <a:bodyPr wrap="square" lIns="0" rIns="0" tIns="0" bIns="0" anchor="ctr"/>
          <a:lstStyle/>
          <a:p>
            <a:pPr>
              <a:buNone/>
            </a:pPr>
            <a:r>
              <a:rPr sz="1200">
                <a:solidFill>
                  <a:srgbClr val="FFFFFF"/>
                </a:solidFill>
              </a:rPr>
              <a:t>per element when streaming a JSON array response</a:t>
            </a:r>
          </a:p>
        </p:txBody>
      </p:sp>
      <p:sp>
        <p:nvSpPr>
          <p:cNvPr id="25" name="TextBox 24"/>
          <p:cNvSpPr txBox="1"/>
          <p:nvPr/>
        </p:nvSpPr>
        <p:spPr>
          <a:xfrm>
            <a:off x="6126480" y="3447287"/>
            <a:ext cx="2240280" cy="658368"/>
          </a:xfrm>
          <a:prstGeom prst="rect">
            <a:avLst/>
          </a:prstGeom>
          <a:noFill/>
        </p:spPr>
        <p:txBody>
          <a:bodyPr wrap="square" lIns="0" rIns="0" tIns="0" bIns="0" anchor="ctr"/>
          <a:lstStyle/>
          <a:p>
            <a:pPr>
              <a:buNone/>
            </a:pPr>
            <a:r>
              <a:rPr sz="1400" b="1">
                <a:solidFill>
                  <a:srgbClr val="F19111"/>
                </a:solidFill>
              </a:rPr>
              <a:t>2.4× time · 3× allocation</a:t>
            </a:r>
          </a:p>
        </p:txBody>
      </p:sp>
      <p:sp>
        <p:nvSpPr>
          <p:cNvPr id="26" name="TextBox 25"/>
          <p:cNvSpPr txBox="1"/>
          <p:nvPr/>
        </p:nvSpPr>
        <p:spPr>
          <a:xfrm>
            <a:off x="8412480" y="3447287"/>
            <a:ext cx="3017520" cy="658368"/>
          </a:xfrm>
          <a:prstGeom prst="rect">
            <a:avLst/>
          </a:prstGeom>
          <a:noFill/>
        </p:spPr>
        <p:txBody>
          <a:bodyPr wrap="square" lIns="0" rIns="0" tIns="0" bIns="0" anchor="ctr"/>
          <a:lstStyle/>
          <a:p>
            <a:pPr>
              <a:buNone/>
            </a:pPr>
            <a:r>
              <a:rPr sz="1200">
                <a:solidFill>
                  <a:srgbClr val="FFFFFF"/>
                </a:solidFill>
              </a:rPr>
              <a:t>binding a JSON array as Flux&lt;T&gt; instead of List&lt;T&gt;</a:t>
            </a:r>
          </a:p>
        </p:txBody>
      </p:sp>
      <p:sp>
        <p:nvSpPr>
          <p:cNvPr id="27" name="TextBox 26"/>
          <p:cNvSpPr txBox="1"/>
          <p:nvPr/>
        </p:nvSpPr>
        <p:spPr>
          <a:xfrm>
            <a:off x="6126480" y="4233672"/>
            <a:ext cx="2240280" cy="658368"/>
          </a:xfrm>
          <a:prstGeom prst="rect">
            <a:avLst/>
          </a:prstGeom>
          <a:noFill/>
        </p:spPr>
        <p:txBody>
          <a:bodyPr wrap="square" lIns="0" rIns="0" tIns="0" bIns="0" anchor="ctr"/>
          <a:lstStyle/>
          <a:p>
            <a:pPr>
              <a:buNone/>
            </a:pPr>
            <a:r>
              <a:rPr sz="1400" b="1">
                <a:solidFill>
                  <a:srgbClr val="F19111"/>
                </a:solidFill>
              </a:rPr>
              <a:t>2.2 – 3.3× its size</a:t>
            </a:r>
          </a:p>
        </p:txBody>
      </p:sp>
      <p:sp>
        <p:nvSpPr>
          <p:cNvPr id="28" name="TextBox 27"/>
          <p:cNvSpPr txBox="1"/>
          <p:nvPr/>
        </p:nvSpPr>
        <p:spPr>
          <a:xfrm>
            <a:off x="8412480" y="4233672"/>
            <a:ext cx="3017520" cy="658368"/>
          </a:xfrm>
          <a:prstGeom prst="rect">
            <a:avLst/>
          </a:prstGeom>
          <a:noFill/>
        </p:spPr>
        <p:txBody>
          <a:bodyPr wrap="square" lIns="0" rIns="0" tIns="0" bIns="0" anchor="ctr"/>
          <a:lstStyle/>
          <a:p>
            <a:pPr>
              <a:buNone/>
            </a:pPr>
            <a:r>
              <a:rPr sz="1200">
                <a:solidFill>
                  <a:srgbClr val="FFFFFF"/>
                </a:solidFill>
              </a:rPr>
              <a:t>heap allocated for a 64 KiB multipart upload</a:t>
            </a:r>
          </a:p>
        </p:txBody>
      </p:sp>
      <p:sp>
        <p:nvSpPr>
          <p:cNvPr id="29" name="TextBox 28"/>
          <p:cNvSpPr txBox="1"/>
          <p:nvPr/>
        </p:nvSpPr>
        <p:spPr>
          <a:xfrm>
            <a:off x="6126480" y="5074920"/>
            <a:ext cx="5303520" cy="256032"/>
          </a:xfrm>
          <a:prstGeom prst="rect">
            <a:avLst/>
          </a:prstGeom>
          <a:noFill/>
        </p:spPr>
        <p:txBody>
          <a:bodyPr wrap="square" lIns="0" rIns="0" tIns="0" bIns="0" anchor="ctr"/>
          <a:lstStyle/>
          <a:p>
            <a:pPr algn="l">
              <a:buNone/>
            </a:pPr>
            <a:r>
              <a:rPr sz="1100" b="1">
                <a:solidFill>
                  <a:srgbClr val="A9B7C4"/>
                </a:solidFill>
              </a:rPr>
              <a:t>NEXT PASSES</a:t>
            </a:r>
          </a:p>
        </p:txBody>
      </p:sp>
      <p:sp>
        <p:nvSpPr>
          <p:cNvPr id="30" name="Rounded Rectangle 29"/>
          <p:cNvSpPr/>
          <p:nvPr/>
        </p:nvSpPr>
        <p:spPr>
          <a:xfrm>
            <a:off x="6126480" y="5394960"/>
            <a:ext cx="1417320" cy="420624"/>
          </a:xfrm>
          <a:prstGeom prst="roundRect">
            <a:avLst>
              <a:gd name="adj" fmla="val 50000"/>
            </a:avLst>
          </a:prstGeom>
          <a:solidFill>
            <a:srgbClr val="25303A"/>
          </a:solidFill>
          <a:ln w="15875">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HTTP client</a:t>
            </a:r>
          </a:p>
        </p:txBody>
      </p:sp>
      <p:sp>
        <p:nvSpPr>
          <p:cNvPr id="31" name="Rounded Rectangle 30"/>
          <p:cNvSpPr/>
          <p:nvPr/>
        </p:nvSpPr>
        <p:spPr>
          <a:xfrm>
            <a:off x="7653528" y="5394960"/>
            <a:ext cx="1554480" cy="420624"/>
          </a:xfrm>
          <a:prstGeom prst="roundRect">
            <a:avLst>
              <a:gd name="adj" fmla="val 50000"/>
            </a:avLst>
          </a:prstGeom>
          <a:solidFill>
            <a:srgbClr val="25303A"/>
          </a:solidFill>
          <a:ln w="15875">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Serialization</a:t>
            </a:r>
          </a:p>
        </p:txBody>
      </p:sp>
      <p:sp>
        <p:nvSpPr>
          <p:cNvPr id="32" name="Rounded Rectangle 31"/>
          <p:cNvSpPr/>
          <p:nvPr/>
        </p:nvSpPr>
        <p:spPr>
          <a:xfrm>
            <a:off x="9317736" y="5394960"/>
            <a:ext cx="2148840" cy="420624"/>
          </a:xfrm>
          <a:prstGeom prst="roundRect">
            <a:avLst>
              <a:gd name="adj" fmla="val 50000"/>
            </a:avLst>
          </a:prstGeom>
          <a:solidFill>
            <a:srgbClr val="25303A"/>
          </a:solidFill>
          <a:ln w="15875">
            <a:solidFill>
              <a:srgbClr val="9B6B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Bean context and AOP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Make the developer experience great</a:t>
            </a:r>
          </a:p>
        </p:txBody>
      </p:sp>
      <p:sp>
        <p:nvSpPr>
          <p:cNvPr id="3" name="Text Placeholder 2"/>
          <p:cNvSpPr>
            <a:spLocks noGrp="1"/>
          </p:cNvSpPr>
          <p:nvPr>
            <p:ph type="body" idx="11" sz="quarter"/>
          </p:nvPr>
        </p:nvSpPr>
        <p:spPr/>
        <p:txBody>
          <a:bodyPr/>
          <a:lstStyle/>
          <a:p>
            <a:r>
              <a:t>Enhanced developer UIs for Micronaut applications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00A1B8"/>
                </a:solidFill>
              </a:rPr>
              <a:t>THEME 6  ·  DEV EXPERIENCE</a:t>
            </a:r>
          </a:p>
        </p:txBody>
      </p:sp>
      <p:sp>
        <p:nvSpPr>
          <p:cNvPr id="11" name="Rounded Rectangle 10"/>
          <p:cNvSpPr/>
          <p:nvPr/>
        </p:nvSpPr>
        <p:spPr>
          <a:xfrm>
            <a:off x="768096" y="1645920"/>
            <a:ext cx="6675120" cy="4526280"/>
          </a:xfrm>
          <a:prstGeom prst="roundRect">
            <a:avLst>
              <a:gd name="adj" fmla="val 1212"/>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768096" y="1645920"/>
            <a:ext cx="6675120" cy="329184"/>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36576"/>
          <a:lstStyle/>
          <a:p>
            <a:pPr algn="l">
              <a:buNone/>
            </a:pPr>
            <a:r>
              <a:rPr sz="1050">
                <a:solidFill>
                  <a:srgbClr val="A9B7C4"/>
                </a:solidFill>
                <a:latin typeface="Consolas"/>
              </a:rPr>
              <a:t>localhost:8080/control-panel</a:t>
            </a:r>
          </a:p>
        </p:txBody>
      </p:sp>
      <p:sp>
        <p:nvSpPr>
          <p:cNvPr id="13" name="Oval 12"/>
          <p:cNvSpPr/>
          <p:nvPr/>
        </p:nvSpPr>
        <p:spPr>
          <a:xfrm>
            <a:off x="896112" y="175564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9848" y="175564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43584" y="175564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 y="1975104"/>
            <a:ext cx="1737360" cy="4197096"/>
          </a:xfrm>
          <a:prstGeom prst="rect">
            <a:avLst/>
          </a:prstGeom>
          <a:solidFill>
            <a:srgbClr val="1F2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Rounded Rectangle 16"/>
          <p:cNvSpPr/>
          <p:nvPr/>
        </p:nvSpPr>
        <p:spPr>
          <a:xfrm>
            <a:off x="841248" y="2057400"/>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Routes</a:t>
            </a:r>
          </a:p>
        </p:txBody>
      </p:sp>
      <p:sp>
        <p:nvSpPr>
          <p:cNvPr id="18" name="Rounded Rectangle 17"/>
          <p:cNvSpPr/>
          <p:nvPr/>
        </p:nvSpPr>
        <p:spPr>
          <a:xfrm>
            <a:off x="841248" y="2395728"/>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Health</a:t>
            </a:r>
          </a:p>
        </p:txBody>
      </p:sp>
      <p:sp>
        <p:nvSpPr>
          <p:cNvPr id="19" name="Rounded Rectangle 18"/>
          <p:cNvSpPr/>
          <p:nvPr/>
        </p:nvSpPr>
        <p:spPr>
          <a:xfrm>
            <a:off x="841248" y="2734056"/>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Info</a:t>
            </a:r>
          </a:p>
        </p:txBody>
      </p:sp>
      <p:sp>
        <p:nvSpPr>
          <p:cNvPr id="20" name="Rounded Rectangle 19"/>
          <p:cNvSpPr/>
          <p:nvPr/>
        </p:nvSpPr>
        <p:spPr>
          <a:xfrm>
            <a:off x="841248" y="3072384"/>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Environment</a:t>
            </a:r>
          </a:p>
        </p:txBody>
      </p:sp>
      <p:sp>
        <p:nvSpPr>
          <p:cNvPr id="21" name="Rounded Rectangle 20"/>
          <p:cNvSpPr/>
          <p:nvPr/>
        </p:nvSpPr>
        <p:spPr>
          <a:xfrm>
            <a:off x="841248" y="3410712"/>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Metrics</a:t>
            </a:r>
          </a:p>
        </p:txBody>
      </p:sp>
      <p:sp>
        <p:nvSpPr>
          <p:cNvPr id="22" name="Rounded Rectangle 21"/>
          <p:cNvSpPr/>
          <p:nvPr/>
        </p:nvSpPr>
        <p:spPr>
          <a:xfrm>
            <a:off x="841248" y="3749039"/>
            <a:ext cx="1591056" cy="292608"/>
          </a:xfrm>
          <a:prstGeom prst="roundRect">
            <a:avLst>
              <a:gd name="adj" fmla="val 125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1">
                <a:solidFill>
                  <a:srgbClr val="00A1B8"/>
                </a:solidFill>
              </a:rPr>
              <a:t>Beans</a:t>
            </a:r>
          </a:p>
        </p:txBody>
      </p:sp>
      <p:sp>
        <p:nvSpPr>
          <p:cNvPr id="23" name="Rounded Rectangle 22"/>
          <p:cNvSpPr/>
          <p:nvPr/>
        </p:nvSpPr>
        <p:spPr>
          <a:xfrm>
            <a:off x="841248" y="4087368"/>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Loggers</a:t>
            </a:r>
          </a:p>
        </p:txBody>
      </p:sp>
      <p:sp>
        <p:nvSpPr>
          <p:cNvPr id="24" name="Rounded Rectangle 23"/>
          <p:cNvSpPr/>
          <p:nvPr/>
        </p:nvSpPr>
        <p:spPr>
          <a:xfrm>
            <a:off x="841248" y="4425696"/>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Caches</a:t>
            </a:r>
          </a:p>
        </p:txBody>
      </p:sp>
      <p:sp>
        <p:nvSpPr>
          <p:cNvPr id="25" name="Rounded Rectangle 24"/>
          <p:cNvSpPr/>
          <p:nvPr/>
        </p:nvSpPr>
        <p:spPr>
          <a:xfrm>
            <a:off x="841248" y="4764024"/>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Datasources</a:t>
            </a:r>
          </a:p>
        </p:txBody>
      </p:sp>
      <p:sp>
        <p:nvSpPr>
          <p:cNvPr id="26" name="Rounded Rectangle 25"/>
          <p:cNvSpPr/>
          <p:nvPr/>
        </p:nvSpPr>
        <p:spPr>
          <a:xfrm>
            <a:off x="841248" y="5102352"/>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Hibernate</a:t>
            </a:r>
          </a:p>
        </p:txBody>
      </p:sp>
      <p:sp>
        <p:nvSpPr>
          <p:cNvPr id="27" name="Rounded Rectangle 26"/>
          <p:cNvSpPr/>
          <p:nvPr/>
        </p:nvSpPr>
        <p:spPr>
          <a:xfrm>
            <a:off x="841248" y="5440680"/>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Kafka</a:t>
            </a:r>
          </a:p>
        </p:txBody>
      </p:sp>
      <p:sp>
        <p:nvSpPr>
          <p:cNvPr id="28" name="Rounded Rectangle 27"/>
          <p:cNvSpPr/>
          <p:nvPr/>
        </p:nvSpPr>
        <p:spPr>
          <a:xfrm>
            <a:off x="841248" y="5779008"/>
            <a:ext cx="1591056" cy="292608"/>
          </a:xfrm>
          <a:prstGeom prst="roundRect">
            <a:avLst>
              <a:gd name="adj" fmla="val 12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050" b="0">
                <a:solidFill>
                  <a:srgbClr val="A9B7C4"/>
                </a:solidFill>
              </a:rPr>
              <a:t>Object Storage</a:t>
            </a:r>
          </a:p>
        </p:txBody>
      </p:sp>
      <p:sp>
        <p:nvSpPr>
          <p:cNvPr id="29" name="TextBox 28"/>
          <p:cNvSpPr txBox="1"/>
          <p:nvPr/>
        </p:nvSpPr>
        <p:spPr>
          <a:xfrm>
            <a:off x="2697480" y="2103120"/>
            <a:ext cx="4572000" cy="365760"/>
          </a:xfrm>
          <a:prstGeom prst="rect">
            <a:avLst/>
          </a:prstGeom>
          <a:noFill/>
        </p:spPr>
        <p:txBody>
          <a:bodyPr wrap="square" lIns="0" rIns="0" tIns="0" bIns="0" anchor="t"/>
          <a:lstStyle/>
          <a:p>
            <a:pPr>
              <a:buNone/>
            </a:pPr>
            <a:r>
              <a:rPr sz="1600" b="1">
                <a:solidFill>
                  <a:srgbClr val="FFFFFF"/>
                </a:solidFill>
              </a:rPr>
              <a:t>Beans</a:t>
            </a:r>
          </a:p>
        </p:txBody>
      </p:sp>
      <p:sp>
        <p:nvSpPr>
          <p:cNvPr id="30" name="Rounded Rectangle 29"/>
          <p:cNvSpPr/>
          <p:nvPr/>
        </p:nvSpPr>
        <p:spPr>
          <a:xfrm>
            <a:off x="2697480" y="2606040"/>
            <a:ext cx="4572000" cy="4572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b="1">
                <a:solidFill>
                  <a:srgbClr val="FFFFFF"/>
                </a:solidFill>
              </a:rPr>
              <a:t>BookController</a:t>
            </a:r>
            <a:r>
              <a:rPr sz="1150">
                <a:solidFill>
                  <a:srgbClr val="FFFFFF"/>
                </a:solidFill>
              </a:rPr>
              <a:t>   @Controller</a:t>
            </a:r>
          </a:p>
        </p:txBody>
      </p:sp>
      <p:sp>
        <p:nvSpPr>
          <p:cNvPr id="31" name="Rounded Rectangle 30"/>
          <p:cNvSpPr/>
          <p:nvPr/>
        </p:nvSpPr>
        <p:spPr>
          <a:xfrm>
            <a:off x="6263640" y="2697480"/>
            <a:ext cx="868680" cy="274320"/>
          </a:xfrm>
          <a:prstGeom prst="roundRect">
            <a:avLst>
              <a:gd name="adj" fmla="val 50000"/>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900" b="0">
                <a:solidFill>
                  <a:srgbClr val="8BC34A"/>
                </a:solidFill>
              </a:rPr>
              <a:t>loaded</a:t>
            </a:r>
          </a:p>
        </p:txBody>
      </p:sp>
      <p:sp>
        <p:nvSpPr>
          <p:cNvPr id="32" name="Rounded Rectangle 31"/>
          <p:cNvSpPr/>
          <p:nvPr/>
        </p:nvSpPr>
        <p:spPr>
          <a:xfrm>
            <a:off x="2697480" y="3172968"/>
            <a:ext cx="4572000" cy="4572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b="1">
                <a:solidFill>
                  <a:srgbClr val="FFFFFF"/>
                </a:solidFill>
              </a:rPr>
              <a:t>BookRepository</a:t>
            </a:r>
            <a:r>
              <a:rPr sz="1150">
                <a:solidFill>
                  <a:srgbClr val="FFFFFF"/>
                </a:solidFill>
              </a:rPr>
              <a:t>   @JdbcRepository</a:t>
            </a:r>
          </a:p>
        </p:txBody>
      </p:sp>
      <p:sp>
        <p:nvSpPr>
          <p:cNvPr id="33" name="Rounded Rectangle 32"/>
          <p:cNvSpPr/>
          <p:nvPr/>
        </p:nvSpPr>
        <p:spPr>
          <a:xfrm>
            <a:off x="6263640" y="3264408"/>
            <a:ext cx="868680" cy="274320"/>
          </a:xfrm>
          <a:prstGeom prst="roundRect">
            <a:avLst>
              <a:gd name="adj" fmla="val 50000"/>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900" b="0">
                <a:solidFill>
                  <a:srgbClr val="8BC34A"/>
                </a:solidFill>
              </a:rPr>
              <a:t>loaded</a:t>
            </a:r>
          </a:p>
        </p:txBody>
      </p:sp>
      <p:sp>
        <p:nvSpPr>
          <p:cNvPr id="34" name="Rounded Rectangle 33"/>
          <p:cNvSpPr/>
          <p:nvPr/>
        </p:nvSpPr>
        <p:spPr>
          <a:xfrm>
            <a:off x="2697480" y="3739896"/>
            <a:ext cx="4572000" cy="4572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b="1">
                <a:solidFill>
                  <a:srgbClr val="FFFFFF"/>
                </a:solidFill>
              </a:rPr>
              <a:t>CatalogService</a:t>
            </a:r>
            <a:r>
              <a:rPr sz="1150">
                <a:solidFill>
                  <a:srgbClr val="FFFFFF"/>
                </a:solidFill>
              </a:rPr>
              <a:t>   @Singleton</a:t>
            </a:r>
          </a:p>
        </p:txBody>
      </p:sp>
      <p:sp>
        <p:nvSpPr>
          <p:cNvPr id="35" name="Rounded Rectangle 34"/>
          <p:cNvSpPr/>
          <p:nvPr/>
        </p:nvSpPr>
        <p:spPr>
          <a:xfrm>
            <a:off x="6263640" y="3831335"/>
            <a:ext cx="868680" cy="274320"/>
          </a:xfrm>
          <a:prstGeom prst="roundRect">
            <a:avLst>
              <a:gd name="adj" fmla="val 50000"/>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900" b="0">
                <a:solidFill>
                  <a:srgbClr val="8BC34A"/>
                </a:solidFill>
              </a:rPr>
              <a:t>loaded</a:t>
            </a:r>
          </a:p>
        </p:txBody>
      </p:sp>
      <p:sp>
        <p:nvSpPr>
          <p:cNvPr id="36" name="Rounded Rectangle 35"/>
          <p:cNvSpPr/>
          <p:nvPr/>
        </p:nvSpPr>
        <p:spPr>
          <a:xfrm>
            <a:off x="2697480" y="4306824"/>
            <a:ext cx="4572000" cy="4572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b="1">
                <a:solidFill>
                  <a:srgbClr val="FFFFFF"/>
                </a:solidFill>
              </a:rPr>
              <a:t>PriceClient</a:t>
            </a:r>
            <a:r>
              <a:rPr sz="1150">
                <a:solidFill>
                  <a:srgbClr val="FFFFFF"/>
                </a:solidFill>
              </a:rPr>
              <a:t>   @Client</a:t>
            </a:r>
          </a:p>
        </p:txBody>
      </p:sp>
      <p:sp>
        <p:nvSpPr>
          <p:cNvPr id="37" name="Rounded Rectangle 36"/>
          <p:cNvSpPr/>
          <p:nvPr/>
        </p:nvSpPr>
        <p:spPr>
          <a:xfrm>
            <a:off x="6263640" y="4398264"/>
            <a:ext cx="868680" cy="274320"/>
          </a:xfrm>
          <a:prstGeom prst="roundRect">
            <a:avLst>
              <a:gd name="adj" fmla="val 50000"/>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900" b="0">
                <a:solidFill>
                  <a:srgbClr val="F0CC72"/>
                </a:solidFill>
              </a:rPr>
              <a:t>lazy</a:t>
            </a:r>
          </a:p>
        </p:txBody>
      </p:sp>
      <p:sp>
        <p:nvSpPr>
          <p:cNvPr id="38" name="Rounded Rectangle 37"/>
          <p:cNvSpPr/>
          <p:nvPr/>
        </p:nvSpPr>
        <p:spPr>
          <a:xfrm>
            <a:off x="2697480" y="4873752"/>
            <a:ext cx="4572000" cy="4572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50" b="1">
                <a:solidFill>
                  <a:srgbClr val="FFFFFF"/>
                </a:solidFill>
              </a:rPr>
              <a:t>OrderListener</a:t>
            </a:r>
            <a:r>
              <a:rPr sz="1150">
                <a:solidFill>
                  <a:srgbClr val="FFFFFF"/>
                </a:solidFill>
              </a:rPr>
              <a:t>   @KafkaListener</a:t>
            </a:r>
          </a:p>
        </p:txBody>
      </p:sp>
      <p:sp>
        <p:nvSpPr>
          <p:cNvPr id="39" name="Rounded Rectangle 38"/>
          <p:cNvSpPr/>
          <p:nvPr/>
        </p:nvSpPr>
        <p:spPr>
          <a:xfrm>
            <a:off x="6263640" y="4965192"/>
            <a:ext cx="868680" cy="274320"/>
          </a:xfrm>
          <a:prstGeom prst="roundRect">
            <a:avLst>
              <a:gd name="adj" fmla="val 50000"/>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900" b="0">
                <a:solidFill>
                  <a:srgbClr val="8BC34A"/>
                </a:solidFill>
              </a:rPr>
              <a:t>loaded</a:t>
            </a:r>
          </a:p>
        </p:txBody>
      </p:sp>
      <p:sp>
        <p:nvSpPr>
          <p:cNvPr id="40" name="TextBox 39"/>
          <p:cNvSpPr txBox="1"/>
          <p:nvPr/>
        </p:nvSpPr>
        <p:spPr>
          <a:xfrm>
            <a:off x="2697480" y="5532120"/>
            <a:ext cx="4572000" cy="457200"/>
          </a:xfrm>
          <a:prstGeom prst="rect">
            <a:avLst/>
          </a:prstGeom>
          <a:noFill/>
        </p:spPr>
        <p:txBody>
          <a:bodyPr wrap="square" lIns="0" rIns="0" tIns="0" bIns="0" anchor="t"/>
          <a:lstStyle/>
          <a:p>
            <a:pPr>
              <a:buNone/>
            </a:pPr>
            <a:r>
              <a:rPr sz="1000">
                <a:solidFill>
                  <a:srgbClr val="7D8B98"/>
                </a:solidFill>
              </a:rPr>
              <a:t>Illustrative view</a:t>
            </a:r>
          </a:p>
        </p:txBody>
      </p:sp>
      <p:sp>
        <p:nvSpPr>
          <p:cNvPr id="41" name="Rounded Rectangle 40"/>
          <p:cNvSpPr/>
          <p:nvPr/>
        </p:nvSpPr>
        <p:spPr>
          <a:xfrm>
            <a:off x="7772400" y="1645920"/>
            <a:ext cx="3657600" cy="1737360"/>
          </a:xfrm>
          <a:prstGeom prst="roundRect">
            <a:avLst>
              <a:gd name="adj" fmla="val 4210"/>
            </a:avLst>
          </a:prstGeom>
          <a:solidFill>
            <a:srgbClr val="2E3B47"/>
          </a:solidFill>
          <a:ln w="19050">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600" b="1">
                <a:solidFill>
                  <a:srgbClr val="00A1B8"/>
                </a:solidFill>
              </a:rPr>
              <a:t>Micronaut Control Panel</a:t>
            </a:r>
          </a:p>
          <a:p>
            <a:pPr algn="l">
              <a:spcAft>
                <a:spcPts val="600"/>
              </a:spcAft>
              <a:buNone/>
            </a:pPr>
            <a:r>
              <a:rPr sz="1250">
                <a:solidFill>
                  <a:srgbClr val="FFFFFF"/>
                </a:solidFill>
              </a:rPr>
              <a:t>A dev and test web UI for routes, beans, configuration, metrics, loggers, caches, datasources, Kafka and object storage.</a:t>
            </a:r>
          </a:p>
          <a:p>
            <a:pPr algn="l">
              <a:buNone/>
            </a:pPr>
            <a:r>
              <a:rPr sz="1250">
                <a:solidFill>
                  <a:srgbClr val="F19111"/>
                </a:solidFill>
              </a:rPr>
              <a:t>→ enhance and extend</a:t>
            </a:r>
          </a:p>
        </p:txBody>
      </p:sp>
      <p:sp>
        <p:nvSpPr>
          <p:cNvPr id="42" name="Rounded Rectangle 41"/>
          <p:cNvSpPr/>
          <p:nvPr/>
        </p:nvSpPr>
        <p:spPr>
          <a:xfrm>
            <a:off x="7772400" y="3566160"/>
            <a:ext cx="3657600" cy="1188720"/>
          </a:xfrm>
          <a:prstGeom prst="roundRect">
            <a:avLst>
              <a:gd name="adj" fmla="val 6153"/>
            </a:avLst>
          </a:prstGeom>
          <a:solidFill>
            <a:srgbClr val="2E3B47"/>
          </a:solidFill>
          <a:ln w="19050">
            <a:solidFill>
              <a:srgbClr val="00A1B8"/>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600" b="1">
                <a:solidFill>
                  <a:srgbClr val="00A1B8"/>
                </a:solidFill>
              </a:rPr>
              <a:t>Boot UI integration</a:t>
            </a:r>
          </a:p>
          <a:p>
            <a:pPr algn="l">
              <a:buNone/>
            </a:pPr>
            <a:r>
              <a:rPr sz="1250" i="1">
                <a:solidFill>
                  <a:srgbClr val="7D8B98"/>
                </a:solidFill>
              </a:rPr>
              <a:t>[scope to be added]</a:t>
            </a:r>
          </a:p>
        </p:txBody>
      </p:sp>
      <p:pic>
        <p:nvPicPr>
          <p:cNvPr id="43" name="Picture 42" descr="happy.png"/>
          <p:cNvPicPr>
            <a:picLocks noChangeAspect="1"/>
          </p:cNvPicPr>
          <p:nvPr/>
        </p:nvPicPr>
        <p:blipFill>
          <a:blip r:embed="rId3"/>
          <a:stretch>
            <a:fillRect/>
          </a:stretch>
        </p:blipFill>
        <p:spPr>
          <a:xfrm>
            <a:off x="9006840" y="4983480"/>
            <a:ext cx="1120793" cy="11887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GraalBase</a:t>
            </a:r>
          </a:p>
        </p:txBody>
      </p:sp>
      <p:sp>
        <p:nvSpPr>
          <p:cNvPr id="3" name="Text Placeholder 2"/>
          <p:cNvSpPr>
            <a:spLocks noGrp="1"/>
          </p:cNvSpPr>
          <p:nvPr>
            <p:ph type="body" idx="11" sz="quarter"/>
          </p:nvPr>
        </p:nvSpPr>
        <p:spPr/>
        <p:txBody>
          <a:bodyPr/>
          <a:lstStyle/>
          <a:p>
            <a:r>
              <a:t>[Placeholder — to be completed by the GraalBase owner]</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F0CC72"/>
                </a:solidFill>
              </a:rPr>
              <a:t>THEME 7  ·  GRAAL PLATFORM</a:t>
            </a:r>
          </a:p>
        </p:txBody>
      </p:sp>
      <p:sp>
        <p:nvSpPr>
          <p:cNvPr id="11" name="Rounded Rectangle 10"/>
          <p:cNvSpPr/>
          <p:nvPr/>
        </p:nvSpPr>
        <p:spPr>
          <a:xfrm>
            <a:off x="768096" y="1691640"/>
            <a:ext cx="5120640" cy="2103120"/>
          </a:xfrm>
          <a:prstGeom prst="roundRect">
            <a:avLst>
              <a:gd name="adj" fmla="val 3478"/>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WHAT IT IS</a:t>
            </a:r>
          </a:p>
          <a:p>
            <a:pPr algn="l">
              <a:buNone/>
            </a:pPr>
            <a:r>
              <a:rPr sz="1300" i="1">
                <a:solidFill>
                  <a:srgbClr val="7D8B98"/>
                </a:solidFill>
              </a:rPr>
              <a:t>One or two sentences describing GraalBase.</a:t>
            </a:r>
          </a:p>
        </p:txBody>
      </p:sp>
      <p:sp>
        <p:nvSpPr>
          <p:cNvPr id="12" name="Rounded Rectangle 11"/>
          <p:cNvSpPr/>
          <p:nvPr/>
        </p:nvSpPr>
        <p:spPr>
          <a:xfrm>
            <a:off x="6126480" y="1691640"/>
            <a:ext cx="5303520" cy="2103120"/>
          </a:xfrm>
          <a:prstGeom prst="roundRect">
            <a:avLst>
              <a:gd name="adj" fmla="val 3478"/>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WHAT IT MEANS FOR MICRONAUT</a:t>
            </a:r>
          </a:p>
          <a:p>
            <a:pPr algn="l">
              <a:buNone/>
            </a:pPr>
            <a:r>
              <a:rPr sz="1300" i="1">
                <a:solidFill>
                  <a:srgbClr val="7D8B98"/>
                </a:solidFill>
              </a:rPr>
              <a:t>Integration points, modules affected, developer impact.</a:t>
            </a:r>
          </a:p>
        </p:txBody>
      </p:sp>
      <p:sp>
        <p:nvSpPr>
          <p:cNvPr id="13" name="Rounded Rectangle 12"/>
          <p:cNvSpPr/>
          <p:nvPr/>
        </p:nvSpPr>
        <p:spPr>
          <a:xfrm>
            <a:off x="768096" y="4023360"/>
            <a:ext cx="7863840" cy="2148840"/>
          </a:xfrm>
          <a:prstGeom prst="roundRect">
            <a:avLst>
              <a:gd name="adj" fmla="val 3404"/>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MILESTONES — REST OF 2026 AND 2027</a:t>
            </a:r>
          </a:p>
          <a:p>
            <a:pPr algn="l">
              <a:buNone/>
            </a:pPr>
            <a:r>
              <a:rPr sz="1300" i="1">
                <a:solidFill>
                  <a:srgbClr val="7D8B98"/>
                </a:solidFill>
              </a:rPr>
              <a:t>Key dates, dependencies on Micronaut work, owners.</a:t>
            </a:r>
          </a:p>
        </p:txBody>
      </p:sp>
      <p:pic>
        <p:nvPicPr>
          <p:cNvPr id="14" name="Picture 13" descr="mug.png"/>
          <p:cNvPicPr>
            <a:picLocks noChangeAspect="1"/>
          </p:cNvPicPr>
          <p:nvPr/>
        </p:nvPicPr>
        <p:blipFill>
          <a:blip r:embed="rId3"/>
          <a:stretch>
            <a:fillRect/>
          </a:stretch>
        </p:blipFill>
        <p:spPr>
          <a:xfrm>
            <a:off x="9052560" y="4069080"/>
            <a:ext cx="2345570" cy="2057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Graal Cloud Service</a:t>
            </a:r>
          </a:p>
        </p:txBody>
      </p:sp>
      <p:sp>
        <p:nvSpPr>
          <p:cNvPr id="3" name="Text Placeholder 2"/>
          <p:cNvSpPr>
            <a:spLocks noGrp="1"/>
          </p:cNvSpPr>
          <p:nvPr>
            <p:ph type="body" idx="11" sz="quarter"/>
          </p:nvPr>
        </p:nvSpPr>
        <p:spPr/>
        <p:txBody>
          <a:bodyPr/>
          <a:lstStyle/>
          <a:p>
            <a:r>
              <a:t>[Placeholder — to be completed by the Graal Cloud Service owner]</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mn-footer.png"/>
          <p:cNvPicPr>
            <a:picLocks noChangeAspect="1"/>
          </p:cNvPicPr>
          <p:nvPr/>
        </p:nvPicPr>
        <p:blipFill>
          <a:blip r:embed="rId2"/>
          <a:stretch>
            <a:fillRect/>
          </a:stretch>
        </p:blipFill>
        <p:spPr>
          <a:xfrm>
            <a:off x="10058400" y="6483096"/>
            <a:ext cx="975360" cy="292608"/>
          </a:xfrm>
          <a:prstGeom prst="rect">
            <a:avLst/>
          </a:prstGeom>
        </p:spPr>
      </p:pic>
      <p:sp>
        <p:nvSpPr>
          <p:cNvPr id="10" name="Rounded Rectangle 9"/>
          <p:cNvSpPr/>
          <p:nvPr/>
        </p:nvSpPr>
        <p:spPr>
          <a:xfrm>
            <a:off x="9052560" y="310896"/>
            <a:ext cx="2377440" cy="310896"/>
          </a:xfrm>
          <a:prstGeom prst="roundRect">
            <a:avLst>
              <a:gd name="adj" fmla="val 50000"/>
            </a:avLst>
          </a:prstGeom>
          <a:solidFill>
            <a:srgbClr val="25303A"/>
          </a:solidFill>
          <a:ln w="13970">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buNone/>
            </a:pPr>
            <a:r>
              <a:rPr sz="900" b="1">
                <a:solidFill>
                  <a:srgbClr val="F0CC72"/>
                </a:solidFill>
              </a:rPr>
              <a:t>THEME 7  ·  GRAAL PLATFORM</a:t>
            </a:r>
          </a:p>
        </p:txBody>
      </p:sp>
      <p:sp>
        <p:nvSpPr>
          <p:cNvPr id="11" name="Rounded Rectangle 10"/>
          <p:cNvSpPr/>
          <p:nvPr/>
        </p:nvSpPr>
        <p:spPr>
          <a:xfrm>
            <a:off x="768096" y="1691640"/>
            <a:ext cx="5120640" cy="2103120"/>
          </a:xfrm>
          <a:prstGeom prst="roundRect">
            <a:avLst>
              <a:gd name="adj" fmla="val 3478"/>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WHAT IT IS</a:t>
            </a:r>
          </a:p>
          <a:p>
            <a:pPr algn="l">
              <a:buNone/>
            </a:pPr>
            <a:r>
              <a:rPr sz="1300" i="1">
                <a:solidFill>
                  <a:srgbClr val="7D8B98"/>
                </a:solidFill>
              </a:rPr>
              <a:t>One or two sentences describing Graal Cloud Service.</a:t>
            </a:r>
          </a:p>
        </p:txBody>
      </p:sp>
      <p:sp>
        <p:nvSpPr>
          <p:cNvPr id="12" name="Rounded Rectangle 11"/>
          <p:cNvSpPr/>
          <p:nvPr/>
        </p:nvSpPr>
        <p:spPr>
          <a:xfrm>
            <a:off x="6126480" y="1691640"/>
            <a:ext cx="5303520" cy="2103120"/>
          </a:xfrm>
          <a:prstGeom prst="roundRect">
            <a:avLst>
              <a:gd name="adj" fmla="val 3478"/>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WHAT IT MEANS FOR MICRONAUT</a:t>
            </a:r>
          </a:p>
          <a:p>
            <a:pPr algn="l">
              <a:buNone/>
            </a:pPr>
            <a:r>
              <a:rPr sz="1300" i="1">
                <a:solidFill>
                  <a:srgbClr val="7D8B98"/>
                </a:solidFill>
              </a:rPr>
              <a:t>Integration points, modules affected, developer impact.</a:t>
            </a:r>
          </a:p>
        </p:txBody>
      </p:sp>
      <p:sp>
        <p:nvSpPr>
          <p:cNvPr id="13" name="Rounded Rectangle 12"/>
          <p:cNvSpPr/>
          <p:nvPr/>
        </p:nvSpPr>
        <p:spPr>
          <a:xfrm>
            <a:off x="768096" y="4023360"/>
            <a:ext cx="7863840" cy="2148840"/>
          </a:xfrm>
          <a:prstGeom prst="roundRect">
            <a:avLst>
              <a:gd name="adj" fmla="val 3404"/>
            </a:avLst>
          </a:prstGeom>
          <a:solidFill>
            <a:srgbClr val="1F262E"/>
          </a:solidFill>
          <a:ln w="19050">
            <a:solidFill>
              <a:srgbClr val="F0CC72"/>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36576" bIns="36576"/>
          <a:lstStyle/>
          <a:p>
            <a:pPr algn="l">
              <a:spcBef>
                <a:spcPts val="600"/>
              </a:spcBef>
              <a:spcAft>
                <a:spcPts val="600"/>
              </a:spcAft>
              <a:buNone/>
            </a:pPr>
            <a:r>
              <a:rPr sz="1100" b="1">
                <a:solidFill>
                  <a:srgbClr val="F0CC72"/>
                </a:solidFill>
              </a:rPr>
              <a:t>MILESTONES — REST OF 2026 AND 2027</a:t>
            </a:r>
          </a:p>
          <a:p>
            <a:pPr algn="l">
              <a:buNone/>
            </a:pPr>
            <a:r>
              <a:rPr sz="1300" i="1">
                <a:solidFill>
                  <a:srgbClr val="7D8B98"/>
                </a:solidFill>
              </a:rPr>
              <a:t>Key dates, dependencies on Micronaut work, owners.</a:t>
            </a:r>
          </a:p>
        </p:txBody>
      </p:sp>
      <p:pic>
        <p:nvPicPr>
          <p:cNvPr id="14" name="Picture 13" descr="umbrella.png"/>
          <p:cNvPicPr>
            <a:picLocks noChangeAspect="1"/>
          </p:cNvPicPr>
          <p:nvPr/>
        </p:nvPicPr>
        <p:blipFill>
          <a:blip r:embed="rId3"/>
          <a:stretch>
            <a:fillRect/>
          </a:stretch>
        </p:blipFill>
        <p:spPr>
          <a:xfrm>
            <a:off x="9052560" y="4069080"/>
            <a:ext cx="1898686" cy="20574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we’ll deliver it</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2026, Oracle and/or its affiliates  |  Confidential: Internal</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pic>
        <p:nvPicPr>
          <p:cNvPr id="12" name="Picture 11" descr="mn-footer.png"/>
          <p:cNvPicPr>
            <a:picLocks noChangeAspect="1"/>
          </p:cNvPicPr>
          <p:nvPr/>
        </p:nvPicPr>
        <p:blipFill>
          <a:blip r:embed="rId2"/>
          <a:stretch>
            <a:fillRect/>
          </a:stretch>
        </p:blipFill>
        <p:spPr>
          <a:xfrm>
            <a:off x="10058400" y="6483096"/>
            <a:ext cx="975360" cy="292608"/>
          </a:xfrm>
          <a:prstGeom prst="rect">
            <a:avLst/>
          </a:prstGeom>
        </p:spPr>
      </p:pic>
      <p:sp>
        <p:nvSpPr>
          <p:cNvPr id="13" name="Oval 12"/>
          <p:cNvSpPr/>
          <p:nvPr/>
        </p:nvSpPr>
        <p:spPr>
          <a:xfrm>
            <a:off x="768096" y="1691640"/>
            <a:ext cx="502920" cy="502920"/>
          </a:xfrm>
          <a:prstGeom prst="ellipse">
            <a:avLst/>
          </a:prstGeom>
          <a:solidFill>
            <a:srgbClr val="6DB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1</a:t>
            </a:r>
          </a:p>
        </p:txBody>
      </p:sp>
      <p:sp>
        <p:nvSpPr>
          <p:cNvPr id="14" name="TextBox 13"/>
          <p:cNvSpPr txBox="1"/>
          <p:nvPr/>
        </p:nvSpPr>
        <p:spPr>
          <a:xfrm>
            <a:off x="1453895" y="1645920"/>
            <a:ext cx="3383280" cy="457200"/>
          </a:xfrm>
          <a:prstGeom prst="rect">
            <a:avLst/>
          </a:prstGeom>
          <a:noFill/>
        </p:spPr>
        <p:txBody>
          <a:bodyPr wrap="square" lIns="0" rIns="0" tIns="0" bIns="0" anchor="t"/>
          <a:lstStyle/>
          <a:p>
            <a:pPr>
              <a:buNone/>
            </a:pPr>
            <a:r>
              <a:rPr sz="1700" b="1">
                <a:solidFill>
                  <a:srgbClr val="FFFFFF"/>
                </a:solidFill>
              </a:rPr>
              <a:t>Build time first</a:t>
            </a:r>
          </a:p>
        </p:txBody>
      </p:sp>
      <p:sp>
        <p:nvSpPr>
          <p:cNvPr id="15" name="TextBox 14"/>
          <p:cNvSpPr txBox="1"/>
          <p:nvPr/>
        </p:nvSpPr>
        <p:spPr>
          <a:xfrm>
            <a:off x="1453895" y="2148840"/>
            <a:ext cx="3291840" cy="1371600"/>
          </a:xfrm>
          <a:prstGeom prst="rect">
            <a:avLst/>
          </a:prstGeom>
          <a:noFill/>
        </p:spPr>
        <p:txBody>
          <a:bodyPr wrap="square" lIns="0" rIns="0" tIns="0" bIns="0" anchor="t"/>
          <a:lstStyle/>
          <a:p>
            <a:pPr>
              <a:buNone/>
            </a:pPr>
            <a:r>
              <a:rPr sz="1500">
                <a:solidFill>
                  <a:srgbClr val="A9B7C4"/>
                </a:solidFill>
              </a:rPr>
              <a:t>Every new capability does its work in the compiler — for CDI Lite, links, gateways and graphs alike.</a:t>
            </a:r>
          </a:p>
        </p:txBody>
      </p:sp>
      <p:sp>
        <p:nvSpPr>
          <p:cNvPr id="16" name="Oval 15"/>
          <p:cNvSpPr/>
          <p:nvPr/>
        </p:nvSpPr>
        <p:spPr>
          <a:xfrm>
            <a:off x="4928616" y="1691640"/>
            <a:ext cx="502920" cy="502920"/>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2</a:t>
            </a:r>
          </a:p>
        </p:txBody>
      </p:sp>
      <p:sp>
        <p:nvSpPr>
          <p:cNvPr id="17" name="TextBox 16"/>
          <p:cNvSpPr txBox="1"/>
          <p:nvPr/>
        </p:nvSpPr>
        <p:spPr>
          <a:xfrm>
            <a:off x="5614416" y="1645920"/>
            <a:ext cx="3383280" cy="457200"/>
          </a:xfrm>
          <a:prstGeom prst="rect">
            <a:avLst/>
          </a:prstGeom>
          <a:noFill/>
        </p:spPr>
        <p:txBody>
          <a:bodyPr wrap="square" lIns="0" rIns="0" tIns="0" bIns="0" anchor="t"/>
          <a:lstStyle/>
          <a:p>
            <a:pPr>
              <a:buNone/>
            </a:pPr>
            <a:r>
              <a:rPr sz="1700" b="1">
                <a:solidFill>
                  <a:srgbClr val="FFFFFF"/>
                </a:solidFill>
              </a:rPr>
              <a:t>The TCK defines done</a:t>
            </a:r>
          </a:p>
        </p:txBody>
      </p:sp>
      <p:sp>
        <p:nvSpPr>
          <p:cNvPr id="18" name="TextBox 17"/>
          <p:cNvSpPr txBox="1"/>
          <p:nvPr/>
        </p:nvSpPr>
        <p:spPr>
          <a:xfrm>
            <a:off x="5614416" y="2148840"/>
            <a:ext cx="3291840" cy="1371600"/>
          </a:xfrm>
          <a:prstGeom prst="rect">
            <a:avLst/>
          </a:prstGeom>
          <a:noFill/>
        </p:spPr>
        <p:txBody>
          <a:bodyPr wrap="square" lIns="0" rIns="0" tIns="0" bIns="0" anchor="t"/>
          <a:lstStyle/>
          <a:p>
            <a:pPr>
              <a:buNone/>
            </a:pPr>
            <a:r>
              <a:rPr sz="1500">
                <a:solidFill>
                  <a:srgbClr val="A9B7C4"/>
                </a:solidFill>
              </a:rPr>
              <a:t>Standards work ships when the official TCK passes, not before.</a:t>
            </a:r>
          </a:p>
        </p:txBody>
      </p:sp>
      <p:sp>
        <p:nvSpPr>
          <p:cNvPr id="19" name="Oval 18"/>
          <p:cNvSpPr/>
          <p:nvPr/>
        </p:nvSpPr>
        <p:spPr>
          <a:xfrm>
            <a:off x="768096" y="3931920"/>
            <a:ext cx="502920" cy="502920"/>
          </a:xfrm>
          <a:prstGeom prst="ellipse">
            <a:avLst/>
          </a:prstGeom>
          <a:solidFill>
            <a:srgbClr val="9B6B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3</a:t>
            </a:r>
          </a:p>
        </p:txBody>
      </p:sp>
      <p:sp>
        <p:nvSpPr>
          <p:cNvPr id="20" name="TextBox 19"/>
          <p:cNvSpPr txBox="1"/>
          <p:nvPr/>
        </p:nvSpPr>
        <p:spPr>
          <a:xfrm>
            <a:off x="1453895" y="3886200"/>
            <a:ext cx="3383280" cy="457200"/>
          </a:xfrm>
          <a:prstGeom prst="rect">
            <a:avLst/>
          </a:prstGeom>
          <a:noFill/>
        </p:spPr>
        <p:txBody>
          <a:bodyPr wrap="square" lIns="0" rIns="0" tIns="0" bIns="0" anchor="t"/>
          <a:lstStyle/>
          <a:p>
            <a:pPr>
              <a:buNone/>
            </a:pPr>
            <a:r>
              <a:rPr sz="1700" b="1">
                <a:solidFill>
                  <a:srgbClr val="FFFFFF"/>
                </a:solidFill>
              </a:rPr>
              <a:t>Measure before and after</a:t>
            </a:r>
          </a:p>
        </p:txBody>
      </p:sp>
      <p:sp>
        <p:nvSpPr>
          <p:cNvPr id="21" name="TextBox 20"/>
          <p:cNvSpPr txBox="1"/>
          <p:nvPr/>
        </p:nvSpPr>
        <p:spPr>
          <a:xfrm>
            <a:off x="1453895" y="4389120"/>
            <a:ext cx="3291840" cy="1371600"/>
          </a:xfrm>
          <a:prstGeom prst="rect">
            <a:avLst/>
          </a:prstGeom>
          <a:noFill/>
        </p:spPr>
        <p:txBody>
          <a:bodyPr wrap="square" lIns="0" rIns="0" tIns="0" bIns="0" anchor="t"/>
          <a:lstStyle/>
          <a:p>
            <a:pPr>
              <a:buNone/>
            </a:pPr>
            <a:r>
              <a:rPr sz="1500">
                <a:solidFill>
                  <a:srgbClr val="A9B7C4"/>
                </a:solidFill>
              </a:rPr>
              <a:t>Benchmarks and regression tests come with the change, not after it.</a:t>
            </a:r>
          </a:p>
        </p:txBody>
      </p:sp>
      <p:sp>
        <p:nvSpPr>
          <p:cNvPr id="22" name="Oval 21"/>
          <p:cNvSpPr/>
          <p:nvPr/>
        </p:nvSpPr>
        <p:spPr>
          <a:xfrm>
            <a:off x="4928616" y="3931920"/>
            <a:ext cx="502920" cy="502920"/>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4</a:t>
            </a:r>
          </a:p>
        </p:txBody>
      </p:sp>
      <p:sp>
        <p:nvSpPr>
          <p:cNvPr id="23" name="TextBox 22"/>
          <p:cNvSpPr txBox="1"/>
          <p:nvPr/>
        </p:nvSpPr>
        <p:spPr>
          <a:xfrm>
            <a:off x="5614416" y="3886200"/>
            <a:ext cx="3383280" cy="457200"/>
          </a:xfrm>
          <a:prstGeom prst="rect">
            <a:avLst/>
          </a:prstGeom>
          <a:noFill/>
        </p:spPr>
        <p:txBody>
          <a:bodyPr wrap="square" lIns="0" rIns="0" tIns="0" bIns="0" anchor="t"/>
          <a:lstStyle/>
          <a:p>
            <a:pPr>
              <a:buNone/>
            </a:pPr>
            <a:r>
              <a:rPr sz="1700" b="1">
                <a:solidFill>
                  <a:srgbClr val="FFFFFF"/>
                </a:solidFill>
              </a:rPr>
              <a:t>AI-first, human-reviewed</a:t>
            </a:r>
          </a:p>
        </p:txBody>
      </p:sp>
      <p:sp>
        <p:nvSpPr>
          <p:cNvPr id="24" name="TextBox 23"/>
          <p:cNvSpPr txBox="1"/>
          <p:nvPr/>
        </p:nvSpPr>
        <p:spPr>
          <a:xfrm>
            <a:off x="5614416" y="4389120"/>
            <a:ext cx="3291840" cy="1371600"/>
          </a:xfrm>
          <a:prstGeom prst="rect">
            <a:avLst/>
          </a:prstGeom>
          <a:noFill/>
        </p:spPr>
        <p:txBody>
          <a:bodyPr wrap="square" lIns="0" rIns="0" tIns="0" bIns="0" anchor="t"/>
          <a:lstStyle/>
          <a:p>
            <a:pPr>
              <a:buNone/>
            </a:pPr>
            <a:r>
              <a:rPr sz="1500">
                <a:solidFill>
                  <a:srgbClr val="A9B7C4"/>
                </a:solidFill>
              </a:rPr>
              <a:t>Agents do the review, the baseline and the first fix; maintainers own the merge.</a:t>
            </a:r>
          </a:p>
        </p:txBody>
      </p:sp>
      <p:pic>
        <p:nvPicPr>
          <p:cNvPr id="25" name="Picture 24" descr="megaphone.png"/>
          <p:cNvPicPr>
            <a:picLocks noChangeAspect="1"/>
          </p:cNvPicPr>
          <p:nvPr/>
        </p:nvPicPr>
        <p:blipFill>
          <a:blip r:embed="rId3"/>
          <a:stretch>
            <a:fillRect/>
          </a:stretch>
        </p:blipFill>
        <p:spPr>
          <a:xfrm>
            <a:off x="9098280" y="2011680"/>
            <a:ext cx="2286000" cy="1335677"/>
          </a:xfrm>
          <a:prstGeom prst="rect">
            <a:avLst/>
          </a:prstGeom>
        </p:spPr>
      </p:pic>
      <p:sp>
        <p:nvSpPr>
          <p:cNvPr id="26" name="Rounded Rectangle 25"/>
          <p:cNvSpPr/>
          <p:nvPr/>
        </p:nvSpPr>
        <p:spPr>
          <a:xfrm>
            <a:off x="8961120" y="3749039"/>
            <a:ext cx="2468880" cy="1737360"/>
          </a:xfrm>
          <a:prstGeom prst="roundRect">
            <a:avLst>
              <a:gd name="adj" fmla="val 4210"/>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spcAft>
                <a:spcPts val="600"/>
              </a:spcAft>
              <a:buNone/>
            </a:pPr>
            <a:r>
              <a:rPr sz="1600" b="1">
                <a:solidFill>
                  <a:srgbClr val="F19111"/>
                </a:solidFill>
              </a:rPr>
              <a:t>Ask</a:t>
            </a:r>
          </a:p>
          <a:p>
            <a:pPr algn="ctr">
              <a:buNone/>
            </a:pPr>
            <a:r>
              <a:rPr sz="1300">
                <a:solidFill>
                  <a:srgbClr val="FFFFFF"/>
                </a:solidFill>
              </a:rPr>
              <a:t>An owner for every theme, and feedback on the sequencing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racle-FY26-8.0">
  <a:themeElements>
    <a:clrScheme name="Graalv2">
      <a:dk1>
        <a:srgbClr val="181E24"/>
      </a:dk1>
      <a:lt1>
        <a:srgbClr val="FFFFFF"/>
      </a:lt1>
      <a:dk2>
        <a:srgbClr val="181E24"/>
      </a:dk2>
      <a:lt2>
        <a:srgbClr val="FFFFFF"/>
      </a:lt2>
      <a:accent1>
        <a:srgbClr val="008EFF"/>
      </a:accent1>
      <a:accent2>
        <a:srgbClr val="653877"/>
      </a:accent2>
      <a:accent3>
        <a:srgbClr val="B74545"/>
      </a:accent3>
      <a:accent4>
        <a:srgbClr val="F19111"/>
      </a:accent4>
      <a:accent5>
        <a:srgbClr val="01569A"/>
      </a:accent5>
      <a:accent6>
        <a:srgbClr val="00758F"/>
      </a:accent6>
      <a:hlink>
        <a:srgbClr val="6DBEE7"/>
      </a:hlink>
      <a:folHlink>
        <a:srgbClr val="6DBEE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Beige 50">
      <a:srgbClr val="D8D0B5"/>
    </a:custClr>
    <a:custClr name="Pine 80">
      <a:srgbClr val="74A683"/>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90">
      <a:srgbClr val="5C926D"/>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00">
      <a:srgbClr val="4C825C"/>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20">
      <a:srgbClr val="3F6B4B"/>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Graal Template" id="{38219664-B0BE-9E4A-BFD1-950E880F4072}" vid="{E0568715-0C49-984A-B3BA-1DCBCC46586A}"/>
    </a:ext>
  </a:extLst>
</a:theme>
</file>

<file path=ppt/theme/theme2.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22C9B34DEC2143A76D7422EE4B3741" ma:contentTypeVersion="3" ma:contentTypeDescription="Create a new document." ma:contentTypeScope="" ma:versionID="e04b0c96a1fd279bfb88c35ec69e0e52">
  <xsd:schema xmlns:xsd="http://www.w3.org/2001/XMLSchema" xmlns:xs="http://www.w3.org/2001/XMLSchema" xmlns:p="http://schemas.microsoft.com/office/2006/metadata/properties" xmlns:ns2="9cb3e6ae-4110-4b48-ae1c-0e2053abb8d8" targetNamespace="http://schemas.microsoft.com/office/2006/metadata/properties" ma:root="true" ma:fieldsID="8def215c99aa40a82c9f3db25d09cf95" ns2:_="">
    <xsd:import namespace="9cb3e6ae-4110-4b48-ae1c-0e2053abb8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b3e6ae-4110-4b48-ae1c-0e2053abb8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1BB8ED-6F26-4AF1-84E8-CADA78041F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b3e6ae-4110-4b48-ae1c-0e2053abb8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828134A-4936-4540-848F-A67A15F16454}">
  <ds:schemaRefs>
    <ds:schemaRef ds:uri="http://schemas.microsoft.com/sharepoint/v3/contenttype/forms"/>
  </ds:schemaRefs>
</ds:datastoreItem>
</file>

<file path=customXml/itemProps3.xml><?xml version="1.0" encoding="utf-8"?>
<ds:datastoreItem xmlns:ds="http://schemas.openxmlformats.org/officeDocument/2006/customXml" ds:itemID="{7F72E89F-4FF5-4A05-8F61-E9D81A69DB3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92</TotalTime>
  <Words>7159</Words>
  <Application>Microsoft Macintosh PowerPoint</Application>
  <PresentationFormat>Widescreen</PresentationFormat>
  <Paragraphs>1195</Paragraphs>
  <Slides>103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103</vt:i4>
      </vt:variant>
    </vt:vector>
  </HeadingPairs>
  <TitlesOfParts>
    <vt:vector size="113" baseType="lpstr">
      <vt:lpstr>Arial</vt:lpstr>
      <vt:lpstr>Menlo</vt:lpstr>
      <vt:lpstr>Oracle Sans</vt:lpstr>
      <vt:lpstr>Oracle Sans Light</vt:lpstr>
      <vt:lpstr>Oracle Sans Tab</vt:lpstr>
      <vt:lpstr>Oracle Sans Tab Extra Bold</vt:lpstr>
      <vt:lpstr>Oracle Sans Tab Light</vt:lpstr>
      <vt:lpstr>Oracle Sans Tab Semi Bold</vt:lpstr>
      <vt:lpstr>System Font Regular</vt:lpstr>
      <vt:lpstr>Oracle-FY26-8.0</vt:lpstr>
      <vt:lpstr>Title</vt:lpstr>
      <vt:lpstr>What’s different? </vt:lpstr>
      <vt:lpstr>How to use this deck: Fonts and editing</vt:lpstr>
      <vt:lpstr>Template Overview</vt:lpstr>
      <vt:lpstr>Instructions—Title Slide</vt:lpstr>
      <vt:lpstr>PowerPoint Presentation</vt:lpstr>
      <vt:lpstr>Instructions—Background colour</vt:lpstr>
      <vt:lpstr>Instructions</vt:lpstr>
      <vt:lpstr>Instructions</vt:lpstr>
      <vt:lpstr>Logotypes</vt:lpstr>
      <vt:lpstr>How to use this deck: Speaker slides</vt:lpstr>
      <vt:lpstr>General do’s and don’t</vt:lpstr>
      <vt:lpstr>Accessibility</vt:lpstr>
      <vt:lpstr>Agenda title</vt:lpstr>
      <vt:lpstr>Agenda title</vt:lpstr>
      <vt:lpstr>Agenda title</vt:lpstr>
      <vt:lpstr>Agenda title</vt:lpstr>
      <vt:lpstr>Agenda title</vt:lpstr>
      <vt:lpstr>Agenda title</vt:lpstr>
      <vt:lpstr>Cross-pillar, industries, and general divider dark</vt:lpstr>
      <vt:lpstr>Cross-pillar, industries, and general divider light</vt:lpstr>
      <vt:lpstr>General divider with image light</vt:lpstr>
      <vt:lpstr>General divider with image dark</vt:lpstr>
      <vt:lpstr>Title on a dark title/subtitle slide</vt:lpstr>
      <vt:lpstr>Title on a dark title/subtitle one column slide</vt:lpstr>
      <vt:lpstr>Title on a dark two column</vt:lpstr>
      <vt:lpstr>Title on a dark three column</vt:lpstr>
      <vt:lpstr>Title on a dark with 1/3 photo</vt:lpstr>
      <vt:lpstr>Title, content and illustration</vt:lpstr>
      <vt:lpstr>Bold statement on light with a photo on the right</vt:lpstr>
      <vt:lpstr>Title on dark three icons slides</vt:lpstr>
      <vt:lpstr>Title on dark four icons slides</vt:lpstr>
      <vt:lpstr>Title on dark two images and content slide</vt:lpstr>
      <vt:lpstr>A short title goes here on dark</vt:lpstr>
      <vt:lpstr>Title on a light title/subtitle slide</vt:lpstr>
      <vt:lpstr>Title on a light title/subtitle one column slide</vt:lpstr>
      <vt:lpstr>Title on a light two column</vt:lpstr>
      <vt:lpstr>Title on a light three column</vt:lpstr>
      <vt:lpstr>Title and subtitle on light</vt:lpstr>
      <vt:lpstr>Title and 1 column on light</vt:lpstr>
      <vt:lpstr>Title on a light with 1/3 photo</vt:lpstr>
      <vt:lpstr>Title, content and illustration</vt:lpstr>
      <vt:lpstr>Bold statement on light with a photo on the right</vt:lpstr>
      <vt:lpstr>Title on light three icons slides</vt:lpstr>
      <vt:lpstr>Title on light three icons slides</vt:lpstr>
      <vt:lpstr>Title on light two images and content slide</vt:lpstr>
      <vt:lpstr>A short title goes here on light</vt:lpstr>
      <vt:lpstr>A full sized image slide example</vt:lpstr>
      <vt:lpstr>Impact or bold statement on a dark background</vt:lpstr>
      <vt:lpstr>Impact or bold statement on a light background</vt:lpstr>
      <vt:lpstr>A Multi-statement slide example on dark </vt:lpstr>
      <vt:lpstr>A Multi-statement slide example on dark </vt:lpstr>
      <vt:lpstr>Headline copy on  32 point dark slide</vt:lpstr>
      <vt:lpstr>Headline copy on  32 point light slide</vt:lpstr>
      <vt:lpstr>Title on  dark split slide</vt:lpstr>
      <vt:lpstr>Title on  light split slide</vt:lpstr>
      <vt:lpstr>Title on a dark snippet slide</vt:lpstr>
      <vt:lpstr>Title on a dark snippet slide</vt:lpstr>
      <vt:lpstr>Title on a light snippet slide</vt:lpstr>
      <vt:lpstr>Title on a light snippet slide</vt:lpstr>
      <vt:lpstr>Timeline</vt:lpstr>
      <vt:lpstr>Date timeline</vt:lpstr>
      <vt:lpstr>“A general customer quote slide.  Surrounded by quotation marks”</vt:lpstr>
      <vt:lpstr>“A general customer quote slide. Surrounded by quotation marks”</vt:lpstr>
      <vt:lpstr>“A general customer quote slide. Surrounded by quotation marks.”</vt:lpstr>
      <vt:lpstr>“A general customer quote slide. Surrounded by quotation marks.”</vt:lpstr>
      <vt:lpstr>Example on a dark table slide </vt:lpstr>
      <vt:lpstr>Title on a dark table slide </vt:lpstr>
      <vt:lpstr>Title for a from/to slide</vt:lpstr>
      <vt:lpstr>Screenshot on dark</vt:lpstr>
      <vt:lpstr>Grabbable device shells</vt:lpstr>
      <vt:lpstr>Example on a light table slide </vt:lpstr>
      <vt:lpstr>Title on a light table slide </vt:lpstr>
      <vt:lpstr>Title for a from/to slide</vt:lpstr>
      <vt:lpstr>Screenshot on light</vt:lpstr>
      <vt:lpstr>Grabbable device shells</vt:lpstr>
      <vt:lpstr>Single statistic title on dark</vt:lpstr>
      <vt:lpstr>Single statistic title on light</vt:lpstr>
      <vt:lpstr>Title</vt:lpstr>
      <vt:lpstr>Title for a chart </vt:lpstr>
      <vt:lpstr>One speaker on stage</vt:lpstr>
      <vt:lpstr>Two speakers on stage</vt:lpstr>
      <vt:lpstr>Three speakers on stage</vt:lpstr>
      <vt:lpstr>Four speakers on stage</vt:lpstr>
      <vt:lpstr>Speakers-virtual  </vt:lpstr>
      <vt:lpstr>Speakers-virtual profile </vt:lpstr>
      <vt:lpstr>Speakers-virtual </vt:lpstr>
      <vt:lpstr>3 Speakers-virtual </vt:lpstr>
      <vt:lpstr>4 Speakers-virtual </vt:lpstr>
      <vt:lpstr>6 Speakers-virtual </vt:lpstr>
      <vt:lpstr>10 Speakers-virtual </vt:lpstr>
      <vt:lpstr>Forward-Looking statement and Safe harbor slide</vt:lpstr>
      <vt:lpstr>Required legal statements for Oracle Health</vt:lpstr>
      <vt:lpstr>Safe harbor statement</vt:lpstr>
      <vt:lpstr>Safe harbor statement</vt:lpstr>
      <vt:lpstr>Forward-Looking statements</vt:lpstr>
      <vt:lpstr>Forward-Looking statements</vt:lpstr>
      <vt:lpstr>PowerPoint Presentation</vt:lpstr>
      <vt:lpstr>Thank you</vt:lpstr>
      <vt:lpstr>Thank you</vt:lpstr>
      <vt:lpstr>PowerPoint Presentation</vt:lpstr>
      <vt:lpstr>An end slide on dark showing an Oracle logo</vt:lpstr>
      <vt:lpstr>An end slide on light showing an Oracle logo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Shaun Smith</dc:creator>
  <cp:keywords/>
  <dc:description>June 17, 2015
Based on Oracle FY26 template.</dc:description>
  <cp:lastModifiedBy>Shaun Smith</cp:lastModifiedBy>
  <cp:revision>3</cp:revision>
  <dcterms:created xsi:type="dcterms:W3CDTF">2025-06-17T14:29:27Z</dcterms:created>
  <dcterms:modified xsi:type="dcterms:W3CDTF">2025-06-17T16:02:08Z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MSIP_Label_3c76ce46-357f-46de-88d6-77b9bbb83c46_Enabled">
    <vt:lpwstr>true</vt:lpwstr>
  </property>
  <property fmtid="{D5CDD505-2E9C-101B-9397-08002B2CF9AE}" pid="6" name="MSIP_Label_3c76ce46-357f-46de-88d6-77b9bbb83c46_SetDate">
    <vt:lpwstr>2025-01-23T20:44:35Z</vt:lpwstr>
  </property>
  <property fmtid="{D5CDD505-2E9C-101B-9397-08002B2CF9AE}" pid="7" name="MSIP_Label_3c76ce46-357f-46de-88d6-77b9bbb83c46_Method">
    <vt:lpwstr>Privileged</vt:lpwstr>
  </property>
  <property fmtid="{D5CDD505-2E9C-101B-9397-08002B2CF9AE}" pid="8" name="MSIP_Label_3c76ce46-357f-46de-88d6-77b9bbb83c46_Name">
    <vt:lpwstr>Public</vt:lpwstr>
  </property>
  <property fmtid="{D5CDD505-2E9C-101B-9397-08002B2CF9AE}" pid="9" name="MSIP_Label_3c76ce46-357f-46de-88d6-77b9bbb83c46_SiteId">
    <vt:lpwstr>4e2c6054-71cb-48f1-bd6c-3a9705aca71b</vt:lpwstr>
  </property>
  <property fmtid="{D5CDD505-2E9C-101B-9397-08002B2CF9AE}" pid="10" name="MSIP_Label_3c76ce46-357f-46de-88d6-77b9bbb83c46_ActionId">
    <vt:lpwstr>f22884e0-546d-4aff-a9ba-accbb4729511</vt:lpwstr>
  </property>
  <property fmtid="{D5CDD505-2E9C-101B-9397-08002B2CF9AE}" pid="11" name="MSIP_Label_3c76ce46-357f-46de-88d6-77b9bbb83c46_ContentBits">
    <vt:lpwstr>0</vt:lpwstr>
  </property>
  <property fmtid="{D5CDD505-2E9C-101B-9397-08002B2CF9AE}" pid="12" name="MSIP_Label_3c76ce46-357f-46de-88d6-77b9bbb83c46_Tag">
    <vt:lpwstr>50, 0, 1, 1</vt:lpwstr>
  </property>
  <property fmtid="{D5CDD505-2E9C-101B-9397-08002B2CF9AE}" pid="13" name="ContentTypeId">
    <vt:lpwstr>0x010100FD22C9B34DEC2143A76D7422EE4B3741</vt:lpwstr>
  </property>
</Properties>
</file>